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c1ab59d7e64663" /><Relationship Type="http://schemas.openxmlformats.org/officeDocument/2006/relationships/extended-properties" Target="/docProps/app.xml" Id="Rda9c98562de1439c" /><Relationship Type="http://schemas.openxmlformats.org/officeDocument/2006/relationships/officeDocument" Target="/ppt/presentation.xml" Id="R4e0eb97a12e840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4a330d47b4cd2"/>
  </p:sldMasterIdLst>
  <p:notesMasterIdLst>
    <p:notesMasterId xmlns:r="http://schemas.openxmlformats.org/officeDocument/2006/relationships" r:id="R1dc2ef3fba114c90"/>
  </p:notesMasterIdLst>
  <p:sldIdLst>
    <p:sldId xmlns:r="http://schemas.openxmlformats.org/officeDocument/2006/relationships" id="256" r:id="Rc38e78535e844587"/>
    <p:sldId xmlns:r="http://schemas.openxmlformats.org/officeDocument/2006/relationships" id="257" r:id="R29b5cb8171a74b6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f7881b012141a5" /><Relationship Type="http://schemas.openxmlformats.org/officeDocument/2006/relationships/slideMaster" Target="/ppt/slideMasters/slideMaster1.xml" Id="Rd644a330d47b4cd2" /><Relationship Type="http://schemas.openxmlformats.org/officeDocument/2006/relationships/notesMaster" Target="/ppt/notesMasters/notesMaster1.xml" Id="R1dc2ef3fba114c90" /><Relationship Type="http://schemas.openxmlformats.org/officeDocument/2006/relationships/presProps" Target="/ppt/presProps.xml" Id="Rc690182bf1744163" /><Relationship Type="http://schemas.openxmlformats.org/officeDocument/2006/relationships/tableStyles" Target="/ppt/tableStyles.xml" Id="R923bf7cedafd4804" /><Relationship Type="http://schemas.openxmlformats.org/officeDocument/2006/relationships/slide" Target="/ppt/slides/slide1.xml" Id="Rc38e78535e844587" /><Relationship Type="http://schemas.openxmlformats.org/officeDocument/2006/relationships/slide" Target="/ppt/slides/slide2.xml" Id="R29b5cb8171a7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15d86bc0c147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939d0f2db42b3" /><Relationship Type="http://schemas.openxmlformats.org/officeDocument/2006/relationships/notesMaster" Target="/ppt/notesMasters/notesMaster1.xml" Id="R33d778683a6a4d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34daa99c34a36" /><Relationship Type="http://schemas.openxmlformats.org/officeDocument/2006/relationships/notesMaster" Target="/ppt/notesMasters/notesMaster1.xml" Id="R2ede42e346e3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严格按用户提供的第1张参考图重建。公式、文字、框、箭头和规划架构均为可编辑对象；内容未经配套论文全文独立验证。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严格按用户提供的第2张参考图重建。配网拓扑、柱图、折线和全部文字为可编辑对象；热力图因缺少底层矩阵数据保留为独立源图裁剪。数值与结论未经论文全文独立验证。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9723c4629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fa069a65594006" /><Relationship Type="http://schemas.openxmlformats.org/officeDocument/2006/relationships/slideLayout" Target="/ppt/slideLayouts/slideLayout1.xml" Id="R855de6c0a3d64d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5de6c0a3d64d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3033302556143db"/><Relationship Type="http://schemas.openxmlformats.org/officeDocument/2006/relationships/image" Target="/ppt/media/image.png" Id="R3aecfb14410142bf"/><Relationship Type="http://schemas.openxmlformats.org/officeDocument/2006/relationships/image" Target="/ppt/media/image2.png" Id="R3f29da2144e04103"/><Relationship Type="http://schemas.openxmlformats.org/officeDocument/2006/relationships/image" Target="/ppt/media/image3.png" Id="R16399058cd08492f"/><Relationship Type="http://schemas.openxmlformats.org/officeDocument/2006/relationships/image" Target="/ppt/media/image4.png" Id="R1e83775ef3cc4a5b"/><Relationship Type="http://schemas.openxmlformats.org/officeDocument/2006/relationships/image" Target="/ppt/media/image5.png" Id="R8c0a3cdc3de24f77"/><Relationship Type="http://schemas.openxmlformats.org/officeDocument/2006/relationships/image" Target="/ppt/media/image6.png" Id="R098f5656fb034f6d"/><Relationship Type="http://schemas.openxmlformats.org/officeDocument/2006/relationships/image" Target="/ppt/media/image7.png" Id="R8c14cd4883e4427c"/><Relationship Type="http://schemas.openxmlformats.org/officeDocument/2006/relationships/image" Target="/ppt/media/image8.png" Id="R7f5fc9ea729f4c53"/><Relationship Type="http://schemas.openxmlformats.org/officeDocument/2006/relationships/image" Target="/ppt/media/image9.png" Id="R2453bd3bb29b4a50"/><Relationship Type="http://schemas.openxmlformats.org/officeDocument/2006/relationships/image" Target="/ppt/media/image10.png" Id="Reb66fd05784040b1"/><Relationship Type="http://schemas.openxmlformats.org/officeDocument/2006/relationships/image" Target="/ppt/media/image11.png" Id="R048b4e0cc8c6439c"/><Relationship Type="http://schemas.openxmlformats.org/officeDocument/2006/relationships/notesSlide" Target="/ppt/notesSlides/notesSlide1.xml" Id="Rbc638d5c4e8740dd"/><Relationship Id="rId73033302556144" Type="http://schemas.openxmlformats.org/officeDocument/2006/relationships/image" Target="../media/formula-objective-total.svg"/><Relationship Id="rId73033302556145" Type="http://schemas.openxmlformats.org/officeDocument/2006/relationships/image" Target="../media/formula-cost-inv.svg"/><Relationship Id="rId73033302556146" Type="http://schemas.openxmlformats.org/officeDocument/2006/relationships/image" Target="../media/formula-cost-op.svg"/><Relationship Id="rId73033302556147" Type="http://schemas.openxmlformats.org/officeDocument/2006/relationships/image" Target="../media/formula-cost-evcs.svg"/><Relationship Id="rId73033302556148" Type="http://schemas.openxmlformats.org/officeDocument/2006/relationships/image" Target="../media/formula-cost-user.svg"/><Relationship Id="rId73033302556149" Type="http://schemas.openxmlformats.org/officeDocument/2006/relationships/image" Target="../media/formula-cost-trade.svg"/><Relationship Id="rId73033302556150" Type="http://schemas.openxmlformats.org/officeDocument/2006/relationships/image" Target="../media/formula-cons-balance.svg"/><Relationship Id="rId73033302556151" Type="http://schemas.openxmlformats.org/officeDocument/2006/relationships/image" Target="../media/formula-cons-cap.svg"/><Relationship Id="rId73033302556152" Type="http://schemas.openxmlformats.org/officeDocument/2006/relationships/image" Target="../media/formula-cons-evcs.svg"/><Relationship Id="rId73033302556153" Type="http://schemas.openxmlformats.org/officeDocument/2006/relationships/image" Target="../media/formula-cons-soc.svg"/><Relationship Id="rId73033302556154" Type="http://schemas.openxmlformats.org/officeDocument/2006/relationships/image" Target="../media/formula-cons-trade.svg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24aa8694836465a"/><Relationship Type="http://schemas.openxmlformats.org/officeDocument/2006/relationships/image" Target="/ppt/media/image12.png" Id="R9c7662e6536d4017"/><Relationship Type="http://schemas.openxmlformats.org/officeDocument/2006/relationships/notesSlide" Target="/ppt/notesSlides/notesSlide2.xml" Id="Rb09587832d68491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title">
            <a:extLst xmlns:a="http://schemas.openxmlformats.org/drawingml/2006/main">
              <a:ext uri="{FF2B5EF4-FFF2-40B4-BE49-F238E27FC236}">
                <a16:creationId xmlns:a16="http://schemas.microsoft.com/office/drawing/2014/main" id="{0A780319-92AA-4602-AFC5-13E3EA2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"/>
            <a:ext cx="1538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1. 论文原理与数学模型 --- PV-grid-EV交易下配电网与充电站协同规划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55B9EB-935D-4C98-9717-E563F8E7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619125"/>
            <a:ext cx="15601950" cy="95"/>
          </a:xfrm>
          <a:custGeom xmlns:a="http://schemas.openxmlformats.org/drawingml/2006/main"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DF2EF721-98A1-43A5-9E21-D2653C5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2950"/>
            <a:ext cx="15582900" cy="1343025"/>
          </a:xfrm>
          <a:prstGeom xmlns:a="http://schemas.openxmlformats.org/drawingml/2006/main" prst="roundRect">
            <a:avLst>
              <a:gd name="adj" fmla="val 10638"/>
            </a:avLst>
          </a:prstGeom>
          <a:gradFill xmlns:a="http://schemas.openxmlformats.org/drawingml/2006/main">
            <a:gsLst>
              <a:gs pos="0">
                <a:srgbClr val="F4FBFF"/>
              </a:gs>
              <a:gs pos="100000">
                <a:srgbClr val="E4F2FE"/>
              </a:gs>
            </a:gsLst>
            <a:lin ang="5400000"/>
          </a:gradFill>
          <a:ln xmlns:a="http://schemas.openxmlformats.org/drawingml/2006/main" w="8573">
            <a:solidFill>
              <a:srgbClr val="68B8FA"/>
            </a:solidFill>
            <a:prstDash val="solid"/>
          </a:ln>
        </p:spPr>
      </p:sp>
      <p:sp>
        <p:nvSpPr>
          <p:cNvPr id="4" name="summary-bullet1">
            <a:extLst xmlns:a="http://schemas.openxmlformats.org/drawingml/2006/main">
              <a:ext uri="{FF2B5EF4-FFF2-40B4-BE49-F238E27FC236}">
                <a16:creationId xmlns:a16="http://schemas.microsoft.com/office/drawing/2014/main" id="{CC172FE5-DF61-4FE6-87AC-4592DB0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04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5" name="summary-bullet2">
            <a:extLst xmlns:a="http://schemas.openxmlformats.org/drawingml/2006/main">
              <a:ext uri="{FF2B5EF4-FFF2-40B4-BE49-F238E27FC236}">
                <a16:creationId xmlns:a16="http://schemas.microsoft.com/office/drawing/2014/main" id="{611C0E07-8920-4123-8DB1-3B684261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95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6" name="summary-1">
            <a:extLst xmlns:a="http://schemas.openxmlformats.org/drawingml/2006/main">
              <a:ext uri="{FF2B5EF4-FFF2-40B4-BE49-F238E27FC236}">
                <a16:creationId xmlns:a16="http://schemas.microsoft.com/office/drawing/2014/main" id="{D355A4CD-9584-4EC5-9097-A8917A27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1471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核心思想：</a:t>
            </a: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建立配电网扩建、充电站规划、PV产消者交易与EV用户路径选择的</a:t>
            </a:r>
            <a:r>
              <a:rPr sz="1763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协同规划模型</a:t>
            </a: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，利用PV-grid-EV点对点交易、</a:t>
            </a:r>
            <a:r>
              <a:rPr sz="1763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网络费用和时空充电价格</a:t>
            </a: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</p:txBody>
      </p:sp>
      <p:sp>
        <p:nvSpPr>
          <p:cNvPr id="7" name="summary-1b">
            <a:extLst xmlns:a="http://schemas.openxmlformats.org/drawingml/2006/main">
              <a:ext uri="{FF2B5EF4-FFF2-40B4-BE49-F238E27FC236}">
                <a16:creationId xmlns:a16="http://schemas.microsoft.com/office/drawing/2014/main" id="{1740D357-1D7C-4EDB-BC27-CF7C98A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455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协调长期规划与短期运行，实现配电网、充电站、分布式能源与EV用户的协同优化。</a:t>
            </a:r>
          </a:p>
        </p:txBody>
      </p:sp>
      <p:sp>
        <p:nvSpPr>
          <p:cNvPr id="8" name="summary-2">
            <a:extLst xmlns:a="http://schemas.openxmlformats.org/drawingml/2006/main">
              <a:ext uri="{FF2B5EF4-FFF2-40B4-BE49-F238E27FC236}">
                <a16:creationId xmlns:a16="http://schemas.microsoft.com/office/drawing/2014/main" id="{453FFC3A-1803-4F02-9813-F4397AD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466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建模重点：</a:t>
            </a: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上层由配电网运营商（IDSO）进行全局规划，下层为充电站运营主体和PV产消者的自主决策。通过建立联合目标函数与关键运行约束，</a:t>
            </a:r>
          </a:p>
        </p:txBody>
      </p:sp>
      <p:sp>
        <p:nvSpPr>
          <p:cNvPr id="9" name="summary-2b">
            <a:extLst xmlns:a="http://schemas.openxmlformats.org/drawingml/2006/main">
              <a:ext uri="{FF2B5EF4-FFF2-40B4-BE49-F238E27FC236}">
                <a16:creationId xmlns:a16="http://schemas.microsoft.com/office/drawing/2014/main" id="{606DE9D6-964E-4A0C-BD2E-39B0523C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455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采用</a:t>
            </a:r>
            <a:r>
              <a:rPr sz="1763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ADMM+AOP</a:t>
            </a:r>
            <a:r>
              <a:rPr sz="17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的求解方法，实现规划与运行的分层协同优化。</a:t>
            </a:r>
          </a:p>
        </p:txBody>
      </p:sp>
      <p:sp>
        <p:nvSpPr>
          <p:cNvPr id="10" name="left-panel">
            <a:extLst xmlns:a="http://schemas.openxmlformats.org/drawingml/2006/main">
              <a:ext uri="{FF2B5EF4-FFF2-40B4-BE49-F238E27FC236}">
                <a16:creationId xmlns:a16="http://schemas.microsoft.com/office/drawing/2014/main" id="{18971BB1-E897-4594-8353-E61AFC4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90750"/>
            <a:ext cx="4638675" cy="6105525"/>
          </a:xfrm>
          <a:prstGeom xmlns:a="http://schemas.openxmlformats.org/drawingml/2006/main" prst="roundRect">
            <a:avLst>
              <a:gd name="adj" fmla="val 2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75ED4"/>
            </a:solidFill>
            <a:prstDash val="solid"/>
          </a:ln>
        </p:spPr>
      </p:sp>
      <p:sp>
        <p:nvSpPr>
          <p:cNvPr id="11" name="mid-top-panel">
            <a:extLst xmlns:a="http://schemas.openxmlformats.org/drawingml/2006/main">
              <a:ext uri="{FF2B5EF4-FFF2-40B4-BE49-F238E27FC236}">
                <a16:creationId xmlns:a16="http://schemas.microsoft.com/office/drawing/2014/main" id="{9749425D-ACF1-4601-96D1-643CB6F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6124575" cy="2771775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75ED4"/>
            </a:solidFill>
            <a:prstDash val="solid"/>
          </a:ln>
        </p:spPr>
      </p:sp>
      <p:sp>
        <p:nvSpPr>
          <p:cNvPr id="12" name="mid-bottom-panel">
            <a:extLst xmlns:a="http://schemas.openxmlformats.org/drawingml/2006/main">
              <a:ext uri="{FF2B5EF4-FFF2-40B4-BE49-F238E27FC236}">
                <a16:creationId xmlns:a16="http://schemas.microsoft.com/office/drawing/2014/main" id="{30A1B074-51B2-4D8A-95D8-D1F80E0A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38725"/>
            <a:ext cx="6124575" cy="32575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75ED4"/>
            </a:solidFill>
            <a:prstDash val="solid"/>
          </a:ln>
        </p:spPr>
      </p:sp>
      <p:sp>
        <p:nvSpPr>
          <p:cNvPr id="1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4562DE7F-5EC0-4E1E-9B6F-8711E8AF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190750"/>
            <a:ext cx="4638675" cy="61055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75ED4"/>
            </a:solidFill>
            <a:prstDash val="solid"/>
          </a:ln>
        </p:spPr>
      </p:sp>
      <p:sp>
        <p:nvSpPr>
          <p:cNvPr id="14" name="left-head">
            <a:extLst xmlns:a="http://schemas.openxmlformats.org/drawingml/2006/main">
              <a:ext uri="{FF2B5EF4-FFF2-40B4-BE49-F238E27FC236}">
                <a16:creationId xmlns:a16="http://schemas.microsoft.com/office/drawing/2014/main" id="{0A2E23A8-2C02-4CA8-ADD3-1F22D965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38375"/>
            <a:ext cx="4295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规划架构与决策层级</a:t>
            </a:r>
          </a:p>
        </p:txBody>
      </p:sp>
      <p:sp>
        <p:nvSpPr>
          <p:cNvPr id="15" name="mid-top-head">
            <a:extLst xmlns:a="http://schemas.openxmlformats.org/drawingml/2006/main">
              <a:ext uri="{FF2B5EF4-FFF2-40B4-BE49-F238E27FC236}">
                <a16:creationId xmlns:a16="http://schemas.microsoft.com/office/drawing/2014/main" id="{B818A478-81D6-449F-9B4E-D3806B1C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3837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目标函数及物理意义</a:t>
            </a:r>
          </a:p>
        </p:txBody>
      </p:sp>
      <p:sp>
        <p:nvSpPr>
          <p:cNvPr id="16" name="mid-bottom-head">
            <a:extLst xmlns:a="http://schemas.openxmlformats.org/drawingml/2006/main">
              <a:ext uri="{FF2B5EF4-FFF2-40B4-BE49-F238E27FC236}">
                <a16:creationId xmlns:a16="http://schemas.microsoft.com/office/drawing/2014/main" id="{C2004302-7175-45B0-9C54-D53CD54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768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关键约束及物理意义</a:t>
            </a:r>
          </a:p>
        </p:txBody>
      </p:sp>
      <p:sp>
        <p:nvSpPr>
          <p:cNvPr id="17" name="right-head">
            <a:extLst xmlns:a="http://schemas.openxmlformats.org/drawingml/2006/main">
              <a:ext uri="{FF2B5EF4-FFF2-40B4-BE49-F238E27FC236}">
                <a16:creationId xmlns:a16="http://schemas.microsoft.com/office/drawing/2014/main" id="{98585327-B218-4802-B3ED-A218069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38375"/>
            <a:ext cx="417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求解流程</a:t>
            </a:r>
          </a:p>
        </p:txBody>
      </p:sp>
      <p:sp>
        <p:nvSpPr>
          <p:cNvPr id="18" name="idso">
            <a:extLst xmlns:a="http://schemas.openxmlformats.org/drawingml/2006/main">
              <a:ext uri="{FF2B5EF4-FFF2-40B4-BE49-F238E27FC236}">
                <a16:creationId xmlns:a16="http://schemas.microsoft.com/office/drawing/2014/main" id="{6B9CD1B9-F22A-48BA-A07A-8C8F976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90825"/>
            <a:ext cx="1924050" cy="800100"/>
          </a:xfrm>
          <a:prstGeom xmlns:a="http://schemas.openxmlformats.org/drawingml/2006/main" prst="roundRect">
            <a:avLst>
              <a:gd name="adj" fmla="val 13095"/>
            </a:avLst>
          </a:prstGeom>
          <a:gradFill xmlns:a="http://schemas.openxmlformats.org/drawingml/2006/main">
            <a:gsLst>
              <a:gs pos="0">
                <a:srgbClr val="EAF7FF"/>
              </a:gs>
              <a:gs pos="100000">
                <a:srgbClr val="DCEBFA"/>
              </a:gs>
            </a:gsLst>
            <a:lin ang="5400000"/>
          </a:gradFill>
          <a:ln xmlns:a="http://schemas.openxmlformats.org/drawingml/2006/main" w="11430">
            <a:solidFill>
              <a:srgbClr val="1170D9"/>
            </a:solidFill>
            <a:prstDash val="solid"/>
          </a:ln>
        </p:spPr>
      </p:sp>
      <p:sp>
        <p:nvSpPr>
          <p:cNvPr id="19" name="idso-title">
            <a:extLst xmlns:a="http://schemas.openxmlformats.org/drawingml/2006/main">
              <a:ext uri="{FF2B5EF4-FFF2-40B4-BE49-F238E27FC236}">
                <a16:creationId xmlns:a16="http://schemas.microsoft.com/office/drawing/2014/main" id="{1E8AEEAC-75AD-46E0-92AB-9AC3F7DA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95600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IDSO</a:t>
            </a:r>
          </a:p>
        </p:txBody>
      </p:sp>
      <p:sp>
        <p:nvSpPr>
          <p:cNvPr id="20" name="idso-sub">
            <a:extLst xmlns:a="http://schemas.openxmlformats.org/drawingml/2006/main">
              <a:ext uri="{FF2B5EF4-FFF2-40B4-BE49-F238E27FC236}">
                <a16:creationId xmlns:a16="http://schemas.microsoft.com/office/drawing/2014/main" id="{B7BDC52C-5B57-49E7-A08C-3045AEE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（配电网运营商）</a:t>
            </a:r>
          </a:p>
        </p:txBody>
      </p:sp>
      <p:sp>
        <p:nvSpPr>
          <p:cNvPr id="21" name="idso-note">
            <a:extLst xmlns:a="http://schemas.openxmlformats.org/drawingml/2006/main">
              <a:ext uri="{FF2B5EF4-FFF2-40B4-BE49-F238E27FC236}">
                <a16:creationId xmlns:a16="http://schemas.microsoft.com/office/drawing/2014/main" id="{05E7B499-C5B2-407B-9905-C794EF2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62250"/>
            <a:ext cx="1238250" cy="8667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8B5ED"/>
            </a:solidFill>
            <a:prstDash val="solid"/>
          </a:ln>
        </p:spPr>
      </p:sp>
      <p:sp>
        <p:nvSpPr>
          <p:cNvPr id="22" name="idso-note-text">
            <a:extLst xmlns:a="http://schemas.openxmlformats.org/drawingml/2006/main">
              <a:ext uri="{FF2B5EF4-FFF2-40B4-BE49-F238E27FC236}">
                <a16:creationId xmlns:a16="http://schemas.microsoft.com/office/drawing/2014/main" id="{972CF7C2-3C0E-428E-BFBD-C87F5A0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28925"/>
            <a:ext cx="109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线路扩建</a:t>
            </a:r>
          </a:p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变电站扩容</a:t>
            </a:r>
          </a:p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网络运行</a:t>
            </a:r>
          </a:p>
        </p:txBody>
      </p:sp>
      <p:sp>
        <p:nvSpPr>
          <p:cNvPr id="23" name="idso-evcs-route">
            <a:extLst xmlns:a="http://schemas.openxmlformats.org/drawingml/2006/main">
              <a:ext uri="{FF2B5EF4-FFF2-40B4-BE49-F238E27FC236}">
                <a16:creationId xmlns:a16="http://schemas.microsoft.com/office/drawing/2014/main" id="{55D1D959-EFD7-4B4E-AFA6-901958C8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90925"/>
            <a:ext cx="95" cy="933450"/>
          </a:xfrm>
          <a:custGeom xmlns:a="http://schemas.openxmlformats.org/drawingml/2006/main"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24" name="idso-evcs-head">
            <a:extLst xmlns:a="http://schemas.openxmlformats.org/drawingml/2006/main">
              <a:ext uri="{FF2B5EF4-FFF2-40B4-BE49-F238E27FC236}">
                <a16:creationId xmlns:a16="http://schemas.microsoft.com/office/drawing/2014/main" id="{FEFA678B-8089-4DB2-A845-1A1329EF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44291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25" name="idso-pv-route">
            <a:extLst xmlns:a="http://schemas.openxmlformats.org/drawingml/2006/main">
              <a:ext uri="{FF2B5EF4-FFF2-40B4-BE49-F238E27FC236}">
                <a16:creationId xmlns:a16="http://schemas.microsoft.com/office/drawing/2014/main" id="{AAD273E4-73C2-4588-ADCC-C46A7940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95" cy="933450"/>
          </a:xfrm>
          <a:custGeom xmlns:a="http://schemas.openxmlformats.org/drawingml/2006/main"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26" name="idso-pv-head">
            <a:extLst xmlns:a="http://schemas.openxmlformats.org/drawingml/2006/main">
              <a:ext uri="{FF2B5EF4-FFF2-40B4-BE49-F238E27FC236}">
                <a16:creationId xmlns:a16="http://schemas.microsoft.com/office/drawing/2014/main" id="{4BC6201A-6ACE-4623-BC8A-EB655E1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455" y="44291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27" name="fee-left">
            <a:extLst xmlns:a="http://schemas.openxmlformats.org/drawingml/2006/main">
              <a:ext uri="{FF2B5EF4-FFF2-40B4-BE49-F238E27FC236}">
                <a16:creationId xmlns:a16="http://schemas.microsoft.com/office/drawing/2014/main" id="{6D3899C0-F2D7-4D9E-817C-CE15A9C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网络费用</a:t>
            </a:r>
          </a:p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系统信号</a:t>
            </a:r>
          </a:p>
        </p:txBody>
      </p:sp>
      <p:sp>
        <p:nvSpPr>
          <p:cNvPr id="28" name="fee-right">
            <a:extLst xmlns:a="http://schemas.openxmlformats.org/drawingml/2006/main">
              <a:ext uri="{FF2B5EF4-FFF2-40B4-BE49-F238E27FC236}">
                <a16:creationId xmlns:a16="http://schemas.microsoft.com/office/drawing/2014/main" id="{F0B773AC-C984-4685-8210-D9818FF8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网络费用</a:t>
            </a:r>
          </a:p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系统信号</a:t>
            </a:r>
          </a:p>
        </p:txBody>
      </p:sp>
      <p:sp>
        <p:nvSpPr>
          <p:cNvPr id="29" name="evcs">
            <a:extLst xmlns:a="http://schemas.openxmlformats.org/drawingml/2006/main">
              <a:ext uri="{FF2B5EF4-FFF2-40B4-BE49-F238E27FC236}">
                <a16:creationId xmlns:a16="http://schemas.microsoft.com/office/drawing/2014/main" id="{BE9B0DE1-415E-4881-BE45-19F1C14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62475"/>
            <a:ext cx="1714500" cy="828675"/>
          </a:xfrm>
          <a:prstGeom xmlns:a="http://schemas.openxmlformats.org/drawingml/2006/main" prst="roundRect">
            <a:avLst>
              <a:gd name="adj" fmla="val 12644"/>
            </a:avLst>
          </a:prstGeom>
          <a:gradFill xmlns:a="http://schemas.openxmlformats.org/drawingml/2006/main">
            <a:gsLst>
              <a:gs pos="0">
                <a:srgbClr val="EFFAEF"/>
              </a:gs>
              <a:gs pos="100000">
                <a:srgbClr val="DDF3DF"/>
              </a:gs>
            </a:gsLst>
            <a:lin ang="5400000"/>
          </a:gradFill>
          <a:ln xmlns:a="http://schemas.openxmlformats.org/drawingml/2006/main" w="10478">
            <a:solidFill>
              <a:srgbClr val="58B85F"/>
            </a:solidFill>
            <a:prstDash val="solid"/>
          </a:ln>
        </p:spPr>
      </p:sp>
      <p:sp>
        <p:nvSpPr>
          <p:cNvPr id="30" name="evcs-title">
            <a:extLst xmlns:a="http://schemas.openxmlformats.org/drawingml/2006/main">
              <a:ext uri="{FF2B5EF4-FFF2-40B4-BE49-F238E27FC236}">
                <a16:creationId xmlns:a16="http://schemas.microsoft.com/office/drawing/2014/main" id="{A723BAEA-C0AF-4126-BE61-CF23AE3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EVCS</a:t>
            </a:r>
          </a:p>
        </p:txBody>
      </p:sp>
      <p:sp>
        <p:nvSpPr>
          <p:cNvPr id="31" name="evcs-sub">
            <a:extLst xmlns:a="http://schemas.openxmlformats.org/drawingml/2006/main">
              <a:ext uri="{FF2B5EF4-FFF2-40B4-BE49-F238E27FC236}">
                <a16:creationId xmlns:a16="http://schemas.microsoft.com/office/drawing/2014/main" id="{AD840BD8-661B-4311-8D98-5CC43637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44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（充电站运营主体）</a:t>
            </a:r>
          </a:p>
        </p:txBody>
      </p:sp>
      <p:sp>
        <p:nvSpPr>
          <p:cNvPr id="32" name="pv">
            <a:extLst xmlns:a="http://schemas.openxmlformats.org/drawingml/2006/main">
              <a:ext uri="{FF2B5EF4-FFF2-40B4-BE49-F238E27FC236}">
                <a16:creationId xmlns:a16="http://schemas.microsoft.com/office/drawing/2014/main" id="{9BAC6A4D-5EA8-45E5-A1CA-77A159AE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62475"/>
            <a:ext cx="1743075" cy="828675"/>
          </a:xfrm>
          <a:prstGeom xmlns:a="http://schemas.openxmlformats.org/drawingml/2006/main" prst="roundRect">
            <a:avLst>
              <a:gd name="adj" fmla="val 12644"/>
            </a:avLst>
          </a:prstGeom>
          <a:gradFill xmlns:a="http://schemas.openxmlformats.org/drawingml/2006/main">
            <a:gsLst>
              <a:gs pos="0">
                <a:srgbClr val="FFF9E7"/>
              </a:gs>
              <a:gs pos="100000">
                <a:srgbClr val="F7E8B7"/>
              </a:gs>
            </a:gsLst>
            <a:lin ang="5400000"/>
          </a:gradFill>
          <a:ln xmlns:a="http://schemas.openxmlformats.org/drawingml/2006/main" w="10478">
            <a:solidFill>
              <a:srgbClr val="E0A60D"/>
            </a:solidFill>
            <a:prstDash val="solid"/>
          </a:ln>
        </p:spPr>
      </p:sp>
      <p:sp>
        <p:nvSpPr>
          <p:cNvPr id="33" name="pv-title">
            <a:extLst xmlns:a="http://schemas.openxmlformats.org/drawingml/2006/main">
              <a:ext uri="{FF2B5EF4-FFF2-40B4-BE49-F238E27FC236}">
                <a16:creationId xmlns:a16="http://schemas.microsoft.com/office/drawing/2014/main" id="{E5C6CAD5-D909-487D-9DCA-E593F58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48200"/>
            <a:ext cx="120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PV产消者</a:t>
            </a:r>
          </a:p>
        </p:txBody>
      </p:sp>
      <p:sp>
        <p:nvSpPr>
          <p:cNvPr id="34" name="pv-sub">
            <a:extLst xmlns:a="http://schemas.openxmlformats.org/drawingml/2006/main">
              <a:ext uri="{FF2B5EF4-FFF2-40B4-BE49-F238E27FC236}">
                <a16:creationId xmlns:a16="http://schemas.microsoft.com/office/drawing/2014/main" id="{310AF288-BD6A-4B0C-8B69-ADA5ABC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1495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（光伏/储能用户）</a:t>
            </a:r>
          </a:p>
        </p:txBody>
      </p:sp>
      <p:sp>
        <p:nvSpPr>
          <p:cNvPr id="35" name="p2p-left-route">
            <a:extLst xmlns:a="http://schemas.openxmlformats.org/drawingml/2006/main">
              <a:ext uri="{FF2B5EF4-FFF2-40B4-BE49-F238E27FC236}">
                <a16:creationId xmlns:a16="http://schemas.microsoft.com/office/drawing/2014/main" id="{DF598C15-E496-4DD1-AF54-4074A07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9675"/>
            <a:ext cx="790575" cy="95"/>
          </a:xfrm>
          <a:custGeom xmlns:a="http://schemas.openxmlformats.org/drawingml/2006/main">
            <a:pathLst>
              <a:path w="790575" h="95">
                <a:moveTo>
                  <a:pt x="790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0000"/>
            </a:solidFill>
            <a:prstDash val="solid"/>
          </a:ln>
        </p:spPr>
      </p:sp>
      <p:sp>
        <p:nvSpPr>
          <p:cNvPr id="36" name="p2p-left-head">
            <a:extLst xmlns:a="http://schemas.openxmlformats.org/drawingml/2006/main">
              <a:ext uri="{FF2B5EF4-FFF2-40B4-BE49-F238E27FC236}">
                <a16:creationId xmlns:a16="http://schemas.microsoft.com/office/drawing/2014/main" id="{AEE2CCDB-A8DB-467C-A33D-B7847DB7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69383"/>
            <a:ext cx="104775" cy="100584"/>
          </a:xfrm>
          <a:custGeom xmlns:a="http://schemas.openxmlformats.org/drawingml/2006/main">
            <a:pathLst>
              <a:path w="104775" h="100584">
                <a:moveTo>
                  <a:pt x="0" y="50292"/>
                </a:moveTo>
                <a:lnTo>
                  <a:pt x="104775" y="0"/>
                </a:lnTo>
                <a:lnTo>
                  <a:pt x="104775" y="100584"/>
                </a:lnTo>
                <a:close/>
              </a:path>
            </a:pathLst>
          </a:cu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37" name="p2p-right-route">
            <a:extLst xmlns:a="http://schemas.openxmlformats.org/drawingml/2006/main">
              <a:ext uri="{FF2B5EF4-FFF2-40B4-BE49-F238E27FC236}">
                <a16:creationId xmlns:a16="http://schemas.microsoft.com/office/drawing/2014/main" id="{181730F2-5AEF-4F1E-9DBF-FDBB8303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790575" cy="95"/>
          </a:xfrm>
          <a:custGeom xmlns:a="http://schemas.openxmlformats.org/drawingml/2006/main">
            <a:pathLst>
              <a:path w="790575" h="9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0000"/>
            </a:solidFill>
            <a:prstDash val="solid"/>
          </a:ln>
        </p:spPr>
      </p:sp>
      <p:sp>
        <p:nvSpPr>
          <p:cNvPr id="38" name="p2p-right-head">
            <a:extLst xmlns:a="http://schemas.openxmlformats.org/drawingml/2006/main">
              <a:ext uri="{FF2B5EF4-FFF2-40B4-BE49-F238E27FC236}">
                <a16:creationId xmlns:a16="http://schemas.microsoft.com/office/drawing/2014/main" id="{C1B11BE4-6494-412F-AAD2-203BA07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69408"/>
            <a:ext cx="104775" cy="100584"/>
          </a:xfrm>
          <a:custGeom xmlns:a="http://schemas.openxmlformats.org/drawingml/2006/main">
            <a:pathLst>
              <a:path w="104775" h="100584">
                <a:moveTo>
                  <a:pt x="104775" y="50292"/>
                </a:moveTo>
                <a:lnTo>
                  <a:pt x="0" y="1005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39" name="p2p-label">
            <a:extLst xmlns:a="http://schemas.openxmlformats.org/drawingml/2006/main">
              <a:ext uri="{FF2B5EF4-FFF2-40B4-BE49-F238E27FC236}">
                <a16:creationId xmlns:a16="http://schemas.microsoft.com/office/drawing/2014/main" id="{9D214241-0A83-4755-BB70-8D4016D7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482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0000"/>
                </a:solidFill>
                <a:latin typeface="Microsoft YaHei"/>
                <a:ea typeface="Microsoft YaHei"/>
                <a:cs typeface="Microsoft YaHei"/>
              </a:rPr>
              <a:t>P2P交易</a:t>
            </a:r>
          </a:p>
        </p:txBody>
      </p:sp>
      <p:sp>
        <p:nvSpPr>
          <p:cNvPr id="40" name="evcs-note">
            <a:extLst xmlns:a="http://schemas.openxmlformats.org/drawingml/2006/main">
              <a:ext uri="{FF2B5EF4-FFF2-40B4-BE49-F238E27FC236}">
                <a16:creationId xmlns:a16="http://schemas.microsoft.com/office/drawing/2014/main" id="{40B469CA-99F8-4065-AE7E-93589AEA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57825"/>
            <a:ext cx="14954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8B5ED"/>
            </a:solidFill>
            <a:prstDash val="solid"/>
          </a:ln>
        </p:spPr>
      </p:sp>
      <p:sp>
        <p:nvSpPr>
          <p:cNvPr id="41" name="evcs-note-text">
            <a:extLst xmlns:a="http://schemas.openxmlformats.org/drawingml/2006/main">
              <a:ext uri="{FF2B5EF4-FFF2-40B4-BE49-F238E27FC236}">
                <a16:creationId xmlns:a16="http://schemas.microsoft.com/office/drawing/2014/main" id="{1B93232E-0736-455D-9541-DB80A000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0545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站址/容量</a:t>
            </a:r>
          </a:p>
          <a:p xmlns:a="http://schemas.openxmlformats.org/drawingml/2006/main">
            <a:pPr algn="l">
              <a:def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充放电与交易</a:t>
            </a:r>
          </a:p>
        </p:txBody>
      </p:sp>
      <p:sp>
        <p:nvSpPr>
          <p:cNvPr id="42" name="pv-note">
            <a:extLst xmlns:a="http://schemas.openxmlformats.org/drawingml/2006/main">
              <a:ext uri="{FF2B5EF4-FFF2-40B4-BE49-F238E27FC236}">
                <a16:creationId xmlns:a16="http://schemas.microsoft.com/office/drawing/2014/main" id="{3CEBF26C-A4C4-4FDE-ADA7-8DC736D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57825"/>
            <a:ext cx="15144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8B5ED"/>
            </a:solidFill>
            <a:prstDash val="solid"/>
          </a:ln>
        </p:spPr>
      </p:sp>
      <p:sp>
        <p:nvSpPr>
          <p:cNvPr id="43" name="pv-note-text">
            <a:extLst xmlns:a="http://schemas.openxmlformats.org/drawingml/2006/main">
              <a:ext uri="{FF2B5EF4-FFF2-40B4-BE49-F238E27FC236}">
                <a16:creationId xmlns:a16="http://schemas.microsoft.com/office/drawing/2014/main" id="{1FC3A91A-9FA7-4025-97C4-2C4B8819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505450"/>
            <a:ext cx="1352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PV/储能规划</a:t>
            </a:r>
          </a:p>
          <a:p xmlns:a="http://schemas.openxmlformats.org/drawingml/2006/main">
            <a:pPr algn="l">
              <a:def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能量交易</a:t>
            </a:r>
          </a:p>
        </p:txBody>
      </p:sp>
      <p:sp>
        <p:nvSpPr>
          <p:cNvPr id="44" name="ev-user">
            <a:extLst xmlns:a="http://schemas.openxmlformats.org/drawingml/2006/main">
              <a:ext uri="{FF2B5EF4-FFF2-40B4-BE49-F238E27FC236}">
                <a16:creationId xmlns:a16="http://schemas.microsoft.com/office/drawing/2014/main" id="{14AB6B77-6694-461F-8B01-4A6B596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810375"/>
            <a:ext cx="2143125" cy="790575"/>
          </a:xfrm>
          <a:prstGeom xmlns:a="http://schemas.openxmlformats.org/drawingml/2006/main" prst="roundRect">
            <a:avLst>
              <a:gd name="adj" fmla="val 13253"/>
            </a:avLst>
          </a:prstGeom>
          <a:gradFill xmlns:a="http://schemas.openxmlformats.org/drawingml/2006/main">
            <a:gsLst>
              <a:gs pos="0">
                <a:srgbClr val="F2EEFF"/>
              </a:gs>
              <a:gs pos="100000">
                <a:srgbClr val="DED4FF"/>
              </a:gs>
            </a:gsLst>
            <a:lin ang="5400000"/>
          </a:gradFill>
          <a:ln xmlns:a="http://schemas.openxmlformats.org/drawingml/2006/main" w="10478">
            <a:solidFill>
              <a:srgbClr val="6C4AD8"/>
            </a:solidFill>
            <a:prstDash val="solid"/>
          </a:ln>
        </p:spPr>
      </p:sp>
      <p:sp>
        <p:nvSpPr>
          <p:cNvPr id="45" name="ev-user-title">
            <a:extLst xmlns:a="http://schemas.openxmlformats.org/drawingml/2006/main">
              <a:ext uri="{FF2B5EF4-FFF2-40B4-BE49-F238E27FC236}">
                <a16:creationId xmlns:a16="http://schemas.microsoft.com/office/drawing/2014/main" id="{3866985F-D659-4E8A-91DC-9C0B425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92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EV用户</a:t>
            </a:r>
          </a:p>
        </p:txBody>
      </p:sp>
      <p:sp>
        <p:nvSpPr>
          <p:cNvPr id="46" name="ev-user-sub">
            <a:extLst xmlns:a="http://schemas.openxmlformats.org/drawingml/2006/main">
              <a:ext uri="{FF2B5EF4-FFF2-40B4-BE49-F238E27FC236}">
                <a16:creationId xmlns:a16="http://schemas.microsoft.com/office/drawing/2014/main" id="{7583A917-9EEF-44A4-9F7A-FDDB017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72199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（路径选择）</a:t>
            </a:r>
          </a:p>
        </p:txBody>
      </p:sp>
      <p:sp>
        <p:nvSpPr>
          <p:cNvPr id="47" name="ev-user-note">
            <a:extLst xmlns:a="http://schemas.openxmlformats.org/drawingml/2006/main">
              <a:ext uri="{FF2B5EF4-FFF2-40B4-BE49-F238E27FC236}">
                <a16:creationId xmlns:a16="http://schemas.microsoft.com/office/drawing/2014/main" id="{5C102EC4-BE73-4A21-BCC2-D3977BC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96200"/>
            <a:ext cx="2095500" cy="39052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8B5ED"/>
            </a:solidFill>
            <a:prstDash val="solid"/>
          </a:ln>
        </p:spPr>
      </p:sp>
      <p:sp>
        <p:nvSpPr>
          <p:cNvPr id="48" name="ev-user-note-text">
            <a:extLst xmlns:a="http://schemas.openxmlformats.org/drawingml/2006/main">
              <a:ext uri="{FF2B5EF4-FFF2-40B4-BE49-F238E27FC236}">
                <a16:creationId xmlns:a16="http://schemas.microsoft.com/office/drawing/2014/main" id="{594DA6DE-BE2A-477B-979C-C032710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73430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• 路径与充电站选择</a:t>
            </a:r>
          </a:p>
        </p:txBody>
      </p:sp>
      <p:sp>
        <p:nvSpPr>
          <p:cNvPr id="49" name="price-to-user-route">
            <a:extLst xmlns:a="http://schemas.openxmlformats.org/drawingml/2006/main">
              <a:ext uri="{FF2B5EF4-FFF2-40B4-BE49-F238E27FC236}">
                <a16:creationId xmlns:a16="http://schemas.microsoft.com/office/drawing/2014/main" id="{BA0468A1-80E1-49FA-9419-DC854FB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076950"/>
            <a:ext cx="95" cy="695325"/>
          </a:xfrm>
          <a:custGeom xmlns:a="http://schemas.openxmlformats.org/drawingml/2006/main">
            <a:pathLst>
              <a:path w="9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50" name="price-to-user-head">
            <a:extLst xmlns:a="http://schemas.openxmlformats.org/drawingml/2006/main">
              <a:ext uri="{FF2B5EF4-FFF2-40B4-BE49-F238E27FC236}">
                <a16:creationId xmlns:a16="http://schemas.microsoft.com/office/drawing/2014/main" id="{4322A090-042D-4929-933F-5B68EF95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" y="66770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51" name="price-label">
            <a:extLst xmlns:a="http://schemas.openxmlformats.org/drawingml/2006/main">
              <a:ext uri="{FF2B5EF4-FFF2-40B4-BE49-F238E27FC236}">
                <a16:creationId xmlns:a16="http://schemas.microsoft.com/office/drawing/2014/main" id="{4D8402EC-6106-429A-B3A6-D855E8B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23887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时空充电价格</a:t>
            </a:r>
          </a:p>
        </p:txBody>
      </p:sp>
      <p:sp>
        <p:nvSpPr>
          <p:cNvPr id="52" name="demand-to-pv-route">
            <a:extLst xmlns:a="http://schemas.openxmlformats.org/drawingml/2006/main">
              <a:ext uri="{FF2B5EF4-FFF2-40B4-BE49-F238E27FC236}">
                <a16:creationId xmlns:a16="http://schemas.microsoft.com/office/drawing/2014/main" id="{C1CA56E0-2883-4432-ADA5-3AB6455B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096000"/>
            <a:ext cx="95" cy="695325"/>
          </a:xfrm>
          <a:custGeom xmlns:a="http://schemas.openxmlformats.org/drawingml/2006/main">
            <a:pathLst>
              <a:path w="95" h="695325">
                <a:moveTo>
                  <a:pt x="0" y="695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53" name="demand-to-pv-head">
            <a:extLst xmlns:a="http://schemas.openxmlformats.org/drawingml/2006/main">
              <a:ext uri="{FF2B5EF4-FFF2-40B4-BE49-F238E27FC236}">
                <a16:creationId xmlns:a16="http://schemas.microsoft.com/office/drawing/2014/main" id="{3E13FBD3-146D-4ECF-9D0B-DCF883A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255" y="6096000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0"/>
                </a:moveTo>
                <a:lnTo>
                  <a:pt x="9144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54" name="demand-label">
            <a:extLst xmlns:a="http://schemas.openxmlformats.org/drawingml/2006/main">
              <a:ext uri="{FF2B5EF4-FFF2-40B4-BE49-F238E27FC236}">
                <a16:creationId xmlns:a16="http://schemas.microsoft.com/office/drawing/2014/main" id="{8BDF2106-B6E5-4F20-A508-C863C6D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2388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充电需求流</a:t>
            </a:r>
          </a:p>
        </p:txBody>
      </p:sp>
      <p:sp>
        <p:nvSpPr>
          <p:cNvPr id="55" name="objective-formula-bg">
            <a:extLst xmlns:a="http://schemas.openxmlformats.org/drawingml/2006/main">
              <a:ext uri="{FF2B5EF4-FFF2-40B4-BE49-F238E27FC236}">
                <a16:creationId xmlns:a16="http://schemas.microsoft.com/office/drawing/2014/main" id="{05D91A27-F384-4C9A-AB57-D5989BF8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00325"/>
            <a:ext cx="5781675" cy="514350"/>
          </a:xfrm>
          <a:prstGeom xmlns:a="http://schemas.openxmlformats.org/drawingml/2006/main" prst="roundRect">
            <a:avLst>
              <a:gd name="adj" fmla="val 12963"/>
            </a:avLst>
          </a:prstGeom>
          <a:gradFill xmlns:a="http://schemas.openxmlformats.org/drawingml/2006/main">
            <a:gsLst>
              <a:gs pos="0">
                <a:srgbClr val="F1FAFF"/>
              </a:gs>
              <a:gs pos="100000">
                <a:srgbClr val="E5F3FF"/>
              </a:gs>
            </a:gsLst>
            <a:lin ang="5400000"/>
          </a:gradFill>
          <a:ln xmlns:a="http://schemas.openxmlformats.org/drawingml/2006/main" w="7620">
            <a:solidFill>
              <a:srgbClr val="8CC6F5"/>
            </a:solidFill>
            <a:prstDash val="solid"/>
          </a:ln>
        </p:spPr>
      </p:sp>
      <p:pic>
        <p:nvPicPr>
          <p:cNvPr id="209" name="objective-total" descr="LATEX:objective-total:\min\ C_{total}=C_{grid}^{inv}+C_{grid}^{op}+C_{EVCS}+C_{user}-R_{trade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cfb14410142bf">
            <a:extLst>
              <a:ext uri="{96DAC541-7B7A-43D3-8B79-37D633B846F1}">
                <asvg:svgBlip xmlns:asvg="http://schemas.microsoft.com/office/drawing/2016/SVG/main" r:embed="rId730333025561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86375" y="2689951"/>
            <a:ext cx="5391150" cy="325573"/>
          </a:xfrm>
          <a:prstGeom xmlns:a="http://schemas.openxmlformats.org/drawingml/2006/main" prst="rect">
            <a:avLst/>
          </a:prstGeom>
        </p:spPr>
      </p:pic>
      <p:sp>
        <p:nvSpPr>
          <p:cNvPr id="57" name="cost-inv-bg">
            <a:extLst xmlns:a="http://schemas.openxmlformats.org/drawingml/2006/main">
              <a:ext uri="{FF2B5EF4-FFF2-40B4-BE49-F238E27FC236}">
                <a16:creationId xmlns:a16="http://schemas.microsoft.com/office/drawing/2014/main" id="{1AC0649E-D3B6-4F4A-940B-D28B9F97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28975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1F9FF"/>
              </a:gs>
              <a:gs pos="100000">
                <a:srgbClr val="E7F2FA"/>
              </a:gs>
            </a:gsLst>
            <a:lin ang="5400000"/>
          </a:gradFill>
          <a:ln xmlns:a="http://schemas.openxmlformats.org/drawingml/2006/main" w="4763">
            <a:solidFill>
              <a:srgbClr val="B7DDF7"/>
            </a:solidFill>
            <a:prstDash val="solid"/>
          </a:ln>
        </p:spPr>
      </p:sp>
      <p:pic>
        <p:nvPicPr>
          <p:cNvPr id="211" name="cost-inv" descr="LATEX:cost-inv:C_{grid}^{inv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9da2144e04103">
            <a:extLst>
              <a:ext uri="{96DAC541-7B7A-43D3-8B79-37D633B846F1}">
                <asvg:svgBlip xmlns:asvg="http://schemas.microsoft.com/office/drawing/2016/SVG/main" r:embed="rId730333025561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4953" y="3248025"/>
            <a:ext cx="396345" cy="247650"/>
          </a:xfrm>
          <a:prstGeom xmlns:a="http://schemas.openxmlformats.org/drawingml/2006/main" prst="rect">
            <a:avLst/>
          </a:prstGeom>
        </p:spPr>
      </p:pic>
      <p:sp>
        <p:nvSpPr>
          <p:cNvPr id="59" name="cost-inv-dash">
            <a:extLst xmlns:a="http://schemas.openxmlformats.org/drawingml/2006/main">
              <a:ext uri="{FF2B5EF4-FFF2-40B4-BE49-F238E27FC236}">
                <a16:creationId xmlns:a16="http://schemas.microsoft.com/office/drawing/2014/main" id="{97619DD8-53DE-412E-91F1-5280DC0D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71850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01820"/>
            </a:solidFill>
            <a:prstDash val="solid"/>
          </a:ln>
        </p:spPr>
      </p:sp>
      <p:sp>
        <p:nvSpPr>
          <p:cNvPr id="60" name="cost-inv-text">
            <a:extLst xmlns:a="http://schemas.openxmlformats.org/drawingml/2006/main">
              <a:ext uri="{FF2B5EF4-FFF2-40B4-BE49-F238E27FC236}">
                <a16:creationId xmlns:a16="http://schemas.microsoft.com/office/drawing/2014/main" id="{98AC5143-995C-4098-8AC8-ED8868D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289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配电线路、变电站等扩建投资成本</a:t>
            </a:r>
          </a:p>
        </p:txBody>
      </p:sp>
      <p:sp>
        <p:nvSpPr>
          <p:cNvPr id="61" name="cost-op-bg">
            <a:extLst xmlns:a="http://schemas.openxmlformats.org/drawingml/2006/main">
              <a:ext uri="{FF2B5EF4-FFF2-40B4-BE49-F238E27FC236}">
                <a16:creationId xmlns:a16="http://schemas.microsoft.com/office/drawing/2014/main" id="{ABA37077-3CBD-4178-B381-C0C0896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62350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1F9FF"/>
              </a:gs>
              <a:gs pos="100000">
                <a:srgbClr val="E7F2FA"/>
              </a:gs>
            </a:gsLst>
            <a:lin ang="5400000"/>
          </a:gradFill>
          <a:ln xmlns:a="http://schemas.openxmlformats.org/drawingml/2006/main" w="4763">
            <a:solidFill>
              <a:srgbClr val="B7DDF7"/>
            </a:solidFill>
            <a:prstDash val="solid"/>
          </a:ln>
        </p:spPr>
      </p:sp>
      <p:pic>
        <p:nvPicPr>
          <p:cNvPr id="215" name="cost-op" descr="LATEX:cost-op:C_{grid}^{op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9058cd08492f">
            <a:extLst>
              <a:ext uri="{96DAC541-7B7A-43D3-8B79-37D633B846F1}">
                <asvg:svgBlip xmlns:asvg="http://schemas.microsoft.com/office/drawing/2016/SVG/main" r:embed="rId730333025561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51109" y="3581400"/>
            <a:ext cx="404032" cy="247650"/>
          </a:xfrm>
          <a:prstGeom xmlns:a="http://schemas.openxmlformats.org/drawingml/2006/main" prst="rect">
            <a:avLst/>
          </a:prstGeom>
        </p:spPr>
      </p:pic>
      <p:sp>
        <p:nvSpPr>
          <p:cNvPr id="63" name="cost-op-dash">
            <a:extLst xmlns:a="http://schemas.openxmlformats.org/drawingml/2006/main">
              <a:ext uri="{FF2B5EF4-FFF2-40B4-BE49-F238E27FC236}">
                <a16:creationId xmlns:a16="http://schemas.microsoft.com/office/drawing/2014/main" id="{A983D7E1-538A-4994-A3C4-6331BAD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01820"/>
            </a:solidFill>
            <a:prstDash val="solid"/>
          </a:ln>
        </p:spPr>
      </p:sp>
      <p:sp>
        <p:nvSpPr>
          <p:cNvPr id="64" name="cost-op-text">
            <a:extLst xmlns:a="http://schemas.openxmlformats.org/drawingml/2006/main">
              <a:ext uri="{FF2B5EF4-FFF2-40B4-BE49-F238E27FC236}">
                <a16:creationId xmlns:a16="http://schemas.microsoft.com/office/drawing/2014/main" id="{B160555A-2901-469D-9DFF-F7703DA8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购电与系统运行成本</a:t>
            </a:r>
          </a:p>
        </p:txBody>
      </p:sp>
      <p:sp>
        <p:nvSpPr>
          <p:cNvPr id="65" name="cost-evcs-bg">
            <a:extLst xmlns:a="http://schemas.openxmlformats.org/drawingml/2006/main">
              <a:ext uri="{FF2B5EF4-FFF2-40B4-BE49-F238E27FC236}">
                <a16:creationId xmlns:a16="http://schemas.microsoft.com/office/drawing/2014/main" id="{2F56B20B-FDB0-43F6-A47C-5B0E70F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95725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1F9FF"/>
              </a:gs>
              <a:gs pos="100000">
                <a:srgbClr val="E7F2FA"/>
              </a:gs>
            </a:gsLst>
            <a:lin ang="5400000"/>
          </a:gradFill>
          <a:ln xmlns:a="http://schemas.openxmlformats.org/drawingml/2006/main" w="4763">
            <a:solidFill>
              <a:srgbClr val="B7DDF7"/>
            </a:solidFill>
            <a:prstDash val="solid"/>
          </a:ln>
        </p:spPr>
      </p:sp>
      <p:pic>
        <p:nvPicPr>
          <p:cNvPr id="219" name="cost-evcs" descr="LATEX:cost-evcs:C_{EVCS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3775ef3cc4a5b">
            <a:extLst>
              <a:ext uri="{96DAC541-7B7A-43D3-8B79-37D633B846F1}">
                <asvg:svgBlip xmlns:asvg="http://schemas.microsoft.com/office/drawing/2016/SVG/main" r:embed="rId730333025561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0225" y="3934819"/>
            <a:ext cx="685800" cy="207562"/>
          </a:xfrm>
          <a:prstGeom xmlns:a="http://schemas.openxmlformats.org/drawingml/2006/main" prst="rect">
            <a:avLst/>
          </a:prstGeom>
        </p:spPr>
      </p:pic>
      <p:sp>
        <p:nvSpPr>
          <p:cNvPr id="67" name="cost-evcs-dash">
            <a:extLst xmlns:a="http://schemas.openxmlformats.org/drawingml/2006/main">
              <a:ext uri="{FF2B5EF4-FFF2-40B4-BE49-F238E27FC236}">
                <a16:creationId xmlns:a16="http://schemas.microsoft.com/office/drawing/2014/main" id="{E8483F8A-30C1-4D03-B6E8-D863C620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01820"/>
            </a:solidFill>
            <a:prstDash val="solid"/>
          </a:ln>
        </p:spPr>
      </p:sp>
      <p:sp>
        <p:nvSpPr>
          <p:cNvPr id="68" name="cost-evcs-text">
            <a:extLst xmlns:a="http://schemas.openxmlformats.org/drawingml/2006/main">
              <a:ext uri="{FF2B5EF4-FFF2-40B4-BE49-F238E27FC236}">
                <a16:creationId xmlns:a16="http://schemas.microsoft.com/office/drawing/2014/main" id="{F85627BC-1A14-4A87-B69A-4AF0A4E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957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充电站投资与运行成本</a:t>
            </a:r>
          </a:p>
        </p:txBody>
      </p:sp>
      <p:sp>
        <p:nvSpPr>
          <p:cNvPr id="69" name="cost-user-bg">
            <a:extLst xmlns:a="http://schemas.openxmlformats.org/drawingml/2006/main">
              <a:ext uri="{FF2B5EF4-FFF2-40B4-BE49-F238E27FC236}">
                <a16:creationId xmlns:a16="http://schemas.microsoft.com/office/drawing/2014/main" id="{1099E17C-CE68-4F22-874D-8131A9AA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29100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1F9FF"/>
              </a:gs>
              <a:gs pos="100000">
                <a:srgbClr val="E7F2FA"/>
              </a:gs>
            </a:gsLst>
            <a:lin ang="5400000"/>
          </a:gradFill>
          <a:ln xmlns:a="http://schemas.openxmlformats.org/drawingml/2006/main" w="4763">
            <a:solidFill>
              <a:srgbClr val="B7DDF7"/>
            </a:solidFill>
            <a:prstDash val="solid"/>
          </a:ln>
        </p:spPr>
      </p:sp>
      <p:pic>
        <p:nvPicPr>
          <p:cNvPr id="223" name="cost-user" descr="LATEX:cost-user:C_{user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a3cdc3de24f77">
            <a:extLst>
              <a:ext uri="{96DAC541-7B7A-43D3-8B79-37D633B846F1}">
                <asvg:svgBlip xmlns:asvg="http://schemas.microsoft.com/office/drawing/2016/SVG/main" r:embed="rId730333025561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9644" y="4248150"/>
            <a:ext cx="626962" cy="247650"/>
          </a:xfrm>
          <a:prstGeom xmlns:a="http://schemas.openxmlformats.org/drawingml/2006/main" prst="rect">
            <a:avLst/>
          </a:prstGeom>
        </p:spPr>
      </p:pic>
      <p:sp>
        <p:nvSpPr>
          <p:cNvPr id="71" name="cost-user-dash">
            <a:extLst xmlns:a="http://schemas.openxmlformats.org/drawingml/2006/main">
              <a:ext uri="{FF2B5EF4-FFF2-40B4-BE49-F238E27FC236}">
                <a16:creationId xmlns:a16="http://schemas.microsoft.com/office/drawing/2014/main" id="{40753D58-ECA0-4D83-A7AA-F156EFEF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71975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01820"/>
            </a:solidFill>
            <a:prstDash val="solid"/>
          </a:ln>
        </p:spPr>
      </p:sp>
      <p:sp>
        <p:nvSpPr>
          <p:cNvPr id="72" name="cost-user-text">
            <a:extLst xmlns:a="http://schemas.openxmlformats.org/drawingml/2006/main">
              <a:ext uri="{FF2B5EF4-FFF2-40B4-BE49-F238E27FC236}">
                <a16:creationId xmlns:a16="http://schemas.microsoft.com/office/drawing/2014/main" id="{211FA42A-F923-4C25-8B63-09A43F0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29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EV出行、排队与充电成本</a:t>
            </a:r>
          </a:p>
        </p:txBody>
      </p:sp>
      <p:sp>
        <p:nvSpPr>
          <p:cNvPr id="73" name="cost-trade-bg">
            <a:extLst xmlns:a="http://schemas.openxmlformats.org/drawingml/2006/main">
              <a:ext uri="{FF2B5EF4-FFF2-40B4-BE49-F238E27FC236}">
                <a16:creationId xmlns:a16="http://schemas.microsoft.com/office/drawing/2014/main" id="{14D9C4F7-1155-4491-9F9C-487B0431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62475"/>
            <a:ext cx="742950" cy="28575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F1F9FF"/>
              </a:gs>
              <a:gs pos="100000">
                <a:srgbClr val="E7F2FA"/>
              </a:gs>
            </a:gsLst>
            <a:lin ang="5400000"/>
          </a:gradFill>
          <a:ln xmlns:a="http://schemas.openxmlformats.org/drawingml/2006/main" w="4763">
            <a:solidFill>
              <a:srgbClr val="B7DDF7"/>
            </a:solidFill>
            <a:prstDash val="solid"/>
          </a:ln>
        </p:spPr>
      </p:sp>
      <p:pic>
        <p:nvPicPr>
          <p:cNvPr id="227" name="cost-trade" descr="LATEX:cost-trade:R_{trade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f5656fb034f6d">
            <a:extLst>
              <a:ext uri="{96DAC541-7B7A-43D3-8B79-37D633B846F1}">
                <asvg:svgBlip xmlns:asvg="http://schemas.microsoft.com/office/drawing/2016/SVG/main" r:embed="rId730333025561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0225" y="4589546"/>
            <a:ext cx="685800" cy="231608"/>
          </a:xfrm>
          <a:prstGeom xmlns:a="http://schemas.openxmlformats.org/drawingml/2006/main" prst="rect">
            <a:avLst/>
          </a:prstGeom>
        </p:spPr>
      </p:pic>
      <p:sp>
        <p:nvSpPr>
          <p:cNvPr id="75" name="cost-trade-dash">
            <a:extLst xmlns:a="http://schemas.openxmlformats.org/drawingml/2006/main">
              <a:ext uri="{FF2B5EF4-FFF2-40B4-BE49-F238E27FC236}">
                <a16:creationId xmlns:a16="http://schemas.microsoft.com/office/drawing/2014/main" id="{B7D84B07-A3DE-437F-971B-664BC2C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01820"/>
            </a:solidFill>
            <a:prstDash val="solid"/>
          </a:ln>
        </p:spPr>
      </p:sp>
      <p:sp>
        <p:nvSpPr>
          <p:cNvPr id="76" name="cost-trade-text">
            <a:extLst xmlns:a="http://schemas.openxmlformats.org/drawingml/2006/main">
              <a:ext uri="{FF2B5EF4-FFF2-40B4-BE49-F238E27FC236}">
                <a16:creationId xmlns:a16="http://schemas.microsoft.com/office/drawing/2014/main" id="{0A39F672-FE13-4128-B628-431D9B71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62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PV-grid-EV交易带来的协同收益</a:t>
            </a:r>
          </a:p>
        </p:txBody>
      </p:sp>
      <p:sp>
        <p:nvSpPr>
          <p:cNvPr id="77" name="cons1">
            <a:extLst xmlns:a="http://schemas.openxmlformats.org/drawingml/2006/main">
              <a:ext uri="{FF2B5EF4-FFF2-40B4-BE49-F238E27FC236}">
                <a16:creationId xmlns:a16="http://schemas.microsoft.com/office/drawing/2014/main" id="{5AECE070-0B41-4212-B97E-52CB72F9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48300"/>
            <a:ext cx="2895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B8F4"/>
            </a:solidFill>
            <a:prstDash val="solid"/>
          </a:ln>
        </p:spPr>
      </p:sp>
      <p:sp>
        <p:nvSpPr>
          <p:cNvPr id="78" name="cons1-head">
            <a:extLst xmlns:a="http://schemas.openxmlformats.org/drawingml/2006/main">
              <a:ext uri="{FF2B5EF4-FFF2-40B4-BE49-F238E27FC236}">
                <a16:creationId xmlns:a16="http://schemas.microsoft.com/office/drawing/2014/main" id="{DA67420B-F3E1-4D75-B4C5-B739BCC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57825"/>
            <a:ext cx="2876550" cy="295275"/>
          </a:xfrm>
          <a:prstGeom xmlns:a="http://schemas.openxmlformats.org/drawingml/2006/main" prst="roundRect">
            <a:avLst>
              <a:gd name="adj" fmla="val 22581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4F1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9" name="cons1-num">
            <a:extLst xmlns:a="http://schemas.openxmlformats.org/drawingml/2006/main">
              <a:ext uri="{FF2B5EF4-FFF2-40B4-BE49-F238E27FC236}">
                <a16:creationId xmlns:a16="http://schemas.microsoft.com/office/drawing/2014/main" id="{C09C2A83-E8EE-4160-9051-B813B8BF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76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ons1-num-t">
            <a:extLst xmlns:a="http://schemas.openxmlformats.org/drawingml/2006/main">
              <a:ext uri="{FF2B5EF4-FFF2-40B4-BE49-F238E27FC236}">
                <a16:creationId xmlns:a16="http://schemas.microsoft.com/office/drawing/2014/main" id="{35499840-E93E-4917-8A8D-74E84A3C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76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1" name="cons1-title">
            <a:extLst xmlns:a="http://schemas.openxmlformats.org/drawingml/2006/main">
              <a:ext uri="{FF2B5EF4-FFF2-40B4-BE49-F238E27FC236}">
                <a16:creationId xmlns:a16="http://schemas.microsoft.com/office/drawing/2014/main" id="{CDBB7596-355E-455C-90A9-0A2E22AA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578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潮流与节点功率平衡约束</a:t>
            </a:r>
          </a:p>
        </p:txBody>
      </p:sp>
      <p:sp>
        <p:nvSpPr>
          <p:cNvPr id="82" name="cons2">
            <a:extLst xmlns:a="http://schemas.openxmlformats.org/drawingml/2006/main">
              <a:ext uri="{FF2B5EF4-FFF2-40B4-BE49-F238E27FC236}">
                <a16:creationId xmlns:a16="http://schemas.microsoft.com/office/drawing/2014/main" id="{D8A7E7D1-E7DA-49DC-ADF0-04061D9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2905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B8F4"/>
            </a:solidFill>
            <a:prstDash val="solid"/>
          </a:ln>
        </p:spPr>
      </p:sp>
      <p:sp>
        <p:nvSpPr>
          <p:cNvPr id="83" name="cons2-head">
            <a:extLst xmlns:a="http://schemas.openxmlformats.org/drawingml/2006/main">
              <a:ext uri="{FF2B5EF4-FFF2-40B4-BE49-F238E27FC236}">
                <a16:creationId xmlns:a16="http://schemas.microsoft.com/office/drawing/2014/main" id="{77FB743E-9737-450C-A1F9-AEF460E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57825"/>
            <a:ext cx="2886075" cy="295275"/>
          </a:xfrm>
          <a:prstGeom xmlns:a="http://schemas.openxmlformats.org/drawingml/2006/main" prst="roundRect">
            <a:avLst>
              <a:gd name="adj" fmla="val 22581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4F1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4" name="cons2-num">
            <a:extLst xmlns:a="http://schemas.openxmlformats.org/drawingml/2006/main">
              <a:ext uri="{FF2B5EF4-FFF2-40B4-BE49-F238E27FC236}">
                <a16:creationId xmlns:a16="http://schemas.microsoft.com/office/drawing/2014/main" id="{792E0FD2-DD67-46D8-B5FF-C11BCE00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cons2-num-t">
            <a:extLst xmlns:a="http://schemas.openxmlformats.org/drawingml/2006/main">
              <a:ext uri="{FF2B5EF4-FFF2-40B4-BE49-F238E27FC236}">
                <a16:creationId xmlns:a16="http://schemas.microsoft.com/office/drawing/2014/main" id="{9D301C67-99BA-40C3-B564-CB93898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6" name="cons2-title">
            <a:extLst xmlns:a="http://schemas.openxmlformats.org/drawingml/2006/main">
              <a:ext uri="{FF2B5EF4-FFF2-40B4-BE49-F238E27FC236}">
                <a16:creationId xmlns:a16="http://schemas.microsoft.com/office/drawing/2014/main" id="{C1E2DD00-BCEE-44B1-964D-A9E5203E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57825"/>
            <a:ext cx="2409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线路与变电站容量约束</a:t>
            </a:r>
          </a:p>
        </p:txBody>
      </p:sp>
      <p:sp>
        <p:nvSpPr>
          <p:cNvPr id="87" name="cons3">
            <a:extLst xmlns:a="http://schemas.openxmlformats.org/drawingml/2006/main">
              <a:ext uri="{FF2B5EF4-FFF2-40B4-BE49-F238E27FC236}">
                <a16:creationId xmlns:a16="http://schemas.microsoft.com/office/drawing/2014/main" id="{A38BC8BE-B787-4774-A534-73648AEE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477000"/>
            <a:ext cx="2895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B8F4"/>
            </a:solidFill>
            <a:prstDash val="solid"/>
          </a:ln>
        </p:spPr>
      </p:sp>
      <p:sp>
        <p:nvSpPr>
          <p:cNvPr id="88" name="cons3-head">
            <a:extLst xmlns:a="http://schemas.openxmlformats.org/drawingml/2006/main">
              <a:ext uri="{FF2B5EF4-FFF2-40B4-BE49-F238E27FC236}">
                <a16:creationId xmlns:a16="http://schemas.microsoft.com/office/drawing/2014/main" id="{D95F5CF6-75D4-4796-BE0D-1C2BCC9B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486525"/>
            <a:ext cx="2876550" cy="295275"/>
          </a:xfrm>
          <a:prstGeom xmlns:a="http://schemas.openxmlformats.org/drawingml/2006/main" prst="roundRect">
            <a:avLst>
              <a:gd name="adj" fmla="val 22581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4F1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9" name="cons3-num">
            <a:extLst xmlns:a="http://schemas.openxmlformats.org/drawingml/2006/main">
              <a:ext uri="{FF2B5EF4-FFF2-40B4-BE49-F238E27FC236}">
                <a16:creationId xmlns:a16="http://schemas.microsoft.com/office/drawing/2014/main" id="{7243BEC4-078D-421A-B7F4-E2FA2DD0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05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ons3-num-t">
            <a:extLst xmlns:a="http://schemas.openxmlformats.org/drawingml/2006/main">
              <a:ext uri="{FF2B5EF4-FFF2-40B4-BE49-F238E27FC236}">
                <a16:creationId xmlns:a16="http://schemas.microsoft.com/office/drawing/2014/main" id="{B4D3043B-DDC1-47D1-9730-52BEF30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505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1" name="cons3-title">
            <a:extLst xmlns:a="http://schemas.openxmlformats.org/drawingml/2006/main">
              <a:ext uri="{FF2B5EF4-FFF2-40B4-BE49-F238E27FC236}">
                <a16:creationId xmlns:a16="http://schemas.microsoft.com/office/drawing/2014/main" id="{28177C31-BC3E-4564-B740-FE5C33E7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4865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充电站容量与服务约束</a:t>
            </a:r>
          </a:p>
        </p:txBody>
      </p:sp>
      <p:sp>
        <p:nvSpPr>
          <p:cNvPr id="92" name="cons4">
            <a:extLst xmlns:a="http://schemas.openxmlformats.org/drawingml/2006/main">
              <a:ext uri="{FF2B5EF4-FFF2-40B4-BE49-F238E27FC236}">
                <a16:creationId xmlns:a16="http://schemas.microsoft.com/office/drawing/2014/main" id="{4CBCF150-AF5F-4B21-9F58-4FB0A9E8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2905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B8F4"/>
            </a:solidFill>
            <a:prstDash val="solid"/>
          </a:ln>
        </p:spPr>
      </p:sp>
      <p:sp>
        <p:nvSpPr>
          <p:cNvPr id="93" name="cons4-head">
            <a:extLst xmlns:a="http://schemas.openxmlformats.org/drawingml/2006/main">
              <a:ext uri="{FF2B5EF4-FFF2-40B4-BE49-F238E27FC236}">
                <a16:creationId xmlns:a16="http://schemas.microsoft.com/office/drawing/2014/main" id="{7DA40DEE-52F8-4456-BD91-B3C2B61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486525"/>
            <a:ext cx="2886075" cy="295275"/>
          </a:xfrm>
          <a:prstGeom xmlns:a="http://schemas.openxmlformats.org/drawingml/2006/main" prst="roundRect">
            <a:avLst>
              <a:gd name="adj" fmla="val 22581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4F1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4" name="cons4-num">
            <a:extLst xmlns:a="http://schemas.openxmlformats.org/drawingml/2006/main">
              <a:ext uri="{FF2B5EF4-FFF2-40B4-BE49-F238E27FC236}">
                <a16:creationId xmlns:a16="http://schemas.microsoft.com/office/drawing/2014/main" id="{E873497D-5448-4441-9CCF-097D57F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05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cons4-num-t">
            <a:extLst xmlns:a="http://schemas.openxmlformats.org/drawingml/2006/main">
              <a:ext uri="{FF2B5EF4-FFF2-40B4-BE49-F238E27FC236}">
                <a16:creationId xmlns:a16="http://schemas.microsoft.com/office/drawing/2014/main" id="{90536B23-1DC5-4F1C-981B-43F42CF9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05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6" name="cons4-title">
            <a:extLst xmlns:a="http://schemas.openxmlformats.org/drawingml/2006/main">
              <a:ext uri="{FF2B5EF4-FFF2-40B4-BE49-F238E27FC236}">
                <a16:creationId xmlns:a16="http://schemas.microsoft.com/office/drawing/2014/main" id="{65B4A7B7-79F3-4EC0-BE2E-4BBBDB18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486525"/>
            <a:ext cx="2409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PV/储能运行约束</a:t>
            </a:r>
          </a:p>
        </p:txBody>
      </p:sp>
      <p:sp>
        <p:nvSpPr>
          <p:cNvPr id="97" name="cons5">
            <a:extLst xmlns:a="http://schemas.openxmlformats.org/drawingml/2006/main">
              <a:ext uri="{FF2B5EF4-FFF2-40B4-BE49-F238E27FC236}">
                <a16:creationId xmlns:a16="http://schemas.microsoft.com/office/drawing/2014/main" id="{BF138595-8913-402A-92B9-AB66A3A8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7543800"/>
            <a:ext cx="58959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B8F4"/>
            </a:solidFill>
            <a:prstDash val="solid"/>
          </a:ln>
        </p:spPr>
      </p:sp>
      <p:sp>
        <p:nvSpPr>
          <p:cNvPr id="98" name="cons5-head">
            <a:extLst xmlns:a="http://schemas.openxmlformats.org/drawingml/2006/main">
              <a:ext uri="{FF2B5EF4-FFF2-40B4-BE49-F238E27FC236}">
                <a16:creationId xmlns:a16="http://schemas.microsoft.com/office/drawing/2014/main" id="{A9778239-5FD5-469E-9B19-6DFA228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553325"/>
            <a:ext cx="5876925" cy="295275"/>
          </a:xfrm>
          <a:prstGeom xmlns:a="http://schemas.openxmlformats.org/drawingml/2006/main" prst="roundRect">
            <a:avLst>
              <a:gd name="adj" fmla="val 22581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4F1F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9" name="cons5-num">
            <a:extLst xmlns:a="http://schemas.openxmlformats.org/drawingml/2006/main">
              <a:ext uri="{FF2B5EF4-FFF2-40B4-BE49-F238E27FC236}">
                <a16:creationId xmlns:a16="http://schemas.microsoft.com/office/drawing/2014/main" id="{A24CFFC4-1876-42BA-8EDB-61A7A45D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7572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6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cons5-num-t">
            <a:extLst xmlns:a="http://schemas.openxmlformats.org/drawingml/2006/main">
              <a:ext uri="{FF2B5EF4-FFF2-40B4-BE49-F238E27FC236}">
                <a16:creationId xmlns:a16="http://schemas.microsoft.com/office/drawing/2014/main" id="{5F368064-298E-457D-B24C-2E590CD9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7572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1" name="cons5-title">
            <a:extLst xmlns:a="http://schemas.openxmlformats.org/drawingml/2006/main">
              <a:ext uri="{FF2B5EF4-FFF2-40B4-BE49-F238E27FC236}">
                <a16:creationId xmlns:a16="http://schemas.microsoft.com/office/drawing/2014/main" id="{C13CAE51-5F03-485E-BE4A-054399C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553325"/>
            <a:ext cx="540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交易平衡与价格响应约束</a:t>
            </a:r>
          </a:p>
        </p:txBody>
      </p:sp>
      <p:pic>
        <p:nvPicPr>
          <p:cNvPr id="255" name="cons-balance" descr="LATEX:cons-balance:P_{in}-P_{out}=P_{load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4cd4883e4427c">
            <a:extLst>
              <a:ext uri="{96DAC541-7B7A-43D3-8B79-37D633B846F1}">
                <asvg:svgBlip xmlns:asvg="http://schemas.microsoft.com/office/drawing/2016/SVG/main" r:embed="rId730333025561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10250" y="5837056"/>
            <a:ext cx="1428750" cy="155937"/>
          </a:xfrm>
          <a:prstGeom xmlns:a="http://schemas.openxmlformats.org/drawingml/2006/main" prst="rect">
            <a:avLst/>
          </a:prstGeom>
        </p:spPr>
      </p:pic>
      <p:sp>
        <p:nvSpPr>
          <p:cNvPr id="103" name="cons1-note">
            <a:extLst xmlns:a="http://schemas.openxmlformats.org/drawingml/2006/main">
              <a:ext uri="{FF2B5EF4-FFF2-40B4-BE49-F238E27FC236}">
                <a16:creationId xmlns:a16="http://schemas.microsoft.com/office/drawing/2014/main" id="{E79F9702-B0F4-41CC-8C05-A04A6BD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0674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保证各节点有功/无功供需平衡，</a:t>
            </a:r>
          </a:p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满足配电网运行可行性。</a:t>
            </a:r>
          </a:p>
        </p:txBody>
      </p:sp>
      <p:pic>
        <p:nvPicPr>
          <p:cNvPr id="257" name="cons-cap" descr="LATEX:cons-cap:|P_l|\leq P_l^{max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fc9ea729f4c53">
            <a:extLst>
              <a:ext uri="{96DAC541-7B7A-43D3-8B79-37D633B846F1}">
                <asvg:svgBlip xmlns:asvg="http://schemas.microsoft.com/office/drawing/2016/SVG/main" r:embed="rId730333025561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05875" y="5806440"/>
            <a:ext cx="1085850" cy="217170"/>
          </a:xfrm>
          <a:prstGeom xmlns:a="http://schemas.openxmlformats.org/drawingml/2006/main" prst="rect">
            <a:avLst/>
          </a:prstGeom>
        </p:spPr>
      </p:pic>
      <p:sp>
        <p:nvSpPr>
          <p:cNvPr id="105" name="cons2-note">
            <a:extLst xmlns:a="http://schemas.openxmlformats.org/drawingml/2006/main">
              <a:ext uri="{FF2B5EF4-FFF2-40B4-BE49-F238E27FC236}">
                <a16:creationId xmlns:a16="http://schemas.microsoft.com/office/drawing/2014/main" id="{F24AF670-E632-4852-AAC4-C116E84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067425"/>
            <a:ext cx="2257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限制线路和变电站不过载，</a:t>
            </a:r>
          </a:p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避免网络拥塞。</a:t>
            </a:r>
          </a:p>
        </p:txBody>
      </p:sp>
      <p:pic>
        <p:nvPicPr>
          <p:cNvPr id="259" name="cons-evcs" descr="LATEX:cons-evcs:0\leq P_{evcs}\leq P_{evcs}^{max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3bd3bb29b4a50">
            <a:extLst>
              <a:ext uri="{96DAC541-7B7A-43D3-8B79-37D633B846F1}">
                <asvg:svgBlip xmlns:asvg="http://schemas.microsoft.com/office/drawing/2016/SVG/main" r:embed="rId730333025561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6848903"/>
            <a:ext cx="1524000" cy="199169"/>
          </a:xfrm>
          <a:prstGeom xmlns:a="http://schemas.openxmlformats.org/drawingml/2006/main" prst="rect">
            <a:avLst/>
          </a:prstGeom>
        </p:spPr>
      </p:pic>
      <p:sp>
        <p:nvSpPr>
          <p:cNvPr id="107" name="cons3-note">
            <a:extLst xmlns:a="http://schemas.openxmlformats.org/drawingml/2006/main">
              <a:ext uri="{FF2B5EF4-FFF2-40B4-BE49-F238E27FC236}">
                <a16:creationId xmlns:a16="http://schemas.microsoft.com/office/drawing/2014/main" id="{D4EE71AC-BE5E-4B6F-8BE3-2F60B34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105650"/>
            <a:ext cx="2295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限制充电站服务能力，</a:t>
            </a:r>
          </a:p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反映充电桩容量边界。</a:t>
            </a:r>
          </a:p>
        </p:txBody>
      </p:sp>
      <p:pic>
        <p:nvPicPr>
          <p:cNvPr id="261" name="cons-soc" descr="LATEX:cons-soc:SOC_{min}\leq SOC_t\leq SOC_{max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6fd05784040b1">
            <a:extLst>
              <a:ext uri="{96DAC541-7B7A-43D3-8B79-37D633B846F1}">
                <asvg:svgBlip xmlns:asvg="http://schemas.microsoft.com/office/drawing/2016/SVG/main" r:embed="rId730333025561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15350" y="6883040"/>
            <a:ext cx="1857375" cy="130894"/>
          </a:xfrm>
          <a:prstGeom xmlns:a="http://schemas.openxmlformats.org/drawingml/2006/main" prst="rect">
            <a:avLst/>
          </a:prstGeom>
        </p:spPr>
      </p:pic>
      <p:sp>
        <p:nvSpPr>
          <p:cNvPr id="109" name="cons4-note">
            <a:extLst xmlns:a="http://schemas.openxmlformats.org/drawingml/2006/main">
              <a:ext uri="{FF2B5EF4-FFF2-40B4-BE49-F238E27FC236}">
                <a16:creationId xmlns:a16="http://schemas.microsoft.com/office/drawing/2014/main" id="{66131444-42E3-4A73-98BF-97C054C6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10565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描述储能充放电与PV消纳能力，</a:t>
            </a:r>
          </a:p>
          <a:p xmlns:a="http://schemas.openxmlformats.org/drawingml/2006/main">
            <a:pPr algn="ctr">
              <a:def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体现灵活资源调节边界。</a:t>
            </a:r>
          </a:p>
        </p:txBody>
      </p:sp>
      <p:pic>
        <p:nvPicPr>
          <p:cNvPr id="263" name="cons-trade" descr="LATEX:cons-trade:P_{mn}^{trade}=P_{nm}^{trade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b4e0cc8c6439c">
            <a:extLst>
              <a:ext uri="{96DAC541-7B7A-43D3-8B79-37D633B846F1}">
                <asvg:svgBlip xmlns:asvg="http://schemas.microsoft.com/office/drawing/2016/SVG/main" r:embed="rId730333025561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3203" y="7610475"/>
            <a:ext cx="1368193" cy="247650"/>
          </a:xfrm>
          <a:prstGeom xmlns:a="http://schemas.openxmlformats.org/drawingml/2006/main" prst="rect">
            <a:avLst/>
          </a:prstGeom>
        </p:spPr>
      </p:pic>
      <p:sp>
        <p:nvSpPr>
          <p:cNvPr id="111" name="cons5-note">
            <a:extLst xmlns:a="http://schemas.openxmlformats.org/drawingml/2006/main">
              <a:ext uri="{FF2B5EF4-FFF2-40B4-BE49-F238E27FC236}">
                <a16:creationId xmlns:a16="http://schemas.microsoft.com/office/drawing/2014/main" id="{27FC561D-473C-49B0-AB3C-E239FF08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877175"/>
            <a:ext cx="4219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保证P2P交易功率平衡，并通过价格信号引导EV充电需求转移。</a:t>
            </a:r>
          </a:p>
        </p:txBody>
      </p:sp>
      <p:sp>
        <p:nvSpPr>
          <p:cNvPr id="112" name="flow-input">
            <a:extLst xmlns:a="http://schemas.openxmlformats.org/drawingml/2006/main">
              <a:ext uri="{FF2B5EF4-FFF2-40B4-BE49-F238E27FC236}">
                <a16:creationId xmlns:a16="http://schemas.microsoft.com/office/drawing/2014/main" id="{4D56FC64-DA80-41D3-9417-85199177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619375"/>
            <a:ext cx="3419475" cy="381000"/>
          </a:xfrm>
          <a:prstGeom xmlns:a="http://schemas.openxmlformats.org/drawingml/2006/main" prst="roundRect">
            <a:avLst>
              <a:gd name="adj" fmla="val 17500"/>
            </a:avLst>
          </a:prstGeom>
          <a:gradFill xmlns:a="http://schemas.openxmlformats.org/drawingml/2006/main">
            <a:gsLst>
              <a:gs pos="0">
                <a:srgbClr val="F4FBFF"/>
              </a:gs>
              <a:gs pos="100000">
                <a:srgbClr val="E4F2FE"/>
              </a:gs>
            </a:gsLst>
            <a:lin ang="5400000"/>
          </a:gradFill>
          <a:ln xmlns:a="http://schemas.openxmlformats.org/drawingml/2006/main" w="9525">
            <a:solidFill>
              <a:srgbClr val="0A64D6"/>
            </a:solidFill>
            <a:prstDash val="solid"/>
          </a:ln>
        </p:spPr>
      </p:sp>
      <p:sp>
        <p:nvSpPr>
          <p:cNvPr id="113" name="flow-input-t">
            <a:extLst xmlns:a="http://schemas.openxmlformats.org/drawingml/2006/main">
              <a:ext uri="{FF2B5EF4-FFF2-40B4-BE49-F238E27FC236}">
                <a16:creationId xmlns:a16="http://schemas.microsoft.com/office/drawing/2014/main" id="{835EB710-A868-4D39-BB79-1F0F873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638425"/>
            <a:ext cx="3343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输入：负荷、EV出行、PV资源、网络参数</a:t>
            </a:r>
          </a:p>
        </p:txBody>
      </p:sp>
      <p:sp>
        <p:nvSpPr>
          <p:cNvPr id="114" name="f1-route">
            <a:extLst xmlns:a="http://schemas.openxmlformats.org/drawingml/2006/main">
              <a:ext uri="{FF2B5EF4-FFF2-40B4-BE49-F238E27FC236}">
                <a16:creationId xmlns:a16="http://schemas.microsoft.com/office/drawing/2014/main" id="{B95674C7-3484-4EAF-A7B5-A3740B0A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3000375"/>
            <a:ext cx="95" cy="161925"/>
          </a:xfrm>
          <a:custGeom xmlns:a="http://schemas.openxmlformats.org/drawingml/2006/main"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15" name="f1-head">
            <a:extLst xmlns:a="http://schemas.openxmlformats.org/drawingml/2006/main">
              <a:ext uri="{FF2B5EF4-FFF2-40B4-BE49-F238E27FC236}">
                <a16:creationId xmlns:a16="http://schemas.microsoft.com/office/drawing/2014/main" id="{C213D77D-75B7-43E1-85A4-AB18FED5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30765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16" name="flow-init">
            <a:extLst xmlns:a="http://schemas.openxmlformats.org/drawingml/2006/main">
              <a:ext uri="{FF2B5EF4-FFF2-40B4-BE49-F238E27FC236}">
                <a16:creationId xmlns:a16="http://schemas.microsoft.com/office/drawing/2014/main" id="{31C9A421-9598-4CE1-AF51-AE36874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181350"/>
            <a:ext cx="2828925" cy="390525"/>
          </a:xfrm>
          <a:prstGeom xmlns:a="http://schemas.openxmlformats.org/drawingml/2006/main" prst="roundRect">
            <a:avLst>
              <a:gd name="adj" fmla="val 17073"/>
            </a:avLst>
          </a:prstGeom>
          <a:gradFill xmlns:a="http://schemas.openxmlformats.org/drawingml/2006/main">
            <a:gsLst>
              <a:gs pos="0">
                <a:srgbClr val="F4FBFF"/>
              </a:gs>
              <a:gs pos="100000">
                <a:srgbClr val="E4F2FE"/>
              </a:gs>
            </a:gsLst>
            <a:lin ang="5400000"/>
          </a:gradFill>
          <a:ln xmlns:a="http://schemas.openxmlformats.org/drawingml/2006/main" w="9525">
            <a:solidFill>
              <a:srgbClr val="0A64D6"/>
            </a:solidFill>
            <a:prstDash val="solid"/>
          </a:ln>
        </p:spPr>
      </p:sp>
      <p:sp>
        <p:nvSpPr>
          <p:cNvPr id="117" name="flow-init-t">
            <a:extLst xmlns:a="http://schemas.openxmlformats.org/drawingml/2006/main">
              <a:ext uri="{FF2B5EF4-FFF2-40B4-BE49-F238E27FC236}">
                <a16:creationId xmlns:a16="http://schemas.microsoft.com/office/drawing/2014/main" id="{8BC6FA88-1F07-4662-B139-687AAC00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2004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场景生成与模型初始化</a:t>
            </a:r>
          </a:p>
        </p:txBody>
      </p:sp>
      <p:sp>
        <p:nvSpPr>
          <p:cNvPr id="118" name="f2-route">
            <a:extLst xmlns:a="http://schemas.openxmlformats.org/drawingml/2006/main">
              <a:ext uri="{FF2B5EF4-FFF2-40B4-BE49-F238E27FC236}">
                <a16:creationId xmlns:a16="http://schemas.microsoft.com/office/drawing/2014/main" id="{8F74E036-BD64-48E0-92EE-A8EF01D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3571875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19" name="f2-head">
            <a:extLst xmlns:a="http://schemas.openxmlformats.org/drawingml/2006/main">
              <a:ext uri="{FF2B5EF4-FFF2-40B4-BE49-F238E27FC236}">
                <a16:creationId xmlns:a16="http://schemas.microsoft.com/office/drawing/2014/main" id="{0ED50F8F-F212-4F96-9289-A26FE60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3638550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20" name="flow-idso">
            <a:extLst xmlns:a="http://schemas.openxmlformats.org/drawingml/2006/main">
              <a:ext uri="{FF2B5EF4-FFF2-40B4-BE49-F238E27FC236}">
                <a16:creationId xmlns:a16="http://schemas.microsoft.com/office/drawing/2014/main" id="{09F8626A-F1AD-46C6-8A41-B586DC0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743325"/>
            <a:ext cx="2828925" cy="5334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EEFAEE"/>
              </a:gs>
              <a:gs pos="100000">
                <a:srgbClr val="DDF3DF"/>
              </a:gs>
            </a:gsLst>
            <a:lin ang="5400000"/>
          </a:gradFill>
          <a:ln xmlns:a="http://schemas.openxmlformats.org/drawingml/2006/main" w="9525">
            <a:solidFill>
              <a:srgbClr val="5CB966"/>
            </a:solidFill>
            <a:prstDash val="solid"/>
          </a:ln>
        </p:spPr>
      </p:sp>
      <p:sp>
        <p:nvSpPr>
          <p:cNvPr id="121" name="flow-idso-t">
            <a:extLst xmlns:a="http://schemas.openxmlformats.org/drawingml/2006/main">
              <a:ext uri="{FF2B5EF4-FFF2-40B4-BE49-F238E27FC236}">
                <a16:creationId xmlns:a16="http://schemas.microsoft.com/office/drawing/2014/main" id="{E359C138-DB59-4B1A-AC5B-6DF298C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762375"/>
            <a:ext cx="2752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上层IDSO规划</a:t>
            </a:r>
          </a:p>
          <a:p xmlns:a="http://schemas.openxmlformats.org/drawingml/2006/main">
            <a:pPr algn="ctr">
              <a:defRPr sz="14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（确定配网扩建与网络费用）</a:t>
            </a:r>
          </a:p>
        </p:txBody>
      </p:sp>
      <p:sp>
        <p:nvSpPr>
          <p:cNvPr id="122" name="f3-route">
            <a:extLst xmlns:a="http://schemas.openxmlformats.org/drawingml/2006/main">
              <a:ext uri="{FF2B5EF4-FFF2-40B4-BE49-F238E27FC236}">
                <a16:creationId xmlns:a16="http://schemas.microsoft.com/office/drawing/2014/main" id="{D7C1E934-DB2B-45B6-89CE-01C4F713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276725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23" name="f3-head">
            <a:extLst xmlns:a="http://schemas.openxmlformats.org/drawingml/2006/main">
              <a:ext uri="{FF2B5EF4-FFF2-40B4-BE49-F238E27FC236}">
                <a16:creationId xmlns:a16="http://schemas.microsoft.com/office/drawing/2014/main" id="{60A006D2-DBB0-419C-9CE3-6318023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43719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24" name="flow-lower">
            <a:extLst xmlns:a="http://schemas.openxmlformats.org/drawingml/2006/main">
              <a:ext uri="{FF2B5EF4-FFF2-40B4-BE49-F238E27FC236}">
                <a16:creationId xmlns:a16="http://schemas.microsoft.com/office/drawing/2014/main" id="{0A8DDAD1-B25D-4158-8C66-2CEFAFB0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486275"/>
            <a:ext cx="2828925" cy="542925"/>
          </a:xfrm>
          <a:prstGeom xmlns:a="http://schemas.openxmlformats.org/drawingml/2006/main" prst="roundRect">
            <a:avLst>
              <a:gd name="adj" fmla="val 12281"/>
            </a:avLst>
          </a:prstGeom>
          <a:gradFill xmlns:a="http://schemas.openxmlformats.org/drawingml/2006/main">
            <a:gsLst>
              <a:gs pos="0">
                <a:srgbClr val="FFF8E7"/>
              </a:gs>
              <a:gs pos="100000">
                <a:srgbClr val="F8E5B3"/>
              </a:gs>
            </a:gsLst>
            <a:lin ang="5400000"/>
          </a:gradFill>
          <a:ln xmlns:a="http://schemas.openxmlformats.org/drawingml/2006/main" w="9525">
            <a:solidFill>
              <a:srgbClr val="D89D08"/>
            </a:solidFill>
            <a:prstDash val="solid"/>
          </a:ln>
        </p:spPr>
      </p:sp>
      <p:sp>
        <p:nvSpPr>
          <p:cNvPr id="125" name="flow-lower-t">
            <a:extLst xmlns:a="http://schemas.openxmlformats.org/drawingml/2006/main">
              <a:ext uri="{FF2B5EF4-FFF2-40B4-BE49-F238E27FC236}">
                <a16:creationId xmlns:a16="http://schemas.microsoft.com/office/drawing/2014/main" id="{733DCAB5-5776-4E4A-914C-6450AE0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505325"/>
            <a:ext cx="2752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下层EVCS / PV产消者决策</a:t>
            </a:r>
          </a:p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（规划-运行交替优化）</a:t>
            </a:r>
          </a:p>
        </p:txBody>
      </p:sp>
      <p:sp>
        <p:nvSpPr>
          <p:cNvPr id="126" name="f4-route">
            <a:extLst xmlns:a="http://schemas.openxmlformats.org/drawingml/2006/main">
              <a:ext uri="{FF2B5EF4-FFF2-40B4-BE49-F238E27FC236}">
                <a16:creationId xmlns:a16="http://schemas.microsoft.com/office/drawing/2014/main" id="{C73DDC57-3EB6-447F-B83E-30EFBDA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0292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27" name="f4-head">
            <a:extLst xmlns:a="http://schemas.openxmlformats.org/drawingml/2006/main">
              <a:ext uri="{FF2B5EF4-FFF2-40B4-BE49-F238E27FC236}">
                <a16:creationId xmlns:a16="http://schemas.microsoft.com/office/drawing/2014/main" id="{DB25D92D-F8BB-48DD-9D5E-8BE53177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51339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28" name="aop-note">
            <a:extLst xmlns:a="http://schemas.openxmlformats.org/drawingml/2006/main">
              <a:ext uri="{FF2B5EF4-FFF2-40B4-BE49-F238E27FC236}">
                <a16:creationId xmlns:a16="http://schemas.microsoft.com/office/drawing/2014/main" id="{E40131AC-86AB-457B-8BF1-068DE0B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4457700"/>
            <a:ext cx="11049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B7EA"/>
            </a:solidFill>
            <a:prstDash val="solid"/>
          </a:ln>
        </p:spPr>
      </p:sp>
      <p:sp>
        <p:nvSpPr>
          <p:cNvPr id="129" name="aop-note-t">
            <a:extLst xmlns:a="http://schemas.openxmlformats.org/drawingml/2006/main">
              <a:ext uri="{FF2B5EF4-FFF2-40B4-BE49-F238E27FC236}">
                <a16:creationId xmlns:a16="http://schemas.microsoft.com/office/drawing/2014/main" id="{7CDB7189-5A8A-4899-92BA-F9B9DDB8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4524375"/>
            <a:ext cx="990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AOP—处理规划</a:t>
            </a:r>
          </a:p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变量与运行变量</a:t>
            </a:r>
          </a:p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交替优化</a:t>
            </a:r>
          </a:p>
        </p:txBody>
      </p:sp>
      <p:sp>
        <p:nvSpPr>
          <p:cNvPr id="130" name="flow-admm">
            <a:extLst xmlns:a="http://schemas.openxmlformats.org/drawingml/2006/main">
              <a:ext uri="{FF2B5EF4-FFF2-40B4-BE49-F238E27FC236}">
                <a16:creationId xmlns:a16="http://schemas.microsoft.com/office/drawing/2014/main" id="{4F7A24CD-A2E5-4158-9200-17C93AE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48275"/>
            <a:ext cx="2828925" cy="523875"/>
          </a:xfrm>
          <a:prstGeom xmlns:a="http://schemas.openxmlformats.org/drawingml/2006/main" prst="roundRect">
            <a:avLst>
              <a:gd name="adj" fmla="val 12727"/>
            </a:avLst>
          </a:prstGeom>
          <a:gradFill xmlns:a="http://schemas.openxmlformats.org/drawingml/2006/main">
            <a:gsLst>
              <a:gs pos="0">
                <a:srgbClr val="FFF0F0"/>
              </a:gs>
              <a:gs pos="100000">
                <a:srgbClr val="FFD8D5"/>
              </a:gs>
            </a:gsLst>
            <a:lin ang="5400000"/>
          </a:gradFill>
          <a:ln xmlns:a="http://schemas.openxmlformats.org/drawingml/2006/main" w="9525">
            <a:solidFill>
              <a:srgbClr val="EF6D63"/>
            </a:solidFill>
            <a:prstDash val="solid"/>
          </a:ln>
        </p:spPr>
      </p:sp>
      <p:sp>
        <p:nvSpPr>
          <p:cNvPr id="131" name="flow-admm-t">
            <a:extLst xmlns:a="http://schemas.openxmlformats.org/drawingml/2006/main">
              <a:ext uri="{FF2B5EF4-FFF2-40B4-BE49-F238E27FC236}">
                <a16:creationId xmlns:a16="http://schemas.microsoft.com/office/drawing/2014/main" id="{21AE0942-1AA6-4591-951D-5F42BC7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267325"/>
            <a:ext cx="2752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ADMM交易协调</a:t>
            </a:r>
          </a:p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（更新交易功率与价格）</a:t>
            </a:r>
          </a:p>
        </p:txBody>
      </p:sp>
      <p:sp>
        <p:nvSpPr>
          <p:cNvPr id="132" name="f5-route">
            <a:extLst xmlns:a="http://schemas.openxmlformats.org/drawingml/2006/main">
              <a:ext uri="{FF2B5EF4-FFF2-40B4-BE49-F238E27FC236}">
                <a16:creationId xmlns:a16="http://schemas.microsoft.com/office/drawing/2014/main" id="{78403E03-2B5E-4849-A60E-F3706E6F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772150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33" name="f5-head">
            <a:extLst xmlns:a="http://schemas.openxmlformats.org/drawingml/2006/main">
              <a:ext uri="{FF2B5EF4-FFF2-40B4-BE49-F238E27FC236}">
                <a16:creationId xmlns:a16="http://schemas.microsoft.com/office/drawing/2014/main" id="{5D2F52B5-659A-4F61-9F31-3024CAD4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58959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34" name="admm-note">
            <a:extLst xmlns:a="http://schemas.openxmlformats.org/drawingml/2006/main">
              <a:ext uri="{FF2B5EF4-FFF2-40B4-BE49-F238E27FC236}">
                <a16:creationId xmlns:a16="http://schemas.microsoft.com/office/drawing/2014/main" id="{D08BDB41-85D5-48D9-A5D0-B5005EB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248275"/>
            <a:ext cx="110490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B7EA"/>
            </a:solidFill>
            <a:prstDash val="solid"/>
          </a:ln>
        </p:spPr>
      </p:sp>
      <p:sp>
        <p:nvSpPr>
          <p:cNvPr id="135" name="admm-note-t">
            <a:extLst xmlns:a="http://schemas.openxmlformats.org/drawingml/2006/main">
              <a:ext uri="{FF2B5EF4-FFF2-40B4-BE49-F238E27FC236}">
                <a16:creationId xmlns:a16="http://schemas.microsoft.com/office/drawing/2014/main" id="{EA96B895-F6B3-4C36-83E6-90DCE401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5324475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ADMM—处理</a:t>
            </a:r>
          </a:p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分布式交易协调</a:t>
            </a:r>
          </a:p>
        </p:txBody>
      </p:sp>
      <p:sp>
        <p:nvSpPr>
          <p:cNvPr id="136" name="flow-ev">
            <a:extLst xmlns:a="http://schemas.openxmlformats.org/drawingml/2006/main">
              <a:ext uri="{FF2B5EF4-FFF2-40B4-BE49-F238E27FC236}">
                <a16:creationId xmlns:a16="http://schemas.microsoft.com/office/drawing/2014/main" id="{0EA41B73-EC3C-4E0A-9365-BF69376E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010275"/>
            <a:ext cx="2828925" cy="542925"/>
          </a:xfrm>
          <a:prstGeom xmlns:a="http://schemas.openxmlformats.org/drawingml/2006/main" prst="roundRect">
            <a:avLst>
              <a:gd name="adj" fmla="val 12281"/>
            </a:avLst>
          </a:prstGeom>
          <a:gradFill xmlns:a="http://schemas.openxmlformats.org/drawingml/2006/main">
            <a:gsLst>
              <a:gs pos="0">
                <a:srgbClr val="F4F0FF"/>
              </a:gs>
              <a:gs pos="100000">
                <a:srgbClr val="E7DEFF"/>
              </a:gs>
            </a:gsLst>
            <a:lin ang="5400000"/>
          </a:gradFill>
          <a:ln xmlns:a="http://schemas.openxmlformats.org/drawingml/2006/main" w="9525">
            <a:solidFill>
              <a:srgbClr val="795BD1"/>
            </a:solidFill>
            <a:prstDash val="solid"/>
          </a:ln>
        </p:spPr>
      </p:sp>
      <p:sp>
        <p:nvSpPr>
          <p:cNvPr id="137" name="flow-ev-t">
            <a:extLst xmlns:a="http://schemas.openxmlformats.org/drawingml/2006/main">
              <a:ext uri="{FF2B5EF4-FFF2-40B4-BE49-F238E27FC236}">
                <a16:creationId xmlns:a16="http://schemas.microsoft.com/office/drawing/2014/main" id="{56798784-ABFD-4608-B9D4-4BFFD2C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029325"/>
            <a:ext cx="2752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EV路径响应</a:t>
            </a:r>
          </a:p>
          <a:p xmlns:a="http://schemas.openxmlformats.org/drawingml/2006/main">
            <a:pPr algn="ctr">
              <a:def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（根据时空价格分配充电需求）</a:t>
            </a:r>
          </a:p>
        </p:txBody>
      </p:sp>
      <p:sp>
        <p:nvSpPr>
          <p:cNvPr id="138" name="f6-route">
            <a:extLst xmlns:a="http://schemas.openxmlformats.org/drawingml/2006/main">
              <a:ext uri="{FF2B5EF4-FFF2-40B4-BE49-F238E27FC236}">
                <a16:creationId xmlns:a16="http://schemas.microsoft.com/office/drawing/2014/main" id="{43BBC893-91AF-43A6-A5DE-8DE818FE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5532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39" name="f6-head">
            <a:extLst xmlns:a="http://schemas.openxmlformats.org/drawingml/2006/main">
              <a:ext uri="{FF2B5EF4-FFF2-40B4-BE49-F238E27FC236}">
                <a16:creationId xmlns:a16="http://schemas.microsoft.com/office/drawing/2014/main" id="{3E0F2C81-80BF-42CE-8B38-04C6400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66198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40" name="conv">
            <a:extLst xmlns:a="http://schemas.openxmlformats.org/drawingml/2006/main">
              <a:ext uri="{FF2B5EF4-FFF2-40B4-BE49-F238E27FC236}">
                <a16:creationId xmlns:a16="http://schemas.microsoft.com/office/drawing/2014/main" id="{93736724-6981-4CED-850C-1C04DCF6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705600"/>
            <a:ext cx="1762125" cy="685800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0">
                <a:srgbClr val="F3FBFF"/>
              </a:gs>
              <a:gs pos="100000">
                <a:srgbClr val="DCEFFF"/>
              </a:gs>
            </a:gsLst>
            <a:lin ang="5400000"/>
          </a:gradFill>
          <a:ln xmlns:a="http://schemas.openxmlformats.org/drawingml/2006/main" w="11430">
            <a:solidFill>
              <a:srgbClr val="0A64D6"/>
            </a:solidFill>
            <a:prstDash val="solid"/>
          </a:ln>
        </p:spPr>
      </p:sp>
      <p:sp>
        <p:nvSpPr>
          <p:cNvPr id="141" name="conv-t">
            <a:extLst xmlns:a="http://schemas.openxmlformats.org/drawingml/2006/main">
              <a:ext uri="{FF2B5EF4-FFF2-40B4-BE49-F238E27FC236}">
                <a16:creationId xmlns:a16="http://schemas.microsoft.com/office/drawing/2014/main" id="{5BBEA44D-C7B9-4793-82C9-AFFE039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6896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收敛判定</a:t>
            </a:r>
          </a:p>
        </p:txBody>
      </p:sp>
      <p:sp>
        <p:nvSpPr>
          <p:cNvPr id="142" name="flow-no-route">
            <a:extLst xmlns:a="http://schemas.openxmlformats.org/drawingml/2006/main">
              <a:ext uri="{FF2B5EF4-FFF2-40B4-BE49-F238E27FC236}">
                <a16:creationId xmlns:a16="http://schemas.microsoft.com/office/drawing/2014/main" id="{98DC5813-197C-40E4-9F54-FC5A957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010025"/>
            <a:ext cx="952500" cy="3038475"/>
          </a:xfrm>
          <a:custGeom xmlns:a="http://schemas.openxmlformats.org/drawingml/2006/main">
            <a:pathLst>
              <a:path w="952500" h="3038475">
                <a:moveTo>
                  <a:pt x="952500" y="3038475"/>
                </a:moveTo>
                <a:lnTo>
                  <a:pt x="0" y="3038475"/>
                </a:lnTo>
                <a:lnTo>
                  <a:pt x="0" y="0"/>
                </a:ln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63A8C"/>
            </a:solidFill>
            <a:prstDash val="solid"/>
          </a:ln>
        </p:spPr>
      </p:sp>
      <p:sp>
        <p:nvSpPr>
          <p:cNvPr id="143" name="flow-no-head">
            <a:extLst xmlns:a="http://schemas.openxmlformats.org/drawingml/2006/main">
              <a:ext uri="{FF2B5EF4-FFF2-40B4-BE49-F238E27FC236}">
                <a16:creationId xmlns:a16="http://schemas.microsoft.com/office/drawing/2014/main" id="{6907087D-3281-421A-83F5-12A6672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968877"/>
            <a:ext cx="85725" cy="82296"/>
          </a:xfrm>
          <a:custGeom xmlns:a="http://schemas.openxmlformats.org/drawingml/2006/main">
            <a:pathLst>
              <a:path w="85725" h="82296">
                <a:moveTo>
                  <a:pt x="85725" y="41148"/>
                </a:moveTo>
                <a:lnTo>
                  <a:pt x="0" y="8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44" name="flow-no-t">
            <a:extLst xmlns:a="http://schemas.openxmlformats.org/drawingml/2006/main">
              <a:ext uri="{FF2B5EF4-FFF2-40B4-BE49-F238E27FC236}">
                <a16:creationId xmlns:a16="http://schemas.microsoft.com/office/drawing/2014/main" id="{83467BC0-1DD3-4B0E-B87A-D503C47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7151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45" name="flow-yes-route">
            <a:extLst xmlns:a="http://schemas.openxmlformats.org/drawingml/2006/main">
              <a:ext uri="{FF2B5EF4-FFF2-40B4-BE49-F238E27FC236}">
                <a16:creationId xmlns:a16="http://schemas.microsoft.com/office/drawing/2014/main" id="{A93D3B26-1501-4AEF-85F2-2CBB695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7391400"/>
            <a:ext cx="95" cy="228600"/>
          </a:xfrm>
          <a:custGeom xmlns:a="http://schemas.openxmlformats.org/drawingml/2006/main"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63A8C"/>
            </a:solidFill>
            <a:prstDash val="solid"/>
          </a:ln>
        </p:spPr>
      </p:sp>
      <p:sp>
        <p:nvSpPr>
          <p:cNvPr id="146" name="flow-yes-head">
            <a:extLst xmlns:a="http://schemas.openxmlformats.org/drawingml/2006/main">
              <a:ext uri="{FF2B5EF4-FFF2-40B4-BE49-F238E27FC236}">
                <a16:creationId xmlns:a16="http://schemas.microsoft.com/office/drawing/2014/main" id="{1F458C6B-6942-4572-B7A9-9C1D490F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002" y="7534275"/>
            <a:ext cx="82296" cy="85725"/>
          </a:xfrm>
          <a:custGeom xmlns:a="http://schemas.openxmlformats.org/drawingml/2006/main">
            <a:pathLst>
              <a:path w="82296" h="85725">
                <a:moveTo>
                  <a:pt x="41148" y="85725"/>
                </a:moveTo>
                <a:lnTo>
                  <a:pt x="0" y="0"/>
                </a:lnTo>
                <a:lnTo>
                  <a:pt x="82296" y="0"/>
                </a:lnTo>
                <a:close/>
              </a:path>
            </a:pathLst>
          </a:custGeom>
          <a:solidFill xmlns:a="http://schemas.openxmlformats.org/drawingml/2006/main">
            <a:srgbClr val="063A8C"/>
          </a:solidFill>
          <a:ln xmlns:a="http://schemas.openxmlformats.org/drawingml/2006/main" w="0">
            <a:solidFill>
              <a:srgbClr val="063A8C"/>
            </a:solidFill>
            <a:prstDash val="solid"/>
          </a:ln>
        </p:spPr>
      </p:sp>
      <p:sp>
        <p:nvSpPr>
          <p:cNvPr id="147" name="flow-yes-t">
            <a:extLst xmlns:a="http://schemas.openxmlformats.org/drawingml/2006/main">
              <a:ext uri="{FF2B5EF4-FFF2-40B4-BE49-F238E27FC236}">
                <a16:creationId xmlns:a16="http://schemas.microsoft.com/office/drawing/2014/main" id="{7401AF87-9B55-40EA-A6ED-411F0B2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4009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48" name="flow-output">
            <a:extLst xmlns:a="http://schemas.openxmlformats.org/drawingml/2006/main">
              <a:ext uri="{FF2B5EF4-FFF2-40B4-BE49-F238E27FC236}">
                <a16:creationId xmlns:a16="http://schemas.microsoft.com/office/drawing/2014/main" id="{6D9F9470-C01F-47FE-9D8D-61E1F51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7648575"/>
            <a:ext cx="3419475" cy="447675"/>
          </a:xfrm>
          <a:prstGeom xmlns:a="http://schemas.openxmlformats.org/drawingml/2006/main" prst="roundRect">
            <a:avLst>
              <a:gd name="adj" fmla="val 14894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DDEEFF"/>
              </a:gs>
            </a:gsLst>
            <a:lin ang="5400000"/>
          </a:gradFill>
          <a:ln xmlns:a="http://schemas.openxmlformats.org/drawingml/2006/main" w="9525">
            <a:solidFill>
              <a:srgbClr val="0A64D6"/>
            </a:solidFill>
            <a:prstDash val="solid"/>
          </a:ln>
        </p:spPr>
      </p:sp>
      <p:sp>
        <p:nvSpPr>
          <p:cNvPr id="149" name="flow-output-t">
            <a:extLst xmlns:a="http://schemas.openxmlformats.org/drawingml/2006/main">
              <a:ext uri="{FF2B5EF4-FFF2-40B4-BE49-F238E27FC236}">
                <a16:creationId xmlns:a16="http://schemas.microsoft.com/office/drawing/2014/main" id="{BF33D50E-8AF3-4ACC-AE0D-C709173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7667625"/>
            <a:ext cx="3343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输出最优联合规划方案</a:t>
            </a:r>
          </a:p>
        </p:txBody>
      </p:sp>
      <p:sp>
        <p:nvSpPr>
          <p:cNvPr id="150" name="output-note">
            <a:extLst xmlns:a="http://schemas.openxmlformats.org/drawingml/2006/main">
              <a:ext uri="{FF2B5EF4-FFF2-40B4-BE49-F238E27FC236}">
                <a16:creationId xmlns:a16="http://schemas.microsoft.com/office/drawing/2014/main" id="{8A145892-9163-420A-9B76-FCF0D93B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515225"/>
            <a:ext cx="150495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7B7EA"/>
            </a:solidFill>
            <a:prstDash val="solid"/>
          </a:ln>
        </p:spPr>
      </p:sp>
      <p:sp>
        <p:nvSpPr>
          <p:cNvPr id="151" name="output-note-t">
            <a:extLst xmlns:a="http://schemas.openxmlformats.org/drawingml/2006/main">
              <a:ext uri="{FF2B5EF4-FFF2-40B4-BE49-F238E27FC236}">
                <a16:creationId xmlns:a16="http://schemas.microsoft.com/office/drawing/2014/main" id="{719E93B8-DD25-4388-B1DD-C1BE906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572375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输出包括：线路扩建、</a:t>
            </a:r>
          </a:p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站点容量、交易功率、</a:t>
            </a:r>
          </a:p>
          <a:p xmlns:a="http://schemas.openxmlformats.org/drawingml/2006/main">
            <a:pPr algn="l">
              <a:def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价格信号。</a:t>
            </a:r>
          </a:p>
        </p:txBody>
      </p:sp>
      <p:sp>
        <p:nvSpPr>
          <p:cNvPr id="152" name="conclusion">
            <a:extLst xmlns:a="http://schemas.openxmlformats.org/drawingml/2006/main">
              <a:ext uri="{FF2B5EF4-FFF2-40B4-BE49-F238E27FC236}">
                <a16:creationId xmlns:a16="http://schemas.microsoft.com/office/drawing/2014/main" id="{4A123D2A-D35A-4E14-BCC3-BBC29BF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410575"/>
            <a:ext cx="15582900" cy="438150"/>
          </a:xfrm>
          <a:prstGeom xmlns:a="http://schemas.openxmlformats.org/drawingml/2006/main" prst="roundRect">
            <a:avLst>
              <a:gd name="adj" fmla="val 23913"/>
            </a:avLst>
          </a:prstGeom>
          <a:gradFill xmlns:a="http://schemas.openxmlformats.org/drawingml/2006/main">
            <a:gsLst>
              <a:gs pos="0">
                <a:srgbClr val="E9F6FF"/>
              </a:gs>
              <a:gs pos="100000">
                <a:srgbClr val="DCEEFF"/>
              </a:gs>
            </a:gsLst>
            <a:lin ang="5400000"/>
          </a:gradFill>
          <a:ln xmlns:a="http://schemas.openxmlformats.org/drawingml/2006/main" w="8573">
            <a:solidFill>
              <a:srgbClr val="68B8FA"/>
            </a:solidFill>
            <a:prstDash val="solid"/>
          </a:ln>
        </p:spPr>
      </p:sp>
      <p:sp>
        <p:nvSpPr>
          <p:cNvPr id="153" name="conclusion-t">
            <a:extLst xmlns:a="http://schemas.openxmlformats.org/drawingml/2006/main">
              <a:ext uri="{FF2B5EF4-FFF2-40B4-BE49-F238E27FC236}">
                <a16:creationId xmlns:a16="http://schemas.microsoft.com/office/drawing/2014/main" id="{5B89EBC8-0BDF-4FA7-9CA2-D9083E2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448675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1">
                <a:solidFill>
                  <a:srgbClr val="063A8C"/>
                </a:solidFill>
                <a:latin typeface="Microsoft YaHei"/>
                <a:ea typeface="Microsoft YaHei"/>
                <a:cs typeface="Microsoft YaHei"/>
              </a:rPr>
              <a:t>该模型通过“网络扩建 + 市场交易 + 价格引导 + 用户响应”的协同建模，将传统配网规划、充电站规划与分布式交易统一到同一优化框架中。</a:t>
            </a:r>
          </a:p>
        </p:txBody>
      </p:sp>
    </p:spTree>
    <p:extLst>
      <p:ext uri="{BB962C8B-B14F-4D97-AF65-F5344CB8AC3E}">
        <p14:creationId xmlns:p14="http://schemas.microsoft.com/office/powerpoint/2010/main" val="2137955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title">
            <a:extLst xmlns:a="http://schemas.openxmlformats.org/drawingml/2006/main">
              <a:ext uri="{FF2B5EF4-FFF2-40B4-BE49-F238E27FC236}">
                <a16:creationId xmlns:a16="http://schemas.microsoft.com/office/drawing/2014/main" id="{F6DE4CD9-0D3D-4C91-AA5C-C432B8D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"/>
            <a:ext cx="1541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2. 对比算例与实验结果 --- PV-grid-EV协同规划效果分析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27DF31-A7F0-4D05-9A4A-E01F0F3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657225"/>
            <a:ext cx="15601950" cy="95"/>
          </a:xfrm>
          <a:custGeom xmlns:a="http://schemas.openxmlformats.org/drawingml/2006/main"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46A3055-CE5D-45B9-82A8-861A11FE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52475"/>
            <a:ext cx="15582900" cy="1343025"/>
          </a:xfrm>
          <a:prstGeom xmlns:a="http://schemas.openxmlformats.org/drawingml/2006/main" prst="roundRect">
            <a:avLst>
              <a:gd name="adj" fmla="val 10638"/>
            </a:avLst>
          </a:prstGeom>
          <a:gradFill xmlns:a="http://schemas.openxmlformats.org/drawingml/2006/main">
            <a:gsLst>
              <a:gs pos="0">
                <a:srgbClr val="F3FBFF"/>
              </a:gs>
              <a:gs pos="100000">
                <a:srgbClr val="E4F2FE"/>
              </a:gs>
            </a:gsLst>
            <a:lin ang="5400000"/>
          </a:gradFill>
          <a:ln xmlns:a="http://schemas.openxmlformats.org/drawingml/2006/main" w="8573">
            <a:solidFill>
              <a:srgbClr val="6DBBFA"/>
            </a:solidFill>
            <a:prstDash val="solid"/>
          </a:ln>
        </p:spPr>
      </p:sp>
      <p:sp>
        <p:nvSpPr>
          <p:cNvPr id="4" name="summary-bullet1">
            <a:extLst xmlns:a="http://schemas.openxmlformats.org/drawingml/2006/main">
              <a:ext uri="{FF2B5EF4-FFF2-40B4-BE49-F238E27FC236}">
                <a16:creationId xmlns:a16="http://schemas.microsoft.com/office/drawing/2014/main" id="{ED46A2B3-BA02-43ED-8C82-593079A0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42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5" name="summary-bullet2">
            <a:extLst xmlns:a="http://schemas.openxmlformats.org/drawingml/2006/main">
              <a:ext uri="{FF2B5EF4-FFF2-40B4-BE49-F238E27FC236}">
                <a16:creationId xmlns:a16="http://schemas.microsoft.com/office/drawing/2014/main" id="{70EC8FDA-47BB-4A7F-89EA-E00BCAFE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6" name="summary-1">
            <a:extLst xmlns:a="http://schemas.openxmlformats.org/drawingml/2006/main">
              <a:ext uri="{FF2B5EF4-FFF2-40B4-BE49-F238E27FC236}">
                <a16:creationId xmlns:a16="http://schemas.microsoft.com/office/drawing/2014/main" id="{6529AC66-DF7A-4D1B-A0DA-3F603299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464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主要结果：</a:t>
            </a: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引入PV-grid-EV交易后，能够显著</a:t>
            </a:r>
            <a:r>
              <a:rPr sz="1763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降低IDSO总成本并提升EVCS收益</a:t>
            </a: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，表明分布式交易可以替代部分传统的网络扩展投资。</a:t>
            </a:r>
          </a:p>
        </p:txBody>
      </p:sp>
      <p:sp>
        <p:nvSpPr>
          <p:cNvPr id="7" name="summary-2">
            <a:extLst xmlns:a="http://schemas.openxmlformats.org/drawingml/2006/main">
              <a:ext uri="{FF2B5EF4-FFF2-40B4-BE49-F238E27FC236}">
                <a16:creationId xmlns:a16="http://schemas.microsoft.com/office/drawing/2014/main" id="{CB97569C-043F-40F5-A0B0-A48B2884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464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机理解释：</a:t>
            </a: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网络费用与时空充电价格的协同作用能够</a:t>
            </a:r>
            <a:r>
              <a:rPr sz="1763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缓解高峰拥塞</a:t>
            </a: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，改善系统的空间负荷分布，并</a:t>
            </a:r>
            <a:r>
              <a:rPr sz="1763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缩短等待时间</a:t>
            </a: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，从而提升电网运行效率和</a:t>
            </a:r>
          </a:p>
        </p:txBody>
      </p:sp>
      <p:sp>
        <p:nvSpPr>
          <p:cNvPr id="8" name="summary-2b">
            <a:extLst xmlns:a="http://schemas.openxmlformats.org/drawingml/2006/main">
              <a:ext uri="{FF2B5EF4-FFF2-40B4-BE49-F238E27FC236}">
                <a16:creationId xmlns:a16="http://schemas.microsoft.com/office/drawing/2014/main" id="{2BD4A9F8-F946-4A73-B9DC-C440069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457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用户充电体验。</a:t>
            </a:r>
          </a:p>
        </p:txBody>
      </p:sp>
      <p:sp>
        <p:nvSpPr>
          <p:cNvPr id="9" name="col1">
            <a:extLst xmlns:a="http://schemas.openxmlformats.org/drawingml/2006/main">
              <a:ext uri="{FF2B5EF4-FFF2-40B4-BE49-F238E27FC236}">
                <a16:creationId xmlns:a16="http://schemas.microsoft.com/office/drawing/2014/main" id="{BD4BD3F8-86EC-4EF4-B77E-DC31C1E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00275"/>
            <a:ext cx="4886325" cy="6619875"/>
          </a:xfrm>
          <a:prstGeom xmlns:a="http://schemas.openxmlformats.org/drawingml/2006/main" prst="roundRect">
            <a:avLst>
              <a:gd name="adj" fmla="val 1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3F1"/>
            </a:solidFill>
            <a:prstDash val="solid"/>
          </a:ln>
        </p:spPr>
      </p:sp>
      <p:sp>
        <p:nvSpPr>
          <p:cNvPr id="10" name="col1-title">
            <a:extLst xmlns:a="http://schemas.openxmlformats.org/drawingml/2006/main">
              <a:ext uri="{FF2B5EF4-FFF2-40B4-BE49-F238E27FC236}">
                <a16:creationId xmlns:a16="http://schemas.microsoft.com/office/drawing/2014/main" id="{D26F9055-8137-43BD-B4E5-FD5DB150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38375"/>
            <a:ext cx="464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1. 网络扩建与规划经济性</a:t>
            </a:r>
          </a:p>
        </p:txBody>
      </p:sp>
      <p:sp>
        <p:nvSpPr>
          <p:cNvPr id="11" name="col2">
            <a:extLst xmlns:a="http://schemas.openxmlformats.org/drawingml/2006/main">
              <a:ext uri="{FF2B5EF4-FFF2-40B4-BE49-F238E27FC236}">
                <a16:creationId xmlns:a16="http://schemas.microsoft.com/office/drawing/2014/main" id="{B7E9851C-B24E-4E37-BE18-623FE6F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00275"/>
            <a:ext cx="5419725" cy="6619875"/>
          </a:xfrm>
          <a:prstGeom xmlns:a="http://schemas.openxmlformats.org/drawingml/2006/main" prst="roundRect">
            <a:avLst>
              <a:gd name="adj" fmla="val 1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3F1"/>
            </a:solidFill>
            <a:prstDash val="solid"/>
          </a:ln>
        </p:spPr>
      </p:sp>
      <p:sp>
        <p:nvSpPr>
          <p:cNvPr id="12" name="col2-title">
            <a:extLst xmlns:a="http://schemas.openxmlformats.org/drawingml/2006/main">
              <a:ext uri="{FF2B5EF4-FFF2-40B4-BE49-F238E27FC236}">
                <a16:creationId xmlns:a16="http://schemas.microsoft.com/office/drawing/2014/main" id="{E94BB8D6-4223-405B-823B-C1764FC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5181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2. 价格引导与负荷重分配</a:t>
            </a:r>
          </a:p>
        </p:txBody>
      </p:sp>
      <p:sp>
        <p:nvSpPr>
          <p:cNvPr id="13" name="col3">
            <a:extLst xmlns:a="http://schemas.openxmlformats.org/drawingml/2006/main">
              <a:ext uri="{FF2B5EF4-FFF2-40B4-BE49-F238E27FC236}">
                <a16:creationId xmlns:a16="http://schemas.microsoft.com/office/drawing/2014/main" id="{9005D114-A3EE-422F-9203-7C102F1A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200275"/>
            <a:ext cx="5114925" cy="6619875"/>
          </a:xfrm>
          <a:prstGeom xmlns:a="http://schemas.openxmlformats.org/drawingml/2006/main" prst="roundRect">
            <a:avLst>
              <a:gd name="adj" fmla="val 18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3F1"/>
            </a:solidFill>
            <a:prstDash val="solid"/>
          </a:ln>
        </p:spPr>
      </p:sp>
      <p:sp>
        <p:nvSpPr>
          <p:cNvPr id="14" name="col3-title">
            <a:extLst xmlns:a="http://schemas.openxmlformats.org/drawingml/2006/main">
              <a:ext uri="{FF2B5EF4-FFF2-40B4-BE49-F238E27FC236}">
                <a16:creationId xmlns:a16="http://schemas.microsoft.com/office/drawing/2014/main" id="{4B74D88F-488A-4CAE-A1C6-CEAD077B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38375"/>
            <a:ext cx="487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3. EVCS收益与用户体验</a:t>
            </a:r>
          </a:p>
        </p:txBody>
      </p:sp>
      <p:sp>
        <p:nvSpPr>
          <p:cNvPr id="15" name="feeder-frame">
            <a:extLst xmlns:a="http://schemas.openxmlformats.org/drawingml/2006/main">
              <a:ext uri="{FF2B5EF4-FFF2-40B4-BE49-F238E27FC236}">
                <a16:creationId xmlns:a16="http://schemas.microsoft.com/office/drawing/2014/main" id="{27BDC89A-D5B9-4E9D-BBF5-E4EEE8B1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743200"/>
            <a:ext cx="4714875" cy="2857500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16" name="feeder-head-bg">
            <a:extLst xmlns:a="http://schemas.openxmlformats.org/drawingml/2006/main">
              <a:ext uri="{FF2B5EF4-FFF2-40B4-BE49-F238E27FC236}">
                <a16:creationId xmlns:a16="http://schemas.microsoft.com/office/drawing/2014/main" id="{ED10FC47-D9FA-4769-8EDA-C658072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43200"/>
            <a:ext cx="46958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17" name="feeder-head-t">
            <a:extLst xmlns:a="http://schemas.openxmlformats.org/drawingml/2006/main">
              <a:ext uri="{FF2B5EF4-FFF2-40B4-BE49-F238E27FC236}">
                <a16:creationId xmlns:a16="http://schemas.microsoft.com/office/drawing/2014/main" id="{0AEF1968-C792-4497-96C6-0067EC2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52725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IEEE 33节点配电网（关键扩建线路示意）</a:t>
            </a:r>
          </a:p>
        </p:txBody>
      </p:sp>
      <p:sp>
        <p:nvSpPr>
          <p:cNvPr id="18" name="main-line">
            <a:extLst xmlns:a="http://schemas.openxmlformats.org/drawingml/2006/main">
              <a:ext uri="{FF2B5EF4-FFF2-40B4-BE49-F238E27FC236}">
                <a16:creationId xmlns:a16="http://schemas.microsoft.com/office/drawing/2014/main" id="{92C15094-97E5-4C0D-AD86-A725D06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048125" cy="95"/>
          </a:xfrm>
          <a:custGeom xmlns:a="http://schemas.openxmlformats.org/drawingml/2006/main"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19" name="upper-v1">
            <a:extLst xmlns:a="http://schemas.openxmlformats.org/drawingml/2006/main">
              <a:ext uri="{FF2B5EF4-FFF2-40B4-BE49-F238E27FC236}">
                <a16:creationId xmlns:a16="http://schemas.microsoft.com/office/drawing/2014/main" id="{9C9BEE96-539D-4BA5-BA18-FF05845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95" cy="428625"/>
          </a:xfrm>
          <a:custGeom xmlns:a="http://schemas.openxmlformats.org/drawingml/2006/main">
            <a:pathLst>
              <a:path w="9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0" name="upper-v2">
            <a:extLst xmlns:a="http://schemas.openxmlformats.org/drawingml/2006/main">
              <a:ext uri="{FF2B5EF4-FFF2-40B4-BE49-F238E27FC236}">
                <a16:creationId xmlns:a16="http://schemas.microsoft.com/office/drawing/2014/main" id="{F49ABD80-0247-4C74-B446-8C5F021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1" name="upper-h">
            <a:extLst xmlns:a="http://schemas.openxmlformats.org/drawingml/2006/main">
              <a:ext uri="{FF2B5EF4-FFF2-40B4-BE49-F238E27FC236}">
                <a16:creationId xmlns:a16="http://schemas.microsoft.com/office/drawing/2014/main" id="{2E530BFF-B1B9-4D06-A7E8-C4A5A618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895350" cy="95"/>
          </a:xfrm>
          <a:custGeom xmlns:a="http://schemas.openxmlformats.org/drawingml/2006/main">
            <a:pathLst>
              <a:path w="895350" h="9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2" name="lower-v1">
            <a:extLst xmlns:a="http://schemas.openxmlformats.org/drawingml/2006/main">
              <a:ext uri="{FF2B5EF4-FFF2-40B4-BE49-F238E27FC236}">
                <a16:creationId xmlns:a16="http://schemas.microsoft.com/office/drawing/2014/main" id="{FBDCE7BC-3BC8-4C51-8579-A15D2991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95" cy="542925"/>
          </a:xfrm>
          <a:custGeom xmlns:a="http://schemas.openxmlformats.org/drawingml/2006/main">
            <a:pathLst>
              <a:path w="95" h="542925">
                <a:moveTo>
                  <a:pt x="0" y="0"/>
                </a:move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3" name="lower-h1">
            <a:extLst xmlns:a="http://schemas.openxmlformats.org/drawingml/2006/main">
              <a:ext uri="{FF2B5EF4-FFF2-40B4-BE49-F238E27FC236}">
                <a16:creationId xmlns:a16="http://schemas.microsoft.com/office/drawing/2014/main" id="{01F0A6D0-FD2A-49A1-AA42-363C746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590550" cy="95"/>
          </a:xfrm>
          <a:custGeom xmlns:a="http://schemas.openxmlformats.org/drawingml/2006/main">
            <a:pathLst>
              <a:path w="590550" h="95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4" name="lower-v2">
            <a:extLst xmlns:a="http://schemas.openxmlformats.org/drawingml/2006/main">
              <a:ext uri="{FF2B5EF4-FFF2-40B4-BE49-F238E27FC236}">
                <a16:creationId xmlns:a16="http://schemas.microsoft.com/office/drawing/2014/main" id="{B60DC870-47FD-490E-8762-ED63B400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48225"/>
            <a:ext cx="295275" cy="495300"/>
          </a:xfrm>
          <a:custGeom xmlns:a="http://schemas.openxmlformats.org/drawingml/2006/main">
            <a:pathLst>
              <a:path w="295275" h="495300">
                <a:moveTo>
                  <a:pt x="0" y="0"/>
                </a:moveTo>
                <a:lnTo>
                  <a:pt x="295275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5" name="lower-h2">
            <a:extLst xmlns:a="http://schemas.openxmlformats.org/drawingml/2006/main">
              <a:ext uri="{FF2B5EF4-FFF2-40B4-BE49-F238E27FC236}">
                <a16:creationId xmlns:a16="http://schemas.microsoft.com/office/drawing/2014/main" id="{21D6CB1F-D002-4F71-B1A1-007A93C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43525"/>
            <a:ext cx="2933700" cy="95"/>
          </a:xfrm>
          <a:custGeom xmlns:a="http://schemas.openxmlformats.org/drawingml/2006/main">
            <a:pathLst>
              <a:path w="2933700" h="95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11111"/>
            </a:solidFill>
            <a:prstDash val="solid"/>
          </a:ln>
        </p:spPr>
      </p:sp>
      <p:sp>
        <p:nvSpPr>
          <p:cNvPr id="26" name="red-edge-0">
            <a:extLst xmlns:a="http://schemas.openxmlformats.org/drawingml/2006/main">
              <a:ext uri="{FF2B5EF4-FFF2-40B4-BE49-F238E27FC236}">
                <a16:creationId xmlns:a16="http://schemas.microsoft.com/office/drawing/2014/main" id="{E980896A-B3C1-44B8-98C9-1EDCCBE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305300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D0000"/>
            </a:solidFill>
            <a:prstDash val="solid"/>
          </a:ln>
        </p:spPr>
      </p:sp>
      <p:sp>
        <p:nvSpPr>
          <p:cNvPr id="27" name="red-edge-1">
            <a:extLst xmlns:a="http://schemas.openxmlformats.org/drawingml/2006/main">
              <a:ext uri="{FF2B5EF4-FFF2-40B4-BE49-F238E27FC236}">
                <a16:creationId xmlns:a16="http://schemas.microsoft.com/office/drawing/2014/main" id="{13AE3C0B-AAD1-49EC-8708-CD9A5B73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05300"/>
            <a:ext cx="952500" cy="95"/>
          </a:xfrm>
          <a:custGeom xmlns:a="http://schemas.openxmlformats.org/drawingml/2006/main"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D0000"/>
            </a:solidFill>
            <a:prstDash val="solid"/>
          </a:ln>
        </p:spPr>
      </p:sp>
      <p:sp>
        <p:nvSpPr>
          <p:cNvPr id="28" name="red-edge-2">
            <a:extLst xmlns:a="http://schemas.openxmlformats.org/drawingml/2006/main">
              <a:ext uri="{FF2B5EF4-FFF2-40B4-BE49-F238E27FC236}">
                <a16:creationId xmlns:a16="http://schemas.microsoft.com/office/drawing/2014/main" id="{ED84039A-EA64-4C39-B09B-F1726F8F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43525"/>
            <a:ext cx="285750" cy="95"/>
          </a:xfrm>
          <a:custGeom xmlns:a="http://schemas.openxmlformats.org/drawingml/2006/main">
            <a:pathLst>
              <a:path w="285750" h="9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D0000"/>
            </a:solidFill>
            <a:prstDash val="solid"/>
          </a:ln>
        </p:spPr>
      </p:sp>
      <p:sp>
        <p:nvSpPr>
          <p:cNvPr id="29" name="main-node-1">
            <a:extLst xmlns:a="http://schemas.openxmlformats.org/drawingml/2006/main">
              <a:ext uri="{FF2B5EF4-FFF2-40B4-BE49-F238E27FC236}">
                <a16:creationId xmlns:a16="http://schemas.microsoft.com/office/drawing/2014/main" id="{F1562EB8-24A7-4918-ACA3-ADEDE1D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0" name="main-label-1">
            <a:extLst xmlns:a="http://schemas.openxmlformats.org/drawingml/2006/main">
              <a:ext uri="{FF2B5EF4-FFF2-40B4-BE49-F238E27FC236}">
                <a16:creationId xmlns:a16="http://schemas.microsoft.com/office/drawing/2014/main" id="{7CF375DF-A596-4612-8591-5F1E185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" name="main-node-2">
            <a:extLst xmlns:a="http://schemas.openxmlformats.org/drawingml/2006/main">
              <a:ext uri="{FF2B5EF4-FFF2-40B4-BE49-F238E27FC236}">
                <a16:creationId xmlns:a16="http://schemas.microsoft.com/office/drawing/2014/main" id="{98C0F912-99AA-4BEF-93EA-ED5BC3CC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2" name="main-label-2">
            <a:extLst xmlns:a="http://schemas.openxmlformats.org/drawingml/2006/main">
              <a:ext uri="{FF2B5EF4-FFF2-40B4-BE49-F238E27FC236}">
                <a16:creationId xmlns:a16="http://schemas.microsoft.com/office/drawing/2014/main" id="{06F0071D-7563-4455-9AC9-086AED1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3" name="main-node-3">
            <a:extLst xmlns:a="http://schemas.openxmlformats.org/drawingml/2006/main">
              <a:ext uri="{FF2B5EF4-FFF2-40B4-BE49-F238E27FC236}">
                <a16:creationId xmlns:a16="http://schemas.microsoft.com/office/drawing/2014/main" id="{A9D51804-6CE6-41AB-A196-6853738C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4" name="main-label-3">
            <a:extLst xmlns:a="http://schemas.openxmlformats.org/drawingml/2006/main">
              <a:ext uri="{FF2B5EF4-FFF2-40B4-BE49-F238E27FC236}">
                <a16:creationId xmlns:a16="http://schemas.microsoft.com/office/drawing/2014/main" id="{B81F9BDC-B25C-4E44-88CE-0F39763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main-node-4">
            <a:extLst xmlns:a="http://schemas.openxmlformats.org/drawingml/2006/main">
              <a:ext uri="{FF2B5EF4-FFF2-40B4-BE49-F238E27FC236}">
                <a16:creationId xmlns:a16="http://schemas.microsoft.com/office/drawing/2014/main" id="{CC605146-EBD8-4556-A2C6-4FC0FB0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6" name="main-label-4">
            <a:extLst xmlns:a="http://schemas.openxmlformats.org/drawingml/2006/main">
              <a:ext uri="{FF2B5EF4-FFF2-40B4-BE49-F238E27FC236}">
                <a16:creationId xmlns:a16="http://schemas.microsoft.com/office/drawing/2014/main" id="{6573EA54-CE16-41F4-8A58-6109272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main-node-5">
            <a:extLst xmlns:a="http://schemas.openxmlformats.org/drawingml/2006/main">
              <a:ext uri="{FF2B5EF4-FFF2-40B4-BE49-F238E27FC236}">
                <a16:creationId xmlns:a16="http://schemas.microsoft.com/office/drawing/2014/main" id="{9185A28E-AC89-4230-856C-503F479B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8" name="main-label-5">
            <a:extLst xmlns:a="http://schemas.openxmlformats.org/drawingml/2006/main">
              <a:ext uri="{FF2B5EF4-FFF2-40B4-BE49-F238E27FC236}">
                <a16:creationId xmlns:a16="http://schemas.microsoft.com/office/drawing/2014/main" id="{D0910A48-BAB7-4287-8C3B-3096CA3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main-node-6">
            <a:extLst xmlns:a="http://schemas.openxmlformats.org/drawingml/2006/main">
              <a:ext uri="{FF2B5EF4-FFF2-40B4-BE49-F238E27FC236}">
                <a16:creationId xmlns:a16="http://schemas.microsoft.com/office/drawing/2014/main" id="{D9ACA980-309B-42FA-A27F-0425001E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0" name="main-label-6">
            <a:extLst xmlns:a="http://schemas.openxmlformats.org/drawingml/2006/main">
              <a:ext uri="{FF2B5EF4-FFF2-40B4-BE49-F238E27FC236}">
                <a16:creationId xmlns:a16="http://schemas.microsoft.com/office/drawing/2014/main" id="{66C2A5D5-5F95-4EDD-B057-B0445AC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1" name="main-node-7">
            <a:extLst xmlns:a="http://schemas.openxmlformats.org/drawingml/2006/main">
              <a:ext uri="{FF2B5EF4-FFF2-40B4-BE49-F238E27FC236}">
                <a16:creationId xmlns:a16="http://schemas.microsoft.com/office/drawing/2014/main" id="{A05C6DA2-974C-4675-9B2F-CAF166C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2" name="main-label-7">
            <a:extLst xmlns:a="http://schemas.openxmlformats.org/drawingml/2006/main">
              <a:ext uri="{FF2B5EF4-FFF2-40B4-BE49-F238E27FC236}">
                <a16:creationId xmlns:a16="http://schemas.microsoft.com/office/drawing/2014/main" id="{881CD69C-8A44-402B-A02B-99181104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3" name="main-node-8">
            <a:extLst xmlns:a="http://schemas.openxmlformats.org/drawingml/2006/main">
              <a:ext uri="{FF2B5EF4-FFF2-40B4-BE49-F238E27FC236}">
                <a16:creationId xmlns:a16="http://schemas.microsoft.com/office/drawing/2014/main" id="{12653974-35FB-44CC-B26D-57E7898A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4" name="main-label-8">
            <a:extLst xmlns:a="http://schemas.openxmlformats.org/drawingml/2006/main">
              <a:ext uri="{FF2B5EF4-FFF2-40B4-BE49-F238E27FC236}">
                <a16:creationId xmlns:a16="http://schemas.microsoft.com/office/drawing/2014/main" id="{5886B9BE-1254-4770-91C3-7F491F5D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5" name="main-node-9">
            <a:extLst xmlns:a="http://schemas.openxmlformats.org/drawingml/2006/main">
              <a:ext uri="{FF2B5EF4-FFF2-40B4-BE49-F238E27FC236}">
                <a16:creationId xmlns:a16="http://schemas.microsoft.com/office/drawing/2014/main" id="{C576A273-D378-4781-9CC0-0835D5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6" name="main-label-9">
            <a:extLst xmlns:a="http://schemas.openxmlformats.org/drawingml/2006/main">
              <a:ext uri="{FF2B5EF4-FFF2-40B4-BE49-F238E27FC236}">
                <a16:creationId xmlns:a16="http://schemas.microsoft.com/office/drawing/2014/main" id="{965EB6AE-3203-49F2-A2BB-E9DFB7D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7" name="main-node-10">
            <a:extLst xmlns:a="http://schemas.openxmlformats.org/drawingml/2006/main">
              <a:ext uri="{FF2B5EF4-FFF2-40B4-BE49-F238E27FC236}">
                <a16:creationId xmlns:a16="http://schemas.microsoft.com/office/drawing/2014/main" id="{C01FE084-5886-4DC3-B01F-4B34D6F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8" name="main-label-10">
            <a:extLst xmlns:a="http://schemas.openxmlformats.org/drawingml/2006/main">
              <a:ext uri="{FF2B5EF4-FFF2-40B4-BE49-F238E27FC236}">
                <a16:creationId xmlns:a16="http://schemas.microsoft.com/office/drawing/2014/main" id="{BA7B4DFE-456C-4B55-9A71-C19A8DE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9" name="main-node-11">
            <a:extLst xmlns:a="http://schemas.openxmlformats.org/drawingml/2006/main">
              <a:ext uri="{FF2B5EF4-FFF2-40B4-BE49-F238E27FC236}">
                <a16:creationId xmlns:a16="http://schemas.microsoft.com/office/drawing/2014/main" id="{B03D687C-D6E4-4B41-8637-D478FBA4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0" name="main-label-11">
            <a:extLst xmlns:a="http://schemas.openxmlformats.org/drawingml/2006/main">
              <a:ext uri="{FF2B5EF4-FFF2-40B4-BE49-F238E27FC236}">
                <a16:creationId xmlns:a16="http://schemas.microsoft.com/office/drawing/2014/main" id="{36C22547-C972-4B3F-A8DF-D7A1E3E3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1" name="main-node-12">
            <a:extLst xmlns:a="http://schemas.openxmlformats.org/drawingml/2006/main">
              <a:ext uri="{FF2B5EF4-FFF2-40B4-BE49-F238E27FC236}">
                <a16:creationId xmlns:a16="http://schemas.microsoft.com/office/drawing/2014/main" id="{EE4E8D41-21DE-4503-AD12-3D35606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2" name="main-label-12">
            <a:extLst xmlns:a="http://schemas.openxmlformats.org/drawingml/2006/main">
              <a:ext uri="{FF2B5EF4-FFF2-40B4-BE49-F238E27FC236}">
                <a16:creationId xmlns:a16="http://schemas.microsoft.com/office/drawing/2014/main" id="{0C3950B5-8DB5-4BFB-97B6-222C6C3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" name="main-node-13">
            <a:extLst xmlns:a="http://schemas.openxmlformats.org/drawingml/2006/main">
              <a:ext uri="{FF2B5EF4-FFF2-40B4-BE49-F238E27FC236}">
                <a16:creationId xmlns:a16="http://schemas.microsoft.com/office/drawing/2014/main" id="{237BF2BC-0CA7-4156-869C-07341352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4" name="main-label-13">
            <a:extLst xmlns:a="http://schemas.openxmlformats.org/drawingml/2006/main">
              <a:ext uri="{FF2B5EF4-FFF2-40B4-BE49-F238E27FC236}">
                <a16:creationId xmlns:a16="http://schemas.microsoft.com/office/drawing/2014/main" id="{E8E7344F-4C1B-4F86-B94D-709E221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5" name="main-node-14">
            <a:extLst xmlns:a="http://schemas.openxmlformats.org/drawingml/2006/main">
              <a:ext uri="{FF2B5EF4-FFF2-40B4-BE49-F238E27FC236}">
                <a16:creationId xmlns:a16="http://schemas.microsoft.com/office/drawing/2014/main" id="{8666FD95-4A70-4FE9-9906-3EEBAE05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6" name="main-label-14">
            <a:extLst xmlns:a="http://schemas.openxmlformats.org/drawingml/2006/main">
              <a:ext uri="{FF2B5EF4-FFF2-40B4-BE49-F238E27FC236}">
                <a16:creationId xmlns:a16="http://schemas.microsoft.com/office/drawing/2014/main" id="{C9B25A27-C4FA-47EC-9D72-5781BED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7" name="main-node-15">
            <a:extLst xmlns:a="http://schemas.openxmlformats.org/drawingml/2006/main">
              <a:ext uri="{FF2B5EF4-FFF2-40B4-BE49-F238E27FC236}">
                <a16:creationId xmlns:a16="http://schemas.microsoft.com/office/drawing/2014/main" id="{600DF9A2-D9EC-40D3-AD20-248A8D82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8" name="main-label-15">
            <a:extLst xmlns:a="http://schemas.openxmlformats.org/drawingml/2006/main">
              <a:ext uri="{FF2B5EF4-FFF2-40B4-BE49-F238E27FC236}">
                <a16:creationId xmlns:a16="http://schemas.microsoft.com/office/drawing/2014/main" id="{2B6E956F-7D9A-40FB-B560-704ACAD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9" name="main-node-16">
            <a:extLst xmlns:a="http://schemas.openxmlformats.org/drawingml/2006/main">
              <a:ext uri="{FF2B5EF4-FFF2-40B4-BE49-F238E27FC236}">
                <a16:creationId xmlns:a16="http://schemas.microsoft.com/office/drawing/2014/main" id="{0D0B36E6-5D5F-4F1B-9CE6-8B3BDB44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0" name="main-label-16">
            <a:extLst xmlns:a="http://schemas.openxmlformats.org/drawingml/2006/main">
              <a:ext uri="{FF2B5EF4-FFF2-40B4-BE49-F238E27FC236}">
                <a16:creationId xmlns:a16="http://schemas.microsoft.com/office/drawing/2014/main" id="{45E1357E-953A-48B4-92D1-6EE63EDA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1" name="main-node-17">
            <a:extLst xmlns:a="http://schemas.openxmlformats.org/drawingml/2006/main">
              <a:ext uri="{FF2B5EF4-FFF2-40B4-BE49-F238E27FC236}">
                <a16:creationId xmlns:a16="http://schemas.microsoft.com/office/drawing/2014/main" id="{294C3E01-D35F-4D7E-B2C0-052A2691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2" name="main-label-17">
            <a:extLst xmlns:a="http://schemas.openxmlformats.org/drawingml/2006/main">
              <a:ext uri="{FF2B5EF4-FFF2-40B4-BE49-F238E27FC236}">
                <a16:creationId xmlns:a16="http://schemas.microsoft.com/office/drawing/2014/main" id="{C718EBC4-86DC-4AFD-8C16-433DEEC6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3" name="main-node-18">
            <a:extLst xmlns:a="http://schemas.openxmlformats.org/drawingml/2006/main">
              <a:ext uri="{FF2B5EF4-FFF2-40B4-BE49-F238E27FC236}">
                <a16:creationId xmlns:a16="http://schemas.microsoft.com/office/drawing/2014/main" id="{099F0976-0D5E-46B1-AFA7-D634F98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4" name="main-label-18">
            <a:extLst xmlns:a="http://schemas.openxmlformats.org/drawingml/2006/main">
              <a:ext uri="{FF2B5EF4-FFF2-40B4-BE49-F238E27FC236}">
                <a16:creationId xmlns:a16="http://schemas.microsoft.com/office/drawing/2014/main" id="{CD29EA2E-E269-42C2-AA64-7FC7817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100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5" name="upper-node-19">
            <a:extLst xmlns:a="http://schemas.openxmlformats.org/drawingml/2006/main">
              <a:ext uri="{FF2B5EF4-FFF2-40B4-BE49-F238E27FC236}">
                <a16:creationId xmlns:a16="http://schemas.microsoft.com/office/drawing/2014/main" id="{E252F7DD-9059-4016-ADC6-D0B23835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382428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6" name="upper-label-19">
            <a:extLst xmlns:a="http://schemas.openxmlformats.org/drawingml/2006/main">
              <a:ext uri="{FF2B5EF4-FFF2-40B4-BE49-F238E27FC236}">
                <a16:creationId xmlns:a16="http://schemas.microsoft.com/office/drawing/2014/main" id="{B8B1B19E-9D19-4267-8FF7-D3A0E083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7" name="upper-node-20">
            <a:extLst xmlns:a="http://schemas.openxmlformats.org/drawingml/2006/main">
              <a:ext uri="{FF2B5EF4-FFF2-40B4-BE49-F238E27FC236}">
                <a16:creationId xmlns:a16="http://schemas.microsoft.com/office/drawing/2014/main" id="{520743F0-A541-4C4A-B3AE-CEBE3B7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35766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8" name="upper-label-20">
            <a:extLst xmlns:a="http://schemas.openxmlformats.org/drawingml/2006/main">
              <a:ext uri="{FF2B5EF4-FFF2-40B4-BE49-F238E27FC236}">
                <a16:creationId xmlns:a16="http://schemas.microsoft.com/office/drawing/2014/main" id="{EF3F1DFC-AA72-4CFD-9A72-E8381C4E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9" name="upper-node-21">
            <a:extLst xmlns:a="http://schemas.openxmlformats.org/drawingml/2006/main">
              <a:ext uri="{FF2B5EF4-FFF2-40B4-BE49-F238E27FC236}">
                <a16:creationId xmlns:a16="http://schemas.microsoft.com/office/drawing/2014/main" id="{BCBCBB20-4DF7-4B4E-A0BB-55AADB35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35766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0" name="upper-label-21">
            <a:extLst xmlns:a="http://schemas.openxmlformats.org/drawingml/2006/main">
              <a:ext uri="{FF2B5EF4-FFF2-40B4-BE49-F238E27FC236}">
                <a16:creationId xmlns:a16="http://schemas.microsoft.com/office/drawing/2014/main" id="{8B329D9C-0B02-45F7-9BC5-9E4F456D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1" name="upper-node-22">
            <a:extLst xmlns:a="http://schemas.openxmlformats.org/drawingml/2006/main">
              <a:ext uri="{FF2B5EF4-FFF2-40B4-BE49-F238E27FC236}">
                <a16:creationId xmlns:a16="http://schemas.microsoft.com/office/drawing/2014/main" id="{7FF696D4-20D4-48A8-A122-ACC07F9E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3" y="35766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2" name="upper-label-22">
            <a:extLst xmlns:a="http://schemas.openxmlformats.org/drawingml/2006/main">
              <a:ext uri="{FF2B5EF4-FFF2-40B4-BE49-F238E27FC236}">
                <a16:creationId xmlns:a16="http://schemas.microsoft.com/office/drawing/2014/main" id="{D7AFC774-CFBC-4144-BD52-D3EAB26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71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3" name="upper-node-23">
            <a:extLst xmlns:a="http://schemas.openxmlformats.org/drawingml/2006/main">
              <a:ext uri="{FF2B5EF4-FFF2-40B4-BE49-F238E27FC236}">
                <a16:creationId xmlns:a16="http://schemas.microsoft.com/office/drawing/2014/main" id="{84EBBE69-A077-47D0-9A81-BE35868A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35766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4" name="upper-label-23">
            <a:extLst xmlns:a="http://schemas.openxmlformats.org/drawingml/2006/main">
              <a:ext uri="{FF2B5EF4-FFF2-40B4-BE49-F238E27FC236}">
                <a16:creationId xmlns:a16="http://schemas.microsoft.com/office/drawing/2014/main" id="{E7CFCFC2-8A59-4600-9B61-D707CF8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3718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5" name="lower-node-23">
            <a:extLst xmlns:a="http://schemas.openxmlformats.org/drawingml/2006/main">
              <a:ext uri="{FF2B5EF4-FFF2-40B4-BE49-F238E27FC236}">
                <a16:creationId xmlns:a16="http://schemas.microsoft.com/office/drawing/2014/main" id="{1CBA4819-2412-4CC7-A9DD-F568ECA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47958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6" name="lower-label-23">
            <a:extLst xmlns:a="http://schemas.openxmlformats.org/drawingml/2006/main">
              <a:ext uri="{FF2B5EF4-FFF2-40B4-BE49-F238E27FC236}">
                <a16:creationId xmlns:a16="http://schemas.microsoft.com/office/drawing/2014/main" id="{1DCA52AE-45BF-406A-959B-AF7EB26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815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7" name="lower-node-24">
            <a:extLst xmlns:a="http://schemas.openxmlformats.org/drawingml/2006/main">
              <a:ext uri="{FF2B5EF4-FFF2-40B4-BE49-F238E27FC236}">
                <a16:creationId xmlns:a16="http://schemas.microsoft.com/office/drawing/2014/main" id="{1FE42F49-9B60-4050-BBAF-51D45C7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8" y="47958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8" name="lower-label-24">
            <a:extLst xmlns:a="http://schemas.openxmlformats.org/drawingml/2006/main">
              <a:ext uri="{FF2B5EF4-FFF2-40B4-BE49-F238E27FC236}">
                <a16:creationId xmlns:a16="http://schemas.microsoft.com/office/drawing/2014/main" id="{26378BE0-1D78-43B9-8097-2F4E6B45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9" name="lower-node-25">
            <a:extLst xmlns:a="http://schemas.openxmlformats.org/drawingml/2006/main">
              <a:ext uri="{FF2B5EF4-FFF2-40B4-BE49-F238E27FC236}">
                <a16:creationId xmlns:a16="http://schemas.microsoft.com/office/drawing/2014/main" id="{FB0F694B-308C-404F-B1E2-BF67CA3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47958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0" name="lower-label-25">
            <a:extLst xmlns:a="http://schemas.openxmlformats.org/drawingml/2006/main">
              <a:ext uri="{FF2B5EF4-FFF2-40B4-BE49-F238E27FC236}">
                <a16:creationId xmlns:a16="http://schemas.microsoft.com/office/drawing/2014/main" id="{B723967F-640F-42B7-9319-6F90C3F2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815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1" name="lower-node-26">
            <a:extLst xmlns:a="http://schemas.openxmlformats.org/drawingml/2006/main">
              <a:ext uri="{FF2B5EF4-FFF2-40B4-BE49-F238E27FC236}">
                <a16:creationId xmlns:a16="http://schemas.microsoft.com/office/drawing/2014/main" id="{04E409EA-113B-4001-A218-60049757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2" name="lower-label-26">
            <a:extLst xmlns:a="http://schemas.openxmlformats.org/drawingml/2006/main">
              <a:ext uri="{FF2B5EF4-FFF2-40B4-BE49-F238E27FC236}">
                <a16:creationId xmlns:a16="http://schemas.microsoft.com/office/drawing/2014/main" id="{F28C8C49-084B-409D-AE1E-E11F20C8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3" name="lower-node-27">
            <a:extLst xmlns:a="http://schemas.openxmlformats.org/drawingml/2006/main">
              <a:ext uri="{FF2B5EF4-FFF2-40B4-BE49-F238E27FC236}">
                <a16:creationId xmlns:a16="http://schemas.microsoft.com/office/drawing/2014/main" id="{E168185C-F899-4378-978B-B94331A3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4" name="lower-label-27">
            <a:extLst xmlns:a="http://schemas.openxmlformats.org/drawingml/2006/main">
              <a:ext uri="{FF2B5EF4-FFF2-40B4-BE49-F238E27FC236}">
                <a16:creationId xmlns:a16="http://schemas.microsoft.com/office/drawing/2014/main" id="{DA7A5E02-1387-47F1-92B9-D1F0743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5" name="lower-node-28">
            <a:extLst xmlns:a="http://schemas.openxmlformats.org/drawingml/2006/main">
              <a:ext uri="{FF2B5EF4-FFF2-40B4-BE49-F238E27FC236}">
                <a16:creationId xmlns:a16="http://schemas.microsoft.com/office/drawing/2014/main" id="{4FC0342F-0CAB-41E8-A8CE-E7BC0853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6" name="lower-label-28">
            <a:extLst xmlns:a="http://schemas.openxmlformats.org/drawingml/2006/main">
              <a:ext uri="{FF2B5EF4-FFF2-40B4-BE49-F238E27FC236}">
                <a16:creationId xmlns:a16="http://schemas.microsoft.com/office/drawing/2014/main" id="{ED8781EE-DFCF-4E88-88B2-5A9EE4E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7" name="lower-node-29">
            <a:extLst xmlns:a="http://schemas.openxmlformats.org/drawingml/2006/main">
              <a:ext uri="{FF2B5EF4-FFF2-40B4-BE49-F238E27FC236}">
                <a16:creationId xmlns:a16="http://schemas.microsoft.com/office/drawing/2014/main" id="{0AFF7745-8C53-4ACF-BD00-36C7D17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88" name="lower-label-29">
            <a:extLst xmlns:a="http://schemas.openxmlformats.org/drawingml/2006/main">
              <a:ext uri="{FF2B5EF4-FFF2-40B4-BE49-F238E27FC236}">
                <a16:creationId xmlns:a16="http://schemas.microsoft.com/office/drawing/2014/main" id="{CC016DBE-BAED-4DDF-9BC1-4DA3F963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9" name="lower-node-30">
            <a:extLst xmlns:a="http://schemas.openxmlformats.org/drawingml/2006/main">
              <a:ext uri="{FF2B5EF4-FFF2-40B4-BE49-F238E27FC236}">
                <a16:creationId xmlns:a16="http://schemas.microsoft.com/office/drawing/2014/main" id="{A41725A5-44CA-4717-B81B-E8897B6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0" name="lower-label-30">
            <a:extLst xmlns:a="http://schemas.openxmlformats.org/drawingml/2006/main">
              <a:ext uri="{FF2B5EF4-FFF2-40B4-BE49-F238E27FC236}">
                <a16:creationId xmlns:a16="http://schemas.microsoft.com/office/drawing/2014/main" id="{23AC0267-1C8B-4A79-BE07-6A7A193A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91" name="lower-node-31">
            <a:extLst xmlns:a="http://schemas.openxmlformats.org/drawingml/2006/main">
              <a:ext uri="{FF2B5EF4-FFF2-40B4-BE49-F238E27FC236}">
                <a16:creationId xmlns:a16="http://schemas.microsoft.com/office/drawing/2014/main" id="{B6182ECD-8957-4D4A-BF04-9B42DA3B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2" name="lower-label-31">
            <a:extLst xmlns:a="http://schemas.openxmlformats.org/drawingml/2006/main">
              <a:ext uri="{FF2B5EF4-FFF2-40B4-BE49-F238E27FC236}">
                <a16:creationId xmlns:a16="http://schemas.microsoft.com/office/drawing/2014/main" id="{A8F80BCA-771A-4265-A92F-A1A00B4E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93" name="lower-node-32">
            <a:extLst xmlns:a="http://schemas.openxmlformats.org/drawingml/2006/main">
              <a:ext uri="{FF2B5EF4-FFF2-40B4-BE49-F238E27FC236}">
                <a16:creationId xmlns:a16="http://schemas.microsoft.com/office/drawing/2014/main" id="{4E2CE8AE-E970-40DE-B34B-188D0DD4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5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4" name="lower-label-32">
            <a:extLst xmlns:a="http://schemas.openxmlformats.org/drawingml/2006/main">
              <a:ext uri="{FF2B5EF4-FFF2-40B4-BE49-F238E27FC236}">
                <a16:creationId xmlns:a16="http://schemas.microsoft.com/office/drawing/2014/main" id="{54822CA9-357A-4E9E-88EB-CDB98AD0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95" name="lower-node-33">
            <a:extLst xmlns:a="http://schemas.openxmlformats.org/drawingml/2006/main">
              <a:ext uri="{FF2B5EF4-FFF2-40B4-BE49-F238E27FC236}">
                <a16:creationId xmlns:a16="http://schemas.microsoft.com/office/drawing/2014/main" id="{EBAD9A13-E91B-4F62-BA9D-D85987F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52911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96" name="lower-label-33">
            <a:extLst xmlns:a="http://schemas.openxmlformats.org/drawingml/2006/main">
              <a:ext uri="{FF2B5EF4-FFF2-40B4-BE49-F238E27FC236}">
                <a16:creationId xmlns:a16="http://schemas.microsoft.com/office/drawing/2014/main" id="{90554685-BA65-459E-AA16-820FA3F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768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97" name="line67">
            <a:extLst xmlns:a="http://schemas.openxmlformats.org/drawingml/2006/main">
              <a:ext uri="{FF2B5EF4-FFF2-40B4-BE49-F238E27FC236}">
                <a16:creationId xmlns:a16="http://schemas.microsoft.com/office/drawing/2014/main" id="{7BE92894-51F8-494F-AA69-3EFF346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05175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扩建线路6-7</a:t>
            </a:r>
          </a:p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（容量不足）</a:t>
            </a:r>
          </a:p>
        </p:txBody>
      </p:sp>
      <p:sp>
        <p:nvSpPr>
          <p:cNvPr id="98" name="line67-arr-route">
            <a:extLst xmlns:a="http://schemas.openxmlformats.org/drawingml/2006/main">
              <a:ext uri="{FF2B5EF4-FFF2-40B4-BE49-F238E27FC236}">
                <a16:creationId xmlns:a16="http://schemas.microsoft.com/office/drawing/2014/main" id="{957871D4-213A-421F-97E5-62488F78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14750"/>
            <a:ext cx="247650" cy="323850"/>
          </a:xfrm>
          <a:custGeom xmlns:a="http://schemas.openxmlformats.org/drawingml/2006/main">
            <a:pathLst>
              <a:path w="247650" h="323850">
                <a:moveTo>
                  <a:pt x="24765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0000"/>
            </a:solidFill>
            <a:prstDash val="solid"/>
          </a:ln>
        </p:spPr>
      </p:sp>
      <p:sp>
        <p:nvSpPr>
          <p:cNvPr id="99" name="line67-arr-head">
            <a:extLst xmlns:a="http://schemas.openxmlformats.org/drawingml/2006/main">
              <a:ext uri="{FF2B5EF4-FFF2-40B4-BE49-F238E27FC236}">
                <a16:creationId xmlns:a16="http://schemas.microsoft.com/office/drawing/2014/main" id="{8A6305DD-EF4D-4B10-9B5A-F251ABB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945508"/>
            <a:ext cx="84760" cy="93092"/>
          </a:xfrm>
          <a:custGeom xmlns:a="http://schemas.openxmlformats.org/drawingml/2006/main">
            <a:pathLst>
              <a:path w="84760" h="93092">
                <a:moveTo>
                  <a:pt x="0" y="93092"/>
                </a:moveTo>
                <a:lnTo>
                  <a:pt x="19387" y="0"/>
                </a:lnTo>
                <a:lnTo>
                  <a:pt x="84760" y="49991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100" name="line1418">
            <a:extLst xmlns:a="http://schemas.openxmlformats.org/drawingml/2006/main">
              <a:ext uri="{FF2B5EF4-FFF2-40B4-BE49-F238E27FC236}">
                <a16:creationId xmlns:a16="http://schemas.microsoft.com/office/drawing/2014/main" id="{5309B5EB-3072-4C0A-BF2B-121738B2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1085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扩建线路14-18</a:t>
            </a:r>
          </a:p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（负荷过重）</a:t>
            </a:r>
          </a:p>
        </p:txBody>
      </p:sp>
      <p:sp>
        <p:nvSpPr>
          <p:cNvPr id="101" name="line1418-arr-route">
            <a:extLst xmlns:a="http://schemas.openxmlformats.org/drawingml/2006/main">
              <a:ext uri="{FF2B5EF4-FFF2-40B4-BE49-F238E27FC236}">
                <a16:creationId xmlns:a16="http://schemas.microsoft.com/office/drawing/2014/main" id="{2F0B1215-F93F-4911-87AA-69C5FA2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95775"/>
            <a:ext cx="133350" cy="161925"/>
          </a:xfrm>
          <a:custGeom xmlns:a="http://schemas.openxmlformats.org/drawingml/2006/main">
            <a:pathLst>
              <a:path w="133350" h="161925">
                <a:moveTo>
                  <a:pt x="0" y="161925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0000"/>
            </a:solidFill>
            <a:prstDash val="solid"/>
          </a:ln>
        </p:spPr>
      </p:sp>
      <p:sp>
        <p:nvSpPr>
          <p:cNvPr id="102" name="line1418-arr-head">
            <a:extLst xmlns:a="http://schemas.openxmlformats.org/drawingml/2006/main">
              <a:ext uri="{FF2B5EF4-FFF2-40B4-BE49-F238E27FC236}">
                <a16:creationId xmlns:a16="http://schemas.microsoft.com/office/drawing/2014/main" id="{551B030E-9302-4438-A31D-EF0B5DE2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091" y="4295775"/>
            <a:ext cx="86259" cy="92332"/>
          </a:xfrm>
          <a:custGeom xmlns:a="http://schemas.openxmlformats.org/drawingml/2006/main">
            <a:pathLst>
              <a:path w="86259" h="92332">
                <a:moveTo>
                  <a:pt x="86259" y="0"/>
                </a:moveTo>
                <a:lnTo>
                  <a:pt x="63527" y="92332"/>
                </a:lnTo>
                <a:lnTo>
                  <a:pt x="0" y="40016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103" name="line2526">
            <a:extLst xmlns:a="http://schemas.openxmlformats.org/drawingml/2006/main">
              <a:ext uri="{FF2B5EF4-FFF2-40B4-BE49-F238E27FC236}">
                <a16:creationId xmlns:a16="http://schemas.microsoft.com/office/drawing/2014/main" id="{86D857AC-FFAF-425F-9695-767FD255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扩建线路25-26</a:t>
            </a:r>
          </a:p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（电压越限）</a:t>
            </a:r>
          </a:p>
        </p:txBody>
      </p:sp>
      <p:sp>
        <p:nvSpPr>
          <p:cNvPr id="104" name="line2526-arr-route">
            <a:extLst xmlns:a="http://schemas.openxmlformats.org/drawingml/2006/main">
              <a:ext uri="{FF2B5EF4-FFF2-40B4-BE49-F238E27FC236}">
                <a16:creationId xmlns:a16="http://schemas.microsoft.com/office/drawing/2014/main" id="{0ACA88DE-7FBA-4035-8EB5-3527134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57775"/>
            <a:ext cx="85725" cy="219075"/>
          </a:xfrm>
          <a:custGeom xmlns:a="http://schemas.openxmlformats.org/drawingml/2006/main">
            <a:pathLst>
              <a:path w="85725" h="219075">
                <a:moveTo>
                  <a:pt x="85725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D0000"/>
            </a:solidFill>
            <a:prstDash val="solid"/>
          </a:ln>
        </p:spPr>
      </p:sp>
      <p:sp>
        <p:nvSpPr>
          <p:cNvPr id="105" name="line2526-arr-head">
            <a:extLst xmlns:a="http://schemas.openxmlformats.org/drawingml/2006/main">
              <a:ext uri="{FF2B5EF4-FFF2-40B4-BE49-F238E27FC236}">
                <a16:creationId xmlns:a16="http://schemas.microsoft.com/office/drawing/2014/main" id="{17D89D88-FFF3-4204-9E7E-455A4D0B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94" y="5182025"/>
            <a:ext cx="76638" cy="94825"/>
          </a:xfrm>
          <a:custGeom xmlns:a="http://schemas.openxmlformats.org/drawingml/2006/main">
            <a:pathLst>
              <a:path w="76638" h="94825">
                <a:moveTo>
                  <a:pt x="7081" y="94825"/>
                </a:moveTo>
                <a:lnTo>
                  <a:pt x="0" y="0"/>
                </a:lnTo>
                <a:lnTo>
                  <a:pt x="76638" y="29989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106" name="legend-normal">
            <a:extLst xmlns:a="http://schemas.openxmlformats.org/drawingml/2006/main">
              <a:ext uri="{FF2B5EF4-FFF2-40B4-BE49-F238E27FC236}">
                <a16:creationId xmlns:a16="http://schemas.microsoft.com/office/drawing/2014/main" id="{67C05174-D320-4433-ADE4-74EA1D0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361950" cy="95"/>
          </a:xfrm>
          <a:custGeom xmlns:a="http://schemas.openxmlformats.org/drawingml/2006/main"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7" name="legend-normal-t">
            <a:extLst xmlns:a="http://schemas.openxmlformats.org/drawingml/2006/main">
              <a:ext uri="{FF2B5EF4-FFF2-40B4-BE49-F238E27FC236}">
                <a16:creationId xmlns:a16="http://schemas.microsoft.com/office/drawing/2014/main" id="{3168B1E2-6E2C-475F-986F-3F527F16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正常线路</a:t>
            </a:r>
          </a:p>
        </p:txBody>
      </p:sp>
      <p:sp>
        <p:nvSpPr>
          <p:cNvPr id="108" name="legend-red">
            <a:extLst xmlns:a="http://schemas.openxmlformats.org/drawingml/2006/main">
              <a:ext uri="{FF2B5EF4-FFF2-40B4-BE49-F238E27FC236}">
                <a16:creationId xmlns:a16="http://schemas.microsoft.com/office/drawing/2014/main" id="{6B24540E-3572-45C5-B8F9-02FF90F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57575"/>
            <a:ext cx="361950" cy="95"/>
          </a:xfrm>
          <a:custGeom xmlns:a="http://schemas.openxmlformats.org/drawingml/2006/main">
            <a:pathLst>
              <a:path w="361950" h="9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D0000"/>
            </a:solidFill>
            <a:prstDash val="solid"/>
          </a:ln>
        </p:spPr>
      </p:sp>
      <p:sp>
        <p:nvSpPr>
          <p:cNvPr id="109" name="legend-red-t">
            <a:extLst xmlns:a="http://schemas.openxmlformats.org/drawingml/2006/main">
              <a:ext uri="{FF2B5EF4-FFF2-40B4-BE49-F238E27FC236}">
                <a16:creationId xmlns:a16="http://schemas.microsoft.com/office/drawing/2014/main" id="{EE54B998-03F0-4D88-9684-01BBB95F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扩建线路</a:t>
            </a:r>
          </a:p>
        </p:txBody>
      </p:sp>
      <p:sp>
        <p:nvSpPr>
          <p:cNvPr id="110" name="legend-node">
            <a:extLst xmlns:a="http://schemas.openxmlformats.org/drawingml/2006/main">
              <a:ext uri="{FF2B5EF4-FFF2-40B4-BE49-F238E27FC236}">
                <a16:creationId xmlns:a16="http://schemas.microsoft.com/office/drawing/2014/main" id="{0A0D867A-9C49-4C2A-B017-66E80DC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1" name="legend-node-t">
            <a:extLst xmlns:a="http://schemas.openxmlformats.org/drawingml/2006/main">
              <a:ext uri="{FF2B5EF4-FFF2-40B4-BE49-F238E27FC236}">
                <a16:creationId xmlns:a16="http://schemas.microsoft.com/office/drawing/2014/main" id="{059D7154-3C8C-4C92-8B5F-E30DFD98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节点</a:t>
            </a:r>
          </a:p>
        </p:txBody>
      </p:sp>
      <p:sp>
        <p:nvSpPr>
          <p:cNvPr id="112" name="legend-critical">
            <a:extLst xmlns:a="http://schemas.openxmlformats.org/drawingml/2006/main">
              <a:ext uri="{FF2B5EF4-FFF2-40B4-BE49-F238E27FC236}">
                <a16:creationId xmlns:a16="http://schemas.microsoft.com/office/drawing/2014/main" id="{CA7A8756-1E88-47F0-A6B5-818E049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0000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13" name="legend-critical-t">
            <a:extLst xmlns:a="http://schemas.openxmlformats.org/drawingml/2006/main">
              <a:ext uri="{FF2B5EF4-FFF2-40B4-BE49-F238E27FC236}">
                <a16:creationId xmlns:a16="http://schemas.microsoft.com/office/drawing/2014/main" id="{6D068497-5294-4524-B2D3-9D8FAAA3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重要节点</a:t>
            </a:r>
          </a:p>
        </p:txBody>
      </p:sp>
      <p:sp>
        <p:nvSpPr>
          <p:cNvPr id="114" name="cost-frame">
            <a:extLst xmlns:a="http://schemas.openxmlformats.org/drawingml/2006/main">
              <a:ext uri="{FF2B5EF4-FFF2-40B4-BE49-F238E27FC236}">
                <a16:creationId xmlns:a16="http://schemas.microsoft.com/office/drawing/2014/main" id="{89B1974F-1B58-4C6D-85A1-6695842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667375"/>
            <a:ext cx="4714875" cy="2343150"/>
          </a:xfrm>
          <a:prstGeom xmlns:a="http://schemas.openxmlformats.org/drawingml/2006/main" prst="roundRect">
            <a:avLst>
              <a:gd name="adj" fmla="val 2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115" name="cost-head-bg">
            <a:extLst xmlns:a="http://schemas.openxmlformats.org/drawingml/2006/main">
              <a:ext uri="{FF2B5EF4-FFF2-40B4-BE49-F238E27FC236}">
                <a16:creationId xmlns:a16="http://schemas.microsoft.com/office/drawing/2014/main" id="{ED4AEA84-6B86-4C71-A937-6FF76EB4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67375"/>
            <a:ext cx="46958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116" name="cost-head-t">
            <a:extLst xmlns:a="http://schemas.openxmlformats.org/drawingml/2006/main">
              <a:ext uri="{FF2B5EF4-FFF2-40B4-BE49-F238E27FC236}">
                <a16:creationId xmlns:a16="http://schemas.microsoft.com/office/drawing/2014/main" id="{88C86A4F-DEA0-4681-AF42-8BC7C69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769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IDSO总成本对比</a:t>
            </a:r>
          </a:p>
        </p:txBody>
      </p:sp>
      <p:sp>
        <p:nvSpPr>
          <p:cNvPr id="117" name="cost-grid-0">
            <a:extLst xmlns:a="http://schemas.openxmlformats.org/drawingml/2006/main">
              <a:ext uri="{FF2B5EF4-FFF2-40B4-BE49-F238E27FC236}">
                <a16:creationId xmlns:a16="http://schemas.microsoft.com/office/drawing/2014/main" id="{F49B80F2-C823-4696-9CB4-610D637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48550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6DDE3"/>
            </a:solidFill>
            <a:prstDash val="dash"/>
          </a:ln>
        </p:spPr>
      </p:sp>
      <p:sp>
        <p:nvSpPr>
          <p:cNvPr id="118" name="cost-y-0">
            <a:extLst xmlns:a="http://schemas.openxmlformats.org/drawingml/2006/main">
              <a:ext uri="{FF2B5EF4-FFF2-40B4-BE49-F238E27FC236}">
                <a16:creationId xmlns:a16="http://schemas.microsoft.com/office/drawing/2014/main" id="{2E294369-58A2-4096-97FB-D2BF905D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43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9" name="cost-grid-50">
            <a:extLst xmlns:a="http://schemas.openxmlformats.org/drawingml/2006/main">
              <a:ext uri="{FF2B5EF4-FFF2-40B4-BE49-F238E27FC236}">
                <a16:creationId xmlns:a16="http://schemas.microsoft.com/office/drawing/2014/main" id="{C3E3E1EB-9CC1-42EF-87BA-3CCC649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119938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6DDE3"/>
            </a:solidFill>
            <a:prstDash val="dash"/>
          </a:ln>
        </p:spPr>
      </p:sp>
      <p:sp>
        <p:nvSpPr>
          <p:cNvPr id="120" name="cost-y-50">
            <a:extLst xmlns:a="http://schemas.openxmlformats.org/drawingml/2006/main">
              <a:ext uri="{FF2B5EF4-FFF2-40B4-BE49-F238E27FC236}">
                <a16:creationId xmlns:a16="http://schemas.microsoft.com/office/drawing/2014/main" id="{BD17DC18-D74E-4E2D-AFC3-D4BD58A5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15163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21" name="cost-grid-100">
            <a:extLst xmlns:a="http://schemas.openxmlformats.org/drawingml/2006/main">
              <a:ext uri="{FF2B5EF4-FFF2-40B4-BE49-F238E27FC236}">
                <a16:creationId xmlns:a16="http://schemas.microsoft.com/office/drawing/2014/main" id="{96EB6E00-2C22-4929-AE03-D010CDB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91325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6DDE3"/>
            </a:solidFill>
            <a:prstDash val="dash"/>
          </a:ln>
        </p:spPr>
      </p:sp>
      <p:sp>
        <p:nvSpPr>
          <p:cNvPr id="122" name="cost-y-100">
            <a:extLst xmlns:a="http://schemas.openxmlformats.org/drawingml/2006/main">
              <a:ext uri="{FF2B5EF4-FFF2-40B4-BE49-F238E27FC236}">
                <a16:creationId xmlns:a16="http://schemas.microsoft.com/office/drawing/2014/main" id="{870EAAFB-A9CE-4ED4-B3BC-722D1FC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65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3" name="cost-grid-150">
            <a:extLst xmlns:a="http://schemas.openxmlformats.org/drawingml/2006/main">
              <a:ext uri="{FF2B5EF4-FFF2-40B4-BE49-F238E27FC236}">
                <a16:creationId xmlns:a16="http://schemas.microsoft.com/office/drawing/2014/main" id="{CA50EE63-F429-4D9B-8B51-A4558EA0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462713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6DDE3"/>
            </a:solidFill>
            <a:prstDash val="dash"/>
          </a:ln>
        </p:spPr>
      </p:sp>
      <p:sp>
        <p:nvSpPr>
          <p:cNvPr id="124" name="cost-y-150">
            <a:extLst xmlns:a="http://schemas.openxmlformats.org/drawingml/2006/main">
              <a:ext uri="{FF2B5EF4-FFF2-40B4-BE49-F238E27FC236}">
                <a16:creationId xmlns:a16="http://schemas.microsoft.com/office/drawing/2014/main" id="{D52B29D4-D97E-4374-8DCF-9F4C6A1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579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125" name="cost-grid-200">
            <a:extLst xmlns:a="http://schemas.openxmlformats.org/drawingml/2006/main">
              <a:ext uri="{FF2B5EF4-FFF2-40B4-BE49-F238E27FC236}">
                <a16:creationId xmlns:a16="http://schemas.microsoft.com/office/drawing/2014/main" id="{0927DDB2-D74F-4679-87AB-6C67DD6F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6DDE3"/>
            </a:solidFill>
            <a:prstDash val="dash"/>
          </a:ln>
        </p:spPr>
      </p:sp>
      <p:sp>
        <p:nvSpPr>
          <p:cNvPr id="126" name="cost-y-200">
            <a:extLst xmlns:a="http://schemas.openxmlformats.org/drawingml/2006/main">
              <a:ext uri="{FF2B5EF4-FFF2-40B4-BE49-F238E27FC236}">
                <a16:creationId xmlns:a16="http://schemas.microsoft.com/office/drawing/2014/main" id="{225D5F9B-76C0-42CC-B2A6-18A4437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27" name="cost-yaxis">
            <a:extLst xmlns:a="http://schemas.openxmlformats.org/drawingml/2006/main">
              <a:ext uri="{FF2B5EF4-FFF2-40B4-BE49-F238E27FC236}">
                <a16:creationId xmlns:a16="http://schemas.microsoft.com/office/drawing/2014/main" id="{0F6F9B91-C24F-45FB-84AE-51942FB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95" cy="1314450"/>
          </a:xfrm>
          <a:custGeom xmlns:a="http://schemas.openxmlformats.org/drawingml/2006/main">
            <a:pathLst>
              <a:path w="95" h="1314450">
                <a:moveTo>
                  <a:pt x="0" y="0"/>
                </a:moveTo>
                <a:lnTo>
                  <a:pt x="0" y="13144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54F58"/>
            </a:solidFill>
            <a:prstDash val="solid"/>
          </a:ln>
        </p:spPr>
      </p:sp>
      <p:sp>
        <p:nvSpPr>
          <p:cNvPr id="128" name="cost-xaxis">
            <a:extLst xmlns:a="http://schemas.openxmlformats.org/drawingml/2006/main">
              <a:ext uri="{FF2B5EF4-FFF2-40B4-BE49-F238E27FC236}">
                <a16:creationId xmlns:a16="http://schemas.microsoft.com/office/drawing/2014/main" id="{734ED148-9E4A-45C5-BCF5-16C76A3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48550"/>
            <a:ext cx="3514725" cy="95"/>
          </a:xfrm>
          <a:custGeom xmlns:a="http://schemas.openxmlformats.org/drawingml/2006/main">
            <a:pathLst>
              <a:path w="3514725" h="95">
                <a:moveTo>
                  <a:pt x="0" y="0"/>
                </a:moveTo>
                <a:lnTo>
                  <a:pt x="3514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54F58"/>
            </a:solidFill>
            <a:prstDash val="solid"/>
          </a:ln>
        </p:spPr>
      </p:sp>
      <p:sp>
        <p:nvSpPr>
          <p:cNvPr id="129" name="cost-ytitle">
            <a:extLst xmlns:a="http://schemas.openxmlformats.org/drawingml/2006/main">
              <a:ext uri="{FF2B5EF4-FFF2-40B4-BE49-F238E27FC236}">
                <a16:creationId xmlns:a16="http://schemas.microsoft.com/office/drawing/2014/main" id="{F7D362F4-E626-4249-8EF5-A4C91E4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419850"/>
            <a:ext cx="5524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IDSO</a:t>
            </a:r>
          </a:p>
          <a:p xmlns:a="http://schemas.openxmlformats.org/drawingml/2006/main">
            <a:pPr algn="ctr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总成本</a:t>
            </a:r>
          </a:p>
          <a:p xmlns:a="http://schemas.openxmlformats.org/drawingml/2006/main">
            <a:pPr algn="ctr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（百万元）</a:t>
            </a:r>
          </a:p>
        </p:txBody>
      </p:sp>
      <p:sp>
        <p:nvSpPr>
          <p:cNvPr id="130" name="cost-bar-0">
            <a:extLst xmlns:a="http://schemas.openxmlformats.org/drawingml/2006/main">
              <a:ext uri="{FF2B5EF4-FFF2-40B4-BE49-F238E27FC236}">
                <a16:creationId xmlns:a16="http://schemas.microsoft.com/office/drawing/2014/main" id="{E259A980-28D7-4732-9534-BAFF87A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65545"/>
            <a:ext cx="647700" cy="11830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cost-val-0">
            <a:extLst xmlns:a="http://schemas.openxmlformats.org/drawingml/2006/main">
              <a:ext uri="{FF2B5EF4-FFF2-40B4-BE49-F238E27FC236}">
                <a16:creationId xmlns:a16="http://schemas.microsoft.com/office/drawing/2014/main" id="{13BE3BA1-1226-4965-98C8-97551857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01789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132" name="cost-lab-0">
            <a:extLst xmlns:a="http://schemas.openxmlformats.org/drawingml/2006/main">
              <a:ext uri="{FF2B5EF4-FFF2-40B4-BE49-F238E27FC236}">
                <a16:creationId xmlns:a16="http://schemas.microsoft.com/office/drawing/2014/main" id="{4075672A-E034-4DAE-BFDB-D0213F0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961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1</a:t>
            </a:r>
          </a:p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(基本方案)</a:t>
            </a:r>
          </a:p>
        </p:txBody>
      </p:sp>
      <p:sp>
        <p:nvSpPr>
          <p:cNvPr id="133" name="cost-bar-1">
            <a:extLst xmlns:a="http://schemas.openxmlformats.org/drawingml/2006/main">
              <a:ext uri="{FF2B5EF4-FFF2-40B4-BE49-F238E27FC236}">
                <a16:creationId xmlns:a16="http://schemas.microsoft.com/office/drawing/2014/main" id="{EEBECD18-B4A5-4C34-B505-0CA36E5F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594158"/>
            <a:ext cx="647700" cy="8543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9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ost-val-1">
            <a:extLst xmlns:a="http://schemas.openxmlformats.org/drawingml/2006/main">
              <a:ext uri="{FF2B5EF4-FFF2-40B4-BE49-F238E27FC236}">
                <a16:creationId xmlns:a16="http://schemas.microsoft.com/office/drawing/2014/main" id="{B1A34EF7-E2A0-4AA7-BFBD-31B97FA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46508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130</a:t>
            </a:r>
          </a:p>
        </p:txBody>
      </p:sp>
      <p:sp>
        <p:nvSpPr>
          <p:cNvPr id="135" name="cost-lab-1">
            <a:extLst xmlns:a="http://schemas.openxmlformats.org/drawingml/2006/main">
              <a:ext uri="{FF2B5EF4-FFF2-40B4-BE49-F238E27FC236}">
                <a16:creationId xmlns:a16="http://schemas.microsoft.com/office/drawing/2014/main" id="{D8D0A9EC-9895-4A18-BE4D-04D206D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4961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2</a:t>
            </a:r>
          </a:p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(仅PV+EV)</a:t>
            </a:r>
          </a:p>
        </p:txBody>
      </p:sp>
      <p:sp>
        <p:nvSpPr>
          <p:cNvPr id="136" name="cost-bar-2">
            <a:extLst xmlns:a="http://schemas.openxmlformats.org/drawingml/2006/main">
              <a:ext uri="{FF2B5EF4-FFF2-40B4-BE49-F238E27FC236}">
                <a16:creationId xmlns:a16="http://schemas.microsoft.com/office/drawing/2014/main" id="{0518561D-0DEA-4541-9330-B8EA7D07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824186"/>
            <a:ext cx="647700" cy="624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6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cost-val-2">
            <a:extLst xmlns:a="http://schemas.openxmlformats.org/drawingml/2006/main">
              <a:ext uri="{FF2B5EF4-FFF2-40B4-BE49-F238E27FC236}">
                <a16:creationId xmlns:a16="http://schemas.microsoft.com/office/drawing/2014/main" id="{9FAFFA6F-2153-4E66-AFDF-C252501F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76536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138" name="cost-lab-2">
            <a:extLst xmlns:a="http://schemas.openxmlformats.org/drawingml/2006/main">
              <a:ext uri="{FF2B5EF4-FFF2-40B4-BE49-F238E27FC236}">
                <a16:creationId xmlns:a16="http://schemas.microsoft.com/office/drawing/2014/main" id="{8A9F382C-F01F-435C-902C-A18988AA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4961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3</a:t>
            </a:r>
          </a:p>
          <a:p xmlns:a="http://schemas.openxmlformats.org/drawingml/2006/main">
            <a:pPr algn="ctr">
              <a:def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(PV-grid-EV)</a:t>
            </a:r>
          </a:p>
        </p:txBody>
      </p:sp>
      <p:sp>
        <p:nvSpPr>
          <p:cNvPr id="139" name="cost-drop">
            <a:extLst xmlns:a="http://schemas.openxmlformats.org/drawingml/2006/main">
              <a:ext uri="{FF2B5EF4-FFF2-40B4-BE49-F238E27FC236}">
                <a16:creationId xmlns:a16="http://schemas.microsoft.com/office/drawing/2014/main" id="{EB3817A9-6533-43C0-81ED-B85BE76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88645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降低47.2%</a:t>
            </a:r>
          </a:p>
        </p:txBody>
      </p:sp>
      <p:sp>
        <p:nvSpPr>
          <p:cNvPr id="140" name="cost-drop-arr-route">
            <a:extLst xmlns:a="http://schemas.openxmlformats.org/drawingml/2006/main">
              <a:ext uri="{FF2B5EF4-FFF2-40B4-BE49-F238E27FC236}">
                <a16:creationId xmlns:a16="http://schemas.microsoft.com/office/drawing/2014/main" id="{73529067-C18F-49DD-A74C-15F83DF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34100"/>
            <a:ext cx="2038350" cy="400050"/>
          </a:xfrm>
          <a:custGeom xmlns:a="http://schemas.openxmlformats.org/drawingml/2006/main">
            <a:pathLst>
              <a:path w="2038350" h="400050">
                <a:moveTo>
                  <a:pt x="0" y="0"/>
                </a:moveTo>
                <a:lnTo>
                  <a:pt x="203835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ED0000"/>
            </a:solidFill>
            <a:prstDash val="solid"/>
          </a:ln>
        </p:spPr>
      </p:sp>
      <p:sp>
        <p:nvSpPr>
          <p:cNvPr id="141" name="cost-drop-arr-head">
            <a:extLst xmlns:a="http://schemas.openxmlformats.org/drawingml/2006/main">
              <a:ext uri="{FF2B5EF4-FFF2-40B4-BE49-F238E27FC236}">
                <a16:creationId xmlns:a16="http://schemas.microsoft.com/office/drawing/2014/main" id="{3F3C9F2D-BD1F-429E-8631-303B727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01" y="6464621"/>
            <a:ext cx="112499" cy="98701"/>
          </a:xfrm>
          <a:custGeom xmlns:a="http://schemas.openxmlformats.org/drawingml/2006/main">
            <a:pathLst>
              <a:path w="112499" h="98701">
                <a:moveTo>
                  <a:pt x="112499" y="69529"/>
                </a:moveTo>
                <a:lnTo>
                  <a:pt x="0" y="98701"/>
                </a:lnTo>
                <a:lnTo>
                  <a:pt x="1937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142" name="left-conclusion">
            <a:extLst xmlns:a="http://schemas.openxmlformats.org/drawingml/2006/main">
              <a:ext uri="{FF2B5EF4-FFF2-40B4-BE49-F238E27FC236}">
                <a16:creationId xmlns:a16="http://schemas.microsoft.com/office/drawing/2014/main" id="{0F6D5D54-299A-43E7-9C62-14FED11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096250"/>
            <a:ext cx="4714875" cy="638175"/>
          </a:xfrm>
          <a:prstGeom xmlns:a="http://schemas.openxmlformats.org/drawingml/2006/main" prst="roundRect">
            <a:avLst>
              <a:gd name="adj" fmla="val 10448"/>
            </a:avLst>
          </a:prstGeom>
          <a:gradFill xmlns:a="http://schemas.openxmlformats.org/drawingml/2006/main">
            <a:gsLst>
              <a:gs pos="0">
                <a:srgbClr val="EAF7FF"/>
              </a:gs>
              <a:gs pos="100000">
                <a:srgbClr val="DCEEFF"/>
              </a:gs>
            </a:gsLst>
            <a:lin ang="5400000"/>
          </a:gra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143" name="left-conclusion-t">
            <a:extLst xmlns:a="http://schemas.openxmlformats.org/drawingml/2006/main">
              <a:ext uri="{FF2B5EF4-FFF2-40B4-BE49-F238E27FC236}">
                <a16:creationId xmlns:a16="http://schemas.microsoft.com/office/drawing/2014/main" id="{03C424A2-2A3A-45E8-996C-4198C028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153400"/>
            <a:ext cx="431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协同交易降低主干线路与变电站扩容压力，</a:t>
            </a:r>
          </a:p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延缓部分配网投资。</a:t>
            </a:r>
          </a:p>
        </p:txBody>
      </p:sp>
      <p:sp>
        <p:nvSpPr>
          <p:cNvPr id="144" name="price-frame">
            <a:extLst xmlns:a="http://schemas.openxmlformats.org/drawingml/2006/main">
              <a:ext uri="{FF2B5EF4-FFF2-40B4-BE49-F238E27FC236}">
                <a16:creationId xmlns:a16="http://schemas.microsoft.com/office/drawing/2014/main" id="{28285178-765E-4260-805A-08189DE3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5248275" cy="2571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145" name="price-head-bg">
            <a:extLst xmlns:a="http://schemas.openxmlformats.org/drawingml/2006/main">
              <a:ext uri="{FF2B5EF4-FFF2-40B4-BE49-F238E27FC236}">
                <a16:creationId xmlns:a16="http://schemas.microsoft.com/office/drawing/2014/main" id="{2000A53D-192A-4B12-AC66-BD02D58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43200"/>
            <a:ext cx="52292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146" name="price-head-t">
            <a:extLst xmlns:a="http://schemas.openxmlformats.org/drawingml/2006/main">
              <a:ext uri="{FF2B5EF4-FFF2-40B4-BE49-F238E27FC236}">
                <a16:creationId xmlns:a16="http://schemas.microsoft.com/office/drawing/2014/main" id="{CD77186A-6797-4669-AEF3-32DF4A52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52725"/>
            <a:ext cx="507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5个EVCS的时变充电价格曲线</a:t>
            </a:r>
          </a:p>
        </p:txBody>
      </p:sp>
      <p:sp>
        <p:nvSpPr>
          <p:cNvPr id="147" name="price-hg-0">
            <a:extLst xmlns:a="http://schemas.openxmlformats.org/drawingml/2006/main">
              <a:ext uri="{FF2B5EF4-FFF2-40B4-BE49-F238E27FC236}">
                <a16:creationId xmlns:a16="http://schemas.microsoft.com/office/drawing/2014/main" id="{29531DCB-F05A-4E8F-BAB7-6C4C79C4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9E0"/>
            </a:solidFill>
            <a:prstDash val="dash"/>
          </a:ln>
        </p:spPr>
      </p:sp>
      <p:sp>
        <p:nvSpPr>
          <p:cNvPr id="148" name="price-y-0">
            <a:extLst xmlns:a="http://schemas.openxmlformats.org/drawingml/2006/main">
              <a:ext uri="{FF2B5EF4-FFF2-40B4-BE49-F238E27FC236}">
                <a16:creationId xmlns:a16="http://schemas.microsoft.com/office/drawing/2014/main" id="{05E65497-638C-4D34-A9D9-76CA1C0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19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149" name="price-hg-0.5">
            <a:extLst xmlns:a="http://schemas.openxmlformats.org/drawingml/2006/main">
              <a:ext uri="{FF2B5EF4-FFF2-40B4-BE49-F238E27FC236}">
                <a16:creationId xmlns:a16="http://schemas.microsoft.com/office/drawing/2014/main" id="{74D1769B-D68B-4756-9C94-B573F483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0544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9E0"/>
            </a:solidFill>
            <a:prstDash val="dash"/>
          </a:ln>
        </p:spPr>
      </p:sp>
      <p:sp>
        <p:nvSpPr>
          <p:cNvPr id="150" name="price-y-0.5">
            <a:extLst xmlns:a="http://schemas.openxmlformats.org/drawingml/2006/main">
              <a:ext uri="{FF2B5EF4-FFF2-40B4-BE49-F238E27FC236}">
                <a16:creationId xmlns:a16="http://schemas.microsoft.com/office/drawing/2014/main" id="{B8D2AE90-7317-419B-8DEF-71C6B80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255294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51" name="price-hg-1">
            <a:extLst xmlns:a="http://schemas.openxmlformats.org/drawingml/2006/main">
              <a:ext uri="{FF2B5EF4-FFF2-40B4-BE49-F238E27FC236}">
                <a16:creationId xmlns:a16="http://schemas.microsoft.com/office/drawing/2014/main" id="{E5C21C98-0D48-4F7A-9ADA-AFF8EF7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6213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9E0"/>
            </a:solidFill>
            <a:prstDash val="dash"/>
          </a:ln>
        </p:spPr>
      </p:sp>
      <p:sp>
        <p:nvSpPr>
          <p:cNvPr id="152" name="price-y-1">
            <a:extLst xmlns:a="http://schemas.openxmlformats.org/drawingml/2006/main">
              <a:ext uri="{FF2B5EF4-FFF2-40B4-BE49-F238E27FC236}">
                <a16:creationId xmlns:a16="http://schemas.microsoft.com/office/drawing/2014/main" id="{412DC418-A9F6-4965-8E62-0C5FDFE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90963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153" name="price-hg-1.5">
            <a:extLst xmlns:a="http://schemas.openxmlformats.org/drawingml/2006/main">
              <a:ext uri="{FF2B5EF4-FFF2-40B4-BE49-F238E27FC236}">
                <a16:creationId xmlns:a16="http://schemas.microsoft.com/office/drawing/2014/main" id="{6C9BB3E2-D2E0-408A-BE5E-802CFE6E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1881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9E0"/>
            </a:solidFill>
            <a:prstDash val="dash"/>
          </a:ln>
        </p:spPr>
      </p:sp>
      <p:sp>
        <p:nvSpPr>
          <p:cNvPr id="154" name="price-y-1.5">
            <a:extLst xmlns:a="http://schemas.openxmlformats.org/drawingml/2006/main">
              <a:ext uri="{FF2B5EF4-FFF2-40B4-BE49-F238E27FC236}">
                <a16:creationId xmlns:a16="http://schemas.microsoft.com/office/drawing/2014/main" id="{4BB50BEB-CE65-470C-B61E-46137E0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26631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155" name="price-hg-2">
            <a:extLst xmlns:a="http://schemas.openxmlformats.org/drawingml/2006/main">
              <a:ext uri="{FF2B5EF4-FFF2-40B4-BE49-F238E27FC236}">
                <a16:creationId xmlns:a16="http://schemas.microsoft.com/office/drawing/2014/main" id="{17EA48B8-5DAE-42EF-8A49-B69A112A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2D9E0"/>
            </a:solidFill>
            <a:prstDash val="dash"/>
          </a:ln>
        </p:spPr>
      </p:sp>
      <p:sp>
        <p:nvSpPr>
          <p:cNvPr id="156" name="price-y-2">
            <a:extLst xmlns:a="http://schemas.openxmlformats.org/drawingml/2006/main">
              <a:ext uri="{FF2B5EF4-FFF2-40B4-BE49-F238E27FC236}">
                <a16:creationId xmlns:a16="http://schemas.microsoft.com/office/drawing/2014/main" id="{A9B9B949-FE81-436C-A9F0-87ADA40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162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2.0</a:t>
            </a:r>
          </a:p>
        </p:txBody>
      </p:sp>
      <p:sp>
        <p:nvSpPr>
          <p:cNvPr id="157" name="price-vg-0">
            <a:extLst xmlns:a="http://schemas.openxmlformats.org/drawingml/2006/main">
              <a:ext uri="{FF2B5EF4-FFF2-40B4-BE49-F238E27FC236}">
                <a16:creationId xmlns:a16="http://schemas.microsoft.com/office/drawing/2014/main" id="{E36BA27D-CAE1-42C8-B140-BB75FE70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58" name="price-x-0">
            <a:extLst xmlns:a="http://schemas.openxmlformats.org/drawingml/2006/main">
              <a:ext uri="{FF2B5EF4-FFF2-40B4-BE49-F238E27FC236}">
                <a16:creationId xmlns:a16="http://schemas.microsoft.com/office/drawing/2014/main" id="{31046BA9-B214-4F6A-88CD-6C256076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9" name="price-vg-4">
            <a:extLst xmlns:a="http://schemas.openxmlformats.org/drawingml/2006/main">
              <a:ext uri="{FF2B5EF4-FFF2-40B4-BE49-F238E27FC236}">
                <a16:creationId xmlns:a16="http://schemas.microsoft.com/office/drawing/2014/main" id="{E5BA42F5-354C-4D07-B467-4618E115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60" name="price-x-4">
            <a:extLst xmlns:a="http://schemas.openxmlformats.org/drawingml/2006/main">
              <a:ext uri="{FF2B5EF4-FFF2-40B4-BE49-F238E27FC236}">
                <a16:creationId xmlns:a16="http://schemas.microsoft.com/office/drawing/2014/main" id="{B71270AB-CEC8-408B-8797-15895F4E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1" name="price-vg-8">
            <a:extLst xmlns:a="http://schemas.openxmlformats.org/drawingml/2006/main">
              <a:ext uri="{FF2B5EF4-FFF2-40B4-BE49-F238E27FC236}">
                <a16:creationId xmlns:a16="http://schemas.microsoft.com/office/drawing/2014/main" id="{33740EB3-4588-4D86-BE14-DEEF4426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62" name="price-x-8">
            <a:extLst xmlns:a="http://schemas.openxmlformats.org/drawingml/2006/main">
              <a:ext uri="{FF2B5EF4-FFF2-40B4-BE49-F238E27FC236}">
                <a16:creationId xmlns:a16="http://schemas.microsoft.com/office/drawing/2014/main" id="{E34664A7-B5A6-4CED-9383-2368987F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63" name="price-vg-12">
            <a:extLst xmlns:a="http://schemas.openxmlformats.org/drawingml/2006/main">
              <a:ext uri="{FF2B5EF4-FFF2-40B4-BE49-F238E27FC236}">
                <a16:creationId xmlns:a16="http://schemas.microsoft.com/office/drawing/2014/main" id="{FB7447C1-C305-444A-8D7F-E2B58EAF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64" name="price-x-12">
            <a:extLst xmlns:a="http://schemas.openxmlformats.org/drawingml/2006/main">
              <a:ext uri="{FF2B5EF4-FFF2-40B4-BE49-F238E27FC236}">
                <a16:creationId xmlns:a16="http://schemas.microsoft.com/office/drawing/2014/main" id="{7F13CAC5-D4DD-4335-B0C2-383D856B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65" name="price-vg-16">
            <a:extLst xmlns:a="http://schemas.openxmlformats.org/drawingml/2006/main">
              <a:ext uri="{FF2B5EF4-FFF2-40B4-BE49-F238E27FC236}">
                <a16:creationId xmlns:a16="http://schemas.microsoft.com/office/drawing/2014/main" id="{0A4BFE1E-9E5A-4EAD-ADF1-4D2EAD5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66" name="price-x-16">
            <a:extLst xmlns:a="http://schemas.openxmlformats.org/drawingml/2006/main">
              <a:ext uri="{FF2B5EF4-FFF2-40B4-BE49-F238E27FC236}">
                <a16:creationId xmlns:a16="http://schemas.microsoft.com/office/drawing/2014/main" id="{A98C929A-526B-415B-8315-973F89A0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67" name="price-vg-20">
            <a:extLst xmlns:a="http://schemas.openxmlformats.org/drawingml/2006/main">
              <a:ext uri="{FF2B5EF4-FFF2-40B4-BE49-F238E27FC236}">
                <a16:creationId xmlns:a16="http://schemas.microsoft.com/office/drawing/2014/main" id="{A283D832-0D53-43EE-858D-D28D3E9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68" name="price-x-20">
            <a:extLst xmlns:a="http://schemas.openxmlformats.org/drawingml/2006/main">
              <a:ext uri="{FF2B5EF4-FFF2-40B4-BE49-F238E27FC236}">
                <a16:creationId xmlns:a16="http://schemas.microsoft.com/office/drawing/2014/main" id="{4A5F0867-98A3-417D-9F16-2C2F40E6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69" name="price-vg-24">
            <a:extLst xmlns:a="http://schemas.openxmlformats.org/drawingml/2006/main">
              <a:ext uri="{FF2B5EF4-FFF2-40B4-BE49-F238E27FC236}">
                <a16:creationId xmlns:a16="http://schemas.microsoft.com/office/drawing/2014/main" id="{1C0A2BD2-2F65-474B-BB64-7204E09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170" name="price-x-24">
            <a:extLst xmlns:a="http://schemas.openxmlformats.org/drawingml/2006/main">
              <a:ext uri="{FF2B5EF4-FFF2-40B4-BE49-F238E27FC236}">
                <a16:creationId xmlns:a16="http://schemas.microsoft.com/office/drawing/2014/main" id="{ECEB99ED-D066-47A4-8FCE-215C5211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71" name="price-yaxis">
            <a:extLst xmlns:a="http://schemas.openxmlformats.org/drawingml/2006/main">
              <a:ext uri="{FF2B5EF4-FFF2-40B4-BE49-F238E27FC236}">
                <a16:creationId xmlns:a16="http://schemas.microsoft.com/office/drawing/2014/main" id="{62BECBC5-86DC-4306-A762-BFA7B90C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95" cy="1457325"/>
          </a:xfrm>
          <a:custGeom xmlns:a="http://schemas.openxmlformats.org/drawingml/2006/main">
            <a:pathLst>
              <a:path w="95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172" name="price-xaxis">
            <a:extLst xmlns:a="http://schemas.openxmlformats.org/drawingml/2006/main">
              <a:ext uri="{FF2B5EF4-FFF2-40B4-BE49-F238E27FC236}">
                <a16:creationId xmlns:a16="http://schemas.microsoft.com/office/drawing/2014/main" id="{6E465793-D6CC-4F8F-B48A-822A4C04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3086100" cy="95"/>
          </a:xfrm>
          <a:custGeom xmlns:a="http://schemas.openxmlformats.org/drawingml/2006/main">
            <a:pathLst>
              <a:path w="3086100" h="9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173" name="price-ytitle">
            <a:extLst xmlns:a="http://schemas.openxmlformats.org/drawingml/2006/main">
              <a:ext uri="{FF2B5EF4-FFF2-40B4-BE49-F238E27FC236}">
                <a16:creationId xmlns:a16="http://schemas.microsoft.com/office/drawing/2014/main" id="{CCBEC7CF-0CAF-4761-923F-A8913F3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600450"/>
            <a:ext cx="514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充电</a:t>
            </a:r>
          </a:p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价格</a:t>
            </a:r>
          </a:p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(元/kWh)</a:t>
            </a:r>
          </a:p>
        </p:txBody>
      </p:sp>
      <p:sp>
        <p:nvSpPr>
          <p:cNvPr id="174" name="price-xtitle">
            <a:extLst xmlns:a="http://schemas.openxmlformats.org/drawingml/2006/main">
              <a:ext uri="{FF2B5EF4-FFF2-40B4-BE49-F238E27FC236}">
                <a16:creationId xmlns:a16="http://schemas.microsoft.com/office/drawing/2014/main" id="{BB21D0F8-63C7-4D20-9C39-637BE6A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815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时刻 (h)</a:t>
            </a:r>
          </a:p>
        </p:txBody>
      </p:sp>
      <p:sp>
        <p:nvSpPr>
          <p:cNvPr id="175" name="price-line-EVCS1">
            <a:extLst xmlns:a="http://schemas.openxmlformats.org/drawingml/2006/main">
              <a:ext uri="{FF2B5EF4-FFF2-40B4-BE49-F238E27FC236}">
                <a16:creationId xmlns:a16="http://schemas.microsoft.com/office/drawing/2014/main" id="{95243745-6629-4093-9661-E759868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8161"/>
            <a:ext cx="3086100" cy="1063847"/>
          </a:xfrm>
          <a:custGeom xmlns:a="http://schemas.openxmlformats.org/drawingml/2006/main">
            <a:pathLst>
              <a:path w="3086100" h="1063847">
                <a:moveTo>
                  <a:pt x="0" y="1063847"/>
                </a:moveTo>
                <a:lnTo>
                  <a:pt x="257175" y="1049274"/>
                </a:lnTo>
                <a:lnTo>
                  <a:pt x="514350" y="1005554"/>
                </a:lnTo>
                <a:lnTo>
                  <a:pt x="771525" y="881682"/>
                </a:lnTo>
                <a:lnTo>
                  <a:pt x="1028700" y="612077"/>
                </a:lnTo>
                <a:lnTo>
                  <a:pt x="1285875" y="393478"/>
                </a:lnTo>
                <a:lnTo>
                  <a:pt x="1543050" y="641223"/>
                </a:lnTo>
                <a:lnTo>
                  <a:pt x="1800225" y="699516"/>
                </a:lnTo>
                <a:lnTo>
                  <a:pt x="2057400" y="531924"/>
                </a:lnTo>
                <a:lnTo>
                  <a:pt x="2314575" y="153019"/>
                </a:lnTo>
                <a:lnTo>
                  <a:pt x="2571750" y="0"/>
                </a:lnTo>
                <a:lnTo>
                  <a:pt x="2828925" y="80153"/>
                </a:lnTo>
                <a:lnTo>
                  <a:pt x="3086100" y="4663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6EE8"/>
            </a:solidFill>
            <a:prstDash val="solid"/>
          </a:ln>
        </p:spPr>
      </p:sp>
      <p:sp>
        <p:nvSpPr>
          <p:cNvPr id="176" name="price-mark-EVCS1-0">
            <a:extLst xmlns:a="http://schemas.openxmlformats.org/drawingml/2006/main">
              <a:ext uri="{FF2B5EF4-FFF2-40B4-BE49-F238E27FC236}">
                <a16:creationId xmlns:a16="http://schemas.microsoft.com/office/drawing/2014/main" id="{5F3C098F-3609-4478-B9D2-E1D793C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039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77" name="price-mark-EVCS1-1">
            <a:extLst xmlns:a="http://schemas.openxmlformats.org/drawingml/2006/main">
              <a:ext uri="{FF2B5EF4-FFF2-40B4-BE49-F238E27FC236}">
                <a16:creationId xmlns:a16="http://schemas.microsoft.com/office/drawing/2014/main" id="{462C860E-D356-4AE5-9354-BFA5C778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893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78" name="price-mark-EVCS1-2">
            <a:extLst xmlns:a="http://schemas.openxmlformats.org/drawingml/2006/main">
              <a:ext uri="{FF2B5EF4-FFF2-40B4-BE49-F238E27FC236}">
                <a16:creationId xmlns:a16="http://schemas.microsoft.com/office/drawing/2014/main" id="{3F214087-58BA-417C-BEDC-212A88B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56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79" name="price-mark-EVCS1-3">
            <a:extLst xmlns:a="http://schemas.openxmlformats.org/drawingml/2006/main">
              <a:ext uri="{FF2B5EF4-FFF2-40B4-BE49-F238E27FC236}">
                <a16:creationId xmlns:a16="http://schemas.microsoft.com/office/drawing/2014/main" id="{FFFBA093-D9DB-46BC-8C50-3CF0650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217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0" name="price-mark-EVCS1-4">
            <a:extLst xmlns:a="http://schemas.openxmlformats.org/drawingml/2006/main">
              <a:ext uri="{FF2B5EF4-FFF2-40B4-BE49-F238E27FC236}">
                <a16:creationId xmlns:a16="http://schemas.microsoft.com/office/drawing/2014/main" id="{C9AD3D60-55D6-4DEE-BC48-1DE282D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1" name="price-mark-EVCS1-5">
            <a:extLst xmlns:a="http://schemas.openxmlformats.org/drawingml/2006/main">
              <a:ext uri="{FF2B5EF4-FFF2-40B4-BE49-F238E27FC236}">
                <a16:creationId xmlns:a16="http://schemas.microsoft.com/office/drawing/2014/main" id="{DBC2D30D-F190-4825-9E35-6FBC266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93353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2" name="price-mark-EVCS1-6">
            <a:extLst xmlns:a="http://schemas.openxmlformats.org/drawingml/2006/main">
              <a:ext uri="{FF2B5EF4-FFF2-40B4-BE49-F238E27FC236}">
                <a16:creationId xmlns:a16="http://schemas.microsoft.com/office/drawing/2014/main" id="{94299296-41EE-41AA-B39C-F657B3AC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812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3" name="price-mark-EVCS1-7">
            <a:extLst xmlns:a="http://schemas.openxmlformats.org/drawingml/2006/main">
              <a:ext uri="{FF2B5EF4-FFF2-40B4-BE49-F238E27FC236}">
                <a16:creationId xmlns:a16="http://schemas.microsoft.com/office/drawing/2014/main" id="{82C598CB-3181-4407-8F47-16E5A10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95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4" name="price-mark-EVCS1-8">
            <a:extLst xmlns:a="http://schemas.openxmlformats.org/drawingml/2006/main">
              <a:ext uri="{FF2B5EF4-FFF2-40B4-BE49-F238E27FC236}">
                <a16:creationId xmlns:a16="http://schemas.microsoft.com/office/drawing/2014/main" id="{1E50D0AA-4141-4FD4-9260-60388274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19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5" name="price-mark-EVCS1-9">
            <a:extLst xmlns:a="http://schemas.openxmlformats.org/drawingml/2006/main">
              <a:ext uri="{FF2B5EF4-FFF2-40B4-BE49-F238E27FC236}">
                <a16:creationId xmlns:a16="http://schemas.microsoft.com/office/drawing/2014/main" id="{6820D755-A387-4D64-9B45-064B6F3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9308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6" name="price-mark-EVCS1-10">
            <a:extLst xmlns:a="http://schemas.openxmlformats.org/drawingml/2006/main">
              <a:ext uri="{FF2B5EF4-FFF2-40B4-BE49-F238E27FC236}">
                <a16:creationId xmlns:a16="http://schemas.microsoft.com/office/drawing/2014/main" id="{28B05C6E-1E7B-4EAD-ACBA-851A2EC2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006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7" name="price-mark-EVCS1-11">
            <a:extLst xmlns:a="http://schemas.openxmlformats.org/drawingml/2006/main">
              <a:ext uri="{FF2B5EF4-FFF2-40B4-BE49-F238E27FC236}">
                <a16:creationId xmlns:a16="http://schemas.microsoft.com/office/drawing/2014/main" id="{1B38CCF0-0B0C-452A-B254-31E8AA69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202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8" name="price-mark-EVCS1-12">
            <a:extLst xmlns:a="http://schemas.openxmlformats.org/drawingml/2006/main">
              <a:ext uri="{FF2B5EF4-FFF2-40B4-BE49-F238E27FC236}">
                <a16:creationId xmlns:a16="http://schemas.microsoft.com/office/drawing/2014/main" id="{A7D94B2F-405F-4C46-85B8-C6CE644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640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EE8"/>
            </a:solidFill>
            <a:prstDash val="solid"/>
          </a:ln>
        </p:spPr>
      </p:sp>
      <p:sp>
        <p:nvSpPr>
          <p:cNvPr id="189" name="price-line-EVCS2">
            <a:extLst xmlns:a="http://schemas.openxmlformats.org/drawingml/2006/main">
              <a:ext uri="{FF2B5EF4-FFF2-40B4-BE49-F238E27FC236}">
                <a16:creationId xmlns:a16="http://schemas.microsoft.com/office/drawing/2014/main" id="{1DADF244-36B3-40CF-B589-507D9C8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913"/>
            <a:ext cx="3086100" cy="779669"/>
          </a:xfrm>
          <a:custGeom xmlns:a="http://schemas.openxmlformats.org/drawingml/2006/main">
            <a:pathLst>
              <a:path w="3086100" h="779669">
                <a:moveTo>
                  <a:pt x="0" y="779669"/>
                </a:moveTo>
                <a:lnTo>
                  <a:pt x="257175" y="765096"/>
                </a:lnTo>
                <a:lnTo>
                  <a:pt x="514350" y="728663"/>
                </a:lnTo>
                <a:lnTo>
                  <a:pt x="771525" y="633936"/>
                </a:lnTo>
                <a:lnTo>
                  <a:pt x="1028700" y="459057"/>
                </a:lnTo>
                <a:lnTo>
                  <a:pt x="1285875" y="349758"/>
                </a:lnTo>
                <a:lnTo>
                  <a:pt x="1543050" y="488204"/>
                </a:lnTo>
                <a:lnTo>
                  <a:pt x="1800225" y="524637"/>
                </a:lnTo>
                <a:lnTo>
                  <a:pt x="2057400" y="386191"/>
                </a:lnTo>
                <a:lnTo>
                  <a:pt x="2314575" y="138446"/>
                </a:lnTo>
                <a:lnTo>
                  <a:pt x="2571750" y="0"/>
                </a:lnTo>
                <a:lnTo>
                  <a:pt x="2828925" y="87440"/>
                </a:lnTo>
                <a:lnTo>
                  <a:pt x="3086100" y="33518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39A78"/>
            </a:solidFill>
            <a:prstDash val="solid"/>
          </a:ln>
        </p:spPr>
      </p:sp>
      <p:sp>
        <p:nvSpPr>
          <p:cNvPr id="190" name="price-mark-EVCS2-0">
            <a:extLst xmlns:a="http://schemas.openxmlformats.org/drawingml/2006/main">
              <a:ext uri="{FF2B5EF4-FFF2-40B4-BE49-F238E27FC236}">
                <a16:creationId xmlns:a16="http://schemas.microsoft.com/office/drawing/2014/main" id="{EDD528DF-3CAE-4E14-AA2A-D8993C2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848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rice-mark-EVCS2-1">
            <a:extLst xmlns:a="http://schemas.openxmlformats.org/drawingml/2006/main">
              <a:ext uri="{FF2B5EF4-FFF2-40B4-BE49-F238E27FC236}">
                <a16:creationId xmlns:a16="http://schemas.microsoft.com/office/drawing/2014/main" id="{028CFC73-0FA9-45A7-A0EA-4EB5D459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0390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rice-mark-EVCS2-2">
            <a:extLst xmlns:a="http://schemas.openxmlformats.org/drawingml/2006/main">
              <a:ext uri="{FF2B5EF4-FFF2-40B4-BE49-F238E27FC236}">
                <a16:creationId xmlns:a16="http://schemas.microsoft.com/office/drawing/2014/main" id="{FB7410A1-17F0-4A2E-8712-CDE56B51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67476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rice-mark-EVCS2-3">
            <a:extLst xmlns:a="http://schemas.openxmlformats.org/drawingml/2006/main">
              <a:ext uri="{FF2B5EF4-FFF2-40B4-BE49-F238E27FC236}">
                <a16:creationId xmlns:a16="http://schemas.microsoft.com/office/drawing/2014/main" id="{1CBB0B20-F510-4349-8682-F4FD0FC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7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rice-mark-EVCS2-4">
            <a:extLst xmlns:a="http://schemas.openxmlformats.org/drawingml/2006/main">
              <a:ext uri="{FF2B5EF4-FFF2-40B4-BE49-F238E27FC236}">
                <a16:creationId xmlns:a16="http://schemas.microsoft.com/office/drawing/2014/main" id="{6E251B5E-5AAE-4A58-9396-085C3C5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9787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rice-mark-EVCS2-5">
            <a:extLst xmlns:a="http://schemas.openxmlformats.org/drawingml/2006/main">
              <a:ext uri="{FF2B5EF4-FFF2-40B4-BE49-F238E27FC236}">
                <a16:creationId xmlns:a16="http://schemas.microsoft.com/office/drawing/2014/main" id="{B0450512-56E9-4E85-B950-963D2751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8857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rice-mark-EVCS2-6">
            <a:extLst xmlns:a="http://schemas.openxmlformats.org/drawingml/2006/main">
              <a:ext uri="{FF2B5EF4-FFF2-40B4-BE49-F238E27FC236}">
                <a16:creationId xmlns:a16="http://schemas.microsoft.com/office/drawing/2014/main" id="{EC062278-3FC8-454E-B27A-B168413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7017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rice-mark-EVCS2-7">
            <a:extLst xmlns:a="http://schemas.openxmlformats.org/drawingml/2006/main">
              <a:ext uri="{FF2B5EF4-FFF2-40B4-BE49-F238E27FC236}">
                <a16:creationId xmlns:a16="http://schemas.microsoft.com/office/drawing/2014/main" id="{4123BE50-A6F8-473E-899D-76966EE2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rice-mark-EVCS2-8">
            <a:extLst xmlns:a="http://schemas.openxmlformats.org/drawingml/2006/main">
              <a:ext uri="{FF2B5EF4-FFF2-40B4-BE49-F238E27FC236}">
                <a16:creationId xmlns:a16="http://schemas.microsoft.com/office/drawing/2014/main" id="{DA2A4F0C-71FA-4A84-93FB-AB06B32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50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rice-mark-EVCS2-9">
            <a:extLst xmlns:a="http://schemas.openxmlformats.org/drawingml/2006/main">
              <a:ext uri="{FF2B5EF4-FFF2-40B4-BE49-F238E27FC236}">
                <a16:creationId xmlns:a16="http://schemas.microsoft.com/office/drawing/2014/main" id="{E97AB6BA-8172-443F-A043-15B1698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725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rice-mark-EVCS2-10">
            <a:extLst xmlns:a="http://schemas.openxmlformats.org/drawingml/2006/main">
              <a:ext uri="{FF2B5EF4-FFF2-40B4-BE49-F238E27FC236}">
                <a16:creationId xmlns:a16="http://schemas.microsoft.com/office/drawing/2014/main" id="{D672FBD0-73E1-4268-A3E8-3DEAADC3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3881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rice-mark-EVCS2-11">
            <a:extLst xmlns:a="http://schemas.openxmlformats.org/drawingml/2006/main">
              <a:ext uri="{FF2B5EF4-FFF2-40B4-BE49-F238E27FC236}">
                <a16:creationId xmlns:a16="http://schemas.microsoft.com/office/drawing/2014/main" id="{DA2EEB92-C0A5-4468-8B07-68CF5C13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2625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rice-mark-EVCS2-12">
            <a:extLst xmlns:a="http://schemas.openxmlformats.org/drawingml/2006/main">
              <a:ext uri="{FF2B5EF4-FFF2-40B4-BE49-F238E27FC236}">
                <a16:creationId xmlns:a16="http://schemas.microsoft.com/office/drawing/2014/main" id="{896460D3-72E4-4930-92E7-93E2586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3998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rice-line-EVCS3">
            <a:extLst xmlns:a="http://schemas.openxmlformats.org/drawingml/2006/main">
              <a:ext uri="{FF2B5EF4-FFF2-40B4-BE49-F238E27FC236}">
                <a16:creationId xmlns:a16="http://schemas.microsoft.com/office/drawing/2014/main" id="{9F9C265E-9435-4226-9FFC-0A2A6AE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6518"/>
            <a:ext cx="3086100" cy="531924"/>
          </a:xfrm>
          <a:custGeom xmlns:a="http://schemas.openxmlformats.org/drawingml/2006/main">
            <a:pathLst>
              <a:path w="3086100" h="531924">
                <a:moveTo>
                  <a:pt x="0" y="531924"/>
                </a:moveTo>
                <a:lnTo>
                  <a:pt x="257175" y="524637"/>
                </a:lnTo>
                <a:lnTo>
                  <a:pt x="514350" y="502777"/>
                </a:lnTo>
                <a:lnTo>
                  <a:pt x="771525" y="444484"/>
                </a:lnTo>
                <a:lnTo>
                  <a:pt x="1028700" y="335185"/>
                </a:lnTo>
                <a:lnTo>
                  <a:pt x="1285875" y="262319"/>
                </a:lnTo>
                <a:lnTo>
                  <a:pt x="1543050" y="342471"/>
                </a:lnTo>
                <a:lnTo>
                  <a:pt x="1800225" y="357045"/>
                </a:lnTo>
                <a:lnTo>
                  <a:pt x="2057400" y="262319"/>
                </a:lnTo>
                <a:lnTo>
                  <a:pt x="2314575" y="94726"/>
                </a:lnTo>
                <a:lnTo>
                  <a:pt x="2571750" y="0"/>
                </a:lnTo>
                <a:lnTo>
                  <a:pt x="2828925" y="58293"/>
                </a:lnTo>
                <a:lnTo>
                  <a:pt x="3086100" y="21859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8B1A"/>
            </a:solidFill>
            <a:prstDash val="solid"/>
          </a:ln>
        </p:spPr>
      </p:sp>
      <p:sp>
        <p:nvSpPr>
          <p:cNvPr id="204" name="price-mark-EVCS3-0">
            <a:extLst xmlns:a="http://schemas.openxmlformats.org/drawingml/2006/main">
              <a:ext uri="{FF2B5EF4-FFF2-40B4-BE49-F238E27FC236}">
                <a16:creationId xmlns:a16="http://schemas.microsoft.com/office/drawing/2014/main" id="{A619B471-79E4-4BC9-AEE7-37F49E77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30817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rice-mark-EVCS3-1">
            <a:extLst xmlns:a="http://schemas.openxmlformats.org/drawingml/2006/main">
              <a:ext uri="{FF2B5EF4-FFF2-40B4-BE49-F238E27FC236}">
                <a16:creationId xmlns:a16="http://schemas.microsoft.com/office/drawing/2014/main" id="{4223A16D-670E-4D89-B63C-87EFEAD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353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rice-mark-EVCS3-2">
            <a:extLst xmlns:a="http://schemas.openxmlformats.org/drawingml/2006/main">
              <a:ext uri="{FF2B5EF4-FFF2-40B4-BE49-F238E27FC236}">
                <a16:creationId xmlns:a16="http://schemas.microsoft.com/office/drawing/2014/main" id="{B4503D3B-2534-4666-A958-7C9B6AAA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0167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rice-mark-EVCS3-3">
            <a:extLst xmlns:a="http://schemas.openxmlformats.org/drawingml/2006/main">
              <a:ext uri="{FF2B5EF4-FFF2-40B4-BE49-F238E27FC236}">
                <a16:creationId xmlns:a16="http://schemas.microsoft.com/office/drawing/2014/main" id="{6DF3BF93-CDFF-4F79-9135-CD66986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43377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rice-mark-EVCS3-4">
            <a:extLst xmlns:a="http://schemas.openxmlformats.org/drawingml/2006/main">
              <a:ext uri="{FF2B5EF4-FFF2-40B4-BE49-F238E27FC236}">
                <a16:creationId xmlns:a16="http://schemas.microsoft.com/office/drawing/2014/main" id="{04167E18-47CE-42F8-91F9-DC54CD66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34078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rice-mark-EVCS3-5">
            <a:extLst xmlns:a="http://schemas.openxmlformats.org/drawingml/2006/main">
              <a:ext uri="{FF2B5EF4-FFF2-40B4-BE49-F238E27FC236}">
                <a16:creationId xmlns:a16="http://schemas.microsoft.com/office/drawing/2014/main" id="{1AA572B5-E738-463A-A469-45932022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61212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rice-mark-EVCS3-6">
            <a:extLst xmlns:a="http://schemas.openxmlformats.org/drawingml/2006/main">
              <a:ext uri="{FF2B5EF4-FFF2-40B4-BE49-F238E27FC236}">
                <a16:creationId xmlns:a16="http://schemas.microsoft.com/office/drawing/2014/main" id="{C43DE637-1FE1-4AEC-8851-829A375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4136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rice-mark-EVCS3-7">
            <a:extLst xmlns:a="http://schemas.openxmlformats.org/drawingml/2006/main">
              <a:ext uri="{FF2B5EF4-FFF2-40B4-BE49-F238E27FC236}">
                <a16:creationId xmlns:a16="http://schemas.microsoft.com/office/drawing/2014/main" id="{27D60E89-2A72-4871-80AE-4A8C580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5938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rice-mark-EVCS3-8">
            <a:extLst xmlns:a="http://schemas.openxmlformats.org/drawingml/2006/main">
              <a:ext uri="{FF2B5EF4-FFF2-40B4-BE49-F238E27FC236}">
                <a16:creationId xmlns:a16="http://schemas.microsoft.com/office/drawing/2014/main" id="{BB3EF4C7-A1A3-443F-9361-3DBF0AD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361212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rice-mark-EVCS3-9">
            <a:extLst xmlns:a="http://schemas.openxmlformats.org/drawingml/2006/main">
              <a:ext uri="{FF2B5EF4-FFF2-40B4-BE49-F238E27FC236}">
                <a16:creationId xmlns:a16="http://schemas.microsoft.com/office/drawing/2014/main" id="{29759025-E311-4F8C-8621-E4AAB6BB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3619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rice-mark-EVCS3-10">
            <a:extLst xmlns:a="http://schemas.openxmlformats.org/drawingml/2006/main">
              <a:ext uri="{FF2B5EF4-FFF2-40B4-BE49-F238E27FC236}">
                <a16:creationId xmlns:a16="http://schemas.microsoft.com/office/drawing/2014/main" id="{B4E622CC-8DFB-43D8-839B-772EE99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98893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rice-mark-EVCS3-11">
            <a:extLst xmlns:a="http://schemas.openxmlformats.org/drawingml/2006/main">
              <a:ext uri="{FF2B5EF4-FFF2-40B4-BE49-F238E27FC236}">
                <a16:creationId xmlns:a16="http://schemas.microsoft.com/office/drawing/2014/main" id="{29DA8A31-CF1F-449B-8139-C0EA0B9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7186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rice-mark-EVCS3-12">
            <a:extLst xmlns:a="http://schemas.openxmlformats.org/drawingml/2006/main">
              <a:ext uri="{FF2B5EF4-FFF2-40B4-BE49-F238E27FC236}">
                <a16:creationId xmlns:a16="http://schemas.microsoft.com/office/drawing/2014/main" id="{A8634A61-AD17-4E0C-8257-422C4A7D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17492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8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rice-line-EVCS4">
            <a:extLst xmlns:a="http://schemas.openxmlformats.org/drawingml/2006/main">
              <a:ext uri="{FF2B5EF4-FFF2-40B4-BE49-F238E27FC236}">
                <a16:creationId xmlns:a16="http://schemas.microsoft.com/office/drawing/2014/main" id="{741648AA-70E1-4B8B-99BD-7895341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0544"/>
            <a:ext cx="3086100" cy="342471"/>
          </a:xfrm>
          <a:custGeom xmlns:a="http://schemas.openxmlformats.org/drawingml/2006/main">
            <a:pathLst>
              <a:path w="3086100" h="342471">
                <a:moveTo>
                  <a:pt x="0" y="342471"/>
                </a:moveTo>
                <a:lnTo>
                  <a:pt x="257175" y="335185"/>
                </a:lnTo>
                <a:lnTo>
                  <a:pt x="514350" y="320612"/>
                </a:lnTo>
                <a:lnTo>
                  <a:pt x="771525" y="291465"/>
                </a:lnTo>
                <a:lnTo>
                  <a:pt x="1028700" y="233172"/>
                </a:lnTo>
                <a:lnTo>
                  <a:pt x="1285875" y="182166"/>
                </a:lnTo>
                <a:lnTo>
                  <a:pt x="1543050" y="233172"/>
                </a:lnTo>
                <a:lnTo>
                  <a:pt x="1800225" y="240459"/>
                </a:lnTo>
                <a:lnTo>
                  <a:pt x="2057400" y="182166"/>
                </a:lnTo>
                <a:lnTo>
                  <a:pt x="2314575" y="72866"/>
                </a:lnTo>
                <a:lnTo>
                  <a:pt x="2571750" y="0"/>
                </a:lnTo>
                <a:lnTo>
                  <a:pt x="2828925" y="36433"/>
                </a:lnTo>
                <a:lnTo>
                  <a:pt x="3086100" y="13844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2B2D"/>
            </a:solidFill>
            <a:prstDash val="solid"/>
          </a:ln>
        </p:spPr>
      </p:sp>
      <p:sp>
        <p:nvSpPr>
          <p:cNvPr id="218" name="price-mark-EVCS4-0">
            <a:extLst xmlns:a="http://schemas.openxmlformats.org/drawingml/2006/main">
              <a:ext uri="{FF2B5EF4-FFF2-40B4-BE49-F238E27FC236}">
                <a16:creationId xmlns:a16="http://schemas.microsoft.com/office/drawing/2014/main" id="{E2F1262C-191D-4F78-BCF6-DB09ED8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4539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rice-mark-EVCS4-1">
            <a:extLst xmlns:a="http://schemas.openxmlformats.org/drawingml/2006/main">
              <a:ext uri="{FF2B5EF4-FFF2-40B4-BE49-F238E27FC236}">
                <a16:creationId xmlns:a16="http://schemas.microsoft.com/office/drawing/2014/main" id="{6D2AAB74-BB23-4B81-A28A-DC23449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38104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rice-mark-EVCS4-2">
            <a:extLst xmlns:a="http://schemas.openxmlformats.org/drawingml/2006/main">
              <a:ext uri="{FF2B5EF4-FFF2-40B4-BE49-F238E27FC236}">
                <a16:creationId xmlns:a16="http://schemas.microsoft.com/office/drawing/2014/main" id="{D0B1BA1E-288C-4FE6-B302-9C6E0C57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2353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rice-mark-EVCS4-3">
            <a:extLst xmlns:a="http://schemas.openxmlformats.org/drawingml/2006/main">
              <a:ext uri="{FF2B5EF4-FFF2-40B4-BE49-F238E27FC236}">
                <a16:creationId xmlns:a16="http://schemas.microsoft.com/office/drawing/2014/main" id="{C3CE2124-1675-4058-91C7-73C63ED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94384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rice-mark-EVCS4-4">
            <a:extLst xmlns:a="http://schemas.openxmlformats.org/drawingml/2006/main">
              <a:ext uri="{FF2B5EF4-FFF2-40B4-BE49-F238E27FC236}">
                <a16:creationId xmlns:a16="http://schemas.microsoft.com/office/drawing/2014/main" id="{A2A0C93D-2196-4D4B-9952-26CF4BC3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36091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rice-mark-EVCS4-5">
            <a:extLst xmlns:a="http://schemas.openxmlformats.org/drawingml/2006/main">
              <a:ext uri="{FF2B5EF4-FFF2-40B4-BE49-F238E27FC236}">
                <a16:creationId xmlns:a16="http://schemas.microsoft.com/office/drawing/2014/main" id="{EC1940DF-F44C-48DD-BD90-EB7ECD8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85084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rice-mark-EVCS4-6">
            <a:extLst xmlns:a="http://schemas.openxmlformats.org/drawingml/2006/main">
              <a:ext uri="{FF2B5EF4-FFF2-40B4-BE49-F238E27FC236}">
                <a16:creationId xmlns:a16="http://schemas.microsoft.com/office/drawing/2014/main" id="{E48060FD-CFD4-472F-8B0B-DDF9155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36091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rice-mark-EVCS4-7">
            <a:extLst xmlns:a="http://schemas.openxmlformats.org/drawingml/2006/main">
              <a:ext uri="{FF2B5EF4-FFF2-40B4-BE49-F238E27FC236}">
                <a16:creationId xmlns:a16="http://schemas.microsoft.com/office/drawing/2014/main" id="{F3CB7F6A-1501-4F6E-9B44-570EA34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43377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rice-mark-EVCS4-8">
            <a:extLst xmlns:a="http://schemas.openxmlformats.org/drawingml/2006/main">
              <a:ext uri="{FF2B5EF4-FFF2-40B4-BE49-F238E27FC236}">
                <a16:creationId xmlns:a16="http://schemas.microsoft.com/office/drawing/2014/main" id="{00092A1B-B212-4BB4-AF84-81F9F2AB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85084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rice-mark-EVCS4-9">
            <a:extLst xmlns:a="http://schemas.openxmlformats.org/drawingml/2006/main">
              <a:ext uri="{FF2B5EF4-FFF2-40B4-BE49-F238E27FC236}">
                <a16:creationId xmlns:a16="http://schemas.microsoft.com/office/drawing/2014/main" id="{68B05167-FAA4-4E72-9E41-70F861F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578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rice-mark-EVCS4-10">
            <a:extLst xmlns:a="http://schemas.openxmlformats.org/drawingml/2006/main">
              <a:ext uri="{FF2B5EF4-FFF2-40B4-BE49-F238E27FC236}">
                <a16:creationId xmlns:a16="http://schemas.microsoft.com/office/drawing/2014/main" id="{CCB1091A-6BB2-4B3E-BF10-F752BD62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02919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rice-mark-EVCS4-11">
            <a:extLst xmlns:a="http://schemas.openxmlformats.org/drawingml/2006/main">
              <a:ext uri="{FF2B5EF4-FFF2-40B4-BE49-F238E27FC236}">
                <a16:creationId xmlns:a16="http://schemas.microsoft.com/office/drawing/2014/main" id="{7369CA4F-0F3D-471D-9FD4-3D09232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39352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rice-mark-EVCS4-12">
            <a:extLst xmlns:a="http://schemas.openxmlformats.org/drawingml/2006/main">
              <a:ext uri="{FF2B5EF4-FFF2-40B4-BE49-F238E27FC236}">
                <a16:creationId xmlns:a16="http://schemas.microsoft.com/office/drawing/2014/main" id="{07BBCAC0-E9E5-4A8F-A959-6B8CD9C6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4136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2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rice-line-EVCS5">
            <a:extLst xmlns:a="http://schemas.openxmlformats.org/drawingml/2006/main">
              <a:ext uri="{FF2B5EF4-FFF2-40B4-BE49-F238E27FC236}">
                <a16:creationId xmlns:a16="http://schemas.microsoft.com/office/drawing/2014/main" id="{E4515494-E61A-4003-A84B-8E0E13A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130"/>
            <a:ext cx="3086100" cy="233172"/>
          </a:xfrm>
          <a:custGeom xmlns:a="http://schemas.openxmlformats.org/drawingml/2006/main">
            <a:pathLst>
              <a:path w="3086100" h="233172">
                <a:moveTo>
                  <a:pt x="0" y="233172"/>
                </a:moveTo>
                <a:lnTo>
                  <a:pt x="257175" y="225885"/>
                </a:lnTo>
                <a:lnTo>
                  <a:pt x="514350" y="218599"/>
                </a:lnTo>
                <a:lnTo>
                  <a:pt x="771525" y="196739"/>
                </a:lnTo>
                <a:lnTo>
                  <a:pt x="1028700" y="160306"/>
                </a:lnTo>
                <a:lnTo>
                  <a:pt x="1285875" y="123873"/>
                </a:lnTo>
                <a:lnTo>
                  <a:pt x="1543050" y="160306"/>
                </a:lnTo>
                <a:lnTo>
                  <a:pt x="1800225" y="167592"/>
                </a:lnTo>
                <a:lnTo>
                  <a:pt x="2057400" y="123873"/>
                </a:lnTo>
                <a:lnTo>
                  <a:pt x="2314575" y="51006"/>
                </a:lnTo>
                <a:lnTo>
                  <a:pt x="2571750" y="0"/>
                </a:lnTo>
                <a:lnTo>
                  <a:pt x="2828925" y="21860"/>
                </a:lnTo>
                <a:lnTo>
                  <a:pt x="3086100" y="874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33E6"/>
            </a:solidFill>
            <a:prstDash val="solid"/>
          </a:ln>
        </p:spPr>
      </p:sp>
      <p:sp>
        <p:nvSpPr>
          <p:cNvPr id="232" name="price-x1-EVCS5-0">
            <a:extLst xmlns:a="http://schemas.openxmlformats.org/drawingml/2006/main">
              <a:ext uri="{FF2B5EF4-FFF2-40B4-BE49-F238E27FC236}">
                <a16:creationId xmlns:a16="http://schemas.microsoft.com/office/drawing/2014/main" id="{5CB5EFCE-C921-48FE-B8FE-25B03A8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220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3" name="price-x2-EVCS5-0">
            <a:extLst xmlns:a="http://schemas.openxmlformats.org/drawingml/2006/main">
              <a:ext uri="{FF2B5EF4-FFF2-40B4-BE49-F238E27FC236}">
                <a16:creationId xmlns:a16="http://schemas.microsoft.com/office/drawing/2014/main" id="{2FF37E73-E8A9-49E5-9094-EAA6E89A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22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4" name="price-x1-EVCS5-1">
            <a:extLst xmlns:a="http://schemas.openxmlformats.org/drawingml/2006/main">
              <a:ext uri="{FF2B5EF4-FFF2-40B4-BE49-F238E27FC236}">
                <a16:creationId xmlns:a16="http://schemas.microsoft.com/office/drawing/2014/main" id="{08F89A50-46D5-45F5-870E-929121B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5491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5" name="price-x2-EVCS5-1">
            <a:extLst xmlns:a="http://schemas.openxmlformats.org/drawingml/2006/main">
              <a:ext uri="{FF2B5EF4-FFF2-40B4-BE49-F238E27FC236}">
                <a16:creationId xmlns:a16="http://schemas.microsoft.com/office/drawing/2014/main" id="{1CBC33E7-082A-4387-A08B-E69EEBA8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5491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6" name="price-x1-EVCS5-2">
            <a:extLst xmlns:a="http://schemas.openxmlformats.org/drawingml/2006/main">
              <a:ext uri="{FF2B5EF4-FFF2-40B4-BE49-F238E27FC236}">
                <a16:creationId xmlns:a16="http://schemas.microsoft.com/office/drawing/2014/main" id="{8B7539D3-3847-4A0A-B347-A6DE32B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762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7" name="price-x2-EVCS5-2">
            <a:extLst xmlns:a="http://schemas.openxmlformats.org/drawingml/2006/main">
              <a:ext uri="{FF2B5EF4-FFF2-40B4-BE49-F238E27FC236}">
                <a16:creationId xmlns:a16="http://schemas.microsoft.com/office/drawing/2014/main" id="{3EC888ED-3501-484B-AE71-CC98CF12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7629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8" name="price-x1-EVCS5-3">
            <a:extLst xmlns:a="http://schemas.openxmlformats.org/drawingml/2006/main">
              <a:ext uri="{FF2B5EF4-FFF2-40B4-BE49-F238E27FC236}">
                <a16:creationId xmlns:a16="http://schemas.microsoft.com/office/drawing/2014/main" id="{4A328C9A-C1A9-4527-B6B5-77208AC4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2576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39" name="price-x2-EVCS5-3">
            <a:extLst xmlns:a="http://schemas.openxmlformats.org/drawingml/2006/main">
              <a:ext uri="{FF2B5EF4-FFF2-40B4-BE49-F238E27FC236}">
                <a16:creationId xmlns:a16="http://schemas.microsoft.com/office/drawing/2014/main" id="{B08EDD67-8C06-4E93-814F-CE3F1513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25769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0" name="price-x1-EVCS5-4">
            <a:extLst xmlns:a="http://schemas.openxmlformats.org/drawingml/2006/main">
              <a:ext uri="{FF2B5EF4-FFF2-40B4-BE49-F238E27FC236}">
                <a16:creationId xmlns:a16="http://schemas.microsoft.com/office/drawing/2014/main" id="{8B1E0A92-519F-4555-8C05-A63E8E4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933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1" name="price-x2-EVCS5-4">
            <a:extLst xmlns:a="http://schemas.openxmlformats.org/drawingml/2006/main">
              <a:ext uri="{FF2B5EF4-FFF2-40B4-BE49-F238E27FC236}">
                <a16:creationId xmlns:a16="http://schemas.microsoft.com/office/drawing/2014/main" id="{033D3D59-7B77-42C9-9337-D914420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93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2" name="price-x1-EVCS5-5">
            <a:extLst xmlns:a="http://schemas.openxmlformats.org/drawingml/2006/main">
              <a:ext uri="{FF2B5EF4-FFF2-40B4-BE49-F238E27FC236}">
                <a16:creationId xmlns:a16="http://schemas.microsoft.com/office/drawing/2014/main" id="{184177FD-40C2-4C38-AAE9-83668E8E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55290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3" name="price-x2-EVCS5-5">
            <a:extLst xmlns:a="http://schemas.openxmlformats.org/drawingml/2006/main">
              <a:ext uri="{FF2B5EF4-FFF2-40B4-BE49-F238E27FC236}">
                <a16:creationId xmlns:a16="http://schemas.microsoft.com/office/drawing/2014/main" id="{6661E5B7-9FFF-40D8-BFDE-B292D1D4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5529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4" name="price-x1-EVCS5-6">
            <a:extLst xmlns:a="http://schemas.openxmlformats.org/drawingml/2006/main">
              <a:ext uri="{FF2B5EF4-FFF2-40B4-BE49-F238E27FC236}">
                <a16:creationId xmlns:a16="http://schemas.microsoft.com/office/drawing/2014/main" id="{8DE6ADEF-CAC3-4A72-BCE5-DC4D6784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933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5" name="price-x2-EVCS5-6">
            <a:extLst xmlns:a="http://schemas.openxmlformats.org/drawingml/2006/main">
              <a:ext uri="{FF2B5EF4-FFF2-40B4-BE49-F238E27FC236}">
                <a16:creationId xmlns:a16="http://schemas.microsoft.com/office/drawing/2014/main" id="{78EAD029-FABA-4153-BA0D-867196B2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93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6" name="price-x1-EVCS5-7">
            <a:extLst xmlns:a="http://schemas.openxmlformats.org/drawingml/2006/main">
              <a:ext uri="{FF2B5EF4-FFF2-40B4-BE49-F238E27FC236}">
                <a16:creationId xmlns:a16="http://schemas.microsoft.com/office/drawing/2014/main" id="{5ED80593-8ABC-4AF0-9781-BA461D7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9662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7" name="price-x2-EVCS5-7">
            <a:extLst xmlns:a="http://schemas.openxmlformats.org/drawingml/2006/main">
              <a:ext uri="{FF2B5EF4-FFF2-40B4-BE49-F238E27FC236}">
                <a16:creationId xmlns:a16="http://schemas.microsoft.com/office/drawing/2014/main" id="{1A8AB918-6A0C-41B8-8D0A-D12920E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9662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8" name="price-x1-EVCS5-8">
            <a:extLst xmlns:a="http://schemas.openxmlformats.org/drawingml/2006/main">
              <a:ext uri="{FF2B5EF4-FFF2-40B4-BE49-F238E27FC236}">
                <a16:creationId xmlns:a16="http://schemas.microsoft.com/office/drawing/2014/main" id="{9B5871BC-9FEC-4665-B016-57838F1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0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49" name="price-x2-EVCS5-8">
            <a:extLst xmlns:a="http://schemas.openxmlformats.org/drawingml/2006/main">
              <a:ext uri="{FF2B5EF4-FFF2-40B4-BE49-F238E27FC236}">
                <a16:creationId xmlns:a16="http://schemas.microsoft.com/office/drawing/2014/main" id="{03516D8D-2F7C-4F0F-88D1-4CA4EB7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0" name="price-x1-EVCS5-9">
            <a:extLst xmlns:a="http://schemas.openxmlformats.org/drawingml/2006/main">
              <a:ext uri="{FF2B5EF4-FFF2-40B4-BE49-F238E27FC236}">
                <a16:creationId xmlns:a16="http://schemas.microsoft.com/office/drawing/2014/main" id="{8FC92FEC-3E28-4201-90F8-0EAF9F0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8003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1" name="price-x2-EVCS5-9">
            <a:extLst xmlns:a="http://schemas.openxmlformats.org/drawingml/2006/main">
              <a:ext uri="{FF2B5EF4-FFF2-40B4-BE49-F238E27FC236}">
                <a16:creationId xmlns:a16="http://schemas.microsoft.com/office/drawing/2014/main" id="{91C7C332-C577-458F-8C18-0A780009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800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2" name="price-x1-EVCS5-10">
            <a:extLst xmlns:a="http://schemas.openxmlformats.org/drawingml/2006/main">
              <a:ext uri="{FF2B5EF4-FFF2-40B4-BE49-F238E27FC236}">
                <a16:creationId xmlns:a16="http://schemas.microsoft.com/office/drawing/2014/main" id="{62B1B9A9-2D33-4FF6-98D9-366381D6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290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3" name="price-x2-EVCS5-10">
            <a:extLst xmlns:a="http://schemas.openxmlformats.org/drawingml/2006/main">
              <a:ext uri="{FF2B5EF4-FFF2-40B4-BE49-F238E27FC236}">
                <a16:creationId xmlns:a16="http://schemas.microsoft.com/office/drawing/2014/main" id="{6045D597-BD0A-4641-A921-87E706A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290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4" name="price-x1-EVCS5-11">
            <a:extLst xmlns:a="http://schemas.openxmlformats.org/drawingml/2006/main">
              <a:ext uri="{FF2B5EF4-FFF2-40B4-BE49-F238E27FC236}">
                <a16:creationId xmlns:a16="http://schemas.microsoft.com/office/drawing/2014/main" id="{A53FE38B-5FCE-4709-A3BB-9F612708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5089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5" name="price-x2-EVCS5-11">
            <a:extLst xmlns:a="http://schemas.openxmlformats.org/drawingml/2006/main">
              <a:ext uri="{FF2B5EF4-FFF2-40B4-BE49-F238E27FC236}">
                <a16:creationId xmlns:a16="http://schemas.microsoft.com/office/drawing/2014/main" id="{65B3C4E7-9A2F-4425-A445-40AA6DF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5089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6" name="price-x1-EVCS5-12">
            <a:extLst xmlns:a="http://schemas.openxmlformats.org/drawingml/2006/main">
              <a:ext uri="{FF2B5EF4-FFF2-40B4-BE49-F238E27FC236}">
                <a16:creationId xmlns:a16="http://schemas.microsoft.com/office/drawing/2014/main" id="{73D3B651-8691-477E-A2D8-8D23C94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1646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7" name="price-x2-EVCS5-12">
            <a:extLst xmlns:a="http://schemas.openxmlformats.org/drawingml/2006/main">
              <a:ext uri="{FF2B5EF4-FFF2-40B4-BE49-F238E27FC236}">
                <a16:creationId xmlns:a16="http://schemas.microsoft.com/office/drawing/2014/main" id="{75352926-0CCC-488D-8C08-8B875C7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16469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33E6"/>
            </a:solidFill>
            <a:prstDash val="solid"/>
          </a:ln>
        </p:spPr>
      </p:sp>
      <p:sp>
        <p:nvSpPr>
          <p:cNvPr id="258" name="price-legend-line-0">
            <a:extLst xmlns:a="http://schemas.openxmlformats.org/drawingml/2006/main">
              <a:ext uri="{FF2B5EF4-FFF2-40B4-BE49-F238E27FC236}">
                <a16:creationId xmlns:a16="http://schemas.microsoft.com/office/drawing/2014/main" id="{5B7CC3CB-107B-4DC1-9540-48CC4C1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6EE8"/>
            </a:solidFill>
            <a:prstDash val="solid"/>
          </a:ln>
        </p:spPr>
      </p:sp>
      <p:sp>
        <p:nvSpPr>
          <p:cNvPr id="259" name="price-legend-dot-0">
            <a:extLst xmlns:a="http://schemas.openxmlformats.org/drawingml/2006/main">
              <a:ext uri="{FF2B5EF4-FFF2-40B4-BE49-F238E27FC236}">
                <a16:creationId xmlns:a16="http://schemas.microsoft.com/office/drawing/2014/main" id="{52977E1D-6D13-457E-BFB6-D8E34542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32527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EE8"/>
            </a:solidFill>
            <a:prstDash val="solid"/>
          </a:ln>
        </p:spPr>
      </p:sp>
      <p:sp>
        <p:nvSpPr>
          <p:cNvPr id="260" name="price-legend-t-0">
            <a:extLst xmlns:a="http://schemas.openxmlformats.org/drawingml/2006/main">
              <a:ext uri="{FF2B5EF4-FFF2-40B4-BE49-F238E27FC236}">
                <a16:creationId xmlns:a16="http://schemas.microsoft.com/office/drawing/2014/main" id="{1813DD1D-9F18-4583-BF48-3A02CD9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56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EVCS1</a:t>
            </a:r>
          </a:p>
        </p:txBody>
      </p:sp>
      <p:sp>
        <p:nvSpPr>
          <p:cNvPr id="261" name="price-legend-line-1">
            <a:extLst xmlns:a="http://schemas.openxmlformats.org/drawingml/2006/main">
              <a:ext uri="{FF2B5EF4-FFF2-40B4-BE49-F238E27FC236}">
                <a16:creationId xmlns:a16="http://schemas.microsoft.com/office/drawing/2014/main" id="{1609FE3E-6234-4AE2-B7C0-A9289783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147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39A78"/>
            </a:solidFill>
            <a:prstDash val="solid"/>
          </a:ln>
        </p:spPr>
      </p:sp>
      <p:sp>
        <p:nvSpPr>
          <p:cNvPr id="262" name="price-legend-dot-1">
            <a:extLst xmlns:a="http://schemas.openxmlformats.org/drawingml/2006/main">
              <a:ext uri="{FF2B5EF4-FFF2-40B4-BE49-F238E27FC236}">
                <a16:creationId xmlns:a16="http://schemas.microsoft.com/office/drawing/2014/main" id="{7D8F720F-CC6E-4289-9352-943D76D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3481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39A78"/>
            </a:solidFill>
            <a:prstDash val="solid"/>
          </a:ln>
        </p:spPr>
      </p:sp>
      <p:sp>
        <p:nvSpPr>
          <p:cNvPr id="263" name="price-legend-t-1">
            <a:extLst xmlns:a="http://schemas.openxmlformats.org/drawingml/2006/main">
              <a:ext uri="{FF2B5EF4-FFF2-40B4-BE49-F238E27FC236}">
                <a16:creationId xmlns:a16="http://schemas.microsoft.com/office/drawing/2014/main" id="{AC6F16B9-07EB-497C-9557-4143380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19475"/>
            <a:ext cx="56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EVCS2</a:t>
            </a:r>
          </a:p>
        </p:txBody>
      </p:sp>
      <p:sp>
        <p:nvSpPr>
          <p:cNvPr id="264" name="price-legend-line-2">
            <a:extLst xmlns:a="http://schemas.openxmlformats.org/drawingml/2006/main">
              <a:ext uri="{FF2B5EF4-FFF2-40B4-BE49-F238E27FC236}">
                <a16:creationId xmlns:a16="http://schemas.microsoft.com/office/drawing/2014/main" id="{12420DEA-9301-4AF4-96A2-33A1DF39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433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28B1A"/>
            </a:solidFill>
            <a:prstDash val="solid"/>
          </a:ln>
        </p:spPr>
      </p:sp>
      <p:sp>
        <p:nvSpPr>
          <p:cNvPr id="265" name="price-legend-dot-2">
            <a:extLst xmlns:a="http://schemas.openxmlformats.org/drawingml/2006/main">
              <a:ext uri="{FF2B5EF4-FFF2-40B4-BE49-F238E27FC236}">
                <a16:creationId xmlns:a16="http://schemas.microsoft.com/office/drawing/2014/main" id="{46CF3261-AA63-434A-8476-8D9A8F5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3709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8B1A"/>
            </a:solidFill>
            <a:prstDash val="solid"/>
          </a:ln>
        </p:spPr>
      </p:sp>
      <p:sp>
        <p:nvSpPr>
          <p:cNvPr id="266" name="price-legend-t-2">
            <a:extLst xmlns:a="http://schemas.openxmlformats.org/drawingml/2006/main">
              <a:ext uri="{FF2B5EF4-FFF2-40B4-BE49-F238E27FC236}">
                <a16:creationId xmlns:a16="http://schemas.microsoft.com/office/drawing/2014/main" id="{D14D14CD-CD47-4FAC-80AC-FCADBA8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48075"/>
            <a:ext cx="56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EVCS3</a:t>
            </a:r>
          </a:p>
        </p:txBody>
      </p:sp>
      <p:sp>
        <p:nvSpPr>
          <p:cNvPr id="267" name="price-legend-line-3">
            <a:extLst xmlns:a="http://schemas.openxmlformats.org/drawingml/2006/main">
              <a:ext uri="{FF2B5EF4-FFF2-40B4-BE49-F238E27FC236}">
                <a16:creationId xmlns:a16="http://schemas.microsoft.com/office/drawing/2014/main" id="{226406C0-80AE-4490-AA44-46CFF1D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F2B2D"/>
            </a:solidFill>
            <a:prstDash val="solid"/>
          </a:ln>
        </p:spPr>
      </p:sp>
      <p:sp>
        <p:nvSpPr>
          <p:cNvPr id="268" name="price-legend-dot-3">
            <a:extLst xmlns:a="http://schemas.openxmlformats.org/drawingml/2006/main">
              <a:ext uri="{FF2B5EF4-FFF2-40B4-BE49-F238E27FC236}">
                <a16:creationId xmlns:a16="http://schemas.microsoft.com/office/drawing/2014/main" id="{19ED8C41-019D-49EC-BFB1-46262EA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3938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F2B2D"/>
            </a:solidFill>
            <a:prstDash val="solid"/>
          </a:ln>
        </p:spPr>
      </p:sp>
      <p:sp>
        <p:nvSpPr>
          <p:cNvPr id="269" name="price-legend-t-3">
            <a:extLst xmlns:a="http://schemas.openxmlformats.org/drawingml/2006/main">
              <a:ext uri="{FF2B5EF4-FFF2-40B4-BE49-F238E27FC236}">
                <a16:creationId xmlns:a16="http://schemas.microsoft.com/office/drawing/2014/main" id="{60D10757-3214-4290-9760-0AE2583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76675"/>
            <a:ext cx="56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EVCS4</a:t>
            </a:r>
          </a:p>
        </p:txBody>
      </p:sp>
      <p:sp>
        <p:nvSpPr>
          <p:cNvPr id="270" name="price-legend-line-4">
            <a:extLst xmlns:a="http://schemas.openxmlformats.org/drawingml/2006/main">
              <a:ext uri="{FF2B5EF4-FFF2-40B4-BE49-F238E27FC236}">
                <a16:creationId xmlns:a16="http://schemas.microsoft.com/office/drawing/2014/main" id="{7416A565-FE0B-4F92-A45E-5A1079C9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005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933E6"/>
            </a:solidFill>
            <a:prstDash val="solid"/>
          </a:ln>
        </p:spPr>
      </p:sp>
      <p:sp>
        <p:nvSpPr>
          <p:cNvPr id="271" name="price-legend-dot-4">
            <a:extLst xmlns:a="http://schemas.openxmlformats.org/drawingml/2006/main">
              <a:ext uri="{FF2B5EF4-FFF2-40B4-BE49-F238E27FC236}">
                <a16:creationId xmlns:a16="http://schemas.microsoft.com/office/drawing/2014/main" id="{B7E3C7E6-D627-439C-B22E-7488AB5C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41671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933E6"/>
            </a:solidFill>
            <a:prstDash val="solid"/>
          </a:ln>
        </p:spPr>
      </p:sp>
      <p:sp>
        <p:nvSpPr>
          <p:cNvPr id="272" name="price-legend-t-4">
            <a:extLst xmlns:a="http://schemas.openxmlformats.org/drawingml/2006/main">
              <a:ext uri="{FF2B5EF4-FFF2-40B4-BE49-F238E27FC236}">
                <a16:creationId xmlns:a16="http://schemas.microsoft.com/office/drawing/2014/main" id="{EE3BE0FD-3CEA-4A7C-BF15-49626A2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05275"/>
            <a:ext cx="56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EVCS5</a:t>
            </a:r>
          </a:p>
        </p:txBody>
      </p:sp>
      <p:sp>
        <p:nvSpPr>
          <p:cNvPr id="273" name="heat-frame">
            <a:extLst xmlns:a="http://schemas.openxmlformats.org/drawingml/2006/main">
              <a:ext uri="{FF2B5EF4-FFF2-40B4-BE49-F238E27FC236}">
                <a16:creationId xmlns:a16="http://schemas.microsoft.com/office/drawing/2014/main" id="{D43DBA53-5EC0-4707-8CA0-B175B40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91150"/>
            <a:ext cx="5248275" cy="2638425"/>
          </a:xfrm>
          <a:prstGeom xmlns:a="http://schemas.openxmlformats.org/drawingml/2006/main" prst="roundRect">
            <a:avLst>
              <a:gd name="adj" fmla="val 2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274" name="heat-head-bg">
            <a:extLst xmlns:a="http://schemas.openxmlformats.org/drawingml/2006/main">
              <a:ext uri="{FF2B5EF4-FFF2-40B4-BE49-F238E27FC236}">
                <a16:creationId xmlns:a16="http://schemas.microsoft.com/office/drawing/2014/main" id="{1F688868-A3BF-45B1-B64B-590900C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391150"/>
            <a:ext cx="52292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275" name="heat-head-t">
            <a:extLst xmlns:a="http://schemas.openxmlformats.org/drawingml/2006/main">
              <a:ext uri="{FF2B5EF4-FFF2-40B4-BE49-F238E27FC236}">
                <a16:creationId xmlns:a16="http://schemas.microsoft.com/office/drawing/2014/main" id="{DFAF922F-6DBE-461A-84A0-84E81FF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400675"/>
            <a:ext cx="507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EV充电流量的空分布对比（单位：辆次）</a:t>
            </a:r>
          </a:p>
        </p:txBody>
      </p:sp>
      <p:pic>
        <p:nvPicPr>
          <p:cNvPr id="6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662e6536d4017"/>
          <a:stretch xmlns:a="http://schemas.openxmlformats.org/drawingml/2006/main"/>
        </p:blipFill>
        <p:spPr>
          <a:xfrm xmlns:a="http://schemas.openxmlformats.org/drawingml/2006/main">
            <a:off x="5629275" y="6083025"/>
            <a:ext cx="4752975" cy="1721399"/>
          </a:xfrm>
          <a:prstGeom xmlns:a="http://schemas.openxmlformats.org/drawingml/2006/main" prst="rect">
            <a:avLst/>
          </a:prstGeom>
        </p:spPr>
      </p:pic>
      <p:sp>
        <p:nvSpPr>
          <p:cNvPr id="277" name="center-conclusion">
            <a:extLst xmlns:a="http://schemas.openxmlformats.org/drawingml/2006/main">
              <a:ext uri="{FF2B5EF4-FFF2-40B4-BE49-F238E27FC236}">
                <a16:creationId xmlns:a16="http://schemas.microsoft.com/office/drawing/2014/main" id="{A328F31E-F973-4F6A-9F8C-850687F2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096250"/>
            <a:ext cx="5248275" cy="638175"/>
          </a:xfrm>
          <a:prstGeom xmlns:a="http://schemas.openxmlformats.org/drawingml/2006/main" prst="roundRect">
            <a:avLst>
              <a:gd name="adj" fmla="val 10448"/>
            </a:avLst>
          </a:prstGeom>
          <a:gradFill xmlns:a="http://schemas.openxmlformats.org/drawingml/2006/main">
            <a:gsLst>
              <a:gs pos="0">
                <a:srgbClr val="EAF7FF"/>
              </a:gs>
              <a:gs pos="100000">
                <a:srgbClr val="DCEEFF"/>
              </a:gs>
            </a:gsLst>
            <a:lin ang="5400000"/>
          </a:gra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278" name="center-conclusion-t">
            <a:extLst xmlns:a="http://schemas.openxmlformats.org/drawingml/2006/main">
              <a:ext uri="{FF2B5EF4-FFF2-40B4-BE49-F238E27FC236}">
                <a16:creationId xmlns:a16="http://schemas.microsoft.com/office/drawing/2014/main" id="{47EAE349-F4ED-4EB1-9A35-40B07F7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8153400"/>
            <a:ext cx="477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差异化价格将部分EV充电需求从拥塞站点引导至低负荷站点，</a:t>
            </a:r>
          </a:p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实现负荷重分配。</a:t>
            </a:r>
          </a:p>
        </p:txBody>
      </p:sp>
      <p:sp>
        <p:nvSpPr>
          <p:cNvPr id="279" name="income-frame">
            <a:extLst xmlns:a="http://schemas.openxmlformats.org/drawingml/2006/main">
              <a:ext uri="{FF2B5EF4-FFF2-40B4-BE49-F238E27FC236}">
                <a16:creationId xmlns:a16="http://schemas.microsoft.com/office/drawing/2014/main" id="{E0E3691B-2A34-476E-B95E-26E4B74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43200"/>
            <a:ext cx="4943475" cy="28003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280" name="income-head-bg">
            <a:extLst xmlns:a="http://schemas.openxmlformats.org/drawingml/2006/main">
              <a:ext uri="{FF2B5EF4-FFF2-40B4-BE49-F238E27FC236}">
                <a16:creationId xmlns:a16="http://schemas.microsoft.com/office/drawing/2014/main" id="{722F11B7-A5FA-48C3-90A9-6605192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43200"/>
            <a:ext cx="49244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281" name="income-head-t">
            <a:extLst xmlns:a="http://schemas.openxmlformats.org/drawingml/2006/main">
              <a:ext uri="{FF2B5EF4-FFF2-40B4-BE49-F238E27FC236}">
                <a16:creationId xmlns:a16="http://schemas.microsoft.com/office/drawing/2014/main" id="{B1840952-E7F5-43F9-8D90-9266D99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752725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各EVCS总收益对比</a:t>
            </a:r>
          </a:p>
        </p:txBody>
      </p:sp>
      <p:sp>
        <p:nvSpPr>
          <p:cNvPr id="282" name="legend-case1">
            <a:extLst xmlns:a="http://schemas.openxmlformats.org/drawingml/2006/main">
              <a:ext uri="{FF2B5EF4-FFF2-40B4-BE49-F238E27FC236}">
                <a16:creationId xmlns:a16="http://schemas.microsoft.com/office/drawing/2014/main" id="{6A658EF3-C817-4E15-B95C-5959710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895600"/>
            <a:ext cx="200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legend-case1-t">
            <a:extLst xmlns:a="http://schemas.openxmlformats.org/drawingml/2006/main">
              <a:ext uri="{FF2B5EF4-FFF2-40B4-BE49-F238E27FC236}">
                <a16:creationId xmlns:a16="http://schemas.microsoft.com/office/drawing/2014/main" id="{2EB9BF8A-EB05-46C9-9DC6-98763E5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28194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1（基准方案）</a:t>
            </a:r>
          </a:p>
        </p:txBody>
      </p:sp>
      <p:sp>
        <p:nvSpPr>
          <p:cNvPr id="284" name="legend-case3">
            <a:extLst xmlns:a="http://schemas.openxmlformats.org/drawingml/2006/main">
              <a:ext uri="{FF2B5EF4-FFF2-40B4-BE49-F238E27FC236}">
                <a16:creationId xmlns:a16="http://schemas.microsoft.com/office/drawing/2014/main" id="{D071B5C1-82F1-4F41-A23A-266ED64C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124200"/>
            <a:ext cx="2000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legend-case3-t">
            <a:extLst xmlns:a="http://schemas.openxmlformats.org/drawingml/2006/main">
              <a:ext uri="{FF2B5EF4-FFF2-40B4-BE49-F238E27FC236}">
                <a16:creationId xmlns:a16="http://schemas.microsoft.com/office/drawing/2014/main" id="{9E068C53-D781-4CCB-A3B6-484845B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30480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3（PV-grid-EV）</a:t>
            </a:r>
          </a:p>
        </p:txBody>
      </p:sp>
      <p:sp>
        <p:nvSpPr>
          <p:cNvPr id="286" name="income-grid-0">
            <a:extLst xmlns:a="http://schemas.openxmlformats.org/drawingml/2006/main">
              <a:ext uri="{FF2B5EF4-FFF2-40B4-BE49-F238E27FC236}">
                <a16:creationId xmlns:a16="http://schemas.microsoft.com/office/drawing/2014/main" id="{D8C9F9A5-1861-417F-BD83-86DA5DA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13397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87" name="income-y-0">
            <a:extLst xmlns:a="http://schemas.openxmlformats.org/drawingml/2006/main">
              <a:ext uri="{FF2B5EF4-FFF2-40B4-BE49-F238E27FC236}">
                <a16:creationId xmlns:a16="http://schemas.microsoft.com/office/drawing/2014/main" id="{78FB5D11-ED07-454E-832E-96A8C49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0387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8" name="income-grid-50">
            <a:extLst xmlns:a="http://schemas.openxmlformats.org/drawingml/2006/main">
              <a:ext uri="{FF2B5EF4-FFF2-40B4-BE49-F238E27FC236}">
                <a16:creationId xmlns:a16="http://schemas.microsoft.com/office/drawing/2014/main" id="{FA11AF7B-B940-4041-93D5-EDA5374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76059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89" name="income-y-50">
            <a:extLst xmlns:a="http://schemas.openxmlformats.org/drawingml/2006/main">
              <a:ext uri="{FF2B5EF4-FFF2-40B4-BE49-F238E27FC236}">
                <a16:creationId xmlns:a16="http://schemas.microsoft.com/office/drawing/2014/main" id="{A3A446AD-1339-47FC-BE9B-364B6B2C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66534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90" name="income-grid-100">
            <a:extLst xmlns:a="http://schemas.openxmlformats.org/drawingml/2006/main">
              <a:ext uri="{FF2B5EF4-FFF2-40B4-BE49-F238E27FC236}">
                <a16:creationId xmlns:a16="http://schemas.microsoft.com/office/drawing/2014/main" id="{9A6DC85F-D1D7-4A1C-885C-BE7A797C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38721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91" name="income-y-100">
            <a:extLst xmlns:a="http://schemas.openxmlformats.org/drawingml/2006/main">
              <a:ext uri="{FF2B5EF4-FFF2-40B4-BE49-F238E27FC236}">
                <a16:creationId xmlns:a16="http://schemas.microsoft.com/office/drawing/2014/main" id="{2D8F57DF-B003-4466-B443-9CF0D3D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29196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2" name="income-grid-150">
            <a:extLst xmlns:a="http://schemas.openxmlformats.org/drawingml/2006/main">
              <a:ext uri="{FF2B5EF4-FFF2-40B4-BE49-F238E27FC236}">
                <a16:creationId xmlns:a16="http://schemas.microsoft.com/office/drawing/2014/main" id="{A005D40E-4B23-4D7F-81D1-97EBA7F5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01383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93" name="income-y-150">
            <a:extLst xmlns:a="http://schemas.openxmlformats.org/drawingml/2006/main">
              <a:ext uri="{FF2B5EF4-FFF2-40B4-BE49-F238E27FC236}">
                <a16:creationId xmlns:a16="http://schemas.microsoft.com/office/drawing/2014/main" id="{BADE22B1-D026-405D-8B4E-D23E332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1858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294" name="income-grid-200">
            <a:extLst xmlns:a="http://schemas.openxmlformats.org/drawingml/2006/main">
              <a:ext uri="{FF2B5EF4-FFF2-40B4-BE49-F238E27FC236}">
                <a16:creationId xmlns:a16="http://schemas.microsoft.com/office/drawing/2014/main" id="{07D92250-004C-4E80-B749-40BD80F3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64045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95" name="income-y-200">
            <a:extLst xmlns:a="http://schemas.openxmlformats.org/drawingml/2006/main">
              <a:ext uri="{FF2B5EF4-FFF2-40B4-BE49-F238E27FC236}">
                <a16:creationId xmlns:a16="http://schemas.microsoft.com/office/drawing/2014/main" id="{7A93B788-5231-42B5-9B4E-8EB651C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54520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296" name="income-grid-250">
            <a:extLst xmlns:a="http://schemas.openxmlformats.org/drawingml/2006/main">
              <a:ext uri="{FF2B5EF4-FFF2-40B4-BE49-F238E27FC236}">
                <a16:creationId xmlns:a16="http://schemas.microsoft.com/office/drawing/2014/main" id="{60A57E79-1EF4-428D-885F-CA261E2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26707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7DEE4"/>
            </a:solidFill>
            <a:prstDash val="dash"/>
          </a:ln>
        </p:spPr>
      </p:sp>
      <p:sp>
        <p:nvSpPr>
          <p:cNvPr id="297" name="income-y-250">
            <a:extLst xmlns:a="http://schemas.openxmlformats.org/drawingml/2006/main">
              <a:ext uri="{FF2B5EF4-FFF2-40B4-BE49-F238E27FC236}">
                <a16:creationId xmlns:a16="http://schemas.microsoft.com/office/drawing/2014/main" id="{8D21218A-3C48-4EC9-A128-A1BB4AA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1718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250</a:t>
            </a:r>
          </a:p>
        </p:txBody>
      </p:sp>
      <p:sp>
        <p:nvSpPr>
          <p:cNvPr id="298" name="income-yaxis">
            <a:extLst xmlns:a="http://schemas.openxmlformats.org/drawingml/2006/main">
              <a:ext uri="{FF2B5EF4-FFF2-40B4-BE49-F238E27FC236}">
                <a16:creationId xmlns:a16="http://schemas.microsoft.com/office/drawing/2014/main" id="{13AE73C9-0356-4F78-9E10-7686D51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267075"/>
            <a:ext cx="95" cy="1866900"/>
          </a:xfrm>
          <a:custGeom xmlns:a="http://schemas.openxmlformats.org/drawingml/2006/main">
            <a:pathLst>
              <a:path w="95" h="1866900">
                <a:moveTo>
                  <a:pt x="0" y="0"/>
                </a:moveTo>
                <a:lnTo>
                  <a:pt x="0" y="18669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299" name="income-xaxis">
            <a:extLst xmlns:a="http://schemas.openxmlformats.org/drawingml/2006/main">
              <a:ext uri="{FF2B5EF4-FFF2-40B4-BE49-F238E27FC236}">
                <a16:creationId xmlns:a16="http://schemas.microsoft.com/office/drawing/2014/main" id="{9AF5CBA8-35E5-4FA7-928A-6C8A0BE4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13397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300" name="income-ytitle">
            <a:extLst xmlns:a="http://schemas.openxmlformats.org/drawingml/2006/main">
              <a:ext uri="{FF2B5EF4-FFF2-40B4-BE49-F238E27FC236}">
                <a16:creationId xmlns:a16="http://schemas.microsoft.com/office/drawing/2014/main" id="{3174245C-BD14-461D-BAEB-8B5AC8C7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895725"/>
            <a:ext cx="40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总收益</a:t>
            </a:r>
          </a:p>
          <a:p xmlns:a="http://schemas.openxmlformats.org/drawingml/2006/main">
            <a:pPr algn="ctr">
              <a:defRPr sz="1013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（万元）</a:t>
            </a:r>
          </a:p>
        </p:txBody>
      </p:sp>
      <p:sp>
        <p:nvSpPr>
          <p:cNvPr id="301" name="inc1-0">
            <a:extLst xmlns:a="http://schemas.openxmlformats.org/drawingml/2006/main">
              <a:ext uri="{FF2B5EF4-FFF2-40B4-BE49-F238E27FC236}">
                <a16:creationId xmlns:a16="http://schemas.microsoft.com/office/drawing/2014/main" id="{30C18919-92BC-4888-BF52-253DC39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536567"/>
            <a:ext cx="209550" cy="597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inc3-0">
            <a:extLst xmlns:a="http://schemas.openxmlformats.org/drawingml/2006/main">
              <a:ext uri="{FF2B5EF4-FFF2-40B4-BE49-F238E27FC236}">
                <a16:creationId xmlns:a16="http://schemas.microsoft.com/office/drawing/2014/main" id="{91749EAA-45D3-48CB-A471-C44D844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237863"/>
            <a:ext cx="209550" cy="896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inc1-v-0">
            <a:extLst xmlns:a="http://schemas.openxmlformats.org/drawingml/2006/main">
              <a:ext uri="{FF2B5EF4-FFF2-40B4-BE49-F238E27FC236}">
                <a16:creationId xmlns:a16="http://schemas.microsoft.com/office/drawing/2014/main" id="{256F0886-54DB-4023-9961-A1E9944B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288917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304" name="inc3-v-0">
            <a:extLst xmlns:a="http://schemas.openxmlformats.org/drawingml/2006/main">
              <a:ext uri="{FF2B5EF4-FFF2-40B4-BE49-F238E27FC236}">
                <a16:creationId xmlns:a16="http://schemas.microsoft.com/office/drawing/2014/main" id="{63BE42FA-3E66-4322-BA89-C0BC227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90213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305" name="inc-cat-0">
            <a:extLst xmlns:a="http://schemas.openxmlformats.org/drawingml/2006/main">
              <a:ext uri="{FF2B5EF4-FFF2-40B4-BE49-F238E27FC236}">
                <a16:creationId xmlns:a16="http://schemas.microsoft.com/office/drawing/2014/main" id="{58B8CD08-AD03-4236-AB1D-B4DE629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1911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EVCS1</a:t>
            </a:r>
          </a:p>
        </p:txBody>
      </p:sp>
      <p:sp>
        <p:nvSpPr>
          <p:cNvPr id="306" name="inc-pct-0">
            <a:extLst xmlns:a="http://schemas.openxmlformats.org/drawingml/2006/main">
              <a:ext uri="{FF2B5EF4-FFF2-40B4-BE49-F238E27FC236}">
                <a16:creationId xmlns:a16="http://schemas.microsoft.com/office/drawing/2014/main" id="{A3C1665A-C405-457F-A0FB-3048651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99688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+50%</a:t>
            </a:r>
          </a:p>
        </p:txBody>
      </p:sp>
      <p:sp>
        <p:nvSpPr>
          <p:cNvPr id="307" name="inc-arrow-0-route">
            <a:extLst xmlns:a="http://schemas.openxmlformats.org/drawingml/2006/main">
              <a:ext uri="{FF2B5EF4-FFF2-40B4-BE49-F238E27FC236}">
                <a16:creationId xmlns:a16="http://schemas.microsoft.com/office/drawing/2014/main" id="{50591DCA-73D3-4BC1-9AD7-C49D0FC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847338"/>
            <a:ext cx="152400" cy="219075"/>
          </a:xfrm>
          <a:custGeom xmlns:a="http://schemas.openxmlformats.org/drawingml/2006/main">
            <a:pathLst>
              <a:path w="152400" h="219075">
                <a:moveTo>
                  <a:pt x="0" y="0"/>
                </a:moveTo>
                <a:lnTo>
                  <a:pt x="1524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D0000"/>
            </a:solidFill>
            <a:prstDash val="solid"/>
          </a:ln>
        </p:spPr>
      </p:sp>
      <p:sp>
        <p:nvSpPr>
          <p:cNvPr id="308" name="inc-arrow-0-head">
            <a:extLst xmlns:a="http://schemas.openxmlformats.org/drawingml/2006/main">
              <a:ext uri="{FF2B5EF4-FFF2-40B4-BE49-F238E27FC236}">
                <a16:creationId xmlns:a16="http://schemas.microsoft.com/office/drawing/2014/main" id="{59E70BF2-2BED-4B15-AB49-0BED460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009" y="3982973"/>
            <a:ext cx="73541" cy="83440"/>
          </a:xfrm>
          <a:custGeom xmlns:a="http://schemas.openxmlformats.org/drawingml/2006/main">
            <a:pathLst>
              <a:path w="73541" h="83440">
                <a:moveTo>
                  <a:pt x="73541" y="83440"/>
                </a:moveTo>
                <a:lnTo>
                  <a:pt x="0" y="41775"/>
                </a:lnTo>
                <a:lnTo>
                  <a:pt x="6005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09" name="inc1-1">
            <a:extLst xmlns:a="http://schemas.openxmlformats.org/drawingml/2006/main">
              <a:ext uri="{FF2B5EF4-FFF2-40B4-BE49-F238E27FC236}">
                <a16:creationId xmlns:a16="http://schemas.microsoft.com/office/drawing/2014/main" id="{07416849-52A6-4050-894E-7476848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685919"/>
            <a:ext cx="209550" cy="448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inc3-1">
            <a:extLst xmlns:a="http://schemas.openxmlformats.org/drawingml/2006/main">
              <a:ext uri="{FF2B5EF4-FFF2-40B4-BE49-F238E27FC236}">
                <a16:creationId xmlns:a16="http://schemas.microsoft.com/office/drawing/2014/main" id="{6C14D792-1F04-4A33-8063-20FD3BC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387215"/>
            <a:ext cx="209550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inc1-v-1">
            <a:extLst xmlns:a="http://schemas.openxmlformats.org/drawingml/2006/main">
              <a:ext uri="{FF2B5EF4-FFF2-40B4-BE49-F238E27FC236}">
                <a16:creationId xmlns:a16="http://schemas.microsoft.com/office/drawing/2014/main" id="{6C260C4D-05BB-41DE-B754-988C99A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438269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312" name="inc3-v-1">
            <a:extLst xmlns:a="http://schemas.openxmlformats.org/drawingml/2006/main">
              <a:ext uri="{FF2B5EF4-FFF2-40B4-BE49-F238E27FC236}">
                <a16:creationId xmlns:a16="http://schemas.microsoft.com/office/drawing/2014/main" id="{F9C27037-5251-4874-A6DF-2A2414CF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413956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3" name="inc-cat-1">
            <a:extLst xmlns:a="http://schemas.openxmlformats.org/drawingml/2006/main">
              <a:ext uri="{FF2B5EF4-FFF2-40B4-BE49-F238E27FC236}">
                <a16:creationId xmlns:a16="http://schemas.microsoft.com/office/drawing/2014/main" id="{408E7EF6-9739-4A21-ADC5-9C62651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911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EVCS2</a:t>
            </a:r>
          </a:p>
        </p:txBody>
      </p:sp>
      <p:sp>
        <p:nvSpPr>
          <p:cNvPr id="314" name="inc-pct-1">
            <a:extLst xmlns:a="http://schemas.openxmlformats.org/drawingml/2006/main">
              <a:ext uri="{FF2B5EF4-FFF2-40B4-BE49-F238E27FC236}">
                <a16:creationId xmlns:a16="http://schemas.microsoft.com/office/drawing/2014/main" id="{47552BDE-6804-4C6D-86A6-1166266C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374904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+66.7%</a:t>
            </a:r>
          </a:p>
        </p:txBody>
      </p:sp>
      <p:sp>
        <p:nvSpPr>
          <p:cNvPr id="315" name="inc-arrow-1-route">
            <a:extLst xmlns:a="http://schemas.openxmlformats.org/drawingml/2006/main">
              <a:ext uri="{FF2B5EF4-FFF2-40B4-BE49-F238E27FC236}">
                <a16:creationId xmlns:a16="http://schemas.microsoft.com/office/drawing/2014/main" id="{3141DD64-62FC-4705-B8B1-B0AFCBF1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96690"/>
            <a:ext cx="152400" cy="219075"/>
          </a:xfrm>
          <a:custGeom xmlns:a="http://schemas.openxmlformats.org/drawingml/2006/main">
            <a:pathLst>
              <a:path w="152400" h="219075">
                <a:moveTo>
                  <a:pt x="0" y="0"/>
                </a:moveTo>
                <a:lnTo>
                  <a:pt x="1524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D0000"/>
            </a:solidFill>
            <a:prstDash val="solid"/>
          </a:ln>
        </p:spPr>
      </p:sp>
      <p:sp>
        <p:nvSpPr>
          <p:cNvPr id="316" name="inc-arrow-1-head">
            <a:extLst xmlns:a="http://schemas.openxmlformats.org/drawingml/2006/main">
              <a:ext uri="{FF2B5EF4-FFF2-40B4-BE49-F238E27FC236}">
                <a16:creationId xmlns:a16="http://schemas.microsoft.com/office/drawing/2014/main" id="{D735BBA9-2F76-48B2-9B5A-FB7673D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9484" y="4132325"/>
            <a:ext cx="73541" cy="83440"/>
          </a:xfrm>
          <a:custGeom xmlns:a="http://schemas.openxmlformats.org/drawingml/2006/main">
            <a:pathLst>
              <a:path w="73541" h="83440">
                <a:moveTo>
                  <a:pt x="73541" y="83440"/>
                </a:moveTo>
                <a:lnTo>
                  <a:pt x="0" y="41775"/>
                </a:lnTo>
                <a:lnTo>
                  <a:pt x="6005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17" name="inc1-2">
            <a:extLst xmlns:a="http://schemas.openxmlformats.org/drawingml/2006/main">
              <a:ext uri="{FF2B5EF4-FFF2-40B4-BE49-F238E27FC236}">
                <a16:creationId xmlns:a16="http://schemas.microsoft.com/office/drawing/2014/main" id="{F2B5942D-1EA1-439A-913F-F58ED8AA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4461891"/>
            <a:ext cx="209550" cy="672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inc3-2">
            <a:extLst xmlns:a="http://schemas.openxmlformats.org/drawingml/2006/main">
              <a:ext uri="{FF2B5EF4-FFF2-40B4-BE49-F238E27FC236}">
                <a16:creationId xmlns:a16="http://schemas.microsoft.com/office/drawing/2014/main" id="{E3534B61-4E67-40ED-9FF0-CAC1FF2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013835"/>
            <a:ext cx="209550" cy="1120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inc1-v-2">
            <a:extLst xmlns:a="http://schemas.openxmlformats.org/drawingml/2006/main">
              <a:ext uri="{FF2B5EF4-FFF2-40B4-BE49-F238E27FC236}">
                <a16:creationId xmlns:a16="http://schemas.microsoft.com/office/drawing/2014/main" id="{E6C563F0-A2B4-47E4-B08D-4635BBF0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4214241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320" name="inc3-v-2">
            <a:extLst xmlns:a="http://schemas.openxmlformats.org/drawingml/2006/main">
              <a:ext uri="{FF2B5EF4-FFF2-40B4-BE49-F238E27FC236}">
                <a16:creationId xmlns:a16="http://schemas.microsoft.com/office/drawing/2014/main" id="{34726B4A-81E5-456D-9D25-2BD1803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76618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21" name="inc-cat-2">
            <a:extLst xmlns:a="http://schemas.openxmlformats.org/drawingml/2006/main">
              <a:ext uri="{FF2B5EF4-FFF2-40B4-BE49-F238E27FC236}">
                <a16:creationId xmlns:a16="http://schemas.microsoft.com/office/drawing/2014/main" id="{87D55617-DE78-468C-A75D-CC63D3FF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51911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EVCS3</a:t>
            </a:r>
          </a:p>
        </p:txBody>
      </p:sp>
      <p:sp>
        <p:nvSpPr>
          <p:cNvPr id="322" name="inc-pct-2">
            <a:extLst xmlns:a="http://schemas.openxmlformats.org/drawingml/2006/main">
              <a:ext uri="{FF2B5EF4-FFF2-40B4-BE49-F238E27FC236}">
                <a16:creationId xmlns:a16="http://schemas.microsoft.com/office/drawing/2014/main" id="{DAAB8C6F-1513-45B6-9973-942F252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375660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+66.7%</a:t>
            </a:r>
          </a:p>
        </p:txBody>
      </p:sp>
      <p:sp>
        <p:nvSpPr>
          <p:cNvPr id="323" name="inc-arrow-2-route">
            <a:extLst xmlns:a="http://schemas.openxmlformats.org/drawingml/2006/main">
              <a:ext uri="{FF2B5EF4-FFF2-40B4-BE49-F238E27FC236}">
                <a16:creationId xmlns:a16="http://schemas.microsoft.com/office/drawing/2014/main" id="{133F29DA-641F-49F9-97D6-29F02DE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623310"/>
            <a:ext cx="152400" cy="219075"/>
          </a:xfrm>
          <a:custGeom xmlns:a="http://schemas.openxmlformats.org/drawingml/2006/main">
            <a:pathLst>
              <a:path w="152400" h="219075">
                <a:moveTo>
                  <a:pt x="0" y="0"/>
                </a:moveTo>
                <a:lnTo>
                  <a:pt x="1524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D0000"/>
            </a:solidFill>
            <a:prstDash val="solid"/>
          </a:ln>
        </p:spPr>
      </p:sp>
      <p:sp>
        <p:nvSpPr>
          <p:cNvPr id="324" name="inc-arrow-2-head">
            <a:extLst xmlns:a="http://schemas.openxmlformats.org/drawingml/2006/main">
              <a:ext uri="{FF2B5EF4-FFF2-40B4-BE49-F238E27FC236}">
                <a16:creationId xmlns:a16="http://schemas.microsoft.com/office/drawing/2014/main" id="{7EA7D2C1-A580-401E-B393-A0AF917F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59" y="3758945"/>
            <a:ext cx="73541" cy="83440"/>
          </a:xfrm>
          <a:custGeom xmlns:a="http://schemas.openxmlformats.org/drawingml/2006/main">
            <a:pathLst>
              <a:path w="73541" h="83440">
                <a:moveTo>
                  <a:pt x="73541" y="83440"/>
                </a:moveTo>
                <a:lnTo>
                  <a:pt x="0" y="41775"/>
                </a:lnTo>
                <a:lnTo>
                  <a:pt x="6005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25" name="inc1-3">
            <a:extLst xmlns:a="http://schemas.openxmlformats.org/drawingml/2006/main">
              <a:ext uri="{FF2B5EF4-FFF2-40B4-BE49-F238E27FC236}">
                <a16:creationId xmlns:a16="http://schemas.microsoft.com/office/drawing/2014/main" id="{37195CEF-CB3A-4699-BBA1-C7B424A0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4760595"/>
            <a:ext cx="209550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inc3-3">
            <a:extLst xmlns:a="http://schemas.openxmlformats.org/drawingml/2006/main">
              <a:ext uri="{FF2B5EF4-FFF2-40B4-BE49-F238E27FC236}">
                <a16:creationId xmlns:a16="http://schemas.microsoft.com/office/drawing/2014/main" id="{842C575F-5E11-4B4E-8243-49B5969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499229"/>
            <a:ext cx="209550" cy="634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inc1-v-3">
            <a:extLst xmlns:a="http://schemas.openxmlformats.org/drawingml/2006/main">
              <a:ext uri="{FF2B5EF4-FFF2-40B4-BE49-F238E27FC236}">
                <a16:creationId xmlns:a16="http://schemas.microsoft.com/office/drawing/2014/main" id="{C1709F52-CB22-436D-82CE-25197A2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51294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328" name="inc3-v-3">
            <a:extLst xmlns:a="http://schemas.openxmlformats.org/drawingml/2006/main">
              <a:ext uri="{FF2B5EF4-FFF2-40B4-BE49-F238E27FC236}">
                <a16:creationId xmlns:a16="http://schemas.microsoft.com/office/drawing/2014/main" id="{0A252D5E-9BC7-4B62-9A5C-305C7F5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4251579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  <p:sp>
        <p:nvSpPr>
          <p:cNvPr id="329" name="inc-cat-3">
            <a:extLst xmlns:a="http://schemas.openxmlformats.org/drawingml/2006/main">
              <a:ext uri="{FF2B5EF4-FFF2-40B4-BE49-F238E27FC236}">
                <a16:creationId xmlns:a16="http://schemas.microsoft.com/office/drawing/2014/main" id="{21F89693-6BB2-45E3-B7EE-542C1B94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1911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EVCS4</a:t>
            </a:r>
          </a:p>
        </p:txBody>
      </p:sp>
      <p:sp>
        <p:nvSpPr>
          <p:cNvPr id="330" name="inc-pct-3">
            <a:extLst xmlns:a="http://schemas.openxmlformats.org/drawingml/2006/main">
              <a:ext uri="{FF2B5EF4-FFF2-40B4-BE49-F238E27FC236}">
                <a16:creationId xmlns:a16="http://schemas.microsoft.com/office/drawing/2014/main" id="{86144924-7431-43D7-BF3F-32811CD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861054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+70%</a:t>
            </a:r>
          </a:p>
        </p:txBody>
      </p:sp>
      <p:sp>
        <p:nvSpPr>
          <p:cNvPr id="331" name="inc-arrow-3-route">
            <a:extLst xmlns:a="http://schemas.openxmlformats.org/drawingml/2006/main">
              <a:ext uri="{FF2B5EF4-FFF2-40B4-BE49-F238E27FC236}">
                <a16:creationId xmlns:a16="http://schemas.microsoft.com/office/drawing/2014/main" id="{F46D0D29-480D-4509-8ACC-2B9FA195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108704"/>
            <a:ext cx="152400" cy="219075"/>
          </a:xfrm>
          <a:custGeom xmlns:a="http://schemas.openxmlformats.org/drawingml/2006/main">
            <a:pathLst>
              <a:path w="152400" h="219075">
                <a:moveTo>
                  <a:pt x="0" y="0"/>
                </a:moveTo>
                <a:lnTo>
                  <a:pt x="1524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D0000"/>
            </a:solidFill>
            <a:prstDash val="solid"/>
          </a:ln>
        </p:spPr>
      </p:sp>
      <p:sp>
        <p:nvSpPr>
          <p:cNvPr id="332" name="inc-arrow-3-head">
            <a:extLst xmlns:a="http://schemas.openxmlformats.org/drawingml/2006/main">
              <a:ext uri="{FF2B5EF4-FFF2-40B4-BE49-F238E27FC236}">
                <a16:creationId xmlns:a16="http://schemas.microsoft.com/office/drawing/2014/main" id="{8AC4448E-308B-4873-9129-73512D50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434" y="4244339"/>
            <a:ext cx="73541" cy="83440"/>
          </a:xfrm>
          <a:custGeom xmlns:a="http://schemas.openxmlformats.org/drawingml/2006/main">
            <a:pathLst>
              <a:path w="73541" h="83440">
                <a:moveTo>
                  <a:pt x="73541" y="83440"/>
                </a:moveTo>
                <a:lnTo>
                  <a:pt x="0" y="41775"/>
                </a:lnTo>
                <a:lnTo>
                  <a:pt x="6005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33" name="inc1-4">
            <a:extLst xmlns:a="http://schemas.openxmlformats.org/drawingml/2006/main">
              <a:ext uri="{FF2B5EF4-FFF2-40B4-BE49-F238E27FC236}">
                <a16:creationId xmlns:a16="http://schemas.microsoft.com/office/drawing/2014/main" id="{10949DD1-77BE-4A08-8F48-7CD540C3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611243"/>
            <a:ext cx="209550" cy="522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inc3-4">
            <a:extLst xmlns:a="http://schemas.openxmlformats.org/drawingml/2006/main">
              <a:ext uri="{FF2B5EF4-FFF2-40B4-BE49-F238E27FC236}">
                <a16:creationId xmlns:a16="http://schemas.microsoft.com/office/drawing/2014/main" id="{59C6FE35-1F18-4EA3-8C6A-B11B970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312539"/>
            <a:ext cx="209550" cy="82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inc1-v-4">
            <a:extLst xmlns:a="http://schemas.openxmlformats.org/drawingml/2006/main">
              <a:ext uri="{FF2B5EF4-FFF2-40B4-BE49-F238E27FC236}">
                <a16:creationId xmlns:a16="http://schemas.microsoft.com/office/drawing/2014/main" id="{7A80F201-04B4-494A-B4FD-0423474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4363593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336" name="inc3-v-4">
            <a:extLst xmlns:a="http://schemas.openxmlformats.org/drawingml/2006/main">
              <a:ext uri="{FF2B5EF4-FFF2-40B4-BE49-F238E27FC236}">
                <a16:creationId xmlns:a16="http://schemas.microsoft.com/office/drawing/2014/main" id="{72E93791-2CEC-49F8-911B-04BA1E0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064889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37" name="inc-cat-4">
            <a:extLst xmlns:a="http://schemas.openxmlformats.org/drawingml/2006/main">
              <a:ext uri="{FF2B5EF4-FFF2-40B4-BE49-F238E27FC236}">
                <a16:creationId xmlns:a16="http://schemas.microsoft.com/office/drawing/2014/main" id="{F2EAB310-E526-4642-AE9C-6B23ED1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51911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EVCS5</a:t>
            </a:r>
          </a:p>
        </p:txBody>
      </p:sp>
      <p:sp>
        <p:nvSpPr>
          <p:cNvPr id="338" name="inc-pct-4">
            <a:extLst xmlns:a="http://schemas.openxmlformats.org/drawingml/2006/main">
              <a:ext uri="{FF2B5EF4-FFF2-40B4-BE49-F238E27FC236}">
                <a16:creationId xmlns:a16="http://schemas.microsoft.com/office/drawing/2014/main" id="{88D1E120-3852-4C3E-8718-88E66624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3674364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+57.1%</a:t>
            </a:r>
          </a:p>
        </p:txBody>
      </p:sp>
      <p:sp>
        <p:nvSpPr>
          <p:cNvPr id="339" name="inc-arrow-4-route">
            <a:extLst xmlns:a="http://schemas.openxmlformats.org/drawingml/2006/main">
              <a:ext uri="{FF2B5EF4-FFF2-40B4-BE49-F238E27FC236}">
                <a16:creationId xmlns:a16="http://schemas.microsoft.com/office/drawing/2014/main" id="{044F17EB-F7CC-4388-8B06-1AE3E9D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922014"/>
            <a:ext cx="152400" cy="219075"/>
          </a:xfrm>
          <a:custGeom xmlns:a="http://schemas.openxmlformats.org/drawingml/2006/main">
            <a:pathLst>
              <a:path w="152400" h="219075">
                <a:moveTo>
                  <a:pt x="0" y="0"/>
                </a:moveTo>
                <a:lnTo>
                  <a:pt x="1524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D0000"/>
            </a:solidFill>
            <a:prstDash val="solid"/>
          </a:ln>
        </p:spPr>
      </p:sp>
      <p:sp>
        <p:nvSpPr>
          <p:cNvPr id="340" name="inc-arrow-4-head">
            <a:extLst xmlns:a="http://schemas.openxmlformats.org/drawingml/2006/main">
              <a:ext uri="{FF2B5EF4-FFF2-40B4-BE49-F238E27FC236}">
                <a16:creationId xmlns:a16="http://schemas.microsoft.com/office/drawing/2014/main" id="{ACCCBB5F-770F-4123-99F1-0B1753C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6909" y="4057649"/>
            <a:ext cx="73541" cy="83440"/>
          </a:xfrm>
          <a:custGeom xmlns:a="http://schemas.openxmlformats.org/drawingml/2006/main">
            <a:pathLst>
              <a:path w="73541" h="83440">
                <a:moveTo>
                  <a:pt x="73541" y="83440"/>
                </a:moveTo>
                <a:lnTo>
                  <a:pt x="0" y="41775"/>
                </a:lnTo>
                <a:lnTo>
                  <a:pt x="60051" y="0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41" name="wait-frame">
            <a:extLst xmlns:a="http://schemas.openxmlformats.org/drawingml/2006/main">
              <a:ext uri="{FF2B5EF4-FFF2-40B4-BE49-F238E27FC236}">
                <a16:creationId xmlns:a16="http://schemas.microsoft.com/office/drawing/2014/main" id="{772000F6-00EA-4E3F-A662-E161152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619750"/>
            <a:ext cx="4943475" cy="2409825"/>
          </a:xfrm>
          <a:prstGeom xmlns:a="http://schemas.openxmlformats.org/drawingml/2006/main" prst="roundRect">
            <a:avLst>
              <a:gd name="adj" fmla="val 2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342" name="wait-head-bg">
            <a:extLst xmlns:a="http://schemas.openxmlformats.org/drawingml/2006/main">
              <a:ext uri="{FF2B5EF4-FFF2-40B4-BE49-F238E27FC236}">
                <a16:creationId xmlns:a16="http://schemas.microsoft.com/office/drawing/2014/main" id="{C73F1BC4-C171-4140-AC83-6D2007B2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619750"/>
            <a:ext cx="4924425" cy="342900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rgbClr val="F5FBFF"/>
              </a:gs>
              <a:gs pos="100000">
                <a:srgbClr val="E5F2FE"/>
              </a:gs>
            </a:gsLst>
            <a:lin ang="5400000"/>
          </a:gradFill>
          <a:ln xmlns:a="http://schemas.openxmlformats.org/drawingml/2006/main" w="6668">
            <a:solidFill>
              <a:srgbClr val="6DBBFA"/>
            </a:solidFill>
            <a:prstDash val="solid"/>
          </a:ln>
        </p:spPr>
      </p:sp>
      <p:sp>
        <p:nvSpPr>
          <p:cNvPr id="343" name="wait-head-t">
            <a:extLst xmlns:a="http://schemas.openxmlformats.org/drawingml/2006/main">
              <a:ext uri="{FF2B5EF4-FFF2-40B4-BE49-F238E27FC236}">
                <a16:creationId xmlns:a16="http://schemas.microsoft.com/office/drawing/2014/main" id="{EBA31C4F-C62F-4348-86E6-65FCFB80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629275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EVCS1用户等待时间分布对比</a:t>
            </a:r>
          </a:p>
        </p:txBody>
      </p:sp>
      <p:sp>
        <p:nvSpPr>
          <p:cNvPr id="344" name="wait-hg-0">
            <a:extLst xmlns:a="http://schemas.openxmlformats.org/drawingml/2006/main">
              <a:ext uri="{FF2B5EF4-FFF2-40B4-BE49-F238E27FC236}">
                <a16:creationId xmlns:a16="http://schemas.microsoft.com/office/drawing/2014/main" id="{5C3EB756-3907-4D4C-BA0A-4A0462C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7486650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5DCE2"/>
            </a:solidFill>
            <a:prstDash val="dash"/>
          </a:ln>
        </p:spPr>
      </p:sp>
      <p:sp>
        <p:nvSpPr>
          <p:cNvPr id="345" name="wait-y-0">
            <a:extLst xmlns:a="http://schemas.openxmlformats.org/drawingml/2006/main">
              <a:ext uri="{FF2B5EF4-FFF2-40B4-BE49-F238E27FC236}">
                <a16:creationId xmlns:a16="http://schemas.microsoft.com/office/drawing/2014/main" id="{1660CD48-B170-4B5D-8FB9-CCA39516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391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346" name="wait-hg-0.1">
            <a:extLst xmlns:a="http://schemas.openxmlformats.org/drawingml/2006/main">
              <a:ext uri="{FF2B5EF4-FFF2-40B4-BE49-F238E27FC236}">
                <a16:creationId xmlns:a16="http://schemas.microsoft.com/office/drawing/2014/main" id="{4F4DC214-1D47-42A0-A360-657B36C1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7136606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5DCE2"/>
            </a:solidFill>
            <a:prstDash val="dash"/>
          </a:ln>
        </p:spPr>
      </p:sp>
      <p:sp>
        <p:nvSpPr>
          <p:cNvPr id="347" name="wait-y-0.1">
            <a:extLst xmlns:a="http://schemas.openxmlformats.org/drawingml/2006/main">
              <a:ext uri="{FF2B5EF4-FFF2-40B4-BE49-F238E27FC236}">
                <a16:creationId xmlns:a16="http://schemas.microsoft.com/office/drawing/2014/main" id="{21DD029B-D21A-4353-98A7-04767B29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041356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348" name="wait-hg-0.2">
            <a:extLst xmlns:a="http://schemas.openxmlformats.org/drawingml/2006/main">
              <a:ext uri="{FF2B5EF4-FFF2-40B4-BE49-F238E27FC236}">
                <a16:creationId xmlns:a16="http://schemas.microsoft.com/office/drawing/2014/main" id="{39D283CE-2B69-4A87-B673-54359BF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786563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5DCE2"/>
            </a:solidFill>
            <a:prstDash val="dash"/>
          </a:ln>
        </p:spPr>
      </p:sp>
      <p:sp>
        <p:nvSpPr>
          <p:cNvPr id="349" name="wait-y-0.2">
            <a:extLst xmlns:a="http://schemas.openxmlformats.org/drawingml/2006/main">
              <a:ext uri="{FF2B5EF4-FFF2-40B4-BE49-F238E27FC236}">
                <a16:creationId xmlns:a16="http://schemas.microsoft.com/office/drawing/2014/main" id="{D8640686-0927-42CF-99F1-36CAA000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91313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350" name="wait-hg-0.30000000000000004">
            <a:extLst xmlns:a="http://schemas.openxmlformats.org/drawingml/2006/main">
              <a:ext uri="{FF2B5EF4-FFF2-40B4-BE49-F238E27FC236}">
                <a16:creationId xmlns:a16="http://schemas.microsoft.com/office/drawing/2014/main" id="{DD56016C-F6BC-4DAF-9915-55E0D52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36519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5DCE2"/>
            </a:solidFill>
            <a:prstDash val="dash"/>
          </a:ln>
        </p:spPr>
      </p:sp>
      <p:sp>
        <p:nvSpPr>
          <p:cNvPr id="351" name="wait-y-0.30000000000000004">
            <a:extLst xmlns:a="http://schemas.openxmlformats.org/drawingml/2006/main">
              <a:ext uri="{FF2B5EF4-FFF2-40B4-BE49-F238E27FC236}">
                <a16:creationId xmlns:a16="http://schemas.microsoft.com/office/drawing/2014/main" id="{8CCA904E-A4B3-403E-BD54-B75EA791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1269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352" name="wait-hg-0.4">
            <a:extLst xmlns:a="http://schemas.openxmlformats.org/drawingml/2006/main">
              <a:ext uri="{FF2B5EF4-FFF2-40B4-BE49-F238E27FC236}">
                <a16:creationId xmlns:a16="http://schemas.microsoft.com/office/drawing/2014/main" id="{5824506C-4DFC-4659-9D9C-AF5D4F2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086475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D5DCE2"/>
            </a:solidFill>
            <a:prstDash val="dash"/>
          </a:ln>
        </p:spPr>
      </p:sp>
      <p:sp>
        <p:nvSpPr>
          <p:cNvPr id="353" name="wait-y-0.4">
            <a:extLst xmlns:a="http://schemas.openxmlformats.org/drawingml/2006/main">
              <a:ext uri="{FF2B5EF4-FFF2-40B4-BE49-F238E27FC236}">
                <a16:creationId xmlns:a16="http://schemas.microsoft.com/office/drawing/2014/main" id="{411F7087-A7AE-4276-8D8C-AB94583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9912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354" name="wait-vg-0">
            <a:extLst xmlns:a="http://schemas.openxmlformats.org/drawingml/2006/main">
              <a:ext uri="{FF2B5EF4-FFF2-40B4-BE49-F238E27FC236}">
                <a16:creationId xmlns:a16="http://schemas.microsoft.com/office/drawing/2014/main" id="{E05BCDD7-24B6-4B77-BAC2-103DF90B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55" name="wait-x-0">
            <a:extLst xmlns:a="http://schemas.openxmlformats.org/drawingml/2006/main">
              <a:ext uri="{FF2B5EF4-FFF2-40B4-BE49-F238E27FC236}">
                <a16:creationId xmlns:a16="http://schemas.microsoft.com/office/drawing/2014/main" id="{ACA2731A-51B9-4E1C-AFC4-81F115E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56" name="wait-vg-20">
            <a:extLst xmlns:a="http://schemas.openxmlformats.org/drawingml/2006/main">
              <a:ext uri="{FF2B5EF4-FFF2-40B4-BE49-F238E27FC236}">
                <a16:creationId xmlns:a16="http://schemas.microsoft.com/office/drawing/2014/main" id="{17B2C52B-62BE-48BE-8533-3743B76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57" name="wait-x-20">
            <a:extLst xmlns:a="http://schemas.openxmlformats.org/drawingml/2006/main">
              <a:ext uri="{FF2B5EF4-FFF2-40B4-BE49-F238E27FC236}">
                <a16:creationId xmlns:a16="http://schemas.microsoft.com/office/drawing/2014/main" id="{4E729BE4-5E18-4099-AA54-66736CB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58" name="wait-vg-40">
            <a:extLst xmlns:a="http://schemas.openxmlformats.org/drawingml/2006/main">
              <a:ext uri="{FF2B5EF4-FFF2-40B4-BE49-F238E27FC236}">
                <a16:creationId xmlns:a16="http://schemas.microsoft.com/office/drawing/2014/main" id="{D9AA138A-44D3-495D-AF6C-A7D3392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59" name="wait-x-40">
            <a:extLst xmlns:a="http://schemas.openxmlformats.org/drawingml/2006/main">
              <a:ext uri="{FF2B5EF4-FFF2-40B4-BE49-F238E27FC236}">
                <a16:creationId xmlns:a16="http://schemas.microsoft.com/office/drawing/2014/main" id="{515DD1D9-CD24-4368-8790-6708D2B2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360" name="wait-vg-60">
            <a:extLst xmlns:a="http://schemas.openxmlformats.org/drawingml/2006/main">
              <a:ext uri="{FF2B5EF4-FFF2-40B4-BE49-F238E27FC236}">
                <a16:creationId xmlns:a16="http://schemas.microsoft.com/office/drawing/2014/main" id="{7AAC216E-BCF4-4E81-B6D9-C1182915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61" name="wait-x-60">
            <a:extLst xmlns:a="http://schemas.openxmlformats.org/drawingml/2006/main">
              <a:ext uri="{FF2B5EF4-FFF2-40B4-BE49-F238E27FC236}">
                <a16:creationId xmlns:a16="http://schemas.microsoft.com/office/drawing/2014/main" id="{6BE4546E-80DC-4DC2-B467-AC519682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362" name="wait-vg-80">
            <a:extLst xmlns:a="http://schemas.openxmlformats.org/drawingml/2006/main">
              <a:ext uri="{FF2B5EF4-FFF2-40B4-BE49-F238E27FC236}">
                <a16:creationId xmlns:a16="http://schemas.microsoft.com/office/drawing/2014/main" id="{E0608A8D-1710-48EA-8635-63DBD0E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63" name="wait-x-80">
            <a:extLst xmlns:a="http://schemas.openxmlformats.org/drawingml/2006/main">
              <a:ext uri="{FF2B5EF4-FFF2-40B4-BE49-F238E27FC236}">
                <a16:creationId xmlns:a16="http://schemas.microsoft.com/office/drawing/2014/main" id="{101D932E-93FB-4E41-ADFC-B7DA8BA7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364" name="wait-vg-100">
            <a:extLst xmlns:a="http://schemas.openxmlformats.org/drawingml/2006/main">
              <a:ext uri="{FF2B5EF4-FFF2-40B4-BE49-F238E27FC236}">
                <a16:creationId xmlns:a16="http://schemas.microsoft.com/office/drawing/2014/main" id="{DAFDC686-732C-4771-9AA9-3CF0A8EC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E1E6EA"/>
            </a:solidFill>
            <a:prstDash val="dash"/>
          </a:ln>
        </p:spPr>
      </p:sp>
      <p:sp>
        <p:nvSpPr>
          <p:cNvPr id="365" name="wait-x-100">
            <a:extLst xmlns:a="http://schemas.openxmlformats.org/drawingml/2006/main">
              <a:ext uri="{FF2B5EF4-FFF2-40B4-BE49-F238E27FC236}">
                <a16:creationId xmlns:a16="http://schemas.microsoft.com/office/drawing/2014/main" id="{E159AB31-D0D4-4F82-A9BC-0A4A169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752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66" name="wait-yaxis">
            <a:extLst xmlns:a="http://schemas.openxmlformats.org/drawingml/2006/main">
              <a:ext uri="{FF2B5EF4-FFF2-40B4-BE49-F238E27FC236}">
                <a16:creationId xmlns:a16="http://schemas.microsoft.com/office/drawing/2014/main" id="{7E9ED029-DAD3-48CD-813C-09F7ABE5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086475"/>
            <a:ext cx="95" cy="1400175"/>
          </a:xfrm>
          <a:custGeom xmlns:a="http://schemas.openxmlformats.org/drawingml/2006/main">
            <a:pathLst>
              <a:path w="9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367" name="wait-xaxis">
            <a:extLst xmlns:a="http://schemas.openxmlformats.org/drawingml/2006/main">
              <a:ext uri="{FF2B5EF4-FFF2-40B4-BE49-F238E27FC236}">
                <a16:creationId xmlns:a16="http://schemas.microsoft.com/office/drawing/2014/main" id="{FE524AC1-A8B4-48F6-8EC2-037CD23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7486650"/>
            <a:ext cx="4000500" cy="95"/>
          </a:xfrm>
          <a:custGeom xmlns:a="http://schemas.openxmlformats.org/drawingml/2006/main">
            <a:pathLst>
              <a:path w="4000500" h="9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3D4850"/>
            </a:solidFill>
            <a:prstDash val="solid"/>
          </a:ln>
        </p:spPr>
      </p:sp>
      <p:sp>
        <p:nvSpPr>
          <p:cNvPr id="368" name="wait-ytitle">
            <a:extLst xmlns:a="http://schemas.openxmlformats.org/drawingml/2006/main">
              <a:ext uri="{FF2B5EF4-FFF2-40B4-BE49-F238E27FC236}">
                <a16:creationId xmlns:a16="http://schemas.microsoft.com/office/drawing/2014/main" id="{1BFDC62B-87FB-48A2-8DBA-E103CED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72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概率</a:t>
            </a:r>
          </a:p>
          <a:p xmlns:a="http://schemas.openxmlformats.org/drawingml/2006/main">
            <a:pPr algn="ctr">
              <a:def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密度</a:t>
            </a:r>
          </a:p>
        </p:txBody>
      </p:sp>
      <p:sp>
        <p:nvSpPr>
          <p:cNvPr id="369" name="wait-xtitle">
            <a:extLst xmlns:a="http://schemas.openxmlformats.org/drawingml/2006/main">
              <a:ext uri="{FF2B5EF4-FFF2-40B4-BE49-F238E27FC236}">
                <a16:creationId xmlns:a16="http://schemas.microsoft.com/office/drawing/2014/main" id="{9D86DA4F-8BC9-4725-8428-6C6066B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7743825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等待时间（min）</a:t>
            </a:r>
          </a:p>
        </p:txBody>
      </p:sp>
      <p:sp>
        <p:nvSpPr>
          <p:cNvPr id="370" name="wait-case1">
            <a:extLst xmlns:a="http://schemas.openxmlformats.org/drawingml/2006/main">
              <a:ext uri="{FF2B5EF4-FFF2-40B4-BE49-F238E27FC236}">
                <a16:creationId xmlns:a16="http://schemas.microsoft.com/office/drawing/2014/main" id="{C61C32A3-66A2-4FA1-A679-06B2B41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366510"/>
            <a:ext cx="4000500" cy="1120140"/>
          </a:xfrm>
          <a:custGeom xmlns:a="http://schemas.openxmlformats.org/drawingml/2006/main">
            <a:pathLst>
              <a:path w="4000500" h="1120140">
                <a:moveTo>
                  <a:pt x="0" y="1118422"/>
                </a:moveTo>
                <a:lnTo>
                  <a:pt x="80010" y="1116680"/>
                </a:lnTo>
                <a:lnTo>
                  <a:pt x="160020" y="1113446"/>
                </a:lnTo>
                <a:lnTo>
                  <a:pt x="240030" y="1107696"/>
                </a:lnTo>
                <a:lnTo>
                  <a:pt x="320040" y="1097915"/>
                </a:lnTo>
                <a:lnTo>
                  <a:pt x="400050" y="1082002"/>
                </a:lnTo>
                <a:lnTo>
                  <a:pt x="480060" y="1057261"/>
                </a:lnTo>
                <a:lnTo>
                  <a:pt x="560070" y="1020535"/>
                </a:lnTo>
                <a:lnTo>
                  <a:pt x="640080" y="968546"/>
                </a:lnTo>
                <a:lnTo>
                  <a:pt x="720090" y="898466"/>
                </a:lnTo>
                <a:lnTo>
                  <a:pt x="800100" y="808699"/>
                </a:lnTo>
                <a:lnTo>
                  <a:pt x="880110" y="699739"/>
                </a:lnTo>
                <a:lnTo>
                  <a:pt x="960120" y="574909"/>
                </a:lnTo>
                <a:lnTo>
                  <a:pt x="1040130" y="440741"/>
                </a:lnTo>
                <a:lnTo>
                  <a:pt x="1120140" y="306751"/>
                </a:lnTo>
                <a:lnTo>
                  <a:pt x="1200150" y="184520"/>
                </a:lnTo>
                <a:lnTo>
                  <a:pt x="1280160" y="86120"/>
                </a:lnTo>
                <a:lnTo>
                  <a:pt x="1360170" y="22180"/>
                </a:lnTo>
                <a:lnTo>
                  <a:pt x="1440180" y="0"/>
                </a:lnTo>
                <a:lnTo>
                  <a:pt x="1520190" y="22180"/>
                </a:lnTo>
                <a:lnTo>
                  <a:pt x="1600200" y="86120"/>
                </a:lnTo>
                <a:lnTo>
                  <a:pt x="1680210" y="184520"/>
                </a:lnTo>
                <a:lnTo>
                  <a:pt x="1760220" y="306751"/>
                </a:lnTo>
                <a:lnTo>
                  <a:pt x="1840230" y="440741"/>
                </a:lnTo>
                <a:lnTo>
                  <a:pt x="1920240" y="574909"/>
                </a:lnTo>
                <a:lnTo>
                  <a:pt x="2000250" y="699739"/>
                </a:lnTo>
                <a:lnTo>
                  <a:pt x="2080260" y="808699"/>
                </a:lnTo>
                <a:lnTo>
                  <a:pt x="2160270" y="898466"/>
                </a:lnTo>
                <a:lnTo>
                  <a:pt x="2240280" y="968546"/>
                </a:lnTo>
                <a:lnTo>
                  <a:pt x="2320290" y="1020535"/>
                </a:lnTo>
                <a:lnTo>
                  <a:pt x="2400300" y="1057261"/>
                </a:lnTo>
                <a:lnTo>
                  <a:pt x="2480310" y="1082002"/>
                </a:lnTo>
                <a:lnTo>
                  <a:pt x="2560320" y="1097915"/>
                </a:lnTo>
                <a:lnTo>
                  <a:pt x="2640330" y="1107696"/>
                </a:lnTo>
                <a:lnTo>
                  <a:pt x="2720340" y="1113446"/>
                </a:lnTo>
                <a:lnTo>
                  <a:pt x="2800350" y="1116680"/>
                </a:lnTo>
                <a:lnTo>
                  <a:pt x="2880360" y="1118422"/>
                </a:lnTo>
                <a:lnTo>
                  <a:pt x="2960370" y="1119320"/>
                </a:lnTo>
                <a:lnTo>
                  <a:pt x="3040380" y="1119764"/>
                </a:lnTo>
                <a:lnTo>
                  <a:pt x="3120390" y="1119975"/>
                </a:lnTo>
                <a:lnTo>
                  <a:pt x="3200400" y="1120070"/>
                </a:lnTo>
                <a:lnTo>
                  <a:pt x="3280410" y="1120112"/>
                </a:lnTo>
                <a:lnTo>
                  <a:pt x="3360420" y="1120129"/>
                </a:lnTo>
                <a:lnTo>
                  <a:pt x="3440430" y="1120136"/>
                </a:lnTo>
                <a:lnTo>
                  <a:pt x="3520440" y="1120138"/>
                </a:lnTo>
                <a:lnTo>
                  <a:pt x="3600450" y="1120139"/>
                </a:lnTo>
                <a:lnTo>
                  <a:pt x="3680460" y="1120140"/>
                </a:lnTo>
                <a:lnTo>
                  <a:pt x="3760470" y="1120140"/>
                </a:lnTo>
                <a:lnTo>
                  <a:pt x="3840480" y="1120140"/>
                </a:lnTo>
                <a:lnTo>
                  <a:pt x="3920490" y="1120140"/>
                </a:lnTo>
                <a:lnTo>
                  <a:pt x="4000500" y="1120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dash"/>
          </a:ln>
        </p:spPr>
      </p:sp>
      <p:sp>
        <p:nvSpPr>
          <p:cNvPr id="371" name="wait-case3">
            <a:extLst xmlns:a="http://schemas.openxmlformats.org/drawingml/2006/main">
              <a:ext uri="{FF2B5EF4-FFF2-40B4-BE49-F238E27FC236}">
                <a16:creationId xmlns:a16="http://schemas.microsoft.com/office/drawing/2014/main" id="{BD0B20B2-0D64-48AE-A1B6-BDE7477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296501"/>
            <a:ext cx="4000500" cy="1190149"/>
          </a:xfrm>
          <a:custGeom xmlns:a="http://schemas.openxmlformats.org/drawingml/2006/main">
            <a:pathLst>
              <a:path w="4000500" h="1190149">
                <a:moveTo>
                  <a:pt x="0" y="1137857"/>
                </a:moveTo>
                <a:lnTo>
                  <a:pt x="80010" y="1095461"/>
                </a:lnTo>
                <a:lnTo>
                  <a:pt x="160020" y="1029080"/>
                </a:lnTo>
                <a:lnTo>
                  <a:pt x="240030" y="932761"/>
                </a:lnTo>
                <a:lnTo>
                  <a:pt x="320040" y="803764"/>
                </a:lnTo>
                <a:lnTo>
                  <a:pt x="400050" y="645259"/>
                </a:lnTo>
                <a:lnTo>
                  <a:pt x="480060" y="468287"/>
                </a:lnTo>
                <a:lnTo>
                  <a:pt x="560070" y="291777"/>
                </a:lnTo>
                <a:lnTo>
                  <a:pt x="640080" y="139846"/>
                </a:lnTo>
                <a:lnTo>
                  <a:pt x="720090" y="36617"/>
                </a:lnTo>
                <a:lnTo>
                  <a:pt x="800100" y="0"/>
                </a:lnTo>
                <a:lnTo>
                  <a:pt x="880110" y="36617"/>
                </a:lnTo>
                <a:lnTo>
                  <a:pt x="960120" y="139846"/>
                </a:lnTo>
                <a:lnTo>
                  <a:pt x="1040130" y="291777"/>
                </a:lnTo>
                <a:lnTo>
                  <a:pt x="1120140" y="468287"/>
                </a:lnTo>
                <a:lnTo>
                  <a:pt x="1200150" y="645259"/>
                </a:lnTo>
                <a:lnTo>
                  <a:pt x="1280160" y="803764"/>
                </a:lnTo>
                <a:lnTo>
                  <a:pt x="1360170" y="932761"/>
                </a:lnTo>
                <a:lnTo>
                  <a:pt x="1440180" y="1029080"/>
                </a:lnTo>
                <a:lnTo>
                  <a:pt x="1520190" y="1095461"/>
                </a:lnTo>
                <a:lnTo>
                  <a:pt x="1600200" y="1137857"/>
                </a:lnTo>
                <a:lnTo>
                  <a:pt x="1680210" y="1163020"/>
                </a:lnTo>
                <a:lnTo>
                  <a:pt x="1760220" y="1176927"/>
                </a:lnTo>
                <a:lnTo>
                  <a:pt x="1840230" y="1184096"/>
                </a:lnTo>
                <a:lnTo>
                  <a:pt x="1920240" y="1187545"/>
                </a:lnTo>
                <a:lnTo>
                  <a:pt x="2000250" y="1189097"/>
                </a:lnTo>
                <a:lnTo>
                  <a:pt x="2080260" y="1189749"/>
                </a:lnTo>
                <a:lnTo>
                  <a:pt x="2160270" y="1190006"/>
                </a:lnTo>
                <a:lnTo>
                  <a:pt x="2240280" y="1190101"/>
                </a:lnTo>
                <a:lnTo>
                  <a:pt x="2320290" y="1190134"/>
                </a:lnTo>
                <a:lnTo>
                  <a:pt x="2400300" y="1190144"/>
                </a:lnTo>
                <a:lnTo>
                  <a:pt x="2480310" y="1190148"/>
                </a:lnTo>
                <a:lnTo>
                  <a:pt x="2560320" y="1190148"/>
                </a:lnTo>
                <a:lnTo>
                  <a:pt x="2640330" y="1190149"/>
                </a:lnTo>
                <a:lnTo>
                  <a:pt x="2720340" y="1190149"/>
                </a:lnTo>
                <a:lnTo>
                  <a:pt x="2800350" y="1190149"/>
                </a:lnTo>
                <a:lnTo>
                  <a:pt x="2880360" y="1190149"/>
                </a:lnTo>
                <a:lnTo>
                  <a:pt x="2960370" y="1190149"/>
                </a:lnTo>
                <a:lnTo>
                  <a:pt x="3040380" y="1190149"/>
                </a:lnTo>
                <a:lnTo>
                  <a:pt x="3120390" y="1190149"/>
                </a:lnTo>
                <a:lnTo>
                  <a:pt x="3200400" y="1190149"/>
                </a:lnTo>
                <a:lnTo>
                  <a:pt x="3280410" y="1190149"/>
                </a:lnTo>
                <a:lnTo>
                  <a:pt x="3360420" y="1190149"/>
                </a:lnTo>
                <a:lnTo>
                  <a:pt x="3440430" y="1190149"/>
                </a:lnTo>
                <a:lnTo>
                  <a:pt x="3520440" y="1190149"/>
                </a:lnTo>
                <a:lnTo>
                  <a:pt x="3600450" y="1190149"/>
                </a:lnTo>
                <a:lnTo>
                  <a:pt x="3680460" y="1190149"/>
                </a:lnTo>
                <a:lnTo>
                  <a:pt x="3760470" y="1190149"/>
                </a:lnTo>
                <a:lnTo>
                  <a:pt x="3840480" y="1190149"/>
                </a:lnTo>
                <a:lnTo>
                  <a:pt x="3920490" y="1190149"/>
                </a:lnTo>
                <a:lnTo>
                  <a:pt x="4000500" y="1190149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B6EE8"/>
            </a:solidFill>
            <a:prstDash val="solid"/>
          </a:ln>
        </p:spPr>
      </p:sp>
      <p:sp>
        <p:nvSpPr>
          <p:cNvPr id="372" name="wait-leg1">
            <a:extLst xmlns:a="http://schemas.openxmlformats.org/drawingml/2006/main">
              <a:ext uri="{FF2B5EF4-FFF2-40B4-BE49-F238E27FC236}">
                <a16:creationId xmlns:a16="http://schemas.microsoft.com/office/drawing/2014/main" id="{8EC3087F-58D6-4343-8D01-046C867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6038850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dash"/>
          </a:ln>
        </p:spPr>
      </p:sp>
      <p:sp>
        <p:nvSpPr>
          <p:cNvPr id="373" name="wait-leg1-t">
            <a:extLst xmlns:a="http://schemas.openxmlformats.org/drawingml/2006/main">
              <a:ext uri="{FF2B5EF4-FFF2-40B4-BE49-F238E27FC236}">
                <a16:creationId xmlns:a16="http://schemas.microsoft.com/office/drawing/2014/main" id="{97139635-CA17-4F5E-B024-5212292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9340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1（基准方案）</a:t>
            </a:r>
          </a:p>
        </p:txBody>
      </p:sp>
      <p:sp>
        <p:nvSpPr>
          <p:cNvPr id="374" name="wait-leg3">
            <a:extLst xmlns:a="http://schemas.openxmlformats.org/drawingml/2006/main">
              <a:ext uri="{FF2B5EF4-FFF2-40B4-BE49-F238E27FC236}">
                <a16:creationId xmlns:a16="http://schemas.microsoft.com/office/drawing/2014/main" id="{0F8C50DC-1662-40F1-B4FC-F479842B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6267450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B6EE8"/>
            </a:solidFill>
            <a:prstDash val="solid"/>
          </a:ln>
        </p:spPr>
      </p:sp>
      <p:sp>
        <p:nvSpPr>
          <p:cNvPr id="375" name="wait-leg3-t">
            <a:extLst xmlns:a="http://schemas.openxmlformats.org/drawingml/2006/main">
              <a:ext uri="{FF2B5EF4-FFF2-40B4-BE49-F238E27FC236}">
                <a16:creationId xmlns:a16="http://schemas.microsoft.com/office/drawing/2014/main" id="{ADFE9095-6DCC-4B18-82AD-41176735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61626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rPr>
              <a:t>Case 3（PV-grid-EV）</a:t>
            </a:r>
          </a:p>
        </p:txBody>
      </p:sp>
      <p:sp>
        <p:nvSpPr>
          <p:cNvPr id="376" name="wait-callout">
            <a:extLst xmlns:a="http://schemas.openxmlformats.org/drawingml/2006/main">
              <a:ext uri="{FF2B5EF4-FFF2-40B4-BE49-F238E27FC236}">
                <a16:creationId xmlns:a16="http://schemas.microsoft.com/office/drawing/2014/main" id="{531E0777-D2A6-41D1-8A11-5AD4A0D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6638925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90%置信区间收窄</a:t>
            </a:r>
          </a:p>
          <a:p xmlns:a="http://schemas.openxmlformats.org/drawingml/2006/main">
            <a:pPr algn="ctr">
              <a:defRPr sz="1275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D0000"/>
                </a:solidFill>
                <a:latin typeface="Microsoft YaHei"/>
                <a:ea typeface="Microsoft YaHei"/>
                <a:cs typeface="Microsoft YaHei"/>
              </a:rPr>
              <a:t>(40.2 → 18.6 min)</a:t>
            </a:r>
          </a:p>
        </p:txBody>
      </p:sp>
      <p:sp>
        <p:nvSpPr>
          <p:cNvPr id="377" name="wait-callout-arr-route">
            <a:extLst xmlns:a="http://schemas.openxmlformats.org/drawingml/2006/main">
              <a:ext uri="{FF2B5EF4-FFF2-40B4-BE49-F238E27FC236}">
                <a16:creationId xmlns:a16="http://schemas.microsoft.com/office/drawing/2014/main" id="{D99BC137-9414-4165-BFAB-768DE27A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877050"/>
            <a:ext cx="438150" cy="247650"/>
          </a:xfrm>
          <a:custGeom xmlns:a="http://schemas.openxmlformats.org/drawingml/2006/main">
            <a:pathLst>
              <a:path w="438150" h="247650">
                <a:moveTo>
                  <a:pt x="43815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D0000"/>
            </a:solidFill>
            <a:prstDash val="solid"/>
          </a:ln>
        </p:spPr>
      </p:sp>
      <p:sp>
        <p:nvSpPr>
          <p:cNvPr id="378" name="wait-callout-arr-head">
            <a:extLst xmlns:a="http://schemas.openxmlformats.org/drawingml/2006/main">
              <a:ext uri="{FF2B5EF4-FFF2-40B4-BE49-F238E27FC236}">
                <a16:creationId xmlns:a16="http://schemas.microsoft.com/office/drawing/2014/main" id="{0AAECA06-3618-414F-9D08-89944E6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046696"/>
            <a:ext cx="94876" cy="78004"/>
          </a:xfrm>
          <a:custGeom xmlns:a="http://schemas.openxmlformats.org/drawingml/2006/main">
            <a:pathLst>
              <a:path w="94876" h="78004">
                <a:moveTo>
                  <a:pt x="0" y="78004"/>
                </a:moveTo>
                <a:lnTo>
                  <a:pt x="54382" y="0"/>
                </a:lnTo>
                <a:lnTo>
                  <a:pt x="94876" y="71644"/>
                </a:lnTo>
                <a:close/>
              </a:path>
            </a:pathLst>
          </a:custGeom>
          <a:solidFill xmlns:a="http://schemas.openxmlformats.org/drawingml/2006/main">
            <a:srgbClr val="ED0000"/>
          </a:solidFill>
          <a:ln xmlns:a="http://schemas.openxmlformats.org/drawingml/2006/main" w="0">
            <a:solidFill>
              <a:srgbClr val="ED0000"/>
            </a:solidFill>
            <a:prstDash val="solid"/>
          </a:ln>
        </p:spPr>
      </p:sp>
      <p:sp>
        <p:nvSpPr>
          <p:cNvPr id="379" name="right-conclusion">
            <a:extLst xmlns:a="http://schemas.openxmlformats.org/drawingml/2006/main">
              <a:ext uri="{FF2B5EF4-FFF2-40B4-BE49-F238E27FC236}">
                <a16:creationId xmlns:a16="http://schemas.microsoft.com/office/drawing/2014/main" id="{1016B163-C2BC-4D6A-B38C-7B95C44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096250"/>
            <a:ext cx="4943475" cy="638175"/>
          </a:xfrm>
          <a:prstGeom xmlns:a="http://schemas.openxmlformats.org/drawingml/2006/main" prst="roundRect">
            <a:avLst>
              <a:gd name="adj" fmla="val 10448"/>
            </a:avLst>
          </a:prstGeom>
          <a:gradFill xmlns:a="http://schemas.openxmlformats.org/drawingml/2006/main">
            <a:gsLst>
              <a:gs pos="0">
                <a:srgbClr val="EAF7FF"/>
              </a:gs>
              <a:gs pos="100000">
                <a:srgbClr val="DCEEFF"/>
              </a:gs>
            </a:gsLst>
            <a:lin ang="5400000"/>
          </a:gradFill>
          <a:ln xmlns:a="http://schemas.openxmlformats.org/drawingml/2006/main" w="7620">
            <a:solidFill>
              <a:srgbClr val="6DBBFA"/>
            </a:solidFill>
            <a:prstDash val="solid"/>
          </a:ln>
        </p:spPr>
      </p:sp>
      <p:sp>
        <p:nvSpPr>
          <p:cNvPr id="380" name="right-conclusion-t">
            <a:extLst xmlns:a="http://schemas.openxmlformats.org/drawingml/2006/main">
              <a:ext uri="{FF2B5EF4-FFF2-40B4-BE49-F238E27FC236}">
                <a16:creationId xmlns:a16="http://schemas.microsoft.com/office/drawing/2014/main" id="{0A4DC8EF-A970-41EC-AE33-C84B2351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81534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协同规划兼顾EVCS收益提升与用户体验改善，</a:t>
            </a:r>
          </a:p>
          <a:p xmlns:a="http://schemas.openxmlformats.org/drawingml/2006/main">
            <a:pPr algn="ctr">
              <a:def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B90"/>
                </a:solidFill>
                <a:latin typeface="Microsoft YaHei"/>
                <a:ea typeface="Microsoft YaHei"/>
                <a:cs typeface="Microsoft YaHei"/>
              </a:rPr>
              <a:t>实现经济性与服务性的统一。</a:t>
            </a:r>
          </a:p>
        </p:txBody>
      </p:sp>
    </p:spTree>
    <p:extLst>
      <p:ext uri="{BB962C8B-B14F-4D97-AF65-F5344CB8AC3E}">
        <p14:creationId xmlns:p14="http://schemas.microsoft.com/office/powerpoint/2010/main" val="1540367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2026-09-18T02:10:34.0240000Z</dcterms:created>
  <dcterms:modified xsi:type="dcterms:W3CDTF">2026-09-18T02:10:34.0240000Z</dcterms:modified>
</coreProperties>
</file>