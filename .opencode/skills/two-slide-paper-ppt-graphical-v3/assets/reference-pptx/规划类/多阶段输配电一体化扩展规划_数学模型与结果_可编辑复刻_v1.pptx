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00279cbbaf4b59" /><Relationship Type="http://schemas.openxmlformats.org/officeDocument/2006/relationships/extended-properties" Target="/docProps/app.xml" Id="R2d837528594f4d0e" /><Relationship Type="http://schemas.openxmlformats.org/officeDocument/2006/relationships/officeDocument" Target="/ppt/presentation.xml" Id="R8ec60797754c45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a058365fce49b1"/>
  </p:sldMasterIdLst>
  <p:notesMasterIdLst>
    <p:notesMasterId xmlns:r="http://schemas.openxmlformats.org/officeDocument/2006/relationships" r:id="Rf2ac9dfdb1a9447d"/>
  </p:notesMasterIdLst>
  <p:sldIdLst>
    <p:sldId xmlns:r="http://schemas.openxmlformats.org/officeDocument/2006/relationships" id="256" r:id="Rb881644d8b414ef2"/>
    <p:sldId xmlns:r="http://schemas.openxmlformats.org/officeDocument/2006/relationships" id="257" r:id="R10df86c94e634ca7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1030d2379a455c" /><Relationship Type="http://schemas.openxmlformats.org/officeDocument/2006/relationships/slideMaster" Target="/ppt/slideMasters/slideMaster1.xml" Id="R5ba058365fce49b1" /><Relationship Type="http://schemas.openxmlformats.org/officeDocument/2006/relationships/notesMaster" Target="/ppt/notesMasters/notesMaster1.xml" Id="Rf2ac9dfdb1a9447d" /><Relationship Type="http://schemas.openxmlformats.org/officeDocument/2006/relationships/presProps" Target="/ppt/presProps.xml" Id="Rc9448bcf1a314b3e" /><Relationship Type="http://schemas.openxmlformats.org/officeDocument/2006/relationships/tableStyles" Target="/ppt/tableStyles.xml" Id="R0eb3b68de90b4c30" /><Relationship Type="http://schemas.openxmlformats.org/officeDocument/2006/relationships/slide" Target="/ppt/slides/slide1.xml" Id="Rb881644d8b414ef2" /><Relationship Type="http://schemas.openxmlformats.org/officeDocument/2006/relationships/slide" Target="/ppt/slides/slide2.xml" Id="R10df86c94e634c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81ccf87d174b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a37cef00a8415d" /><Relationship Type="http://schemas.openxmlformats.org/officeDocument/2006/relationships/notesMaster" Target="/ppt/notesMasters/notesMaster1.xml" Id="Rfcdb23b33dff4f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3575ae82b4ade" /><Relationship Type="http://schemas.openxmlformats.org/officeDocument/2006/relationships/notesMaster" Target="/ppt/notesMasters/notesMaster1.xml" Id="R31563b33e388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内容按用户提供的第1张参考图转录，公式与数据流未依据原论文重新推导。SC沿用图中“智能充电”的含义。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视觉与数值来源：用户提供的参考图 codex-clipboard-228c7547-6faf-4d3f-ac12-cba79c4cb19f.png。所有数值均逐项转录，未进行实验复现。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e537f1aca43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aed44c93bb48f7" /><Relationship Type="http://schemas.openxmlformats.org/officeDocument/2006/relationships/slideLayout" Target="/ppt/slideLayouts/slideLayout1.xml" Id="Rb5406668b389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406668b389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04e06d95abb4e29"/><Relationship Type="http://schemas.openxmlformats.org/officeDocument/2006/relationships/image" Target="/ppt/media/image.png" Id="R5af2dca7cfa14956"/><Relationship Type="http://schemas.openxmlformats.org/officeDocument/2006/relationships/image" Target="/ppt/media/image2.png" Id="R3c0479e8f9044c12"/><Relationship Type="http://schemas.openxmlformats.org/officeDocument/2006/relationships/image" Target="/ppt/media/image3.png" Id="R69def98264b441fa"/><Relationship Type="http://schemas.openxmlformats.org/officeDocument/2006/relationships/image" Target="/ppt/media/image4.png" Id="R919128605c624368"/><Relationship Type="http://schemas.openxmlformats.org/officeDocument/2006/relationships/image" Target="/ppt/media/image5.png" Id="R8e16436cba694c24"/><Relationship Type="http://schemas.openxmlformats.org/officeDocument/2006/relationships/image" Target="/ppt/media/image6.png" Id="R38f7394fd66349a5"/><Relationship Type="http://schemas.openxmlformats.org/officeDocument/2006/relationships/image" Target="/ppt/media/image7.png" Id="R8f11d262ab984eab"/><Relationship Type="http://schemas.openxmlformats.org/officeDocument/2006/relationships/image" Target="/ppt/media/image8.png" Id="R9b48480a82ab45bb"/><Relationship Type="http://schemas.openxmlformats.org/officeDocument/2006/relationships/image" Target="/ppt/media/image9.png" Id="R19909492d7d24e3b"/><Relationship Type="http://schemas.openxmlformats.org/officeDocument/2006/relationships/image" Target="/ppt/media/image10.png" Id="Rb6fa79f5884c4c3e"/><Relationship Type="http://schemas.openxmlformats.org/officeDocument/2006/relationships/image" Target="/ppt/media/image11.png" Id="R88ce9f6ccea743ff"/><Relationship Type="http://schemas.openxmlformats.org/officeDocument/2006/relationships/image" Target="/ppt/media/image12.png" Id="Ra89157a7ff0a4c2f"/><Relationship Type="http://schemas.openxmlformats.org/officeDocument/2006/relationships/notesSlide" Target="/ppt/notesSlides/notesSlide1.xml" Id="R34c141895193431d"/><Relationship Id="rId919128605624369" Type="http://schemas.openxmlformats.org/officeDocument/2006/relationships/image" Target="../media/formula-objective-expectation.svg"/><Relationship Id="rId919128605624370" Type="http://schemas.openxmlformats.org/officeDocument/2006/relationships/image" Target="../media/formula-objective-expanded.svg"/><Relationship Id="rId919128605624371" Type="http://schemas.openxmlformats.org/officeDocument/2006/relationships/image" Target="../media/formula-ctrans.svg"/><Relationship Id="rId919128605624372" Type="http://schemas.openxmlformats.org/officeDocument/2006/relationships/image" Target="../media/formula-cdist.svg"/><Relationship Id="rId919128605624373" Type="http://schemas.openxmlformats.org/officeDocument/2006/relationships/image" Target="../media/formula-csub.svg"/><Relationship Id="rId919128605624374" Type="http://schemas.openxmlformats.org/officeDocument/2006/relationships/image" Target="../media/formula-csmart.svg"/><Relationship Id="rId919128605624375" Type="http://schemas.openxmlformats.org/officeDocument/2006/relationships/image" Target="../media/formula-cop.svg"/><Relationship Id="rId919128605624376" Type="http://schemas.openxmlformats.org/officeDocument/2006/relationships/image" Target="../media/formula-cons-dc.svg"/><Relationship Id="rId919128605624377" Type="http://schemas.openxmlformats.org/officeDocument/2006/relationships/image" Target="../media/formula-cons-ac.svg"/><Relationship Id="rId919128605624378" Type="http://schemas.openxmlformats.org/officeDocument/2006/relationships/image" Target="../media/formula-cons-capacity.svg"/><Relationship Id="rId919128605624379" Type="http://schemas.openxmlformats.org/officeDocument/2006/relationships/image" Target="../media/formula-cons-stage.svg"/><Relationship Id="rId919128605624380" Type="http://schemas.openxmlformats.org/officeDocument/2006/relationships/image" Target="../media/formula-cons-soc.svg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3abff078b6b4c22"/><Relationship Type="http://schemas.openxmlformats.org/officeDocument/2006/relationships/notesSlide" Target="/ppt/notesSlides/notesSlide2.xml" Id="R52f7ab7a514f41d6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title">
            <a:extLst xmlns:a="http://schemas.openxmlformats.org/drawingml/2006/main">
              <a:ext uri="{FF2B5EF4-FFF2-40B4-BE49-F238E27FC236}">
                <a16:creationId xmlns:a16="http://schemas.microsoft.com/office/drawing/2014/main" id="{FC00E5E9-A4F4-4EC2-A090-9E42235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525"/>
            <a:ext cx="1524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9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9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1. 论文原理与数学模型 --- 多阶段输配电一体化扩展规划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F49A0EE-59FF-4EA9-BEA3-B70BA80A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619125"/>
            <a:ext cx="15601950" cy="95"/>
          </a:xfrm>
          <a:custGeom xmlns:a="http://schemas.openxmlformats.org/drawingml/2006/main"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67D4"/>
            </a:solidFill>
            <a:prstDash val="solid"/>
          </a:ln>
        </p:spPr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CDD305B3-9FFE-4B7D-9ADC-FE6BF35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733425"/>
            <a:ext cx="15601950" cy="1390650"/>
          </a:xfrm>
          <a:prstGeom xmlns:a="http://schemas.openxmlformats.org/drawingml/2006/main" prst="roundRect">
            <a:avLst>
              <a:gd name="adj" fmla="val 10274"/>
            </a:avLst>
          </a:prstGeom>
          <a:gradFill xmlns:a="http://schemas.openxmlformats.org/drawingml/2006/main">
            <a:gsLst>
              <a:gs pos="0">
                <a:srgbClr val="F3FBFF"/>
              </a:gs>
              <a:gs pos="100000">
                <a:srgbClr val="DEEFFC"/>
              </a:gs>
            </a:gsLst>
            <a:lin ang="5400000"/>
          </a:gra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4" name="bullet1">
            <a:extLst xmlns:a="http://schemas.openxmlformats.org/drawingml/2006/main">
              <a:ext uri="{FF2B5EF4-FFF2-40B4-BE49-F238E27FC236}">
                <a16:creationId xmlns:a16="http://schemas.microsoft.com/office/drawing/2014/main" id="{10C9C25D-63AC-4284-A06F-FEDA7CB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14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2">
            <a:extLst xmlns:a="http://schemas.openxmlformats.org/drawingml/2006/main">
              <a:ext uri="{FF2B5EF4-FFF2-40B4-BE49-F238E27FC236}">
                <a16:creationId xmlns:a16="http://schemas.microsoft.com/office/drawing/2014/main" id="{B20A0E7F-040A-415F-B14A-7BF55981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43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ummary-1a">
            <a:extLst xmlns:a="http://schemas.openxmlformats.org/drawingml/2006/main">
              <a:ext uri="{FF2B5EF4-FFF2-40B4-BE49-F238E27FC236}">
                <a16:creationId xmlns:a16="http://schemas.microsoft.com/office/drawing/2014/main" id="{D62C5F76-F343-4C43-BF06-20139BD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09625"/>
            <a:ext cx="1478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核心思想：</a:t>
            </a: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在长期不确定性下，本文联合规划输电网、主动配电网与耦合变电站，并对比传统扩建方案与PST、ES、EV智能充电等</a:t>
            </a:r>
            <a:r>
              <a:rPr sz="18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智能投资</a:t>
            </a: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</p:txBody>
      </p:sp>
      <p:sp>
        <p:nvSpPr>
          <p:cNvPr id="7" name="summary-1b">
            <a:extLst xmlns:a="http://schemas.openxmlformats.org/drawingml/2006/main">
              <a:ext uri="{FF2B5EF4-FFF2-40B4-BE49-F238E27FC236}">
                <a16:creationId xmlns:a16="http://schemas.microsoft.com/office/drawing/2014/main" id="{9019AFD1-AA7F-4156-90F7-8B78C002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123950"/>
            <a:ext cx="1428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从系统整体角度提升电网韧性与经济性。</a:t>
            </a:r>
          </a:p>
        </p:txBody>
      </p:sp>
      <p:sp>
        <p:nvSpPr>
          <p:cNvPr id="8" name="summary-2a">
            <a:extLst xmlns:a="http://schemas.openxmlformats.org/drawingml/2006/main">
              <a:ext uri="{FF2B5EF4-FFF2-40B4-BE49-F238E27FC236}">
                <a16:creationId xmlns:a16="http://schemas.microsoft.com/office/drawing/2014/main" id="{8BDB4102-07DB-447F-ABAA-95EDEA3C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38275"/>
            <a:ext cx="1485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建模重点：</a:t>
            </a: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本文构建</a:t>
            </a:r>
            <a:r>
              <a:rPr sz="18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多阶段随机MILP</a:t>
            </a: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模型，以</a:t>
            </a:r>
            <a:r>
              <a:rPr sz="18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期望总成本最小</a:t>
            </a: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为目标，综合考虑输配电网络约束、分阶段投资逻辑和灵活资源运行特性，</a:t>
            </a:r>
          </a:p>
        </p:txBody>
      </p:sp>
      <p:sp>
        <p:nvSpPr>
          <p:cNvPr id="9" name="summary-2b">
            <a:extLst xmlns:a="http://schemas.openxmlformats.org/drawingml/2006/main">
              <a:ext uri="{FF2B5EF4-FFF2-40B4-BE49-F238E27FC236}">
                <a16:creationId xmlns:a16="http://schemas.microsoft.com/office/drawing/2014/main" id="{4E1E801D-BF92-439C-87BC-84E8E804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52600"/>
            <a:ext cx="1476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并采用</a:t>
            </a:r>
            <a:r>
              <a:rPr sz="18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机器学习辅助多割Benders</a:t>
            </a: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方法进行求解，提高大规模不确定性问题的求解效率。</a:t>
            </a:r>
          </a:p>
        </p:txBody>
      </p:sp>
      <p:sp>
        <p:nvSpPr>
          <p:cNvPr id="10" name="left-panel">
            <a:extLst xmlns:a="http://schemas.openxmlformats.org/drawingml/2006/main">
              <a:ext uri="{FF2B5EF4-FFF2-40B4-BE49-F238E27FC236}">
                <a16:creationId xmlns:a16="http://schemas.microsoft.com/office/drawing/2014/main" id="{C780396A-E54B-4E5A-8DAA-3AA8FB2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219325"/>
            <a:ext cx="5019675" cy="6267450"/>
          </a:xfrm>
          <a:prstGeom xmlns:a="http://schemas.openxmlformats.org/drawingml/2006/main" prst="roundRect">
            <a:avLst>
              <a:gd name="adj" fmla="val 1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11" name="objective-panel">
            <a:extLst xmlns:a="http://schemas.openxmlformats.org/drawingml/2006/main">
              <a:ext uri="{FF2B5EF4-FFF2-40B4-BE49-F238E27FC236}">
                <a16:creationId xmlns:a16="http://schemas.microsoft.com/office/drawing/2014/main" id="{AA293C8B-448B-4085-9E1F-4205EA87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19325"/>
            <a:ext cx="5895975" cy="350520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12" name="constraints-panel">
            <a:extLst xmlns:a="http://schemas.openxmlformats.org/drawingml/2006/main">
              <a:ext uri="{FF2B5EF4-FFF2-40B4-BE49-F238E27FC236}">
                <a16:creationId xmlns:a16="http://schemas.microsoft.com/office/drawing/2014/main" id="{6E0D6922-7D42-4B6B-9D8C-8DC3FE46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800725"/>
            <a:ext cx="5895975" cy="26860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13" name="solver-panel">
            <a:extLst xmlns:a="http://schemas.openxmlformats.org/drawingml/2006/main">
              <a:ext uri="{FF2B5EF4-FFF2-40B4-BE49-F238E27FC236}">
                <a16:creationId xmlns:a16="http://schemas.microsoft.com/office/drawing/2014/main" id="{83B85AED-4E83-446D-B193-0F740B33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219325"/>
            <a:ext cx="4495800" cy="6267450"/>
          </a:xfrm>
          <a:prstGeom xmlns:a="http://schemas.openxmlformats.org/drawingml/2006/main" prst="roundRect">
            <a:avLst>
              <a:gd name="adj" fmla="val 1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14" name="left-head">
            <a:extLst xmlns:a="http://schemas.openxmlformats.org/drawingml/2006/main">
              <a:ext uri="{FF2B5EF4-FFF2-40B4-BE49-F238E27FC236}">
                <a16:creationId xmlns:a16="http://schemas.microsoft.com/office/drawing/2014/main" id="{206BBAF4-465F-4D68-BAF0-C5CC94B7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266950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规划架构与多阶段不确定性</a:t>
            </a:r>
          </a:p>
        </p:txBody>
      </p:sp>
      <p:sp>
        <p:nvSpPr>
          <p:cNvPr id="15" name="objective-head">
            <a:extLst xmlns:a="http://schemas.openxmlformats.org/drawingml/2006/main">
              <a:ext uri="{FF2B5EF4-FFF2-40B4-BE49-F238E27FC236}">
                <a16:creationId xmlns:a16="http://schemas.microsoft.com/office/drawing/2014/main" id="{E0DA0974-29F5-464D-83D3-459B635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66950"/>
            <a:ext cx="559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目标函数及物理意义</a:t>
            </a:r>
          </a:p>
        </p:txBody>
      </p:sp>
      <p:sp>
        <p:nvSpPr>
          <p:cNvPr id="16" name="constraints-head">
            <a:extLst xmlns:a="http://schemas.openxmlformats.org/drawingml/2006/main">
              <a:ext uri="{FF2B5EF4-FFF2-40B4-BE49-F238E27FC236}">
                <a16:creationId xmlns:a16="http://schemas.microsoft.com/office/drawing/2014/main" id="{9A985B02-C88A-4D39-B370-C4A7B2B6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19775"/>
            <a:ext cx="5591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关键约束及物理意义</a:t>
            </a:r>
          </a:p>
        </p:txBody>
      </p:sp>
      <p:sp>
        <p:nvSpPr>
          <p:cNvPr id="17" name="solver-head">
            <a:extLst xmlns:a="http://schemas.openxmlformats.org/drawingml/2006/main">
              <a:ext uri="{FF2B5EF4-FFF2-40B4-BE49-F238E27FC236}">
                <a16:creationId xmlns:a16="http://schemas.microsoft.com/office/drawing/2014/main" id="{00834AD2-E243-4859-A86D-D28D66A4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257425"/>
            <a:ext cx="4238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求解流程</a:t>
            </a:r>
          </a:p>
        </p:txBody>
      </p:sp>
      <p:sp>
        <p:nvSpPr>
          <p:cNvPr id="18" name="tso-box">
            <a:extLst xmlns:a="http://schemas.openxmlformats.org/drawingml/2006/main">
              <a:ext uri="{FF2B5EF4-FFF2-40B4-BE49-F238E27FC236}">
                <a16:creationId xmlns:a16="http://schemas.microsoft.com/office/drawing/2014/main" id="{8FD1C79C-6C5C-46AD-A342-875F1D92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52725"/>
            <a:ext cx="1990725" cy="2943225"/>
          </a:xfrm>
          <a:prstGeom xmlns:a="http://schemas.openxmlformats.org/drawingml/2006/main" prst="roundRect">
            <a:avLst>
              <a:gd name="adj" fmla="val 4306"/>
            </a:avLst>
          </a:prstGeom>
          <a:gradFill xmlns:a="http://schemas.openxmlformats.org/drawingml/2006/main">
            <a:gsLst>
              <a:gs pos="0">
                <a:srgbClr val="ECF7FF"/>
              </a:gs>
              <a:gs pos="100000">
                <a:srgbClr val="DDEDFA"/>
              </a:gs>
            </a:gsLst>
            <a:lin ang="5400000"/>
          </a:gra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19" name="dso-box">
            <a:extLst xmlns:a="http://schemas.openxmlformats.org/drawingml/2006/main">
              <a:ext uri="{FF2B5EF4-FFF2-40B4-BE49-F238E27FC236}">
                <a16:creationId xmlns:a16="http://schemas.microsoft.com/office/drawing/2014/main" id="{33AD81E5-77FF-48C3-8145-0D4EA2C5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52725"/>
            <a:ext cx="1981200" cy="2943225"/>
          </a:xfrm>
          <a:prstGeom xmlns:a="http://schemas.openxmlformats.org/drawingml/2006/main" prst="roundRect">
            <a:avLst>
              <a:gd name="adj" fmla="val 4327"/>
            </a:avLst>
          </a:prstGeom>
          <a:gradFill xmlns:a="http://schemas.openxmlformats.org/drawingml/2006/main">
            <a:gsLst>
              <a:gs pos="0">
                <a:srgbClr val="EFF9E9"/>
              </a:gs>
              <a:gs pos="100000">
                <a:srgbClr val="DDF4DE"/>
              </a:gs>
            </a:gsLst>
            <a:lin ang="5400000"/>
          </a:gradFill>
          <a:ln xmlns:a="http://schemas.openxmlformats.org/drawingml/2006/main" w="9525">
            <a:solidFill>
              <a:srgbClr val="61C35E"/>
            </a:solidFill>
            <a:prstDash val="solid"/>
          </a:ln>
        </p:spPr>
      </p:sp>
      <p:sp>
        <p:nvSpPr>
          <p:cNvPr id="20" name="tso-title">
            <a:extLst xmlns:a="http://schemas.openxmlformats.org/drawingml/2006/main">
              <a:ext uri="{FF2B5EF4-FFF2-40B4-BE49-F238E27FC236}">
                <a16:creationId xmlns:a16="http://schemas.microsoft.com/office/drawing/2014/main" id="{5EA4D78C-2D6D-4345-B63E-E7FCC54A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194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TSO</a:t>
            </a:r>
            <a:r>
              <a: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（输电系统运营商）</a:t>
            </a:r>
          </a:p>
        </p:txBody>
      </p:sp>
      <p:sp>
        <p:nvSpPr>
          <p:cNvPr id="21" name="tso-subtitle">
            <a:extLst xmlns:a="http://schemas.openxmlformats.org/drawingml/2006/main">
              <a:ext uri="{FF2B5EF4-FFF2-40B4-BE49-F238E27FC236}">
                <a16:creationId xmlns:a16="http://schemas.microsoft.com/office/drawing/2014/main" id="{08A07034-A99C-4731-A03B-5C613821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输电网络</a:t>
            </a:r>
          </a:p>
        </p:txBody>
      </p:sp>
      <p:sp>
        <p:nvSpPr>
          <p:cNvPr id="22" name="dso-title">
            <a:extLst xmlns:a="http://schemas.openxmlformats.org/drawingml/2006/main">
              <a:ext uri="{FF2B5EF4-FFF2-40B4-BE49-F238E27FC236}">
                <a16:creationId xmlns:a16="http://schemas.microsoft.com/office/drawing/2014/main" id="{E054A824-6E00-43CC-93A1-986144CD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DSO</a:t>
            </a:r>
            <a:r>
              <a: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（配电系统运营商）</a:t>
            </a:r>
          </a:p>
        </p:txBody>
      </p:sp>
      <p:sp>
        <p:nvSpPr>
          <p:cNvPr id="23" name="dso-subtitle">
            <a:extLst xmlns:a="http://schemas.openxmlformats.org/drawingml/2006/main">
              <a:ext uri="{FF2B5EF4-FFF2-40B4-BE49-F238E27FC236}">
                <a16:creationId xmlns:a16="http://schemas.microsoft.com/office/drawing/2014/main" id="{62A0964E-9B67-44D5-8E40-4578FD3A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765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主动配电网络</a:t>
            </a:r>
          </a:p>
        </p:txBody>
      </p:sp>
      <p:sp>
        <p:nvSpPr>
          <p:cNvPr id="24" name="tso-inner">
            <a:extLst xmlns:a="http://schemas.openxmlformats.org/drawingml/2006/main">
              <a:ext uri="{FF2B5EF4-FFF2-40B4-BE49-F238E27FC236}">
                <a16:creationId xmlns:a16="http://schemas.microsoft.com/office/drawing/2014/main" id="{28962CC2-ECD6-4F36-9F83-9ED2CA9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62325"/>
            <a:ext cx="1657350" cy="2228850"/>
          </a:xfrm>
          <a:prstGeom xmlns:a="http://schemas.openxmlformats.org/drawingml/2006/main" prst="roundRect">
            <a:avLst>
              <a:gd name="adj" fmla="val 7471"/>
            </a:avLst>
          </a:prstGeom>
          <a:gradFill xmlns:a="http://schemas.openxmlformats.org/drawingml/2006/main">
            <a:gsLst>
              <a:gs pos="0">
                <a:srgbClr val="BFE5FF"/>
              </a:gs>
              <a:gs pos="100000">
                <a:srgbClr val="BFDFFD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5" name="dso-line-inner">
            <a:extLst xmlns:a="http://schemas.openxmlformats.org/drawingml/2006/main">
              <a:ext uri="{FF2B5EF4-FFF2-40B4-BE49-F238E27FC236}">
                <a16:creationId xmlns:a16="http://schemas.microsoft.com/office/drawing/2014/main" id="{4C77EA8C-0A24-4ABD-B99D-524F3E24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62325"/>
            <a:ext cx="1695450" cy="838200"/>
          </a:xfrm>
          <a:prstGeom xmlns:a="http://schemas.openxmlformats.org/drawingml/2006/main" prst="roundRect">
            <a:avLst>
              <a:gd name="adj" fmla="val 14773"/>
            </a:avLst>
          </a:prstGeom>
          <a:gradFill xmlns:a="http://schemas.openxmlformats.org/drawingml/2006/main">
            <a:gsLst>
              <a:gs pos="0">
                <a:srgbClr val="DFF5D6"/>
              </a:gs>
              <a:gs pos="100000">
                <a:srgbClr val="CFEBCC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6" name="tso-tower1-body">
            <a:extLst xmlns:a="http://schemas.openxmlformats.org/drawingml/2006/main">
              <a:ext uri="{FF2B5EF4-FFF2-40B4-BE49-F238E27FC236}">
                <a16:creationId xmlns:a16="http://schemas.microsoft.com/office/drawing/2014/main" id="{77DAD7F6-2CCB-487B-9159-C07CC255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3" y="3409950"/>
            <a:ext cx="364522" cy="628650"/>
          </a:xfrm>
          <a:custGeom xmlns:a="http://schemas.openxmlformats.org/drawingml/2006/main">
            <a:pathLst>
              <a:path w="364522" h="628650">
                <a:moveTo>
                  <a:pt x="176117" y="0"/>
                </a:moveTo>
                <a:lnTo>
                  <a:pt x="204788" y="0"/>
                </a:lnTo>
                <a:lnTo>
                  <a:pt x="241649" y="264033"/>
                </a:lnTo>
                <a:lnTo>
                  <a:pt x="364522" y="628650"/>
                </a:lnTo>
                <a:lnTo>
                  <a:pt x="298990" y="628650"/>
                </a:lnTo>
                <a:lnTo>
                  <a:pt x="188405" y="326898"/>
                </a:lnTo>
                <a:lnTo>
                  <a:pt x="69628" y="628650"/>
                </a:lnTo>
                <a:lnTo>
                  <a:pt x="0" y="628650"/>
                </a:lnTo>
                <a:lnTo>
                  <a:pt x="143351" y="2640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44664"/>
            </a:solidFill>
            <a:prstDash val="solid"/>
          </a:ln>
        </p:spPr>
      </p:sp>
      <p:sp>
        <p:nvSpPr>
          <p:cNvPr id="27" name="tso-tower1-arm0">
            <a:extLst xmlns:a="http://schemas.openxmlformats.org/drawingml/2006/main">
              <a:ext uri="{FF2B5EF4-FFF2-40B4-BE49-F238E27FC236}">
                <a16:creationId xmlns:a16="http://schemas.microsoft.com/office/drawing/2014/main" id="{7ADCA99B-2379-40DA-8EDE-CD75C154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7" y="3529394"/>
            <a:ext cx="229362" cy="95"/>
          </a:xfrm>
          <a:custGeom xmlns:a="http://schemas.openxmlformats.org/drawingml/2006/main">
            <a:pathLst>
              <a:path w="229362" h="95">
                <a:moveTo>
                  <a:pt x="0" y="0"/>
                </a:moveTo>
                <a:lnTo>
                  <a:pt x="229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28" name="tso-tower1-arm1">
            <a:extLst xmlns:a="http://schemas.openxmlformats.org/drawingml/2006/main">
              <a:ext uri="{FF2B5EF4-FFF2-40B4-BE49-F238E27FC236}">
                <a16:creationId xmlns:a16="http://schemas.microsoft.com/office/drawing/2014/main" id="{D8068F00-6D7A-4718-B362-FFDCDC39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" y="3623691"/>
            <a:ext cx="319469" cy="95"/>
          </a:xfrm>
          <a:custGeom xmlns:a="http://schemas.openxmlformats.org/drawingml/2006/main">
            <a:pathLst>
              <a:path w="319469" h="95">
                <a:moveTo>
                  <a:pt x="0" y="0"/>
                </a:moveTo>
                <a:lnTo>
                  <a:pt x="3194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29" name="tso-tower1-arm2">
            <a:extLst xmlns:a="http://schemas.openxmlformats.org/drawingml/2006/main">
              <a:ext uri="{FF2B5EF4-FFF2-40B4-BE49-F238E27FC236}">
                <a16:creationId xmlns:a16="http://schemas.microsoft.com/office/drawing/2014/main" id="{27768E9E-CB67-4FA1-9833-19DBC22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87" y="3680270"/>
            <a:ext cx="389096" cy="95"/>
          </a:xfrm>
          <a:custGeom xmlns:a="http://schemas.openxmlformats.org/drawingml/2006/main">
            <a:pathLst>
              <a:path w="389096" h="95">
                <a:moveTo>
                  <a:pt x="0" y="0"/>
                </a:moveTo>
                <a:lnTo>
                  <a:pt x="3890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30" name="tso-tower1-arm3">
            <a:extLst xmlns:a="http://schemas.openxmlformats.org/drawingml/2006/main">
              <a:ext uri="{FF2B5EF4-FFF2-40B4-BE49-F238E27FC236}">
                <a16:creationId xmlns:a16="http://schemas.microsoft.com/office/drawing/2014/main" id="{EE3E4ADE-A1D4-4E82-BACE-E4CEBC7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" y="3743135"/>
            <a:ext cx="131064" cy="95"/>
          </a:xfrm>
          <a:custGeom xmlns:a="http://schemas.openxmlformats.org/drawingml/2006/main">
            <a:pathLst>
              <a:path w="131064" h="95">
                <a:moveTo>
                  <a:pt x="0" y="0"/>
                </a:moveTo>
                <a:lnTo>
                  <a:pt x="1310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31" name="tso-tower1-arm4">
            <a:extLst xmlns:a="http://schemas.openxmlformats.org/drawingml/2006/main">
              <a:ext uri="{FF2B5EF4-FFF2-40B4-BE49-F238E27FC236}">
                <a16:creationId xmlns:a16="http://schemas.microsoft.com/office/drawing/2014/main" id="{B9C1100A-2835-4233-8F83-F407F68E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7" y="3894011"/>
            <a:ext cx="229362" cy="95"/>
          </a:xfrm>
          <a:custGeom xmlns:a="http://schemas.openxmlformats.org/drawingml/2006/main">
            <a:pathLst>
              <a:path w="229362" h="95">
                <a:moveTo>
                  <a:pt x="0" y="0"/>
                </a:moveTo>
                <a:lnTo>
                  <a:pt x="229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32" name="tso-tower1-crossa0">
            <a:extLst xmlns:a="http://schemas.openxmlformats.org/drawingml/2006/main">
              <a:ext uri="{FF2B5EF4-FFF2-40B4-BE49-F238E27FC236}">
                <a16:creationId xmlns:a16="http://schemas.microsoft.com/office/drawing/2014/main" id="{1C6E4722-0F06-4A8B-9274-A0380ABB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2" y="3686556"/>
            <a:ext cx="86011" cy="88011"/>
          </a:xfrm>
          <a:custGeom xmlns:a="http://schemas.openxmlformats.org/drawingml/2006/main">
            <a:pathLst>
              <a:path w="86011" h="88011">
                <a:moveTo>
                  <a:pt x="0" y="0"/>
                </a:moveTo>
                <a:lnTo>
                  <a:pt x="86011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33" name="tso-tower1-crossb0">
            <a:extLst xmlns:a="http://schemas.openxmlformats.org/drawingml/2006/main">
              <a:ext uri="{FF2B5EF4-FFF2-40B4-BE49-F238E27FC236}">
                <a16:creationId xmlns:a16="http://schemas.microsoft.com/office/drawing/2014/main" id="{D78D25D7-9690-487C-8F7F-173412C4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43" y="3686556"/>
            <a:ext cx="86011" cy="88011"/>
          </a:xfrm>
          <a:custGeom xmlns:a="http://schemas.openxmlformats.org/drawingml/2006/main">
            <a:pathLst>
              <a:path w="86011" h="88011">
                <a:moveTo>
                  <a:pt x="86011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34" name="tso-tower1-crossa1">
            <a:extLst xmlns:a="http://schemas.openxmlformats.org/drawingml/2006/main">
              <a:ext uri="{FF2B5EF4-FFF2-40B4-BE49-F238E27FC236}">
                <a16:creationId xmlns:a16="http://schemas.microsoft.com/office/drawing/2014/main" id="{0DB0C23A-43F0-4198-B018-1D033007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43" y="3774567"/>
            <a:ext cx="126968" cy="88011"/>
          </a:xfrm>
          <a:custGeom xmlns:a="http://schemas.openxmlformats.org/drawingml/2006/main">
            <a:pathLst>
              <a:path w="126968" h="88011">
                <a:moveTo>
                  <a:pt x="0" y="0"/>
                </a:moveTo>
                <a:lnTo>
                  <a:pt x="126968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35" name="tso-tower1-crossb1">
            <a:extLst xmlns:a="http://schemas.openxmlformats.org/drawingml/2006/main">
              <a:ext uri="{FF2B5EF4-FFF2-40B4-BE49-F238E27FC236}">
                <a16:creationId xmlns:a16="http://schemas.microsoft.com/office/drawing/2014/main" id="{AD66200C-5E69-4948-9701-F2BFF0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64" y="3774567"/>
            <a:ext cx="126968" cy="88011"/>
          </a:xfrm>
          <a:custGeom xmlns:a="http://schemas.openxmlformats.org/drawingml/2006/main">
            <a:pathLst>
              <a:path w="126968" h="88011">
                <a:moveTo>
                  <a:pt x="126968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36" name="tso-tower1-crossa2">
            <a:extLst xmlns:a="http://schemas.openxmlformats.org/drawingml/2006/main">
              <a:ext uri="{FF2B5EF4-FFF2-40B4-BE49-F238E27FC236}">
                <a16:creationId xmlns:a16="http://schemas.microsoft.com/office/drawing/2014/main" id="{4B38CB1E-AB3E-4BA7-8A8E-6D9ECE69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64" y="3862578"/>
            <a:ext cx="167926" cy="88011"/>
          </a:xfrm>
          <a:custGeom xmlns:a="http://schemas.openxmlformats.org/drawingml/2006/main">
            <a:pathLst>
              <a:path w="167926" h="88011">
                <a:moveTo>
                  <a:pt x="0" y="0"/>
                </a:moveTo>
                <a:lnTo>
                  <a:pt x="167926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37" name="tso-tower1-crossb2">
            <a:extLst xmlns:a="http://schemas.openxmlformats.org/drawingml/2006/main">
              <a:ext uri="{FF2B5EF4-FFF2-40B4-BE49-F238E27FC236}">
                <a16:creationId xmlns:a16="http://schemas.microsoft.com/office/drawing/2014/main" id="{03A0FD91-2FFF-4BA2-9FF5-045A605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" y="3862578"/>
            <a:ext cx="167926" cy="88011"/>
          </a:xfrm>
          <a:custGeom xmlns:a="http://schemas.openxmlformats.org/drawingml/2006/main">
            <a:pathLst>
              <a:path w="167926" h="88011">
                <a:moveTo>
                  <a:pt x="167926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38" name="tso-tower1-crossa3">
            <a:extLst xmlns:a="http://schemas.openxmlformats.org/drawingml/2006/main">
              <a:ext uri="{FF2B5EF4-FFF2-40B4-BE49-F238E27FC236}">
                <a16:creationId xmlns:a16="http://schemas.microsoft.com/office/drawing/2014/main" id="{8CB9F35A-5EA8-4500-86C7-E53993C3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" y="3950589"/>
            <a:ext cx="208883" cy="88011"/>
          </a:xfrm>
          <a:custGeom xmlns:a="http://schemas.openxmlformats.org/drawingml/2006/main">
            <a:pathLst>
              <a:path w="208883" h="88011">
                <a:moveTo>
                  <a:pt x="0" y="0"/>
                </a:moveTo>
                <a:lnTo>
                  <a:pt x="208883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39" name="tso-tower1-crossb3">
            <a:extLst xmlns:a="http://schemas.openxmlformats.org/drawingml/2006/main">
              <a:ext uri="{FF2B5EF4-FFF2-40B4-BE49-F238E27FC236}">
                <a16:creationId xmlns:a16="http://schemas.microsoft.com/office/drawing/2014/main" id="{A85BB304-CCC5-4F60-82F1-1EB3AD2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7" y="3950589"/>
            <a:ext cx="208883" cy="88011"/>
          </a:xfrm>
          <a:custGeom xmlns:a="http://schemas.openxmlformats.org/drawingml/2006/main">
            <a:pathLst>
              <a:path w="208883" h="88011">
                <a:moveTo>
                  <a:pt x="208883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40" name="tso-tower2-body">
            <a:extLst xmlns:a="http://schemas.openxmlformats.org/drawingml/2006/main">
              <a:ext uri="{FF2B5EF4-FFF2-40B4-BE49-F238E27FC236}">
                <a16:creationId xmlns:a16="http://schemas.microsoft.com/office/drawing/2014/main" id="{3F07C386-1BE3-45DE-B00A-48251CAA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092" y="3543300"/>
            <a:ext cx="271272" cy="409575"/>
          </a:xfrm>
          <a:custGeom xmlns:a="http://schemas.openxmlformats.org/drawingml/2006/main">
            <a:pathLst>
              <a:path w="271272" h="409575">
                <a:moveTo>
                  <a:pt x="131064" y="0"/>
                </a:moveTo>
                <a:lnTo>
                  <a:pt x="152400" y="0"/>
                </a:lnTo>
                <a:lnTo>
                  <a:pt x="179832" y="172022"/>
                </a:lnTo>
                <a:lnTo>
                  <a:pt x="271272" y="409575"/>
                </a:lnTo>
                <a:lnTo>
                  <a:pt x="222504" y="409575"/>
                </a:lnTo>
                <a:lnTo>
                  <a:pt x="140208" y="212979"/>
                </a:lnTo>
                <a:lnTo>
                  <a:pt x="51816" y="409575"/>
                </a:lnTo>
                <a:lnTo>
                  <a:pt x="0" y="409575"/>
                </a:lnTo>
                <a:lnTo>
                  <a:pt x="106680" y="172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44664"/>
            </a:solidFill>
            <a:prstDash val="solid"/>
          </a:ln>
        </p:spPr>
      </p:sp>
      <p:sp>
        <p:nvSpPr>
          <p:cNvPr id="41" name="tso-tower2-arm0">
            <a:extLst xmlns:a="http://schemas.openxmlformats.org/drawingml/2006/main">
              <a:ext uri="{FF2B5EF4-FFF2-40B4-BE49-F238E27FC236}">
                <a16:creationId xmlns:a16="http://schemas.microsoft.com/office/drawing/2014/main" id="{FE1F0162-A442-4AAC-B98A-91E0485F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56" y="3621119"/>
            <a:ext cx="170688" cy="95"/>
          </a:xfrm>
          <a:custGeom xmlns:a="http://schemas.openxmlformats.org/drawingml/2006/main">
            <a:pathLst>
              <a:path w="170688" h="95">
                <a:moveTo>
                  <a:pt x="0" y="0"/>
                </a:moveTo>
                <a:lnTo>
                  <a:pt x="1706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42" name="tso-tower2-arm1">
            <a:extLst xmlns:a="http://schemas.openxmlformats.org/drawingml/2006/main">
              <a:ext uri="{FF2B5EF4-FFF2-40B4-BE49-F238E27FC236}">
                <a16:creationId xmlns:a16="http://schemas.microsoft.com/office/drawing/2014/main" id="{BA2B2BD7-F492-4ED5-A8AC-E0800D9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" y="3682556"/>
            <a:ext cx="237744" cy="95"/>
          </a:xfrm>
          <a:custGeom xmlns:a="http://schemas.openxmlformats.org/drawingml/2006/main">
            <a:pathLst>
              <a:path w="237744" h="95">
                <a:moveTo>
                  <a:pt x="0" y="0"/>
                </a:moveTo>
                <a:lnTo>
                  <a:pt x="2377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43" name="tso-tower2-arm2">
            <a:extLst xmlns:a="http://schemas.openxmlformats.org/drawingml/2006/main">
              <a:ext uri="{FF2B5EF4-FFF2-40B4-BE49-F238E27FC236}">
                <a16:creationId xmlns:a16="http://schemas.microsoft.com/office/drawing/2014/main" id="{F71B9DC2-A952-4634-926D-FB943449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44" y="3719417"/>
            <a:ext cx="289560" cy="95"/>
          </a:xfrm>
          <a:custGeom xmlns:a="http://schemas.openxmlformats.org/drawingml/2006/main">
            <a:pathLst>
              <a:path w="289560" h="95">
                <a:moveTo>
                  <a:pt x="0" y="0"/>
                </a:moveTo>
                <a:lnTo>
                  <a:pt x="289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44" name="tso-tower2-arm3">
            <a:extLst xmlns:a="http://schemas.openxmlformats.org/drawingml/2006/main">
              <a:ext uri="{FF2B5EF4-FFF2-40B4-BE49-F238E27FC236}">
                <a16:creationId xmlns:a16="http://schemas.microsoft.com/office/drawing/2014/main" id="{34644663-3B41-4748-89B1-7BD1CBA3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" y="3760375"/>
            <a:ext cx="97536" cy="95"/>
          </a:xfrm>
          <a:custGeom xmlns:a="http://schemas.openxmlformats.org/drawingml/2006/main">
            <a:pathLst>
              <a:path w="97536" h="95">
                <a:moveTo>
                  <a:pt x="0" y="0"/>
                </a:moveTo>
                <a:lnTo>
                  <a:pt x="975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45" name="tso-tower2-arm4">
            <a:extLst xmlns:a="http://schemas.openxmlformats.org/drawingml/2006/main">
              <a:ext uri="{FF2B5EF4-FFF2-40B4-BE49-F238E27FC236}">
                <a16:creationId xmlns:a16="http://schemas.microsoft.com/office/drawing/2014/main" id="{811A00BF-CB21-434C-B999-A275C8A2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56" y="3858673"/>
            <a:ext cx="170688" cy="95"/>
          </a:xfrm>
          <a:custGeom xmlns:a="http://schemas.openxmlformats.org/drawingml/2006/main">
            <a:pathLst>
              <a:path w="170688" h="95">
                <a:moveTo>
                  <a:pt x="0" y="0"/>
                </a:moveTo>
                <a:lnTo>
                  <a:pt x="1706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46" name="tso-tower2-crossa0">
            <a:extLst xmlns:a="http://schemas.openxmlformats.org/drawingml/2006/main">
              <a:ext uri="{FF2B5EF4-FFF2-40B4-BE49-F238E27FC236}">
                <a16:creationId xmlns:a16="http://schemas.microsoft.com/office/drawing/2014/main" id="{9D7A390F-738A-45D9-AC97-C7A107C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916" y="3723513"/>
            <a:ext cx="64008" cy="57340"/>
          </a:xfrm>
          <a:custGeom xmlns:a="http://schemas.openxmlformats.org/drawingml/2006/main">
            <a:pathLst>
              <a:path w="64008" h="57340">
                <a:moveTo>
                  <a:pt x="0" y="0"/>
                </a:moveTo>
                <a:lnTo>
                  <a:pt x="64008" y="573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47" name="tso-tower2-crossb0">
            <a:extLst xmlns:a="http://schemas.openxmlformats.org/drawingml/2006/main">
              <a:ext uri="{FF2B5EF4-FFF2-40B4-BE49-F238E27FC236}">
                <a16:creationId xmlns:a16="http://schemas.microsoft.com/office/drawing/2014/main" id="{CB4D700C-0C6C-4798-8A98-19459DEC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6" y="3723513"/>
            <a:ext cx="64008" cy="57340"/>
          </a:xfrm>
          <a:custGeom xmlns:a="http://schemas.openxmlformats.org/drawingml/2006/main">
            <a:pathLst>
              <a:path w="64008" h="57340">
                <a:moveTo>
                  <a:pt x="64008" y="0"/>
                </a:moveTo>
                <a:lnTo>
                  <a:pt x="0" y="573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48" name="tso-tower2-crossa1">
            <a:extLst xmlns:a="http://schemas.openxmlformats.org/drawingml/2006/main">
              <a:ext uri="{FF2B5EF4-FFF2-40B4-BE49-F238E27FC236}">
                <a16:creationId xmlns:a16="http://schemas.microsoft.com/office/drawing/2014/main" id="{0C5998CA-C209-4DA6-9E55-291D6A66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676" y="3780854"/>
            <a:ext cx="94488" cy="57340"/>
          </a:xfrm>
          <a:custGeom xmlns:a="http://schemas.openxmlformats.org/drawingml/2006/main">
            <a:pathLst>
              <a:path w="94488" h="57340">
                <a:moveTo>
                  <a:pt x="0" y="0"/>
                </a:moveTo>
                <a:lnTo>
                  <a:pt x="94488" y="573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49" name="tso-tower2-crossb1">
            <a:extLst xmlns:a="http://schemas.openxmlformats.org/drawingml/2006/main">
              <a:ext uri="{FF2B5EF4-FFF2-40B4-BE49-F238E27FC236}">
                <a16:creationId xmlns:a16="http://schemas.microsoft.com/office/drawing/2014/main" id="{BD3C3818-2B92-4134-A734-538D3357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36" y="3780854"/>
            <a:ext cx="94488" cy="57340"/>
          </a:xfrm>
          <a:custGeom xmlns:a="http://schemas.openxmlformats.org/drawingml/2006/main">
            <a:pathLst>
              <a:path w="94488" h="57340">
                <a:moveTo>
                  <a:pt x="94488" y="0"/>
                </a:moveTo>
                <a:lnTo>
                  <a:pt x="0" y="573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50" name="tso-tower2-crossa2">
            <a:extLst xmlns:a="http://schemas.openxmlformats.org/drawingml/2006/main">
              <a:ext uri="{FF2B5EF4-FFF2-40B4-BE49-F238E27FC236}">
                <a16:creationId xmlns:a16="http://schemas.microsoft.com/office/drawing/2014/main" id="{54841BE6-C4EE-4F31-AC66-0BF3F6C7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36" y="3838194"/>
            <a:ext cx="124968" cy="57341"/>
          </a:xfrm>
          <a:custGeom xmlns:a="http://schemas.openxmlformats.org/drawingml/2006/main">
            <a:pathLst>
              <a:path w="124968" h="57341">
                <a:moveTo>
                  <a:pt x="0" y="0"/>
                </a:moveTo>
                <a:lnTo>
                  <a:pt x="124968" y="5734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51" name="tso-tower2-crossb2">
            <a:extLst xmlns:a="http://schemas.openxmlformats.org/drawingml/2006/main">
              <a:ext uri="{FF2B5EF4-FFF2-40B4-BE49-F238E27FC236}">
                <a16:creationId xmlns:a16="http://schemas.microsoft.com/office/drawing/2014/main" id="{93EF0F52-8DE2-4DDF-802C-3C8BBB0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96" y="3838194"/>
            <a:ext cx="124968" cy="57341"/>
          </a:xfrm>
          <a:custGeom xmlns:a="http://schemas.openxmlformats.org/drawingml/2006/main">
            <a:pathLst>
              <a:path w="124968" h="57341">
                <a:moveTo>
                  <a:pt x="124968" y="0"/>
                </a:moveTo>
                <a:lnTo>
                  <a:pt x="0" y="57341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52" name="tso-tower2-crossa3">
            <a:extLst xmlns:a="http://schemas.openxmlformats.org/drawingml/2006/main">
              <a:ext uri="{FF2B5EF4-FFF2-40B4-BE49-F238E27FC236}">
                <a16:creationId xmlns:a16="http://schemas.microsoft.com/office/drawing/2014/main" id="{0AE853C1-7386-4169-AD88-05BA1E4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96" y="3895535"/>
            <a:ext cx="155448" cy="57340"/>
          </a:xfrm>
          <a:custGeom xmlns:a="http://schemas.openxmlformats.org/drawingml/2006/main">
            <a:pathLst>
              <a:path w="155448" h="57340">
                <a:moveTo>
                  <a:pt x="0" y="0"/>
                </a:moveTo>
                <a:lnTo>
                  <a:pt x="155448" y="573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53" name="tso-tower2-crossb3">
            <a:extLst xmlns:a="http://schemas.openxmlformats.org/drawingml/2006/main">
              <a:ext uri="{FF2B5EF4-FFF2-40B4-BE49-F238E27FC236}">
                <a16:creationId xmlns:a16="http://schemas.microsoft.com/office/drawing/2014/main" id="{64FFBA19-ED95-460C-8303-33D7240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56" y="3895535"/>
            <a:ext cx="155448" cy="57340"/>
          </a:xfrm>
          <a:custGeom xmlns:a="http://schemas.openxmlformats.org/drawingml/2006/main">
            <a:pathLst>
              <a:path w="155448" h="57340">
                <a:moveTo>
                  <a:pt x="155448" y="0"/>
                </a:moveTo>
                <a:lnTo>
                  <a:pt x="0" y="5734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54" name="tso-tower3-body">
            <a:extLst xmlns:a="http://schemas.openxmlformats.org/drawingml/2006/main">
              <a:ext uri="{FF2B5EF4-FFF2-40B4-BE49-F238E27FC236}">
                <a16:creationId xmlns:a16="http://schemas.microsoft.com/office/drawing/2014/main" id="{2DA482C2-FED7-434B-BDF6-11366ABD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587" y="3619500"/>
            <a:ext cx="228886" cy="390525"/>
          </a:xfrm>
          <a:custGeom xmlns:a="http://schemas.openxmlformats.org/drawingml/2006/main">
            <a:pathLst>
              <a:path w="228886" h="390525">
                <a:moveTo>
                  <a:pt x="110585" y="0"/>
                </a:moveTo>
                <a:lnTo>
                  <a:pt x="128588" y="0"/>
                </a:lnTo>
                <a:lnTo>
                  <a:pt x="151733" y="164021"/>
                </a:lnTo>
                <a:lnTo>
                  <a:pt x="228886" y="390525"/>
                </a:lnTo>
                <a:lnTo>
                  <a:pt x="187738" y="390525"/>
                </a:lnTo>
                <a:lnTo>
                  <a:pt x="118300" y="203073"/>
                </a:lnTo>
                <a:lnTo>
                  <a:pt x="43720" y="390525"/>
                </a:lnTo>
                <a:lnTo>
                  <a:pt x="0" y="390525"/>
                </a:lnTo>
                <a:lnTo>
                  <a:pt x="90011" y="1640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44664"/>
            </a:solidFill>
            <a:prstDash val="solid"/>
          </a:ln>
        </p:spPr>
      </p:sp>
      <p:sp>
        <p:nvSpPr>
          <p:cNvPr id="55" name="tso-tower3-arm0">
            <a:extLst xmlns:a="http://schemas.openxmlformats.org/drawingml/2006/main">
              <a:ext uri="{FF2B5EF4-FFF2-40B4-BE49-F238E27FC236}">
                <a16:creationId xmlns:a16="http://schemas.microsoft.com/office/drawing/2014/main" id="{B913F498-01C0-4255-88C0-231809C6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879" y="3693700"/>
            <a:ext cx="144018" cy="95"/>
          </a:xfrm>
          <a:custGeom xmlns:a="http://schemas.openxmlformats.org/drawingml/2006/main">
            <a:pathLst>
              <a:path w="144018" h="95">
                <a:moveTo>
                  <a:pt x="0" y="0"/>
                </a:moveTo>
                <a:lnTo>
                  <a:pt x="144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56" name="tso-tower3-arm1">
            <a:extLst xmlns:a="http://schemas.openxmlformats.org/drawingml/2006/main">
              <a:ext uri="{FF2B5EF4-FFF2-40B4-BE49-F238E27FC236}">
                <a16:creationId xmlns:a16="http://schemas.microsoft.com/office/drawing/2014/main" id="{A4175C16-C5C7-479A-BBA8-E55B3956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161" y="3752279"/>
            <a:ext cx="200597" cy="95"/>
          </a:xfrm>
          <a:custGeom xmlns:a="http://schemas.openxmlformats.org/drawingml/2006/main">
            <a:pathLst>
              <a:path w="200597" h="95">
                <a:moveTo>
                  <a:pt x="0" y="0"/>
                </a:moveTo>
                <a:lnTo>
                  <a:pt x="2005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57" name="tso-tower3-arm2">
            <a:extLst xmlns:a="http://schemas.openxmlformats.org/drawingml/2006/main">
              <a:ext uri="{FF2B5EF4-FFF2-40B4-BE49-F238E27FC236}">
                <a16:creationId xmlns:a16="http://schemas.microsoft.com/office/drawing/2014/main" id="{4474E7CA-95F7-42B2-BF19-9AEEC38D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15" y="3787426"/>
            <a:ext cx="244316" cy="95"/>
          </a:xfrm>
          <a:custGeom xmlns:a="http://schemas.openxmlformats.org/drawingml/2006/main">
            <a:pathLst>
              <a:path w="244316" h="95">
                <a:moveTo>
                  <a:pt x="0" y="0"/>
                </a:moveTo>
                <a:lnTo>
                  <a:pt x="2443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58" name="tso-tower3-arm3">
            <a:extLst xmlns:a="http://schemas.openxmlformats.org/drawingml/2006/main">
              <a:ext uri="{FF2B5EF4-FFF2-40B4-BE49-F238E27FC236}">
                <a16:creationId xmlns:a16="http://schemas.microsoft.com/office/drawing/2014/main" id="{7CB13D0E-7371-4A2E-AC62-3DF60C2C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311" y="3826478"/>
            <a:ext cx="82296" cy="95"/>
          </a:xfrm>
          <a:custGeom xmlns:a="http://schemas.openxmlformats.org/drawingml/2006/main">
            <a:pathLst>
              <a:path w="82296" h="95">
                <a:moveTo>
                  <a:pt x="0" y="0"/>
                </a:moveTo>
                <a:lnTo>
                  <a:pt x="82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59" name="tso-tower3-arm4">
            <a:extLst xmlns:a="http://schemas.openxmlformats.org/drawingml/2006/main">
              <a:ext uri="{FF2B5EF4-FFF2-40B4-BE49-F238E27FC236}">
                <a16:creationId xmlns:a16="http://schemas.microsoft.com/office/drawing/2014/main" id="{FBC9FEF8-D2FE-491C-B35F-9F2F955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879" y="3920204"/>
            <a:ext cx="144018" cy="95"/>
          </a:xfrm>
          <a:custGeom xmlns:a="http://schemas.openxmlformats.org/drawingml/2006/main">
            <a:pathLst>
              <a:path w="144018" h="95">
                <a:moveTo>
                  <a:pt x="0" y="0"/>
                </a:moveTo>
                <a:lnTo>
                  <a:pt x="144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60" name="tso-tower3-crossa0">
            <a:extLst xmlns:a="http://schemas.openxmlformats.org/drawingml/2006/main">
              <a:ext uri="{FF2B5EF4-FFF2-40B4-BE49-F238E27FC236}">
                <a16:creationId xmlns:a16="http://schemas.microsoft.com/office/drawing/2014/main" id="{4014597F-6CBF-4B4E-88A4-B819C80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314" y="3791331"/>
            <a:ext cx="54007" cy="54673"/>
          </a:xfrm>
          <a:custGeom xmlns:a="http://schemas.openxmlformats.org/drawingml/2006/main">
            <a:pathLst>
              <a:path w="54007" h="54673">
                <a:moveTo>
                  <a:pt x="0" y="0"/>
                </a:moveTo>
                <a:lnTo>
                  <a:pt x="54007" y="5467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1" name="tso-tower3-crossb0">
            <a:extLst xmlns:a="http://schemas.openxmlformats.org/drawingml/2006/main">
              <a:ext uri="{FF2B5EF4-FFF2-40B4-BE49-F238E27FC236}">
                <a16:creationId xmlns:a16="http://schemas.microsoft.com/office/drawing/2014/main" id="{B09BA123-C17A-45B5-AD0C-4059BBB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55" y="3791331"/>
            <a:ext cx="54007" cy="54673"/>
          </a:xfrm>
          <a:custGeom xmlns:a="http://schemas.openxmlformats.org/drawingml/2006/main">
            <a:pathLst>
              <a:path w="54007" h="54673">
                <a:moveTo>
                  <a:pt x="54007" y="0"/>
                </a:moveTo>
                <a:lnTo>
                  <a:pt x="0" y="54673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2" name="tso-tower3-crossa1">
            <a:extLst xmlns:a="http://schemas.openxmlformats.org/drawingml/2006/main">
              <a:ext uri="{FF2B5EF4-FFF2-40B4-BE49-F238E27FC236}">
                <a16:creationId xmlns:a16="http://schemas.microsoft.com/office/drawing/2014/main" id="{6098528D-4ACD-40A9-A296-C91F6387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55" y="3846004"/>
            <a:ext cx="79724" cy="54674"/>
          </a:xfrm>
          <a:custGeom xmlns:a="http://schemas.openxmlformats.org/drawingml/2006/main">
            <a:pathLst>
              <a:path w="79724" h="54674">
                <a:moveTo>
                  <a:pt x="0" y="0"/>
                </a:moveTo>
                <a:lnTo>
                  <a:pt x="79724" y="5467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3" name="tso-tower3-crossb1">
            <a:extLst xmlns:a="http://schemas.openxmlformats.org/drawingml/2006/main">
              <a:ext uri="{FF2B5EF4-FFF2-40B4-BE49-F238E27FC236}">
                <a16:creationId xmlns:a16="http://schemas.microsoft.com/office/drawing/2014/main" id="{1F3E5183-9F88-426B-BB50-469F8455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596" y="3846004"/>
            <a:ext cx="79724" cy="54674"/>
          </a:xfrm>
          <a:custGeom xmlns:a="http://schemas.openxmlformats.org/drawingml/2006/main">
            <a:pathLst>
              <a:path w="79724" h="54674">
                <a:moveTo>
                  <a:pt x="79724" y="0"/>
                </a:moveTo>
                <a:lnTo>
                  <a:pt x="0" y="5467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4" name="tso-tower3-crossa2">
            <a:extLst xmlns:a="http://schemas.openxmlformats.org/drawingml/2006/main">
              <a:ext uri="{FF2B5EF4-FFF2-40B4-BE49-F238E27FC236}">
                <a16:creationId xmlns:a16="http://schemas.microsoft.com/office/drawing/2014/main" id="{7F76C476-8079-44B9-AF52-6BD082C5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596" y="3900678"/>
            <a:ext cx="105442" cy="54674"/>
          </a:xfrm>
          <a:custGeom xmlns:a="http://schemas.openxmlformats.org/drawingml/2006/main">
            <a:pathLst>
              <a:path w="105442" h="54674">
                <a:moveTo>
                  <a:pt x="0" y="0"/>
                </a:moveTo>
                <a:lnTo>
                  <a:pt x="105442" y="5467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5" name="tso-tower3-crossb2">
            <a:extLst xmlns:a="http://schemas.openxmlformats.org/drawingml/2006/main">
              <a:ext uri="{FF2B5EF4-FFF2-40B4-BE49-F238E27FC236}">
                <a16:creationId xmlns:a16="http://schemas.microsoft.com/office/drawing/2014/main" id="{1060BF9F-CD69-415F-90EF-D03DBC6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737" y="3900678"/>
            <a:ext cx="105442" cy="54674"/>
          </a:xfrm>
          <a:custGeom xmlns:a="http://schemas.openxmlformats.org/drawingml/2006/main">
            <a:pathLst>
              <a:path w="105442" h="54674">
                <a:moveTo>
                  <a:pt x="105442" y="0"/>
                </a:moveTo>
                <a:lnTo>
                  <a:pt x="0" y="5467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6" name="tso-tower3-crossa3">
            <a:extLst xmlns:a="http://schemas.openxmlformats.org/drawingml/2006/main">
              <a:ext uri="{FF2B5EF4-FFF2-40B4-BE49-F238E27FC236}">
                <a16:creationId xmlns:a16="http://schemas.microsoft.com/office/drawing/2014/main" id="{976EE295-00CE-4E5E-9A40-4367A6E6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737" y="3955352"/>
            <a:ext cx="131159" cy="54674"/>
          </a:xfrm>
          <a:custGeom xmlns:a="http://schemas.openxmlformats.org/drawingml/2006/main">
            <a:pathLst>
              <a:path w="131159" h="54674">
                <a:moveTo>
                  <a:pt x="0" y="0"/>
                </a:moveTo>
                <a:lnTo>
                  <a:pt x="131159" y="5467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7" name="tso-tower3-crossb3">
            <a:extLst xmlns:a="http://schemas.openxmlformats.org/drawingml/2006/main">
              <a:ext uri="{FF2B5EF4-FFF2-40B4-BE49-F238E27FC236}">
                <a16:creationId xmlns:a16="http://schemas.microsoft.com/office/drawing/2014/main" id="{6C2E1AE9-645F-493D-893C-AC3561A5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879" y="3955352"/>
            <a:ext cx="131159" cy="54674"/>
          </a:xfrm>
          <a:custGeom xmlns:a="http://schemas.openxmlformats.org/drawingml/2006/main">
            <a:pathLst>
              <a:path w="131159" h="54674">
                <a:moveTo>
                  <a:pt x="131159" y="0"/>
                </a:moveTo>
                <a:lnTo>
                  <a:pt x="0" y="54674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68" name="wire-tso1">
            <a:extLst xmlns:a="http://schemas.openxmlformats.org/drawingml/2006/main">
              <a:ext uri="{FF2B5EF4-FFF2-40B4-BE49-F238E27FC236}">
                <a16:creationId xmlns:a16="http://schemas.microsoft.com/office/drawing/2014/main" id="{6001D9AD-9DAE-4241-8D87-A2A70C04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981075" cy="190500"/>
          </a:xfrm>
          <a:custGeom xmlns:a="http://schemas.openxmlformats.org/drawingml/2006/main">
            <a:pathLst>
              <a:path w="981075" h="190500">
                <a:moveTo>
                  <a:pt x="0" y="0"/>
                </a:moveTo>
                <a:lnTo>
                  <a:pt x="49054" y="16975"/>
                </a:lnTo>
                <a:lnTo>
                  <a:pt x="98107" y="33767"/>
                </a:lnTo>
                <a:lnTo>
                  <a:pt x="147161" y="50196"/>
                </a:lnTo>
                <a:lnTo>
                  <a:pt x="196215" y="66093"/>
                </a:lnTo>
                <a:lnTo>
                  <a:pt x="245269" y="81301"/>
                </a:lnTo>
                <a:lnTo>
                  <a:pt x="294323" y="95679"/>
                </a:lnTo>
                <a:lnTo>
                  <a:pt x="343376" y="109109"/>
                </a:lnTo>
                <a:lnTo>
                  <a:pt x="392430" y="121494"/>
                </a:lnTo>
                <a:lnTo>
                  <a:pt x="441484" y="132764"/>
                </a:lnTo>
                <a:lnTo>
                  <a:pt x="490538" y="142875"/>
                </a:lnTo>
                <a:lnTo>
                  <a:pt x="539591" y="151814"/>
                </a:lnTo>
                <a:lnTo>
                  <a:pt x="588645" y="159594"/>
                </a:lnTo>
                <a:lnTo>
                  <a:pt x="637699" y="166259"/>
                </a:lnTo>
                <a:lnTo>
                  <a:pt x="686753" y="171879"/>
                </a:lnTo>
                <a:lnTo>
                  <a:pt x="735806" y="176551"/>
                </a:lnTo>
                <a:lnTo>
                  <a:pt x="784860" y="180393"/>
                </a:lnTo>
                <a:lnTo>
                  <a:pt x="833914" y="183546"/>
                </a:lnTo>
                <a:lnTo>
                  <a:pt x="882967" y="186167"/>
                </a:lnTo>
                <a:lnTo>
                  <a:pt x="932021" y="188425"/>
                </a:lnTo>
                <a:lnTo>
                  <a:pt x="98107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B3D68"/>
            </a:solidFill>
            <a:prstDash val="solid"/>
          </a:ln>
        </p:spPr>
      </p:sp>
      <p:sp>
        <p:nvSpPr>
          <p:cNvPr id="69" name="wire-tso2">
            <a:extLst xmlns:a="http://schemas.openxmlformats.org/drawingml/2006/main">
              <a:ext uri="{FF2B5EF4-FFF2-40B4-BE49-F238E27FC236}">
                <a16:creationId xmlns:a16="http://schemas.microsoft.com/office/drawing/2014/main" id="{D4C4A937-CD6A-4514-9BA1-58319EAC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971550" cy="190500"/>
          </a:xfrm>
          <a:custGeom xmlns:a="http://schemas.openxmlformats.org/drawingml/2006/main">
            <a:pathLst>
              <a:path w="971550" h="190500">
                <a:moveTo>
                  <a:pt x="0" y="0"/>
                </a:moveTo>
                <a:lnTo>
                  <a:pt x="48577" y="16975"/>
                </a:lnTo>
                <a:lnTo>
                  <a:pt x="97155" y="33767"/>
                </a:lnTo>
                <a:lnTo>
                  <a:pt x="145732" y="50196"/>
                </a:lnTo>
                <a:lnTo>
                  <a:pt x="194310" y="66093"/>
                </a:lnTo>
                <a:lnTo>
                  <a:pt x="242888" y="81301"/>
                </a:lnTo>
                <a:lnTo>
                  <a:pt x="291465" y="95679"/>
                </a:lnTo>
                <a:lnTo>
                  <a:pt x="340042" y="109109"/>
                </a:lnTo>
                <a:lnTo>
                  <a:pt x="388620" y="121494"/>
                </a:lnTo>
                <a:lnTo>
                  <a:pt x="437198" y="132764"/>
                </a:lnTo>
                <a:lnTo>
                  <a:pt x="485775" y="142875"/>
                </a:lnTo>
                <a:lnTo>
                  <a:pt x="534353" y="151814"/>
                </a:lnTo>
                <a:lnTo>
                  <a:pt x="582930" y="159594"/>
                </a:lnTo>
                <a:lnTo>
                  <a:pt x="631508" y="166259"/>
                </a:lnTo>
                <a:lnTo>
                  <a:pt x="680085" y="171879"/>
                </a:lnTo>
                <a:lnTo>
                  <a:pt x="728663" y="176551"/>
                </a:lnTo>
                <a:lnTo>
                  <a:pt x="777240" y="180393"/>
                </a:lnTo>
                <a:lnTo>
                  <a:pt x="825817" y="183546"/>
                </a:lnTo>
                <a:lnTo>
                  <a:pt x="874395" y="186167"/>
                </a:lnTo>
                <a:lnTo>
                  <a:pt x="922972" y="188425"/>
                </a:lnTo>
                <a:lnTo>
                  <a:pt x="97155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B3D68"/>
            </a:solidFill>
            <a:prstDash val="solid"/>
          </a:ln>
        </p:spPr>
      </p:sp>
      <p:sp>
        <p:nvSpPr>
          <p:cNvPr id="70" name="tso-lines">
            <a:extLst xmlns:a="http://schemas.openxmlformats.org/drawingml/2006/main">
              <a:ext uri="{FF2B5EF4-FFF2-40B4-BE49-F238E27FC236}">
                <a16:creationId xmlns:a16="http://schemas.microsoft.com/office/drawing/2014/main" id="{0D9694B4-9513-4A84-80FA-46589CED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33825"/>
            <a:ext cx="1076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输电线路</a:t>
            </a:r>
          </a:p>
        </p:txBody>
      </p:sp>
      <p:sp>
        <p:nvSpPr>
          <p:cNvPr id="71" name="tso-dots">
            <a:extLst xmlns:a="http://schemas.openxmlformats.org/drawingml/2006/main">
              <a:ext uri="{FF2B5EF4-FFF2-40B4-BE49-F238E27FC236}">
                <a16:creationId xmlns:a16="http://schemas.microsoft.com/office/drawing/2014/main" id="{5BA6DF64-736A-4A3A-A5A7-77BEBF4E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81475"/>
            <a:ext cx="314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72" name="tso-lower-body">
            <a:extLst xmlns:a="http://schemas.openxmlformats.org/drawingml/2006/main">
              <a:ext uri="{FF2B5EF4-FFF2-40B4-BE49-F238E27FC236}">
                <a16:creationId xmlns:a16="http://schemas.microsoft.com/office/drawing/2014/main" id="{41612360-1394-474B-B908-15C487AD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00550"/>
            <a:ext cx="423863" cy="695325"/>
          </a:xfrm>
          <a:custGeom xmlns:a="http://schemas.openxmlformats.org/drawingml/2006/main">
            <a:pathLst>
              <a:path w="423863" h="695325">
                <a:moveTo>
                  <a:pt x="204788" y="0"/>
                </a:moveTo>
                <a:lnTo>
                  <a:pt x="238125" y="0"/>
                </a:lnTo>
                <a:lnTo>
                  <a:pt x="280988" y="292037"/>
                </a:lnTo>
                <a:lnTo>
                  <a:pt x="423863" y="695325"/>
                </a:lnTo>
                <a:lnTo>
                  <a:pt x="347663" y="695325"/>
                </a:lnTo>
                <a:lnTo>
                  <a:pt x="219075" y="361569"/>
                </a:lnTo>
                <a:lnTo>
                  <a:pt x="80963" y="695325"/>
                </a:lnTo>
                <a:lnTo>
                  <a:pt x="0" y="695325"/>
                </a:lnTo>
                <a:lnTo>
                  <a:pt x="166688" y="2920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244664"/>
            </a:solidFill>
            <a:prstDash val="solid"/>
          </a:ln>
        </p:spPr>
      </p:sp>
      <p:sp>
        <p:nvSpPr>
          <p:cNvPr id="73" name="tso-lower-arm0">
            <a:extLst xmlns:a="http://schemas.openxmlformats.org/drawingml/2006/main">
              <a:ext uri="{FF2B5EF4-FFF2-40B4-BE49-F238E27FC236}">
                <a16:creationId xmlns:a16="http://schemas.microsoft.com/office/drawing/2014/main" id="{24D3D130-BE6B-4CC5-B0B4-794DA051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2662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74" name="tso-lower-arm1">
            <a:extLst xmlns:a="http://schemas.openxmlformats.org/drawingml/2006/main">
              <a:ext uri="{FF2B5EF4-FFF2-40B4-BE49-F238E27FC236}">
                <a16:creationId xmlns:a16="http://schemas.microsoft.com/office/drawing/2014/main" id="{B27CCB86-1871-4799-BB34-39FDFC78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36961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75" name="tso-lower-arm2">
            <a:extLst xmlns:a="http://schemas.openxmlformats.org/drawingml/2006/main">
              <a:ext uri="{FF2B5EF4-FFF2-40B4-BE49-F238E27FC236}">
                <a16:creationId xmlns:a16="http://schemas.microsoft.com/office/drawing/2014/main" id="{A03B389C-8903-4B80-9C07-E38A077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3" y="4699540"/>
            <a:ext cx="452438" cy="95"/>
          </a:xfrm>
          <a:custGeom xmlns:a="http://schemas.openxmlformats.org/drawingml/2006/main">
            <a:pathLst>
              <a:path w="452438" h="95">
                <a:moveTo>
                  <a:pt x="0" y="0"/>
                </a:moveTo>
                <a:lnTo>
                  <a:pt x="4524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76" name="tso-lower-arm3">
            <a:extLst xmlns:a="http://schemas.openxmlformats.org/drawingml/2006/main">
              <a:ext uri="{FF2B5EF4-FFF2-40B4-BE49-F238E27FC236}">
                <a16:creationId xmlns:a16="http://schemas.microsoft.com/office/drawing/2014/main" id="{0B6FA658-E03E-4C01-A124-B5041E19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3" y="4769072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77" name="tso-lower-arm4">
            <a:extLst xmlns:a="http://schemas.openxmlformats.org/drawingml/2006/main">
              <a:ext uri="{FF2B5EF4-FFF2-40B4-BE49-F238E27FC236}">
                <a16:creationId xmlns:a16="http://schemas.microsoft.com/office/drawing/2014/main" id="{5F0B7327-F180-455D-AB25-75F8A26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595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44664"/>
            </a:solidFill>
            <a:prstDash val="solid"/>
          </a:ln>
        </p:spPr>
      </p:sp>
      <p:sp>
        <p:nvSpPr>
          <p:cNvPr id="78" name="tso-lower-crossa0">
            <a:extLst xmlns:a="http://schemas.openxmlformats.org/drawingml/2006/main">
              <a:ext uri="{FF2B5EF4-FFF2-40B4-BE49-F238E27FC236}">
                <a16:creationId xmlns:a16="http://schemas.microsoft.com/office/drawing/2014/main" id="{6669BFDD-FDEC-4D17-85B8-CF9B72BF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6493"/>
            <a:ext cx="100013" cy="97346"/>
          </a:xfrm>
          <a:custGeom xmlns:a="http://schemas.openxmlformats.org/drawingml/2006/main">
            <a:pathLst>
              <a:path w="100013" h="97346">
                <a:moveTo>
                  <a:pt x="0" y="0"/>
                </a:moveTo>
                <a:lnTo>
                  <a:pt x="100013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79" name="tso-lower-crossb0">
            <a:extLst xmlns:a="http://schemas.openxmlformats.org/drawingml/2006/main">
              <a:ext uri="{FF2B5EF4-FFF2-40B4-BE49-F238E27FC236}">
                <a16:creationId xmlns:a16="http://schemas.microsoft.com/office/drawing/2014/main" id="{7633052A-9356-4C46-B087-F808CFEB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706493"/>
            <a:ext cx="100013" cy="97346"/>
          </a:xfrm>
          <a:custGeom xmlns:a="http://schemas.openxmlformats.org/drawingml/2006/main">
            <a:pathLst>
              <a:path w="100013" h="97346">
                <a:moveTo>
                  <a:pt x="100013" y="0"/>
                </a:moveTo>
                <a:lnTo>
                  <a:pt x="0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80" name="tso-lower-crossa1">
            <a:extLst xmlns:a="http://schemas.openxmlformats.org/drawingml/2006/main">
              <a:ext uri="{FF2B5EF4-FFF2-40B4-BE49-F238E27FC236}">
                <a16:creationId xmlns:a16="http://schemas.microsoft.com/office/drawing/2014/main" id="{E857DB40-5E43-4826-A93A-EA4E9681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803839"/>
            <a:ext cx="147638" cy="97346"/>
          </a:xfrm>
          <a:custGeom xmlns:a="http://schemas.openxmlformats.org/drawingml/2006/main">
            <a:pathLst>
              <a:path w="147638" h="97346">
                <a:moveTo>
                  <a:pt x="0" y="0"/>
                </a:moveTo>
                <a:lnTo>
                  <a:pt x="147638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81" name="tso-lower-crossb1">
            <a:extLst xmlns:a="http://schemas.openxmlformats.org/drawingml/2006/main">
              <a:ext uri="{FF2B5EF4-FFF2-40B4-BE49-F238E27FC236}">
                <a16:creationId xmlns:a16="http://schemas.microsoft.com/office/drawing/2014/main" id="{BC30D96B-B683-4FC9-9AFA-C2F0DF72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03839"/>
            <a:ext cx="147638" cy="97346"/>
          </a:xfrm>
          <a:custGeom xmlns:a="http://schemas.openxmlformats.org/drawingml/2006/main">
            <a:pathLst>
              <a:path w="147638" h="97346">
                <a:moveTo>
                  <a:pt x="147638" y="0"/>
                </a:moveTo>
                <a:lnTo>
                  <a:pt x="0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82" name="tso-lower-crossa2">
            <a:extLst xmlns:a="http://schemas.openxmlformats.org/drawingml/2006/main">
              <a:ext uri="{FF2B5EF4-FFF2-40B4-BE49-F238E27FC236}">
                <a16:creationId xmlns:a16="http://schemas.microsoft.com/office/drawing/2014/main" id="{E0034815-C9F3-4F6E-866E-D5F632C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01184"/>
            <a:ext cx="195263" cy="97346"/>
          </a:xfrm>
          <a:custGeom xmlns:a="http://schemas.openxmlformats.org/drawingml/2006/main">
            <a:pathLst>
              <a:path w="195263" h="97346">
                <a:moveTo>
                  <a:pt x="0" y="0"/>
                </a:moveTo>
                <a:lnTo>
                  <a:pt x="195263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83" name="tso-lower-crossb2">
            <a:extLst xmlns:a="http://schemas.openxmlformats.org/drawingml/2006/main">
              <a:ext uri="{FF2B5EF4-FFF2-40B4-BE49-F238E27FC236}">
                <a16:creationId xmlns:a16="http://schemas.microsoft.com/office/drawing/2014/main" id="{D6CD59B2-9406-477B-8D79-3BC691E5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3" y="4901184"/>
            <a:ext cx="195263" cy="97346"/>
          </a:xfrm>
          <a:custGeom xmlns:a="http://schemas.openxmlformats.org/drawingml/2006/main">
            <a:pathLst>
              <a:path w="195263" h="97346">
                <a:moveTo>
                  <a:pt x="195263" y="0"/>
                </a:moveTo>
                <a:lnTo>
                  <a:pt x="0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84" name="tso-lower-crossa3">
            <a:extLst xmlns:a="http://schemas.openxmlformats.org/drawingml/2006/main">
              <a:ext uri="{FF2B5EF4-FFF2-40B4-BE49-F238E27FC236}">
                <a16:creationId xmlns:a16="http://schemas.microsoft.com/office/drawing/2014/main" id="{0C62CED7-3F37-46F9-A292-9B814B4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3" y="4998530"/>
            <a:ext cx="242888" cy="97346"/>
          </a:xfrm>
          <a:custGeom xmlns:a="http://schemas.openxmlformats.org/drawingml/2006/main">
            <a:pathLst>
              <a:path w="242888" h="97346">
                <a:moveTo>
                  <a:pt x="0" y="0"/>
                </a:moveTo>
                <a:lnTo>
                  <a:pt x="242888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85" name="tso-lower-crossb3">
            <a:extLst xmlns:a="http://schemas.openxmlformats.org/drawingml/2006/main">
              <a:ext uri="{FF2B5EF4-FFF2-40B4-BE49-F238E27FC236}">
                <a16:creationId xmlns:a16="http://schemas.microsoft.com/office/drawing/2014/main" id="{93D8C59B-24E9-4545-8F2C-A357EC4C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8530"/>
            <a:ext cx="242888" cy="97346"/>
          </a:xfrm>
          <a:custGeom xmlns:a="http://schemas.openxmlformats.org/drawingml/2006/main">
            <a:pathLst>
              <a:path w="242888" h="97346">
                <a:moveTo>
                  <a:pt x="242888" y="0"/>
                </a:moveTo>
                <a:lnTo>
                  <a:pt x="0" y="97346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244664"/>
            </a:solidFill>
            <a:prstDash val="solid"/>
          </a:ln>
        </p:spPr>
      </p:sp>
      <p:sp>
        <p:nvSpPr>
          <p:cNvPr id="86" name="tower-transformer-route">
            <a:extLst xmlns:a="http://schemas.openxmlformats.org/drawingml/2006/main">
              <a:ext uri="{FF2B5EF4-FFF2-40B4-BE49-F238E27FC236}">
                <a16:creationId xmlns:a16="http://schemas.microsoft.com/office/drawing/2014/main" id="{8F7D9B43-80C4-4CE1-9E6D-47C20765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91075"/>
            <a:ext cx="285750" cy="95"/>
          </a:xfrm>
          <a:custGeom xmlns:a="http://schemas.openxmlformats.org/drawingml/2006/main">
            <a:pathLst>
              <a:path w="285750" h="9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40536A"/>
            </a:solidFill>
            <a:prstDash val="solid"/>
          </a:ln>
        </p:spPr>
      </p:sp>
      <p:sp>
        <p:nvSpPr>
          <p:cNvPr id="87" name="tower-transformer-head">
            <a:extLst xmlns:a="http://schemas.openxmlformats.org/drawingml/2006/main">
              <a:ext uri="{FF2B5EF4-FFF2-40B4-BE49-F238E27FC236}">
                <a16:creationId xmlns:a16="http://schemas.microsoft.com/office/drawing/2014/main" id="{79D3F1D2-E672-4F96-86FE-62FE94D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3643"/>
            <a:ext cx="57150" cy="54864"/>
          </a:xfrm>
          <a:custGeom xmlns:a="http://schemas.openxmlformats.org/drawingml/2006/main">
            <a:pathLst>
              <a:path w="57150" h="54864">
                <a:moveTo>
                  <a:pt x="57150" y="27432"/>
                </a:moveTo>
                <a:lnTo>
                  <a:pt x="0" y="548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536A"/>
          </a:solidFill>
          <a:ln xmlns:a="http://schemas.openxmlformats.org/drawingml/2006/main" w="0">
            <a:solidFill>
              <a:srgbClr val="40536A"/>
            </a:solidFill>
            <a:prstDash val="solid"/>
          </a:ln>
        </p:spPr>
      </p:sp>
      <p:sp>
        <p:nvSpPr>
          <p:cNvPr id="88" name="tso-substation-body">
            <a:extLst xmlns:a="http://schemas.openxmlformats.org/drawingml/2006/main">
              <a:ext uri="{FF2B5EF4-FFF2-40B4-BE49-F238E27FC236}">
                <a16:creationId xmlns:a16="http://schemas.microsoft.com/office/drawing/2014/main" id="{63A559FF-DACD-4FDB-A2F0-AFF9A3D7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9773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EF2"/>
          </a:solidFill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89" name="tso-substation-fin0">
            <a:extLst xmlns:a="http://schemas.openxmlformats.org/drawingml/2006/main">
              <a:ext uri="{FF2B5EF4-FFF2-40B4-BE49-F238E27FC236}">
                <a16:creationId xmlns:a16="http://schemas.microsoft.com/office/drawing/2014/main" id="{4A1AFD56-E2E9-4BDF-A01B-1980E4F7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24400"/>
            <a:ext cx="28575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90" name="tso-substation-fin1">
            <a:extLst xmlns:a="http://schemas.openxmlformats.org/drawingml/2006/main">
              <a:ext uri="{FF2B5EF4-FFF2-40B4-BE49-F238E27FC236}">
                <a16:creationId xmlns:a16="http://schemas.microsoft.com/office/drawing/2014/main" id="{CDAFA371-406E-4DC5-92BC-6CE3EAAB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" y="4724400"/>
            <a:ext cx="28575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91" name="tso-substation-fin2">
            <a:extLst xmlns:a="http://schemas.openxmlformats.org/drawingml/2006/main">
              <a:ext uri="{FF2B5EF4-FFF2-40B4-BE49-F238E27FC236}">
                <a16:creationId xmlns:a16="http://schemas.microsoft.com/office/drawing/2014/main" id="{8041145A-1D7F-4076-B078-1E157A1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" y="4724400"/>
            <a:ext cx="28575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92" name="tso-substation-fin3">
            <a:extLst xmlns:a="http://schemas.openxmlformats.org/drawingml/2006/main">
              <a:ext uri="{FF2B5EF4-FFF2-40B4-BE49-F238E27FC236}">
                <a16:creationId xmlns:a16="http://schemas.microsoft.com/office/drawing/2014/main" id="{CC32BCE1-5A0C-4E4F-AAD7-E10BB5CB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65" y="4724400"/>
            <a:ext cx="28575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93" name="tso-substation-fin4">
            <a:extLst xmlns:a="http://schemas.openxmlformats.org/drawingml/2006/main">
              <a:ext uri="{FF2B5EF4-FFF2-40B4-BE49-F238E27FC236}">
                <a16:creationId xmlns:a16="http://schemas.microsoft.com/office/drawing/2014/main" id="{DCE46B66-437D-47BB-B593-2816AB8E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" y="4724400"/>
            <a:ext cx="28575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94" name="tso-substation-stem0">
            <a:extLst xmlns:a="http://schemas.openxmlformats.org/drawingml/2006/main">
              <a:ext uri="{FF2B5EF4-FFF2-40B4-BE49-F238E27FC236}">
                <a16:creationId xmlns:a16="http://schemas.microsoft.com/office/drawing/2014/main" id="{E802FC8A-DCB1-4129-B8DF-0050F1F0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64380"/>
            <a:ext cx="95" cy="140970"/>
          </a:xfrm>
          <a:custGeom xmlns:a="http://schemas.openxmlformats.org/drawingml/2006/main">
            <a:pathLst>
              <a:path w="95" h="140970">
                <a:moveTo>
                  <a:pt x="0" y="0"/>
                </a:moveTo>
                <a:lnTo>
                  <a:pt x="0" y="14097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95" name="tso-substation-coil00">
            <a:extLst xmlns:a="http://schemas.openxmlformats.org/drawingml/2006/main">
              <a:ext uri="{FF2B5EF4-FFF2-40B4-BE49-F238E27FC236}">
                <a16:creationId xmlns:a16="http://schemas.microsoft.com/office/drawing/2014/main" id="{BC3484B6-B777-4CF2-8053-981359F0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5815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96" name="tso-substation-coil01">
            <a:extLst xmlns:a="http://schemas.openxmlformats.org/drawingml/2006/main">
              <a:ext uri="{FF2B5EF4-FFF2-40B4-BE49-F238E27FC236}">
                <a16:creationId xmlns:a16="http://schemas.microsoft.com/office/drawing/2014/main" id="{8DC93D31-511E-4B46-961B-C00BEDAD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6101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97" name="tso-substation-coil02">
            <a:extLst xmlns:a="http://schemas.openxmlformats.org/drawingml/2006/main">
              <a:ext uri="{FF2B5EF4-FFF2-40B4-BE49-F238E27FC236}">
                <a16:creationId xmlns:a16="http://schemas.microsoft.com/office/drawing/2014/main" id="{3FE9DDF1-5B45-4921-B239-255D7A86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6386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98" name="tso-substation-coil03">
            <a:extLst xmlns:a="http://schemas.openxmlformats.org/drawingml/2006/main">
              <a:ext uri="{FF2B5EF4-FFF2-40B4-BE49-F238E27FC236}">
                <a16:creationId xmlns:a16="http://schemas.microsoft.com/office/drawing/2014/main" id="{6B122ED9-FA98-4625-8915-76CF90F2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6672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99" name="tso-substation-stem1">
            <a:extLst xmlns:a="http://schemas.openxmlformats.org/drawingml/2006/main">
              <a:ext uri="{FF2B5EF4-FFF2-40B4-BE49-F238E27FC236}">
                <a16:creationId xmlns:a16="http://schemas.microsoft.com/office/drawing/2014/main" id="{1068B9F9-278D-4DB1-93D9-70665815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564380"/>
            <a:ext cx="95" cy="140970"/>
          </a:xfrm>
          <a:custGeom xmlns:a="http://schemas.openxmlformats.org/drawingml/2006/main">
            <a:pathLst>
              <a:path w="95" h="140970">
                <a:moveTo>
                  <a:pt x="0" y="0"/>
                </a:moveTo>
                <a:lnTo>
                  <a:pt x="0" y="14097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00" name="tso-substation-coil10">
            <a:extLst xmlns:a="http://schemas.openxmlformats.org/drawingml/2006/main">
              <a:ext uri="{FF2B5EF4-FFF2-40B4-BE49-F238E27FC236}">
                <a16:creationId xmlns:a16="http://schemas.microsoft.com/office/drawing/2014/main" id="{5074CF6D-DF36-4562-8823-FF3FEE78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815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1" name="tso-substation-coil11">
            <a:extLst xmlns:a="http://schemas.openxmlformats.org/drawingml/2006/main">
              <a:ext uri="{FF2B5EF4-FFF2-40B4-BE49-F238E27FC236}">
                <a16:creationId xmlns:a16="http://schemas.microsoft.com/office/drawing/2014/main" id="{4D288B09-BA5C-4AF2-A721-C926123A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101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2" name="tso-substation-coil12">
            <a:extLst xmlns:a="http://schemas.openxmlformats.org/drawingml/2006/main">
              <a:ext uri="{FF2B5EF4-FFF2-40B4-BE49-F238E27FC236}">
                <a16:creationId xmlns:a16="http://schemas.microsoft.com/office/drawing/2014/main" id="{8095D991-99A0-4CC4-855E-C25B115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386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3" name="tso-substation-coil13">
            <a:extLst xmlns:a="http://schemas.openxmlformats.org/drawingml/2006/main">
              <a:ext uri="{FF2B5EF4-FFF2-40B4-BE49-F238E27FC236}">
                <a16:creationId xmlns:a16="http://schemas.microsoft.com/office/drawing/2014/main" id="{504511D9-2225-405D-AF12-56ABF61E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672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4" name="tso-substation-stem2">
            <a:extLst xmlns:a="http://schemas.openxmlformats.org/drawingml/2006/main">
              <a:ext uri="{FF2B5EF4-FFF2-40B4-BE49-F238E27FC236}">
                <a16:creationId xmlns:a16="http://schemas.microsoft.com/office/drawing/2014/main" id="{41960517-7B11-4DD2-A7FA-7F2CF7BF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64380"/>
            <a:ext cx="95" cy="140970"/>
          </a:xfrm>
          <a:custGeom xmlns:a="http://schemas.openxmlformats.org/drawingml/2006/main">
            <a:pathLst>
              <a:path w="95" h="140970">
                <a:moveTo>
                  <a:pt x="0" y="0"/>
                </a:moveTo>
                <a:lnTo>
                  <a:pt x="0" y="14097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05" name="tso-substation-coil20">
            <a:extLst xmlns:a="http://schemas.openxmlformats.org/drawingml/2006/main">
              <a:ext uri="{FF2B5EF4-FFF2-40B4-BE49-F238E27FC236}">
                <a16:creationId xmlns:a16="http://schemas.microsoft.com/office/drawing/2014/main" id="{3F421C67-9431-4D50-BAFD-10DDA9C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5815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6" name="tso-substation-coil21">
            <a:extLst xmlns:a="http://schemas.openxmlformats.org/drawingml/2006/main">
              <a:ext uri="{FF2B5EF4-FFF2-40B4-BE49-F238E27FC236}">
                <a16:creationId xmlns:a16="http://schemas.microsoft.com/office/drawing/2014/main" id="{334B441F-4110-45CB-885C-C82A4C0F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101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7" name="tso-substation-coil22">
            <a:extLst xmlns:a="http://schemas.openxmlformats.org/drawingml/2006/main">
              <a:ext uri="{FF2B5EF4-FFF2-40B4-BE49-F238E27FC236}">
                <a16:creationId xmlns:a16="http://schemas.microsoft.com/office/drawing/2014/main" id="{2E19C008-AE81-4BA3-B796-32CBA462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386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8" name="tso-substation-coil23">
            <a:extLst xmlns:a="http://schemas.openxmlformats.org/drawingml/2006/main">
              <a:ext uri="{FF2B5EF4-FFF2-40B4-BE49-F238E27FC236}">
                <a16:creationId xmlns:a16="http://schemas.microsoft.com/office/drawing/2014/main" id="{180B39EC-3224-4719-B4D6-4BACFA45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672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09" name="tso-substation-base">
            <a:extLst xmlns:a="http://schemas.openxmlformats.org/drawingml/2006/main">
              <a:ext uri="{FF2B5EF4-FFF2-40B4-BE49-F238E27FC236}">
                <a16:creationId xmlns:a16="http://schemas.microsoft.com/office/drawing/2014/main" id="{F94DFEE6-C3C3-4355-970B-A1DA8223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933950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3C73"/>
            </a:solidFill>
            <a:prstDash val="solid"/>
          </a:ln>
        </p:spPr>
      </p:sp>
      <p:sp>
        <p:nvSpPr>
          <p:cNvPr id="110" name="tso-substation-label">
            <a:extLst xmlns:a="http://schemas.openxmlformats.org/drawingml/2006/main">
              <a:ext uri="{FF2B5EF4-FFF2-40B4-BE49-F238E27FC236}">
                <a16:creationId xmlns:a16="http://schemas.microsoft.com/office/drawing/2014/main" id="{329C257C-ED67-4A27-A3C1-1F7D3C1A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变电站</a:t>
            </a:r>
          </a:p>
        </p:txBody>
      </p:sp>
      <p:sp>
        <p:nvSpPr>
          <p:cNvPr id="111" name="coupling-title-bg">
            <a:extLst xmlns:a="http://schemas.openxmlformats.org/drawingml/2006/main">
              <a:ext uri="{FF2B5EF4-FFF2-40B4-BE49-F238E27FC236}">
                <a16:creationId xmlns:a16="http://schemas.microsoft.com/office/drawing/2014/main" id="{BA93C841-AD26-4FBF-898B-C5BBD099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38525"/>
            <a:ext cx="1152525" cy="6000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2" name="coupling-title">
            <a:extLst xmlns:a="http://schemas.openxmlformats.org/drawingml/2006/main">
              <a:ext uri="{FF2B5EF4-FFF2-40B4-BE49-F238E27FC236}">
                <a16:creationId xmlns:a16="http://schemas.microsoft.com/office/drawing/2014/main" id="{A1A877E4-6BE1-40BE-A171-114ED586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76625"/>
            <a:ext cx="104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TSO–DSO</a:t>
            </a:r>
          </a:p>
          <a:p xmlns:a="http://schemas.openxmlformats.org/drawingml/2006/main"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耦合变电站</a:t>
            </a:r>
          </a:p>
        </p:txBody>
      </p:sp>
      <p:sp>
        <p:nvSpPr>
          <p:cNvPr id="113" name="coupling-icon-bg">
            <a:extLst xmlns:a="http://schemas.openxmlformats.org/drawingml/2006/main">
              <a:ext uri="{FF2B5EF4-FFF2-40B4-BE49-F238E27FC236}">
                <a16:creationId xmlns:a16="http://schemas.microsoft.com/office/drawing/2014/main" id="{7F50975F-A0DC-4C9C-89F4-5A67A92A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19550"/>
            <a:ext cx="800100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8CD0"/>
            </a:solidFill>
            <a:prstDash val="solid"/>
          </a:ln>
        </p:spPr>
      </p:sp>
      <p:sp>
        <p:nvSpPr>
          <p:cNvPr id="114" name="coupling-transformer-body">
            <a:extLst xmlns:a="http://schemas.openxmlformats.org/drawingml/2006/main">
              <a:ext uri="{FF2B5EF4-FFF2-40B4-BE49-F238E27FC236}">
                <a16:creationId xmlns:a16="http://schemas.microsoft.com/office/drawing/2014/main" id="{7ABFCDDD-EF7A-4D7B-B5A2-7BC1FD55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242816"/>
            <a:ext cx="638175" cy="199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EF2"/>
          </a:solidFill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15" name="coupling-transformer-fin0">
            <a:extLst xmlns:a="http://schemas.openxmlformats.org/drawingml/2006/main">
              <a:ext uri="{FF2B5EF4-FFF2-40B4-BE49-F238E27FC236}">
                <a16:creationId xmlns:a16="http://schemas.microsoft.com/office/drawing/2014/main" id="{4D33C537-9BA2-4E3D-B9E9-A16D6CE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68153"/>
            <a:ext cx="28575" cy="1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16" name="coupling-transformer-fin1">
            <a:extLst xmlns:a="http://schemas.openxmlformats.org/drawingml/2006/main">
              <a:ext uri="{FF2B5EF4-FFF2-40B4-BE49-F238E27FC236}">
                <a16:creationId xmlns:a16="http://schemas.microsoft.com/office/drawing/2014/main" id="{EB7DC83B-4CBA-4B7A-B4CC-548DBCDF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545" y="4268153"/>
            <a:ext cx="28575" cy="1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17" name="coupling-transformer-fin2">
            <a:extLst xmlns:a="http://schemas.openxmlformats.org/drawingml/2006/main">
              <a:ext uri="{FF2B5EF4-FFF2-40B4-BE49-F238E27FC236}">
                <a16:creationId xmlns:a16="http://schemas.microsoft.com/office/drawing/2014/main" id="{A34C726D-B3B0-4ECB-B7B7-D2164BDF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940" y="4268153"/>
            <a:ext cx="28575" cy="1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18" name="coupling-transformer-fin3">
            <a:extLst xmlns:a="http://schemas.openxmlformats.org/drawingml/2006/main">
              <a:ext uri="{FF2B5EF4-FFF2-40B4-BE49-F238E27FC236}">
                <a16:creationId xmlns:a16="http://schemas.microsoft.com/office/drawing/2014/main" id="{C908177B-E44B-43A8-B84D-8E308278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268153"/>
            <a:ext cx="28575" cy="1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19" name="coupling-transformer-fin4">
            <a:extLst xmlns:a="http://schemas.openxmlformats.org/drawingml/2006/main">
              <a:ext uri="{FF2B5EF4-FFF2-40B4-BE49-F238E27FC236}">
                <a16:creationId xmlns:a16="http://schemas.microsoft.com/office/drawing/2014/main" id="{87BD3624-911D-42F7-A37B-92E556B2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4268153"/>
            <a:ext cx="28575" cy="141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20" name="coupling-transformer-stem0">
            <a:extLst xmlns:a="http://schemas.openxmlformats.org/drawingml/2006/main">
              <a:ext uri="{FF2B5EF4-FFF2-40B4-BE49-F238E27FC236}">
                <a16:creationId xmlns:a16="http://schemas.microsoft.com/office/drawing/2014/main" id="{4A00434C-FD96-4D3A-9ECE-522FD8DD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938" y="4116134"/>
            <a:ext cx="95" cy="133922"/>
          </a:xfrm>
          <a:custGeom xmlns:a="http://schemas.openxmlformats.org/drawingml/2006/main">
            <a:pathLst>
              <a:path w="95" h="133922">
                <a:moveTo>
                  <a:pt x="0" y="0"/>
                </a:moveTo>
                <a:lnTo>
                  <a:pt x="0" y="13392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21" name="coupling-transformer-coil00">
            <a:extLst xmlns:a="http://schemas.openxmlformats.org/drawingml/2006/main">
              <a:ext uri="{FF2B5EF4-FFF2-40B4-BE49-F238E27FC236}">
                <a16:creationId xmlns:a16="http://schemas.microsoft.com/office/drawing/2014/main" id="{CFB0F301-BF18-47FA-9291-2D308786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8" y="41338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22" name="coupling-transformer-coil01">
            <a:extLst xmlns:a="http://schemas.openxmlformats.org/drawingml/2006/main">
              <a:ext uri="{FF2B5EF4-FFF2-40B4-BE49-F238E27FC236}">
                <a16:creationId xmlns:a16="http://schemas.microsoft.com/office/drawing/2014/main" id="{156941EC-EAF9-4FF7-B9EE-161ECE1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8" y="41624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23" name="coupling-transformer-coil02">
            <a:extLst xmlns:a="http://schemas.openxmlformats.org/drawingml/2006/main">
              <a:ext uri="{FF2B5EF4-FFF2-40B4-BE49-F238E27FC236}">
                <a16:creationId xmlns:a16="http://schemas.microsoft.com/office/drawing/2014/main" id="{5BDBF2F5-ECFB-4322-B082-C4A95A26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8" y="419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24" name="coupling-transformer-coil03">
            <a:extLst xmlns:a="http://schemas.openxmlformats.org/drawingml/2006/main">
              <a:ext uri="{FF2B5EF4-FFF2-40B4-BE49-F238E27FC236}">
                <a16:creationId xmlns:a16="http://schemas.microsoft.com/office/drawing/2014/main" id="{A0EDB16F-04BA-4861-BE53-62917B5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38" y="42195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25" name="coupling-transformer-stem1">
            <a:extLst xmlns:a="http://schemas.openxmlformats.org/drawingml/2006/main">
              <a:ext uri="{FF2B5EF4-FFF2-40B4-BE49-F238E27FC236}">
                <a16:creationId xmlns:a16="http://schemas.microsoft.com/office/drawing/2014/main" id="{1F102DCA-CDC4-4DBF-8D9C-407CE0C6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663" y="4116134"/>
            <a:ext cx="95" cy="133922"/>
          </a:xfrm>
          <a:custGeom xmlns:a="http://schemas.openxmlformats.org/drawingml/2006/main">
            <a:pathLst>
              <a:path w="95" h="133922">
                <a:moveTo>
                  <a:pt x="0" y="0"/>
                </a:moveTo>
                <a:lnTo>
                  <a:pt x="0" y="13392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26" name="coupling-transformer-coil10">
            <a:extLst xmlns:a="http://schemas.openxmlformats.org/drawingml/2006/main">
              <a:ext uri="{FF2B5EF4-FFF2-40B4-BE49-F238E27FC236}">
                <a16:creationId xmlns:a16="http://schemas.microsoft.com/office/drawing/2014/main" id="{7A32BD45-40C8-4A60-BA49-6EC8C4B8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41338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27" name="coupling-transformer-coil11">
            <a:extLst xmlns:a="http://schemas.openxmlformats.org/drawingml/2006/main">
              <a:ext uri="{FF2B5EF4-FFF2-40B4-BE49-F238E27FC236}">
                <a16:creationId xmlns:a16="http://schemas.microsoft.com/office/drawing/2014/main" id="{A3E796D0-5954-4E72-8545-9E53ECC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41624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28" name="coupling-transformer-coil12">
            <a:extLst xmlns:a="http://schemas.openxmlformats.org/drawingml/2006/main">
              <a:ext uri="{FF2B5EF4-FFF2-40B4-BE49-F238E27FC236}">
                <a16:creationId xmlns:a16="http://schemas.microsoft.com/office/drawing/2014/main" id="{30665228-59E9-4283-B29B-BE67886A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419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29" name="coupling-transformer-coil13">
            <a:extLst xmlns:a="http://schemas.openxmlformats.org/drawingml/2006/main">
              <a:ext uri="{FF2B5EF4-FFF2-40B4-BE49-F238E27FC236}">
                <a16:creationId xmlns:a16="http://schemas.microsoft.com/office/drawing/2014/main" id="{9AE06569-8D8F-4D98-8AD8-02B4F712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563" y="42195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30" name="coupling-transformer-stem2">
            <a:extLst xmlns:a="http://schemas.openxmlformats.org/drawingml/2006/main">
              <a:ext uri="{FF2B5EF4-FFF2-40B4-BE49-F238E27FC236}">
                <a16:creationId xmlns:a16="http://schemas.microsoft.com/office/drawing/2014/main" id="{2EFFA46E-85F7-4559-A4EA-23978929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388" y="4116134"/>
            <a:ext cx="95" cy="133922"/>
          </a:xfrm>
          <a:custGeom xmlns:a="http://schemas.openxmlformats.org/drawingml/2006/main">
            <a:pathLst>
              <a:path w="95" h="133922">
                <a:moveTo>
                  <a:pt x="0" y="0"/>
                </a:moveTo>
                <a:lnTo>
                  <a:pt x="0" y="13392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31" name="coupling-transformer-coil20">
            <a:extLst xmlns:a="http://schemas.openxmlformats.org/drawingml/2006/main">
              <a:ext uri="{FF2B5EF4-FFF2-40B4-BE49-F238E27FC236}">
                <a16:creationId xmlns:a16="http://schemas.microsoft.com/office/drawing/2014/main" id="{869D97EE-ADAB-4633-B286-DB13F66C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288" y="41338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32" name="coupling-transformer-coil21">
            <a:extLst xmlns:a="http://schemas.openxmlformats.org/drawingml/2006/main">
              <a:ext uri="{FF2B5EF4-FFF2-40B4-BE49-F238E27FC236}">
                <a16:creationId xmlns:a16="http://schemas.microsoft.com/office/drawing/2014/main" id="{11A7DFCE-6263-4A23-BA99-BC8FBECA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288" y="41624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33" name="coupling-transformer-coil22">
            <a:extLst xmlns:a="http://schemas.openxmlformats.org/drawingml/2006/main">
              <a:ext uri="{FF2B5EF4-FFF2-40B4-BE49-F238E27FC236}">
                <a16:creationId xmlns:a16="http://schemas.microsoft.com/office/drawing/2014/main" id="{B19F03EC-29A7-4711-89A2-227F9398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288" y="41910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34" name="coupling-transformer-coil23">
            <a:extLst xmlns:a="http://schemas.openxmlformats.org/drawingml/2006/main">
              <a:ext uri="{FF2B5EF4-FFF2-40B4-BE49-F238E27FC236}">
                <a16:creationId xmlns:a16="http://schemas.microsoft.com/office/drawing/2014/main" id="{45CBDD42-34D1-4D30-9867-D6A2E9D2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288" y="42195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35" name="coupling-transformer-base">
            <a:extLst xmlns:a="http://schemas.openxmlformats.org/drawingml/2006/main">
              <a:ext uri="{FF2B5EF4-FFF2-40B4-BE49-F238E27FC236}">
                <a16:creationId xmlns:a16="http://schemas.microsoft.com/office/drawing/2014/main" id="{FA05DF88-5617-438E-8A7F-5EBA93EB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67225"/>
            <a:ext cx="695325" cy="95"/>
          </a:xfrm>
          <a:custGeom xmlns:a="http://schemas.openxmlformats.org/drawingml/2006/main">
            <a:pathLst>
              <a:path w="695325" h="95">
                <a:moveTo>
                  <a:pt x="0" y="0"/>
                </a:moveTo>
                <a:lnTo>
                  <a:pt x="695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3C73"/>
            </a:solidFill>
            <a:prstDash val="solid"/>
          </a:ln>
        </p:spPr>
      </p:sp>
      <p:sp>
        <p:nvSpPr>
          <p:cNvPr id="136" name="tso-dso-left-route">
            <a:extLst xmlns:a="http://schemas.openxmlformats.org/drawingml/2006/main">
              <a:ext uri="{FF2B5EF4-FFF2-40B4-BE49-F238E27FC236}">
                <a16:creationId xmlns:a16="http://schemas.microsoft.com/office/drawing/2014/main" id="{A098C403-1DA2-4E41-9801-07163259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76725"/>
            <a:ext cx="209550" cy="95"/>
          </a:xfrm>
          <a:custGeom xmlns:a="http://schemas.openxmlformats.org/drawingml/2006/main">
            <a:pathLst>
              <a:path w="209550" h="95">
                <a:moveTo>
                  <a:pt x="2095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37" name="tso-dso-left-head">
            <a:extLst xmlns:a="http://schemas.openxmlformats.org/drawingml/2006/main">
              <a:ext uri="{FF2B5EF4-FFF2-40B4-BE49-F238E27FC236}">
                <a16:creationId xmlns:a16="http://schemas.microsoft.com/office/drawing/2014/main" id="{4989B074-3D30-4DF6-BC79-20AD1B9E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26433"/>
            <a:ext cx="104775" cy="100584"/>
          </a:xfrm>
          <a:custGeom xmlns:a="http://schemas.openxmlformats.org/drawingml/2006/main">
            <a:pathLst>
              <a:path w="104775" h="100584">
                <a:moveTo>
                  <a:pt x="0" y="50292"/>
                </a:moveTo>
                <a:lnTo>
                  <a:pt x="104775" y="0"/>
                </a:lnTo>
                <a:lnTo>
                  <a:pt x="104775" y="100584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138" name="tso-dso-right-route">
            <a:extLst xmlns:a="http://schemas.openxmlformats.org/drawingml/2006/main">
              <a:ext uri="{FF2B5EF4-FFF2-40B4-BE49-F238E27FC236}">
                <a16:creationId xmlns:a16="http://schemas.microsoft.com/office/drawing/2014/main" id="{A666D3F0-E55D-46E7-BA28-22A32E01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76725"/>
            <a:ext cx="209550" cy="95"/>
          </a:xfrm>
          <a:custGeom xmlns:a="http://schemas.openxmlformats.org/drawingml/2006/main">
            <a:pathLst>
              <a:path w="209550" h="9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368C"/>
            </a:solidFill>
            <a:prstDash val="solid"/>
          </a:ln>
        </p:spPr>
      </p:sp>
      <p:sp>
        <p:nvSpPr>
          <p:cNvPr id="139" name="tso-dso-right-head">
            <a:extLst xmlns:a="http://schemas.openxmlformats.org/drawingml/2006/main">
              <a:ext uri="{FF2B5EF4-FFF2-40B4-BE49-F238E27FC236}">
                <a16:creationId xmlns:a16="http://schemas.microsoft.com/office/drawing/2014/main" id="{CC37521B-6A0B-4672-9272-FA2C7B57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26433"/>
            <a:ext cx="104775" cy="100584"/>
          </a:xfrm>
          <a:custGeom xmlns:a="http://schemas.openxmlformats.org/drawingml/2006/main">
            <a:pathLst>
              <a:path w="104775" h="100584">
                <a:moveTo>
                  <a:pt x="104775" y="50292"/>
                </a:moveTo>
                <a:lnTo>
                  <a:pt x="0" y="1005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140" name="coupling-notes-bg">
            <a:extLst xmlns:a="http://schemas.openxmlformats.org/drawingml/2006/main">
              <a:ext uri="{FF2B5EF4-FFF2-40B4-BE49-F238E27FC236}">
                <a16:creationId xmlns:a16="http://schemas.microsoft.com/office/drawing/2014/main" id="{B6D205DF-8A36-4FE9-830A-63797C25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72000"/>
            <a:ext cx="1009650" cy="752475"/>
          </a:xfrm>
          <a:prstGeom xmlns:a="http://schemas.openxmlformats.org/drawingml/2006/main" prst="roundRect">
            <a:avLst>
              <a:gd name="adj" fmla="val 10127"/>
            </a:avLst>
          </a:prstGeom>
          <a:gradFill xmlns:a="http://schemas.openxmlformats.org/drawingml/2006/main">
            <a:gsLst>
              <a:gs pos="0">
                <a:srgbClr val="E9F7FF"/>
              </a:gs>
              <a:gs pos="100000">
                <a:srgbClr val="E0F1FD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41" name="coupling-notes">
            <a:extLst xmlns:a="http://schemas.openxmlformats.org/drawingml/2006/main">
              <a:ext uri="{FF2B5EF4-FFF2-40B4-BE49-F238E27FC236}">
                <a16:creationId xmlns:a16="http://schemas.microsoft.com/office/drawing/2014/main" id="{0A4C526D-BCE5-4CB3-8213-EDA31B0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9625"/>
            <a:ext cx="971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电力交换</a:t>
            </a:r>
          </a:p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电压协调</a:t>
            </a:r>
          </a:p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运行协同</a:t>
            </a:r>
          </a:p>
        </p:txBody>
      </p:sp>
      <p:sp>
        <p:nvSpPr>
          <p:cNvPr id="142" name="pole1-mast">
            <a:extLst xmlns:a="http://schemas.openxmlformats.org/drawingml/2006/main">
              <a:ext uri="{FF2B5EF4-FFF2-40B4-BE49-F238E27FC236}">
                <a16:creationId xmlns:a16="http://schemas.microsoft.com/office/drawing/2014/main" id="{EE7D28A3-609F-4D9B-BDEE-975E909A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76625"/>
            <a:ext cx="28575" cy="561975"/>
          </a:xfrm>
          <a:custGeom xmlns:a="http://schemas.openxmlformats.org/drawingml/2006/main">
            <a:pathLst>
              <a:path w="28575" h="561975">
                <a:moveTo>
                  <a:pt x="28575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4A45"/>
            </a:solidFill>
            <a:prstDash val="solid"/>
          </a:ln>
        </p:spPr>
      </p:sp>
      <p:sp>
        <p:nvSpPr>
          <p:cNvPr id="143" name="pole1-arm1">
            <a:extLst xmlns:a="http://schemas.openxmlformats.org/drawingml/2006/main">
              <a:ext uri="{FF2B5EF4-FFF2-40B4-BE49-F238E27FC236}">
                <a16:creationId xmlns:a16="http://schemas.microsoft.com/office/drawing/2014/main" id="{5D1C0506-503C-4862-B0D2-FDD6ACC7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62350"/>
            <a:ext cx="409575" cy="9525"/>
          </a:xfrm>
          <a:custGeom xmlns:a="http://schemas.openxmlformats.org/drawingml/2006/main">
            <a:pathLst>
              <a:path w="409575" h="9525">
                <a:moveTo>
                  <a:pt x="0" y="0"/>
                </a:moveTo>
                <a:lnTo>
                  <a:pt x="40957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4A45"/>
            </a:solidFill>
            <a:prstDash val="solid"/>
          </a:ln>
        </p:spPr>
      </p:sp>
      <p:sp>
        <p:nvSpPr>
          <p:cNvPr id="144" name="pole1-arm2">
            <a:extLst xmlns:a="http://schemas.openxmlformats.org/drawingml/2006/main">
              <a:ext uri="{FF2B5EF4-FFF2-40B4-BE49-F238E27FC236}">
                <a16:creationId xmlns:a16="http://schemas.microsoft.com/office/drawing/2014/main" id="{EF619AA8-9925-476C-B2DE-B2B5230B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38550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4A45"/>
            </a:solidFill>
            <a:prstDash val="solid"/>
          </a:ln>
        </p:spPr>
      </p:sp>
      <p:sp>
        <p:nvSpPr>
          <p:cNvPr id="145" name="pole2-mast">
            <a:extLst xmlns:a="http://schemas.openxmlformats.org/drawingml/2006/main">
              <a:ext uri="{FF2B5EF4-FFF2-40B4-BE49-F238E27FC236}">
                <a16:creationId xmlns:a16="http://schemas.microsoft.com/office/drawing/2014/main" id="{FE2F6947-76BF-490D-A6BD-7F6D4B54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28575" cy="561975"/>
          </a:xfrm>
          <a:custGeom xmlns:a="http://schemas.openxmlformats.org/drawingml/2006/main">
            <a:pathLst>
              <a:path w="28575" h="561975">
                <a:moveTo>
                  <a:pt x="28575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4A45"/>
            </a:solidFill>
            <a:prstDash val="solid"/>
          </a:ln>
        </p:spPr>
      </p:sp>
      <p:sp>
        <p:nvSpPr>
          <p:cNvPr id="146" name="pole2-arm1">
            <a:extLst xmlns:a="http://schemas.openxmlformats.org/drawingml/2006/main">
              <a:ext uri="{FF2B5EF4-FFF2-40B4-BE49-F238E27FC236}">
                <a16:creationId xmlns:a16="http://schemas.microsoft.com/office/drawing/2014/main" id="{03BE7C2C-B563-4D37-9942-F379AE0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409575" cy="9525"/>
          </a:xfrm>
          <a:custGeom xmlns:a="http://schemas.openxmlformats.org/drawingml/2006/main">
            <a:pathLst>
              <a:path w="409575" h="9525">
                <a:moveTo>
                  <a:pt x="0" y="0"/>
                </a:moveTo>
                <a:lnTo>
                  <a:pt x="40957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4A45"/>
            </a:solidFill>
            <a:prstDash val="solid"/>
          </a:ln>
        </p:spPr>
      </p:sp>
      <p:sp>
        <p:nvSpPr>
          <p:cNvPr id="147" name="pole2-arm2">
            <a:extLst xmlns:a="http://schemas.openxmlformats.org/drawingml/2006/main">
              <a:ext uri="{FF2B5EF4-FFF2-40B4-BE49-F238E27FC236}">
                <a16:creationId xmlns:a16="http://schemas.microsoft.com/office/drawing/2014/main" id="{9AB4D089-1114-4B61-AB48-D9D743F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38550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4A45"/>
            </a:solidFill>
            <a:prstDash val="solid"/>
          </a:ln>
        </p:spPr>
      </p:sp>
      <p:sp>
        <p:nvSpPr>
          <p:cNvPr id="148" name="dso-wire1">
            <a:extLst xmlns:a="http://schemas.openxmlformats.org/drawingml/2006/main">
              <a:ext uri="{FF2B5EF4-FFF2-40B4-BE49-F238E27FC236}">
                <a16:creationId xmlns:a16="http://schemas.microsoft.com/office/drawing/2014/main" id="{7D06A8EB-665D-4954-8883-01F4B2F7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52825"/>
            <a:ext cx="1352550" cy="62755"/>
          </a:xfrm>
          <a:custGeom xmlns:a="http://schemas.openxmlformats.org/drawingml/2006/main">
            <a:pathLst>
              <a:path w="1352550" h="62755">
                <a:moveTo>
                  <a:pt x="0" y="0"/>
                </a:moveTo>
                <a:lnTo>
                  <a:pt x="67628" y="8879"/>
                </a:lnTo>
                <a:lnTo>
                  <a:pt x="135255" y="17574"/>
                </a:lnTo>
                <a:lnTo>
                  <a:pt x="202883" y="25908"/>
                </a:lnTo>
                <a:lnTo>
                  <a:pt x="270510" y="33708"/>
                </a:lnTo>
                <a:lnTo>
                  <a:pt x="338138" y="40820"/>
                </a:lnTo>
                <a:lnTo>
                  <a:pt x="405765" y="47102"/>
                </a:lnTo>
                <a:lnTo>
                  <a:pt x="473392" y="52435"/>
                </a:lnTo>
                <a:lnTo>
                  <a:pt x="541020" y="56724"/>
                </a:lnTo>
                <a:lnTo>
                  <a:pt x="608647" y="59897"/>
                </a:lnTo>
                <a:lnTo>
                  <a:pt x="676275" y="61913"/>
                </a:lnTo>
                <a:lnTo>
                  <a:pt x="743903" y="62755"/>
                </a:lnTo>
                <a:lnTo>
                  <a:pt x="811530" y="62439"/>
                </a:lnTo>
                <a:lnTo>
                  <a:pt x="879158" y="61008"/>
                </a:lnTo>
                <a:lnTo>
                  <a:pt x="946785" y="58532"/>
                </a:lnTo>
                <a:lnTo>
                  <a:pt x="1014413" y="55107"/>
                </a:lnTo>
                <a:lnTo>
                  <a:pt x="1082040" y="50853"/>
                </a:lnTo>
                <a:lnTo>
                  <a:pt x="1149668" y="45910"/>
                </a:lnTo>
                <a:lnTo>
                  <a:pt x="1217295" y="40434"/>
                </a:lnTo>
                <a:lnTo>
                  <a:pt x="1284922" y="34596"/>
                </a:lnTo>
                <a:lnTo>
                  <a:pt x="13525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B3D68"/>
            </a:solidFill>
            <a:prstDash val="solid"/>
          </a:ln>
        </p:spPr>
      </p:sp>
      <p:sp>
        <p:nvSpPr>
          <p:cNvPr id="149" name="dso-wire2">
            <a:extLst xmlns:a="http://schemas.openxmlformats.org/drawingml/2006/main">
              <a:ext uri="{FF2B5EF4-FFF2-40B4-BE49-F238E27FC236}">
                <a16:creationId xmlns:a16="http://schemas.microsoft.com/office/drawing/2014/main" id="{C0474179-A171-43EF-81A7-0100EBD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1343025" cy="62755"/>
          </a:xfrm>
          <a:custGeom xmlns:a="http://schemas.openxmlformats.org/drawingml/2006/main">
            <a:pathLst>
              <a:path w="1343025" h="62755">
                <a:moveTo>
                  <a:pt x="0" y="0"/>
                </a:moveTo>
                <a:lnTo>
                  <a:pt x="67151" y="8879"/>
                </a:lnTo>
                <a:lnTo>
                  <a:pt x="134303" y="17574"/>
                </a:lnTo>
                <a:lnTo>
                  <a:pt x="201454" y="25908"/>
                </a:lnTo>
                <a:lnTo>
                  <a:pt x="268605" y="33708"/>
                </a:lnTo>
                <a:lnTo>
                  <a:pt x="335756" y="40820"/>
                </a:lnTo>
                <a:lnTo>
                  <a:pt x="402908" y="47102"/>
                </a:lnTo>
                <a:lnTo>
                  <a:pt x="470059" y="52435"/>
                </a:lnTo>
                <a:lnTo>
                  <a:pt x="537210" y="56724"/>
                </a:lnTo>
                <a:lnTo>
                  <a:pt x="604361" y="59897"/>
                </a:lnTo>
                <a:lnTo>
                  <a:pt x="671513" y="61913"/>
                </a:lnTo>
                <a:lnTo>
                  <a:pt x="738664" y="62755"/>
                </a:lnTo>
                <a:lnTo>
                  <a:pt x="805815" y="62439"/>
                </a:lnTo>
                <a:lnTo>
                  <a:pt x="872966" y="61008"/>
                </a:lnTo>
                <a:lnTo>
                  <a:pt x="940117" y="58532"/>
                </a:lnTo>
                <a:lnTo>
                  <a:pt x="1007269" y="55107"/>
                </a:lnTo>
                <a:lnTo>
                  <a:pt x="1074420" y="50853"/>
                </a:lnTo>
                <a:lnTo>
                  <a:pt x="1141571" y="45910"/>
                </a:lnTo>
                <a:lnTo>
                  <a:pt x="1208722" y="40434"/>
                </a:lnTo>
                <a:lnTo>
                  <a:pt x="1275874" y="34596"/>
                </a:lnTo>
                <a:lnTo>
                  <a:pt x="134302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B3D68"/>
            </a:solidFill>
            <a:prstDash val="solid"/>
          </a:ln>
        </p:spPr>
      </p:sp>
      <p:sp>
        <p:nvSpPr>
          <p:cNvPr id="150" name="dso-lines">
            <a:extLst xmlns:a="http://schemas.openxmlformats.org/drawingml/2006/main">
              <a:ext uri="{FF2B5EF4-FFF2-40B4-BE49-F238E27FC236}">
                <a16:creationId xmlns:a16="http://schemas.microsoft.com/office/drawing/2014/main" id="{6A67A05A-1584-49DD-B6CA-CD624B8D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配电线路</a:t>
            </a:r>
          </a:p>
        </p:txBody>
      </p:sp>
      <p:sp>
        <p:nvSpPr>
          <p:cNvPr id="151" name="pst-body">
            <a:extLst xmlns:a="http://schemas.openxmlformats.org/drawingml/2006/main">
              <a:ext uri="{FF2B5EF4-FFF2-40B4-BE49-F238E27FC236}">
                <a16:creationId xmlns:a16="http://schemas.microsoft.com/office/drawing/2014/main" id="{C8D1D573-9325-40D3-9686-B2870419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10469"/>
            <a:ext cx="314325" cy="1728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EF2"/>
          </a:solidFill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52" name="pst-fin0">
            <a:extLst xmlns:a="http://schemas.openxmlformats.org/drawingml/2006/main">
              <a:ext uri="{FF2B5EF4-FFF2-40B4-BE49-F238E27FC236}">
                <a16:creationId xmlns:a16="http://schemas.microsoft.com/office/drawing/2014/main" id="{0DBDC550-45B6-4228-B412-F5A86281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2471"/>
            <a:ext cx="28575" cy="122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53" name="pst-fin1">
            <a:extLst xmlns:a="http://schemas.openxmlformats.org/drawingml/2006/main">
              <a:ext uri="{FF2B5EF4-FFF2-40B4-BE49-F238E27FC236}">
                <a16:creationId xmlns:a16="http://schemas.microsoft.com/office/drawing/2014/main" id="{79670E18-AA5E-4C69-937F-492ACAC8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32471"/>
            <a:ext cx="28575" cy="122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54" name="pst-fin2">
            <a:extLst xmlns:a="http://schemas.openxmlformats.org/drawingml/2006/main">
              <a:ext uri="{FF2B5EF4-FFF2-40B4-BE49-F238E27FC236}">
                <a16:creationId xmlns:a16="http://schemas.microsoft.com/office/drawing/2014/main" id="{40148378-90A5-44E5-811C-D7F64389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2471"/>
            <a:ext cx="28575" cy="122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55" name="pst-fin3">
            <a:extLst xmlns:a="http://schemas.openxmlformats.org/drawingml/2006/main">
              <a:ext uri="{FF2B5EF4-FFF2-40B4-BE49-F238E27FC236}">
                <a16:creationId xmlns:a16="http://schemas.microsoft.com/office/drawing/2014/main" id="{A9121687-870B-4ACA-9B07-6F6D04D8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32471"/>
            <a:ext cx="28575" cy="122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56" name="pst-fin4">
            <a:extLst xmlns:a="http://schemas.openxmlformats.org/drawingml/2006/main">
              <a:ext uri="{FF2B5EF4-FFF2-40B4-BE49-F238E27FC236}">
                <a16:creationId xmlns:a16="http://schemas.microsoft.com/office/drawing/2014/main" id="{C9ACA096-EAC0-40AE-9B31-9CBB252C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2471"/>
            <a:ext cx="28575" cy="1225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F"/>
          </a:solidFill>
          <a:ln xmlns:a="http://schemas.openxmlformats.org/drawingml/2006/main" w="4763">
            <a:solidFill>
              <a:srgbClr val="153C73"/>
            </a:solidFill>
            <a:prstDash val="solid"/>
          </a:ln>
        </p:spPr>
      </p:sp>
      <p:sp>
        <p:nvSpPr>
          <p:cNvPr id="157" name="pst-stem0">
            <a:extLst xmlns:a="http://schemas.openxmlformats.org/drawingml/2006/main">
              <a:ext uri="{FF2B5EF4-FFF2-40B4-BE49-F238E27FC236}">
                <a16:creationId xmlns:a16="http://schemas.microsoft.com/office/drawing/2014/main" id="{17248E10-6467-48D9-9D37-6026A48F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4400455"/>
            <a:ext cx="95" cy="116300"/>
          </a:xfrm>
          <a:custGeom xmlns:a="http://schemas.openxmlformats.org/drawingml/2006/main">
            <a:pathLst>
              <a:path w="95" h="116300">
                <a:moveTo>
                  <a:pt x="0" y="0"/>
                </a:moveTo>
                <a:lnTo>
                  <a:pt x="0" y="116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58" name="pst-coil00">
            <a:extLst xmlns:a="http://schemas.openxmlformats.org/drawingml/2006/main">
              <a:ext uri="{FF2B5EF4-FFF2-40B4-BE49-F238E27FC236}">
                <a16:creationId xmlns:a16="http://schemas.microsoft.com/office/drawing/2014/main" id="{12F32D40-5FF0-4551-B03A-DE388E77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419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59" name="pst-coil01">
            <a:extLst xmlns:a="http://schemas.openxmlformats.org/drawingml/2006/main">
              <a:ext uri="{FF2B5EF4-FFF2-40B4-BE49-F238E27FC236}">
                <a16:creationId xmlns:a16="http://schemas.microsoft.com/office/drawing/2014/main" id="{C522FC21-6DE5-46D7-82CA-A59EE8D0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4481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0" name="pst-coil02">
            <a:extLst xmlns:a="http://schemas.openxmlformats.org/drawingml/2006/main">
              <a:ext uri="{FF2B5EF4-FFF2-40B4-BE49-F238E27FC236}">
                <a16:creationId xmlns:a16="http://schemas.microsoft.com/office/drawing/2014/main" id="{56DD09F3-10AD-4C1D-8FFE-B83A8197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4767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1" name="pst-coil03">
            <a:extLst xmlns:a="http://schemas.openxmlformats.org/drawingml/2006/main">
              <a:ext uri="{FF2B5EF4-FFF2-40B4-BE49-F238E27FC236}">
                <a16:creationId xmlns:a16="http://schemas.microsoft.com/office/drawing/2014/main" id="{0044CFC5-1831-46E9-B7AF-2E3D8015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5053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2" name="pst-stem1">
            <a:extLst xmlns:a="http://schemas.openxmlformats.org/drawingml/2006/main">
              <a:ext uri="{FF2B5EF4-FFF2-40B4-BE49-F238E27FC236}">
                <a16:creationId xmlns:a16="http://schemas.microsoft.com/office/drawing/2014/main" id="{9701ECC7-D7C6-4579-9252-598CD43D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4400455"/>
            <a:ext cx="95" cy="116300"/>
          </a:xfrm>
          <a:custGeom xmlns:a="http://schemas.openxmlformats.org/drawingml/2006/main">
            <a:pathLst>
              <a:path w="95" h="116300">
                <a:moveTo>
                  <a:pt x="0" y="0"/>
                </a:moveTo>
                <a:lnTo>
                  <a:pt x="0" y="116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63" name="pst-coil10">
            <a:extLst xmlns:a="http://schemas.openxmlformats.org/drawingml/2006/main">
              <a:ext uri="{FF2B5EF4-FFF2-40B4-BE49-F238E27FC236}">
                <a16:creationId xmlns:a16="http://schemas.microsoft.com/office/drawing/2014/main" id="{1AF2A95D-41BB-4CB7-912B-7BB8814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4419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4" name="pst-coil11">
            <a:extLst xmlns:a="http://schemas.openxmlformats.org/drawingml/2006/main">
              <a:ext uri="{FF2B5EF4-FFF2-40B4-BE49-F238E27FC236}">
                <a16:creationId xmlns:a16="http://schemas.microsoft.com/office/drawing/2014/main" id="{6F110C80-2A79-4D71-B6D9-F8254267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44481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5" name="pst-coil12">
            <a:extLst xmlns:a="http://schemas.openxmlformats.org/drawingml/2006/main">
              <a:ext uri="{FF2B5EF4-FFF2-40B4-BE49-F238E27FC236}">
                <a16:creationId xmlns:a16="http://schemas.microsoft.com/office/drawing/2014/main" id="{AEFD8279-C6F6-4135-9E44-2D87E92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44767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6" name="pst-coil13">
            <a:extLst xmlns:a="http://schemas.openxmlformats.org/drawingml/2006/main">
              <a:ext uri="{FF2B5EF4-FFF2-40B4-BE49-F238E27FC236}">
                <a16:creationId xmlns:a16="http://schemas.microsoft.com/office/drawing/2014/main" id="{80195921-51A4-4847-B143-23F80199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45053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7" name="pst-stem2">
            <a:extLst xmlns:a="http://schemas.openxmlformats.org/drawingml/2006/main">
              <a:ext uri="{FF2B5EF4-FFF2-40B4-BE49-F238E27FC236}">
                <a16:creationId xmlns:a16="http://schemas.microsoft.com/office/drawing/2014/main" id="{5B53EA00-2D1A-4AD9-938F-20BFF6DA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400455"/>
            <a:ext cx="95" cy="116300"/>
          </a:xfrm>
          <a:custGeom xmlns:a="http://schemas.openxmlformats.org/drawingml/2006/main">
            <a:pathLst>
              <a:path w="95" h="116300">
                <a:moveTo>
                  <a:pt x="0" y="0"/>
                </a:moveTo>
                <a:lnTo>
                  <a:pt x="0" y="116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53C73"/>
            </a:solidFill>
            <a:prstDash val="solid"/>
          </a:ln>
        </p:spPr>
      </p:sp>
      <p:sp>
        <p:nvSpPr>
          <p:cNvPr id="168" name="pst-coil20">
            <a:extLst xmlns:a="http://schemas.openxmlformats.org/drawingml/2006/main">
              <a:ext uri="{FF2B5EF4-FFF2-40B4-BE49-F238E27FC236}">
                <a16:creationId xmlns:a16="http://schemas.microsoft.com/office/drawing/2014/main" id="{5157E4BA-39BB-4456-A777-B7BEECC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41960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69" name="pst-coil21">
            <a:extLst xmlns:a="http://schemas.openxmlformats.org/drawingml/2006/main">
              <a:ext uri="{FF2B5EF4-FFF2-40B4-BE49-F238E27FC236}">
                <a16:creationId xmlns:a16="http://schemas.microsoft.com/office/drawing/2014/main" id="{BF87FAEA-BABF-4D61-9414-3FC9645B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44817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70" name="pst-coil22">
            <a:extLst xmlns:a="http://schemas.openxmlformats.org/drawingml/2006/main">
              <a:ext uri="{FF2B5EF4-FFF2-40B4-BE49-F238E27FC236}">
                <a16:creationId xmlns:a16="http://schemas.microsoft.com/office/drawing/2014/main" id="{99E81F47-1E6F-4893-9612-7F369884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476750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71" name="pst-coil23">
            <a:extLst xmlns:a="http://schemas.openxmlformats.org/drawingml/2006/main">
              <a:ext uri="{FF2B5EF4-FFF2-40B4-BE49-F238E27FC236}">
                <a16:creationId xmlns:a16="http://schemas.microsoft.com/office/drawing/2014/main" id="{A4B29B91-9A87-417B-8CAE-B33BFF7B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505325"/>
            <a:ext cx="76200" cy="95"/>
          </a:xfrm>
          <a:custGeom xmlns:a="http://schemas.openxmlformats.org/drawingml/2006/main">
            <a:pathLst>
              <a:path w="76200" h="9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53C73"/>
            </a:solidFill>
            <a:prstDash val="solid"/>
          </a:ln>
        </p:spPr>
      </p:sp>
      <p:sp>
        <p:nvSpPr>
          <p:cNvPr id="172" name="pst-base">
            <a:extLst xmlns:a="http://schemas.openxmlformats.org/drawingml/2006/main">
              <a:ext uri="{FF2B5EF4-FFF2-40B4-BE49-F238E27FC236}">
                <a16:creationId xmlns:a16="http://schemas.microsoft.com/office/drawing/2014/main" id="{E5C1A04A-A220-4E09-921C-B9C90C7F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05350"/>
            <a:ext cx="371475" cy="95"/>
          </a:xfrm>
          <a:custGeom xmlns:a="http://schemas.openxmlformats.org/drawingml/2006/main"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53C73"/>
            </a:solidFill>
            <a:prstDash val="solid"/>
          </a:ln>
        </p:spPr>
      </p:sp>
      <p:sp>
        <p:nvSpPr>
          <p:cNvPr id="173" name="es-box">
            <a:extLst xmlns:a="http://schemas.openxmlformats.org/drawingml/2006/main">
              <a:ext uri="{FF2B5EF4-FFF2-40B4-BE49-F238E27FC236}">
                <a16:creationId xmlns:a16="http://schemas.microsoft.com/office/drawing/2014/main" id="{17F8CAB3-6B7C-491E-B00D-88A990EC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219075" cy="3143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CF9E4"/>
          </a:solidFill>
          <a:ln xmlns:a="http://schemas.openxmlformats.org/drawingml/2006/main" w="19050">
            <a:solidFill>
              <a:srgbClr val="407641"/>
            </a:solidFill>
            <a:prstDash val="solid"/>
          </a:ln>
        </p:spPr>
      </p:sp>
      <p:sp>
        <p:nvSpPr>
          <p:cNvPr id="174" name="es-terminal">
            <a:extLst xmlns:a="http://schemas.openxmlformats.org/drawingml/2006/main">
              <a:ext uri="{FF2B5EF4-FFF2-40B4-BE49-F238E27FC236}">
                <a16:creationId xmlns:a16="http://schemas.microsoft.com/office/drawing/2014/main" id="{B1691D8E-8A97-4711-A535-A4221062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276" y="4324350"/>
            <a:ext cx="6572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es-cell0">
            <a:extLst xmlns:a="http://schemas.openxmlformats.org/drawingml/2006/main">
              <a:ext uri="{FF2B5EF4-FFF2-40B4-BE49-F238E27FC236}">
                <a16:creationId xmlns:a16="http://schemas.microsoft.com/office/drawing/2014/main" id="{C244A59E-388E-485C-BB36-B5EDBD8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10075"/>
            <a:ext cx="142875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es-cell1">
            <a:extLst xmlns:a="http://schemas.openxmlformats.org/drawingml/2006/main">
              <a:ext uri="{FF2B5EF4-FFF2-40B4-BE49-F238E27FC236}">
                <a16:creationId xmlns:a16="http://schemas.microsoft.com/office/drawing/2014/main" id="{484C1E8D-7D83-4855-BF11-BEBFCDD2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92625"/>
            <a:ext cx="142875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es-cell2">
            <a:extLst xmlns:a="http://schemas.openxmlformats.org/drawingml/2006/main">
              <a:ext uri="{FF2B5EF4-FFF2-40B4-BE49-F238E27FC236}">
                <a16:creationId xmlns:a16="http://schemas.microsoft.com/office/drawing/2014/main" id="{8AEA3D1C-C2E1-4D5B-962A-8B4D3010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75175"/>
            <a:ext cx="142875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sc-station">
            <a:extLst xmlns:a="http://schemas.openxmlformats.org/drawingml/2006/main">
              <a:ext uri="{FF2B5EF4-FFF2-40B4-BE49-F238E27FC236}">
                <a16:creationId xmlns:a16="http://schemas.microsoft.com/office/drawing/2014/main" id="{3E1B675A-8535-41A5-B241-9EC4F7C3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33875"/>
            <a:ext cx="165354" cy="381000"/>
          </a:xfrm>
          <a:prstGeom xmlns:a="http://schemas.openxmlformats.org/drawingml/2006/main" prst="roundRect">
            <a:avLst>
              <a:gd name="adj" fmla="val 17281"/>
            </a:avLst>
          </a:prstGeom>
          <a:solidFill xmlns:a="http://schemas.openxmlformats.org/drawingml/2006/main">
            <a:srgbClr val="C6E8FA"/>
          </a:solidFill>
          <a:ln xmlns:a="http://schemas.openxmlformats.org/drawingml/2006/main" w="13335">
            <a:solidFill>
              <a:srgbClr val="1765A2"/>
            </a:solidFill>
            <a:prstDash val="solid"/>
          </a:ln>
        </p:spPr>
      </p:sp>
      <p:sp>
        <p:nvSpPr>
          <p:cNvPr id="179" name="sc-screen">
            <a:extLst xmlns:a="http://schemas.openxmlformats.org/drawingml/2006/main">
              <a:ext uri="{FF2B5EF4-FFF2-40B4-BE49-F238E27FC236}">
                <a16:creationId xmlns:a16="http://schemas.microsoft.com/office/drawing/2014/main" id="{B695CF3A-0725-4973-BE03-7C1AFA74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71975"/>
            <a:ext cx="104013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1765A2"/>
            </a:solidFill>
            <a:prstDash val="solid"/>
          </a:ln>
        </p:spPr>
      </p:sp>
      <p:sp>
        <p:nvSpPr>
          <p:cNvPr id="180" name="sc-bolt">
            <a:extLst xmlns:a="http://schemas.openxmlformats.org/drawingml/2006/main">
              <a:ext uri="{FF2B5EF4-FFF2-40B4-BE49-F238E27FC236}">
                <a16:creationId xmlns:a16="http://schemas.microsoft.com/office/drawing/2014/main" id="{37B2F12F-7690-4142-8353-11C681B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81500"/>
            <a:ext cx="48006" cy="87630"/>
          </a:xfrm>
          <a:prstGeom xmlns:a="http://schemas.openxmlformats.org/drawingml/2006/main" prst="lightningBolt">
            <a:avLst/>
          </a:prstGeom>
          <a:solidFill xmlns:a="http://schemas.openxmlformats.org/drawingml/2006/main">
            <a:srgbClr val="ECA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sc-cable">
            <a:extLst xmlns:a="http://schemas.openxmlformats.org/drawingml/2006/main">
              <a:ext uri="{FF2B5EF4-FFF2-40B4-BE49-F238E27FC236}">
                <a16:creationId xmlns:a16="http://schemas.microsoft.com/office/drawing/2014/main" id="{D5C2E792-7D7B-4BF8-AA9D-13624A8A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121" y="4400550"/>
            <a:ext cx="85344" cy="238125"/>
          </a:xfrm>
          <a:custGeom xmlns:a="http://schemas.openxmlformats.org/drawingml/2006/main">
            <a:pathLst>
              <a:path w="85344" h="238125">
                <a:moveTo>
                  <a:pt x="0" y="0"/>
                </a:moveTo>
                <a:lnTo>
                  <a:pt x="85344" y="28575"/>
                </a:lnTo>
                <a:lnTo>
                  <a:pt x="85344" y="238125"/>
                </a:lnTo>
                <a:lnTo>
                  <a:pt x="5334" y="238125"/>
                </a:lnTo>
                <a:lnTo>
                  <a:pt x="5334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D5285"/>
            </a:solidFill>
            <a:prstDash val="solid"/>
          </a:ln>
        </p:spPr>
      </p:sp>
      <p:sp>
        <p:nvSpPr>
          <p:cNvPr id="182" name="pst-text">
            <a:extLst xmlns:a="http://schemas.openxmlformats.org/drawingml/2006/main">
              <a:ext uri="{FF2B5EF4-FFF2-40B4-BE49-F238E27FC236}">
                <a16:creationId xmlns:a16="http://schemas.microsoft.com/office/drawing/2014/main" id="{47E119CB-E9E7-4BFF-A49C-CDD99AC5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14875"/>
            <a:ext cx="409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PST</a:t>
            </a:r>
          </a:p>
        </p:txBody>
      </p:sp>
      <p:sp>
        <p:nvSpPr>
          <p:cNvPr id="183" name="es-text">
            <a:extLst xmlns:a="http://schemas.openxmlformats.org/drawingml/2006/main">
              <a:ext uri="{FF2B5EF4-FFF2-40B4-BE49-F238E27FC236}">
                <a16:creationId xmlns:a16="http://schemas.microsoft.com/office/drawing/2014/main" id="{23CEAC4E-0FC5-4A05-B0A2-11221845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95825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ES</a:t>
            </a:r>
          </a:p>
        </p:txBody>
      </p:sp>
      <p:sp>
        <p:nvSpPr>
          <p:cNvPr id="184" name="es-note">
            <a:extLst xmlns:a="http://schemas.openxmlformats.org/drawingml/2006/main">
              <a:ext uri="{FF2B5EF4-FFF2-40B4-BE49-F238E27FC236}">
                <a16:creationId xmlns:a16="http://schemas.microsoft.com/office/drawing/2014/main" id="{B4E0DCC7-A5D7-423E-AF41-32818B8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76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(储能)</a:t>
            </a:r>
          </a:p>
        </p:txBody>
      </p:sp>
      <p:sp>
        <p:nvSpPr>
          <p:cNvPr id="185" name="sc-text">
            <a:extLst xmlns:a="http://schemas.openxmlformats.org/drawingml/2006/main">
              <a:ext uri="{FF2B5EF4-FFF2-40B4-BE49-F238E27FC236}">
                <a16:creationId xmlns:a16="http://schemas.microsoft.com/office/drawing/2014/main" id="{86DBB9F3-BF3B-4B61-A84C-EC93E23E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67250"/>
            <a:ext cx="647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EV智能充电</a:t>
            </a:r>
          </a:p>
          <a:p xmlns:a="http://schemas.openxmlformats.org/drawingml/2006/main">
            <a:pPr algn="ctr">
              <a:defRPr sz="112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SC</a:t>
            </a:r>
          </a:p>
        </p:txBody>
      </p:sp>
      <p:sp>
        <p:nvSpPr>
          <p:cNvPr id="186" name="solar-panel">
            <a:extLst xmlns:a="http://schemas.openxmlformats.org/drawingml/2006/main">
              <a:ext uri="{FF2B5EF4-FFF2-40B4-BE49-F238E27FC236}">
                <a16:creationId xmlns:a16="http://schemas.microsoft.com/office/drawing/2014/main" id="{91DCE64C-93DB-4679-B9F0-8EA97DC8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62550"/>
            <a:ext cx="485775" cy="219075"/>
          </a:xfrm>
          <a:custGeom xmlns:a="http://schemas.openxmlformats.org/drawingml/2006/main">
            <a:pathLst>
              <a:path w="485775" h="219075">
                <a:moveTo>
                  <a:pt x="76200" y="0"/>
                </a:moveTo>
                <a:lnTo>
                  <a:pt x="485775" y="0"/>
                </a:lnTo>
                <a:lnTo>
                  <a:pt x="4095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167EC4"/>
          </a:solidFill>
          <a:ln xmlns:a="http://schemas.openxmlformats.org/drawingml/2006/main" w="9525">
            <a:solidFill>
              <a:srgbClr val="116FB4"/>
            </a:solidFill>
            <a:prstDash val="solid"/>
          </a:ln>
        </p:spPr>
      </p:sp>
      <p:sp>
        <p:nvSpPr>
          <p:cNvPr id="187" name="solar-v1">
            <a:extLst xmlns:a="http://schemas.openxmlformats.org/drawingml/2006/main">
              <a:ext uri="{FF2B5EF4-FFF2-40B4-BE49-F238E27FC236}">
                <a16:creationId xmlns:a16="http://schemas.microsoft.com/office/drawing/2014/main" id="{7B65161E-899F-4D02-9112-DAF4918C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65" y="5162550"/>
            <a:ext cx="76200" cy="219075"/>
          </a:xfrm>
          <a:custGeom xmlns:a="http://schemas.openxmlformats.org/drawingml/2006/main">
            <a:pathLst>
              <a:path w="76200" h="219075">
                <a:moveTo>
                  <a:pt x="7620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9FFFF"/>
            </a:solidFill>
            <a:prstDash val="solid"/>
          </a:ln>
        </p:spPr>
      </p:sp>
      <p:sp>
        <p:nvSpPr>
          <p:cNvPr id="188" name="solar-v2">
            <a:extLst xmlns:a="http://schemas.openxmlformats.org/drawingml/2006/main">
              <a:ext uri="{FF2B5EF4-FFF2-40B4-BE49-F238E27FC236}">
                <a16:creationId xmlns:a16="http://schemas.microsoft.com/office/drawing/2014/main" id="{D530A935-4ADB-49B3-A5FD-293E378E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5162550"/>
            <a:ext cx="76200" cy="219075"/>
          </a:xfrm>
          <a:custGeom xmlns:a="http://schemas.openxmlformats.org/drawingml/2006/main">
            <a:pathLst>
              <a:path w="76200" h="219075">
                <a:moveTo>
                  <a:pt x="7620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9FFFF"/>
            </a:solidFill>
            <a:prstDash val="solid"/>
          </a:ln>
        </p:spPr>
      </p:sp>
      <p:sp>
        <p:nvSpPr>
          <p:cNvPr id="189" name="solar-v3">
            <a:extLst xmlns:a="http://schemas.openxmlformats.org/drawingml/2006/main">
              <a:ext uri="{FF2B5EF4-FFF2-40B4-BE49-F238E27FC236}">
                <a16:creationId xmlns:a16="http://schemas.microsoft.com/office/drawing/2014/main" id="{B261D201-1579-4833-B041-2E54D19E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595" y="5162550"/>
            <a:ext cx="76200" cy="219075"/>
          </a:xfrm>
          <a:custGeom xmlns:a="http://schemas.openxmlformats.org/drawingml/2006/main">
            <a:pathLst>
              <a:path w="76200" h="219075">
                <a:moveTo>
                  <a:pt x="7620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9FFFF"/>
            </a:solidFill>
            <a:prstDash val="solid"/>
          </a:ln>
        </p:spPr>
      </p:sp>
      <p:sp>
        <p:nvSpPr>
          <p:cNvPr id="190" name="solar-v4">
            <a:extLst xmlns:a="http://schemas.openxmlformats.org/drawingml/2006/main">
              <a:ext uri="{FF2B5EF4-FFF2-40B4-BE49-F238E27FC236}">
                <a16:creationId xmlns:a16="http://schemas.microsoft.com/office/drawing/2014/main" id="{BE4BE52D-CC61-4211-B9B7-EC46ED1F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510" y="5162550"/>
            <a:ext cx="76200" cy="219075"/>
          </a:xfrm>
          <a:custGeom xmlns:a="http://schemas.openxmlformats.org/drawingml/2006/main">
            <a:pathLst>
              <a:path w="76200" h="219075">
                <a:moveTo>
                  <a:pt x="7620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9FFFF"/>
            </a:solidFill>
            <a:prstDash val="solid"/>
          </a:ln>
        </p:spPr>
      </p:sp>
      <p:sp>
        <p:nvSpPr>
          <p:cNvPr id="191" name="solar-h1">
            <a:extLst xmlns:a="http://schemas.openxmlformats.org/drawingml/2006/main">
              <a:ext uri="{FF2B5EF4-FFF2-40B4-BE49-F238E27FC236}">
                <a16:creationId xmlns:a16="http://schemas.microsoft.com/office/drawing/2014/main" id="{D0CE15B8-476A-4920-89B7-3BAB80D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650" y="5235575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9FFFF"/>
            </a:solidFill>
            <a:prstDash val="solid"/>
          </a:ln>
        </p:spPr>
      </p:sp>
      <p:sp>
        <p:nvSpPr>
          <p:cNvPr id="192" name="solar-h2">
            <a:extLst xmlns:a="http://schemas.openxmlformats.org/drawingml/2006/main">
              <a:ext uri="{FF2B5EF4-FFF2-40B4-BE49-F238E27FC236}">
                <a16:creationId xmlns:a16="http://schemas.microsoft.com/office/drawing/2014/main" id="{D42E1C30-79B8-4396-9275-B4B309B0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250" y="5308600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E9FFFF"/>
            </a:solidFill>
            <a:prstDash val="solid"/>
          </a:ln>
        </p:spPr>
      </p:sp>
      <p:sp>
        <p:nvSpPr>
          <p:cNvPr id="193" name="wind-mast">
            <a:extLst xmlns:a="http://schemas.openxmlformats.org/drawingml/2006/main">
              <a:ext uri="{FF2B5EF4-FFF2-40B4-BE49-F238E27FC236}">
                <a16:creationId xmlns:a16="http://schemas.microsoft.com/office/drawing/2014/main" id="{0FA56970-D513-474F-847E-99B5B415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364" y="5208651"/>
            <a:ext cx="95" cy="306324"/>
          </a:xfrm>
          <a:custGeom xmlns:a="http://schemas.openxmlformats.org/drawingml/2006/main">
            <a:pathLst>
              <a:path w="95" h="306324">
                <a:moveTo>
                  <a:pt x="0" y="0"/>
                </a:moveTo>
                <a:lnTo>
                  <a:pt x="0" y="306324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086CA6"/>
            </a:solidFill>
            <a:prstDash val="solid"/>
          </a:ln>
        </p:spPr>
      </p:sp>
      <p:sp>
        <p:nvSpPr>
          <p:cNvPr id="194" name="wind-blade1">
            <a:extLst xmlns:a="http://schemas.openxmlformats.org/drawingml/2006/main">
              <a:ext uri="{FF2B5EF4-FFF2-40B4-BE49-F238E27FC236}">
                <a16:creationId xmlns:a16="http://schemas.microsoft.com/office/drawing/2014/main" id="{58C1958E-F37E-4E03-9DFB-38DA008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789" y="5010150"/>
            <a:ext cx="66675" cy="198501"/>
          </a:xfrm>
          <a:custGeom xmlns:a="http://schemas.openxmlformats.org/drawingml/2006/main">
            <a:pathLst>
              <a:path w="66675" h="198501">
                <a:moveTo>
                  <a:pt x="28575" y="198501"/>
                </a:moveTo>
                <a:lnTo>
                  <a:pt x="0" y="47625"/>
                </a:lnTo>
                <a:lnTo>
                  <a:pt x="38100" y="0"/>
                </a:lnTo>
                <a:lnTo>
                  <a:pt x="66675" y="160401"/>
                </a:lnTo>
                <a:close/>
              </a:path>
            </a:pathLst>
          </a:custGeom>
          <a:solidFill xmlns:a="http://schemas.openxmlformats.org/drawingml/2006/main">
            <a:srgbClr val="086CA6"/>
          </a:solidFill>
          <a:ln xmlns:a="http://schemas.openxmlformats.org/drawingml/2006/main" w="0">
            <a:solidFill>
              <a:srgbClr val="086CA6"/>
            </a:solidFill>
            <a:prstDash val="solid"/>
          </a:ln>
        </p:spPr>
      </p:sp>
      <p:sp>
        <p:nvSpPr>
          <p:cNvPr id="195" name="wind-blade2">
            <a:extLst xmlns:a="http://schemas.openxmlformats.org/drawingml/2006/main">
              <a:ext uri="{FF2B5EF4-FFF2-40B4-BE49-F238E27FC236}">
                <a16:creationId xmlns:a16="http://schemas.microsoft.com/office/drawing/2014/main" id="{FD1CEDF2-9853-43C2-9575-D01D2259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364" y="5208651"/>
            <a:ext cx="307086" cy="142875"/>
          </a:xfrm>
          <a:custGeom xmlns:a="http://schemas.openxmlformats.org/drawingml/2006/main">
            <a:pathLst>
              <a:path w="307086" h="142875">
                <a:moveTo>
                  <a:pt x="0" y="0"/>
                </a:moveTo>
                <a:lnTo>
                  <a:pt x="307086" y="142875"/>
                </a:lnTo>
                <a:lnTo>
                  <a:pt x="76200" y="76200"/>
                </a:lnTo>
                <a:close/>
              </a:path>
            </a:pathLst>
          </a:custGeom>
          <a:solidFill xmlns:a="http://schemas.openxmlformats.org/drawingml/2006/main">
            <a:srgbClr val="086CA6"/>
          </a:solidFill>
          <a:ln xmlns:a="http://schemas.openxmlformats.org/drawingml/2006/main" w="0">
            <a:solidFill>
              <a:srgbClr val="086CA6"/>
            </a:solidFill>
            <a:prstDash val="solid"/>
          </a:ln>
        </p:spPr>
      </p:sp>
      <p:sp>
        <p:nvSpPr>
          <p:cNvPr id="196" name="wind-blade3">
            <a:extLst xmlns:a="http://schemas.openxmlformats.org/drawingml/2006/main">
              <a:ext uri="{FF2B5EF4-FFF2-40B4-BE49-F238E27FC236}">
                <a16:creationId xmlns:a16="http://schemas.microsoft.com/office/drawing/2014/main" id="{39773FFB-7A7C-4BEF-9414-262973F1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08651"/>
            <a:ext cx="283464" cy="152400"/>
          </a:xfrm>
          <a:custGeom xmlns:a="http://schemas.openxmlformats.org/drawingml/2006/main">
            <a:pathLst>
              <a:path w="283464" h="152400">
                <a:moveTo>
                  <a:pt x="283464" y="0"/>
                </a:moveTo>
                <a:lnTo>
                  <a:pt x="0" y="152400"/>
                </a:lnTo>
                <a:lnTo>
                  <a:pt x="226314" y="28575"/>
                </a:lnTo>
                <a:close/>
              </a:path>
            </a:pathLst>
          </a:custGeom>
          <a:solidFill xmlns:a="http://schemas.openxmlformats.org/drawingml/2006/main">
            <a:srgbClr val="086CA6"/>
          </a:solidFill>
          <a:ln xmlns:a="http://schemas.openxmlformats.org/drawingml/2006/main" w="0">
            <a:solidFill>
              <a:srgbClr val="086CA6"/>
            </a:solidFill>
            <a:prstDash val="solid"/>
          </a:ln>
        </p:spPr>
      </p:sp>
      <p:sp>
        <p:nvSpPr>
          <p:cNvPr id="197" name="renewable-dots">
            <a:extLst xmlns:a="http://schemas.openxmlformats.org/drawingml/2006/main">
              <a:ext uri="{FF2B5EF4-FFF2-40B4-BE49-F238E27FC236}">
                <a16:creationId xmlns:a16="http://schemas.microsoft.com/office/drawing/2014/main" id="{A62180CA-7D6D-4691-88B1-879F69A6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14925"/>
            <a:ext cx="295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98" name="renewable-text">
            <a:extLst xmlns:a="http://schemas.openxmlformats.org/drawingml/2006/main">
              <a:ext uri="{FF2B5EF4-FFF2-40B4-BE49-F238E27FC236}">
                <a16:creationId xmlns:a16="http://schemas.microsoft.com/office/drawing/2014/main" id="{2AA397A8-DCBE-4047-B880-E77B2B8F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19725"/>
            <a:ext cx="117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分布式电源</a:t>
            </a:r>
          </a:p>
        </p:txBody>
      </p:sp>
      <p:sp>
        <p:nvSpPr>
          <p:cNvPr id="199" name="scenario-box">
            <a:extLst xmlns:a="http://schemas.openxmlformats.org/drawingml/2006/main">
              <a:ext uri="{FF2B5EF4-FFF2-40B4-BE49-F238E27FC236}">
                <a16:creationId xmlns:a16="http://schemas.microsoft.com/office/drawing/2014/main" id="{930710C9-9634-4D94-8A28-01C153BF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00725"/>
            <a:ext cx="4762500" cy="1790700"/>
          </a:xfrm>
          <a:prstGeom xmlns:a="http://schemas.openxmlformats.org/drawingml/2006/main" prst="roundRect">
            <a:avLst>
              <a:gd name="adj" fmla="val 4787"/>
            </a:avLst>
          </a:prstGeom>
          <a:gradFill xmlns:a="http://schemas.openxmlformats.org/drawingml/2006/main">
            <a:gsLst>
              <a:gs pos="0">
                <a:srgbClr val="F2FBFF"/>
              </a:gs>
              <a:gs pos="100000">
                <a:srgbClr val="E4F4FF"/>
              </a:gs>
            </a:gsLst>
            <a:lin ang="5400000"/>
          </a:gra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200" name="scenario-title">
            <a:extLst xmlns:a="http://schemas.openxmlformats.org/drawingml/2006/main">
              <a:ext uri="{FF2B5EF4-FFF2-40B4-BE49-F238E27FC236}">
                <a16:creationId xmlns:a16="http://schemas.microsoft.com/office/drawing/2014/main" id="{D6AE7350-0DAF-49DF-93E2-D717FDCA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29300"/>
            <a:ext cx="4457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多阶段场景树与不确定性</a:t>
            </a:r>
          </a:p>
        </p:txBody>
      </p:sp>
      <p:sp>
        <p:nvSpPr>
          <p:cNvPr id="201" name="stage0">
            <a:extLst xmlns:a="http://schemas.openxmlformats.org/drawingml/2006/main">
              <a:ext uri="{FF2B5EF4-FFF2-40B4-BE49-F238E27FC236}">
                <a16:creationId xmlns:a16="http://schemas.microsoft.com/office/drawing/2014/main" id="{CD1B2D7D-EEF4-4521-A12D-F6486A01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9825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E7F5FF"/>
              </a:gs>
              <a:gs pos="100000">
                <a:srgbClr val="DCEBF9"/>
              </a:gs>
            </a:gsLst>
            <a:lin ang="5400000"/>
          </a:gradFill>
          <a:ln xmlns:a="http://schemas.openxmlformats.org/drawingml/2006/main" w="9525">
            <a:solidFill>
              <a:srgbClr val="63B4FA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阶段1</a:t>
            </a:r>
          </a:p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(0–10年)</a:t>
            </a:r>
          </a:p>
        </p:txBody>
      </p:sp>
      <p:sp>
        <p:nvSpPr>
          <p:cNvPr id="202" name="st0-stem">
            <a:extLst xmlns:a="http://schemas.openxmlformats.org/drawingml/2006/main">
              <a:ext uri="{FF2B5EF4-FFF2-40B4-BE49-F238E27FC236}">
                <a16:creationId xmlns:a16="http://schemas.microsoft.com/office/drawing/2014/main" id="{55C974F6-79AB-4D0C-9AEB-3161FD90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71512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03" name="st0-fork0">
            <a:extLst xmlns:a="http://schemas.openxmlformats.org/drawingml/2006/main">
              <a:ext uri="{FF2B5EF4-FFF2-40B4-BE49-F238E27FC236}">
                <a16:creationId xmlns:a16="http://schemas.microsoft.com/office/drawing/2014/main" id="{55FF87DF-6D5A-4088-9023-0563527B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30480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04" name="st0-leaf0">
            <a:extLst xmlns:a="http://schemas.openxmlformats.org/drawingml/2006/main">
              <a:ext uri="{FF2B5EF4-FFF2-40B4-BE49-F238E27FC236}">
                <a16:creationId xmlns:a16="http://schemas.microsoft.com/office/drawing/2014/main" id="{82AF5806-1854-4117-A72A-94404F1D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05" name="st0-fork1">
            <a:extLst xmlns:a="http://schemas.openxmlformats.org/drawingml/2006/main">
              <a:ext uri="{FF2B5EF4-FFF2-40B4-BE49-F238E27FC236}">
                <a16:creationId xmlns:a16="http://schemas.microsoft.com/office/drawing/2014/main" id="{75414D9D-F27A-4AAB-B466-82BEA882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1990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06" name="st0-leaf1">
            <a:extLst xmlns:a="http://schemas.openxmlformats.org/drawingml/2006/main">
              <a:ext uri="{FF2B5EF4-FFF2-40B4-BE49-F238E27FC236}">
                <a16:creationId xmlns:a16="http://schemas.microsoft.com/office/drawing/2014/main" id="{FD8E2FEC-2761-4ED8-9397-0C5FECA3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07" name="st0-fork2">
            <a:extLst xmlns:a="http://schemas.openxmlformats.org/drawingml/2006/main">
              <a:ext uri="{FF2B5EF4-FFF2-40B4-BE49-F238E27FC236}">
                <a16:creationId xmlns:a16="http://schemas.microsoft.com/office/drawing/2014/main" id="{92896F9E-72F0-4B7C-8BE3-69E42A0F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0" y="0"/>
                </a:moveTo>
                <a:lnTo>
                  <a:pt x="3048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08" name="st0-leaf2">
            <a:extLst xmlns:a="http://schemas.openxmlformats.org/drawingml/2006/main">
              <a:ext uri="{FF2B5EF4-FFF2-40B4-BE49-F238E27FC236}">
                <a16:creationId xmlns:a16="http://schemas.microsoft.com/office/drawing/2014/main" id="{ADD85563-5300-4703-8D95-698223B3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09" name="stage-dots0">
            <a:extLst xmlns:a="http://schemas.openxmlformats.org/drawingml/2006/main">
              <a:ext uri="{FF2B5EF4-FFF2-40B4-BE49-F238E27FC236}">
                <a16:creationId xmlns:a16="http://schemas.microsoft.com/office/drawing/2014/main" id="{328F26A3-6896-4CC3-882D-8D6FA1D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62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210" name="stage-arrow0-route">
            <a:extLst xmlns:a="http://schemas.openxmlformats.org/drawingml/2006/main">
              <a:ext uri="{FF2B5EF4-FFF2-40B4-BE49-F238E27FC236}">
                <a16:creationId xmlns:a16="http://schemas.microsoft.com/office/drawing/2014/main" id="{AFE51474-A097-496A-8F90-7F79A208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77000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211" name="stage-arrow0-head">
            <a:extLst xmlns:a="http://schemas.openxmlformats.org/drawingml/2006/main">
              <a:ext uri="{FF2B5EF4-FFF2-40B4-BE49-F238E27FC236}">
                <a16:creationId xmlns:a16="http://schemas.microsoft.com/office/drawing/2014/main" id="{1A3AE1DA-767C-4E5D-B1AD-A1BC2A3E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431280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12" name="stage1">
            <a:extLst xmlns:a="http://schemas.openxmlformats.org/drawingml/2006/main">
              <a:ext uri="{FF2B5EF4-FFF2-40B4-BE49-F238E27FC236}">
                <a16:creationId xmlns:a16="http://schemas.microsoft.com/office/drawing/2014/main" id="{DEE1144B-DCD3-42EC-A472-50774DF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219825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EBF7FF"/>
              </a:gs>
              <a:gs pos="100000">
                <a:srgbClr val="DCEFFA"/>
              </a:gs>
            </a:gsLst>
            <a:lin ang="5400000"/>
          </a:gradFill>
          <a:ln xmlns:a="http://schemas.openxmlformats.org/drawingml/2006/main" w="9525">
            <a:solidFill>
              <a:srgbClr val="63B4FA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阶段2</a:t>
            </a:r>
          </a:p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(10–20年)</a:t>
            </a:r>
          </a:p>
        </p:txBody>
      </p:sp>
      <p:sp>
        <p:nvSpPr>
          <p:cNvPr id="213" name="st1-stem">
            <a:extLst xmlns:a="http://schemas.openxmlformats.org/drawingml/2006/main">
              <a:ext uri="{FF2B5EF4-FFF2-40B4-BE49-F238E27FC236}">
                <a16:creationId xmlns:a16="http://schemas.microsoft.com/office/drawing/2014/main" id="{590F71A3-196F-485A-8749-86B56167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71512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14" name="st1-fork0">
            <a:extLst xmlns:a="http://schemas.openxmlformats.org/drawingml/2006/main">
              <a:ext uri="{FF2B5EF4-FFF2-40B4-BE49-F238E27FC236}">
                <a16:creationId xmlns:a16="http://schemas.microsoft.com/office/drawing/2014/main" id="{28E05571-10CD-4A75-9B79-9B23AAF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30480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15" name="st1-leaf0">
            <a:extLst xmlns:a="http://schemas.openxmlformats.org/drawingml/2006/main">
              <a:ext uri="{FF2B5EF4-FFF2-40B4-BE49-F238E27FC236}">
                <a16:creationId xmlns:a16="http://schemas.microsoft.com/office/drawing/2014/main" id="{F8317C98-2669-4608-829C-CE6AAC64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16" name="st1-fork1">
            <a:extLst xmlns:a="http://schemas.openxmlformats.org/drawingml/2006/main">
              <a:ext uri="{FF2B5EF4-FFF2-40B4-BE49-F238E27FC236}">
                <a16:creationId xmlns:a16="http://schemas.microsoft.com/office/drawing/2014/main" id="{776417CE-47FD-46BA-9743-1EACE0B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81990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17" name="st1-leaf1">
            <a:extLst xmlns:a="http://schemas.openxmlformats.org/drawingml/2006/main">
              <a:ext uri="{FF2B5EF4-FFF2-40B4-BE49-F238E27FC236}">
                <a16:creationId xmlns:a16="http://schemas.microsoft.com/office/drawing/2014/main" id="{359ECBCA-428F-46A0-B6DF-8CDBF81A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18" name="st1-fork2">
            <a:extLst xmlns:a="http://schemas.openxmlformats.org/drawingml/2006/main">
              <a:ext uri="{FF2B5EF4-FFF2-40B4-BE49-F238E27FC236}">
                <a16:creationId xmlns:a16="http://schemas.microsoft.com/office/drawing/2014/main" id="{864D0D77-AE4E-4B69-94CD-4CEFD231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0" y="0"/>
                </a:moveTo>
                <a:lnTo>
                  <a:pt x="3048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19" name="st1-leaf2">
            <a:extLst xmlns:a="http://schemas.openxmlformats.org/drawingml/2006/main">
              <a:ext uri="{FF2B5EF4-FFF2-40B4-BE49-F238E27FC236}">
                <a16:creationId xmlns:a16="http://schemas.microsoft.com/office/drawing/2014/main" id="{9C194F89-9B3D-4A9F-BE69-E53BFBC1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20" name="stage-dots1">
            <a:extLst xmlns:a="http://schemas.openxmlformats.org/drawingml/2006/main">
              <a:ext uri="{FF2B5EF4-FFF2-40B4-BE49-F238E27FC236}">
                <a16:creationId xmlns:a16="http://schemas.microsoft.com/office/drawing/2014/main" id="{F8A248D3-1C10-48FE-A0E1-094212A4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162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221" name="stage-arrow1-route">
            <a:extLst xmlns:a="http://schemas.openxmlformats.org/drawingml/2006/main">
              <a:ext uri="{FF2B5EF4-FFF2-40B4-BE49-F238E27FC236}">
                <a16:creationId xmlns:a16="http://schemas.microsoft.com/office/drawing/2014/main" id="{C863F8F4-958A-4195-A140-7D3306C1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477000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222" name="stage-arrow1-head">
            <a:extLst xmlns:a="http://schemas.openxmlformats.org/drawingml/2006/main">
              <a:ext uri="{FF2B5EF4-FFF2-40B4-BE49-F238E27FC236}">
                <a16:creationId xmlns:a16="http://schemas.microsoft.com/office/drawing/2014/main" id="{BE667BC2-7BFB-4F55-9957-4A07EAC8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31280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23" name="stage2">
            <a:extLst xmlns:a="http://schemas.openxmlformats.org/drawingml/2006/main">
              <a:ext uri="{FF2B5EF4-FFF2-40B4-BE49-F238E27FC236}">
                <a16:creationId xmlns:a16="http://schemas.microsoft.com/office/drawing/2014/main" id="{BEDC66A7-4E5C-4139-B166-D6AD3133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219825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ECFBE7"/>
              </a:gs>
              <a:gs pos="100000">
                <a:srgbClr val="DDF3D8"/>
              </a:gs>
            </a:gsLst>
            <a:lin ang="5400000"/>
          </a:gradFill>
          <a:ln xmlns:a="http://schemas.openxmlformats.org/drawingml/2006/main" w="9525">
            <a:solidFill>
              <a:srgbClr val="74CA67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阶段3</a:t>
            </a:r>
          </a:p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(20–30年)</a:t>
            </a:r>
          </a:p>
        </p:txBody>
      </p:sp>
      <p:sp>
        <p:nvSpPr>
          <p:cNvPr id="224" name="st2-stem">
            <a:extLst xmlns:a="http://schemas.openxmlformats.org/drawingml/2006/main">
              <a:ext uri="{FF2B5EF4-FFF2-40B4-BE49-F238E27FC236}">
                <a16:creationId xmlns:a16="http://schemas.microsoft.com/office/drawing/2014/main" id="{2223A323-F598-4E63-81F7-6C13392F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71512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25" name="st2-fork0">
            <a:extLst xmlns:a="http://schemas.openxmlformats.org/drawingml/2006/main">
              <a:ext uri="{FF2B5EF4-FFF2-40B4-BE49-F238E27FC236}">
                <a16:creationId xmlns:a16="http://schemas.microsoft.com/office/drawing/2014/main" id="{1B0C493B-F743-4E1A-8CE7-8C753D22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30480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26" name="st2-leaf0">
            <a:extLst xmlns:a="http://schemas.openxmlformats.org/drawingml/2006/main">
              <a:ext uri="{FF2B5EF4-FFF2-40B4-BE49-F238E27FC236}">
                <a16:creationId xmlns:a16="http://schemas.microsoft.com/office/drawing/2014/main" id="{5472C488-C21B-45DD-914C-123A45F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27" name="st2-fork1">
            <a:extLst xmlns:a="http://schemas.openxmlformats.org/drawingml/2006/main">
              <a:ext uri="{FF2B5EF4-FFF2-40B4-BE49-F238E27FC236}">
                <a16:creationId xmlns:a16="http://schemas.microsoft.com/office/drawing/2014/main" id="{8E99B5D7-0D85-43D6-A50C-0C9B980F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81990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28" name="st2-leaf1">
            <a:extLst xmlns:a="http://schemas.openxmlformats.org/drawingml/2006/main">
              <a:ext uri="{FF2B5EF4-FFF2-40B4-BE49-F238E27FC236}">
                <a16:creationId xmlns:a16="http://schemas.microsoft.com/office/drawing/2014/main" id="{58ADD7E6-4A55-40EF-B4AB-43AEEC87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29" name="st2-fork2">
            <a:extLst xmlns:a="http://schemas.openxmlformats.org/drawingml/2006/main">
              <a:ext uri="{FF2B5EF4-FFF2-40B4-BE49-F238E27FC236}">
                <a16:creationId xmlns:a16="http://schemas.microsoft.com/office/drawing/2014/main" id="{D6E89A4A-D638-489C-A708-48058813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0" y="0"/>
                </a:moveTo>
                <a:lnTo>
                  <a:pt x="3048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30" name="st2-leaf2">
            <a:extLst xmlns:a="http://schemas.openxmlformats.org/drawingml/2006/main">
              <a:ext uri="{FF2B5EF4-FFF2-40B4-BE49-F238E27FC236}">
                <a16:creationId xmlns:a16="http://schemas.microsoft.com/office/drawing/2014/main" id="{6A0DC6D5-1484-4D68-B234-2A0B1E83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31" name="stage-dots2">
            <a:extLst xmlns:a="http://schemas.openxmlformats.org/drawingml/2006/main">
              <a:ext uri="{FF2B5EF4-FFF2-40B4-BE49-F238E27FC236}">
                <a16:creationId xmlns:a16="http://schemas.microsoft.com/office/drawing/2014/main" id="{2FC7F898-B2C5-4569-BA42-9940EA7F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7162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232" name="stage-arrow2-route">
            <a:extLst xmlns:a="http://schemas.openxmlformats.org/drawingml/2006/main">
              <a:ext uri="{FF2B5EF4-FFF2-40B4-BE49-F238E27FC236}">
                <a16:creationId xmlns:a16="http://schemas.microsoft.com/office/drawing/2014/main" id="{0EBDF60C-060A-4015-B102-F2CA368A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477000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233" name="stage-arrow2-head">
            <a:extLst xmlns:a="http://schemas.openxmlformats.org/drawingml/2006/main">
              <a:ext uri="{FF2B5EF4-FFF2-40B4-BE49-F238E27FC236}">
                <a16:creationId xmlns:a16="http://schemas.microsoft.com/office/drawing/2014/main" id="{10602387-077B-4BFF-86D3-EC8D5C3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31280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34" name="stage3">
            <a:extLst xmlns:a="http://schemas.openxmlformats.org/drawingml/2006/main">
              <a:ext uri="{FF2B5EF4-FFF2-40B4-BE49-F238E27FC236}">
                <a16:creationId xmlns:a16="http://schemas.microsoft.com/office/drawing/2014/main" id="{7A8D0FC2-22FC-4D6E-8F57-9C091C7A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219825"/>
            <a:ext cx="952500" cy="495300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FFF7DF"/>
              </a:gs>
              <a:gs pos="100000">
                <a:srgbClr val="FFEBC7"/>
              </a:gs>
            </a:gsLst>
            <a:lin ang="5400000"/>
          </a:gradFill>
          <a:ln xmlns:a="http://schemas.openxmlformats.org/drawingml/2006/main" w="9525">
            <a:solidFill>
              <a:srgbClr val="E4AF3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阶段4</a:t>
            </a:r>
          </a:p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(30–40年)</a:t>
            </a:r>
          </a:p>
        </p:txBody>
      </p:sp>
      <p:sp>
        <p:nvSpPr>
          <p:cNvPr id="235" name="st3-stem">
            <a:extLst xmlns:a="http://schemas.openxmlformats.org/drawingml/2006/main">
              <a:ext uri="{FF2B5EF4-FFF2-40B4-BE49-F238E27FC236}">
                <a16:creationId xmlns:a16="http://schemas.microsoft.com/office/drawing/2014/main" id="{85F8D32F-BAC0-434E-9A3A-55AAC594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671512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36" name="st3-fork0">
            <a:extLst xmlns:a="http://schemas.openxmlformats.org/drawingml/2006/main">
              <a:ext uri="{FF2B5EF4-FFF2-40B4-BE49-F238E27FC236}">
                <a16:creationId xmlns:a16="http://schemas.microsoft.com/office/drawing/2014/main" id="{7F921139-2EC3-4D47-857A-F6E6112B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30480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37" name="st3-leaf0">
            <a:extLst xmlns:a="http://schemas.openxmlformats.org/drawingml/2006/main">
              <a:ext uri="{FF2B5EF4-FFF2-40B4-BE49-F238E27FC236}">
                <a16:creationId xmlns:a16="http://schemas.microsoft.com/office/drawing/2014/main" id="{C29929FC-85C2-4541-AF06-BDC5176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38" name="st3-fork1">
            <a:extLst xmlns:a="http://schemas.openxmlformats.org/drawingml/2006/main">
              <a:ext uri="{FF2B5EF4-FFF2-40B4-BE49-F238E27FC236}">
                <a16:creationId xmlns:a16="http://schemas.microsoft.com/office/drawing/2014/main" id="{3AFB4F1A-15F4-4938-8A04-FBC49CB5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6819900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39" name="st3-leaf1">
            <a:extLst xmlns:a="http://schemas.openxmlformats.org/drawingml/2006/main">
              <a:ext uri="{FF2B5EF4-FFF2-40B4-BE49-F238E27FC236}">
                <a16:creationId xmlns:a16="http://schemas.microsoft.com/office/drawing/2014/main" id="{76158FB3-ABA5-4404-A278-35D032BE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40" name="st3-fork2">
            <a:extLst xmlns:a="http://schemas.openxmlformats.org/drawingml/2006/main">
              <a:ext uri="{FF2B5EF4-FFF2-40B4-BE49-F238E27FC236}">
                <a16:creationId xmlns:a16="http://schemas.microsoft.com/office/drawing/2014/main" id="{F6121CF5-6FA6-4C58-BD9B-C37E416F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6819900"/>
            <a:ext cx="304800" cy="190500"/>
          </a:xfrm>
          <a:custGeom xmlns:a="http://schemas.openxmlformats.org/drawingml/2006/main">
            <a:pathLst>
              <a:path w="304800" h="190500">
                <a:moveTo>
                  <a:pt x="0" y="0"/>
                </a:moveTo>
                <a:lnTo>
                  <a:pt x="3048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41" name="st3-leaf2">
            <a:extLst xmlns:a="http://schemas.openxmlformats.org/drawingml/2006/main">
              <a:ext uri="{FF2B5EF4-FFF2-40B4-BE49-F238E27FC236}">
                <a16:creationId xmlns:a16="http://schemas.microsoft.com/office/drawing/2014/main" id="{56AD47C3-8ABB-417C-8E2B-F272C7DE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991350"/>
            <a:ext cx="133350" cy="1333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4E6FE"/>
              </a:gs>
              <a:gs pos="100000">
                <a:srgbClr val="A6D4FF"/>
              </a:gs>
            </a:gsLst>
            <a:lin ang="5400000"/>
          </a:gradFill>
          <a:ln xmlns:a="http://schemas.openxmlformats.org/drawingml/2006/main" w="9525">
            <a:solidFill>
              <a:srgbClr val="0867D4"/>
            </a:solidFill>
            <a:prstDash val="solid"/>
          </a:ln>
        </p:spPr>
      </p:sp>
      <p:sp>
        <p:nvSpPr>
          <p:cNvPr id="242" name="stage-dots3">
            <a:extLst xmlns:a="http://schemas.openxmlformats.org/drawingml/2006/main">
              <a:ext uri="{FF2B5EF4-FFF2-40B4-BE49-F238E27FC236}">
                <a16:creationId xmlns:a16="http://schemas.microsoft.com/office/drawing/2014/main" id="{B4581394-91DD-4CDA-AB1A-5779DA3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7162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243" name="scenario-bracket1">
            <a:extLst xmlns:a="http://schemas.openxmlformats.org/drawingml/2006/main">
              <a:ext uri="{FF2B5EF4-FFF2-40B4-BE49-F238E27FC236}">
                <a16:creationId xmlns:a16="http://schemas.microsoft.com/office/drawing/2014/main" id="{1D3E2C01-EA7A-4B07-B63D-C6AEAFE8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410450"/>
            <a:ext cx="95" cy="114300"/>
          </a:xfrm>
          <a:custGeom xmlns:a="http://schemas.openxmlformats.org/drawingml/2006/main"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44" name="scenario-bracket2">
            <a:extLst xmlns:a="http://schemas.openxmlformats.org/drawingml/2006/main">
              <a:ext uri="{FF2B5EF4-FFF2-40B4-BE49-F238E27FC236}">
                <a16:creationId xmlns:a16="http://schemas.microsoft.com/office/drawing/2014/main" id="{E21EEB3F-8B11-4DFF-B85D-9ED0F2EA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524750"/>
            <a:ext cx="1076325" cy="95"/>
          </a:xfrm>
          <a:custGeom xmlns:a="http://schemas.openxmlformats.org/drawingml/2006/main">
            <a:pathLst>
              <a:path w="1076325" h="95">
                <a:moveTo>
                  <a:pt x="0" y="0"/>
                </a:moveTo>
                <a:lnTo>
                  <a:pt x="107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45" name="scenario-bracket3">
            <a:extLst xmlns:a="http://schemas.openxmlformats.org/drawingml/2006/main">
              <a:ext uri="{FF2B5EF4-FFF2-40B4-BE49-F238E27FC236}">
                <a16:creationId xmlns:a16="http://schemas.microsoft.com/office/drawing/2014/main" id="{33EA5702-1ECC-49F1-9BA2-18C2E014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7524750"/>
            <a:ext cx="1276350" cy="95"/>
          </a:xfrm>
          <a:custGeom xmlns:a="http://schemas.openxmlformats.org/drawingml/2006/main">
            <a:pathLst>
              <a:path w="1276350" h="9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46" name="scenario-bracket4">
            <a:extLst xmlns:a="http://schemas.openxmlformats.org/drawingml/2006/main">
              <a:ext uri="{FF2B5EF4-FFF2-40B4-BE49-F238E27FC236}">
                <a16:creationId xmlns:a16="http://schemas.microsoft.com/office/drawing/2014/main" id="{C5336D87-807D-4B40-AEFF-149C3EFC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410450"/>
            <a:ext cx="95" cy="114300"/>
          </a:xfrm>
          <a:custGeom xmlns:a="http://schemas.openxmlformats.org/drawingml/2006/main">
            <a:pathLst>
              <a:path w="9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07368C"/>
            </a:solidFill>
            <a:prstDash val="solid"/>
          </a:ln>
        </p:spPr>
      </p:sp>
      <p:sp>
        <p:nvSpPr>
          <p:cNvPr id="247" name="period">
            <a:extLst xmlns:a="http://schemas.openxmlformats.org/drawingml/2006/main">
              <a:ext uri="{FF2B5EF4-FFF2-40B4-BE49-F238E27FC236}">
                <a16:creationId xmlns:a16="http://schemas.microsoft.com/office/drawing/2014/main" id="{C8E3B5B0-71B3-42F0-B587-CF70B6C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372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规划期40年，4个决策阶段</a:t>
            </a:r>
          </a:p>
        </p:txBody>
      </p:sp>
      <p:sp>
        <p:nvSpPr>
          <p:cNvPr id="248" name="long-unc-bg">
            <a:extLst xmlns:a="http://schemas.openxmlformats.org/drawingml/2006/main">
              <a:ext uri="{FF2B5EF4-FFF2-40B4-BE49-F238E27FC236}">
                <a16:creationId xmlns:a16="http://schemas.microsoft.com/office/drawing/2014/main" id="{D62B8B74-E2F2-4008-BA79-6D3D6771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15250"/>
            <a:ext cx="2276475" cy="6096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FFE8EB"/>
              </a:gs>
              <a:gs pos="100000">
                <a:srgbClr val="FFDFE4"/>
              </a:gs>
            </a:gsLst>
            <a:lin ang="5400000"/>
          </a:gradFill>
          <a:ln xmlns:a="http://schemas.openxmlformats.org/drawingml/2006/main" w="9525">
            <a:solidFill>
              <a:srgbClr val="FFD3D9"/>
            </a:solidFill>
            <a:prstDash val="solid"/>
          </a:ln>
        </p:spPr>
      </p:sp>
      <p:sp>
        <p:nvSpPr>
          <p:cNvPr id="249" name="short-unc-bg">
            <a:extLst xmlns:a="http://schemas.openxmlformats.org/drawingml/2006/main">
              <a:ext uri="{FF2B5EF4-FFF2-40B4-BE49-F238E27FC236}">
                <a16:creationId xmlns:a16="http://schemas.microsoft.com/office/drawing/2014/main" id="{7FD48CB2-9D0F-4EC9-AD07-AAB690D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7715250"/>
            <a:ext cx="2276475" cy="609600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EDF7FF"/>
              </a:gs>
              <a:gs pos="100000">
                <a:srgbClr val="E0EFFF"/>
              </a:gs>
            </a:gsLst>
            <a:lin ang="5400000"/>
          </a:gradFill>
          <a:ln xmlns:a="http://schemas.openxmlformats.org/drawingml/2006/main" w="9525">
            <a:solidFill>
              <a:srgbClr val="D4EAFB"/>
            </a:solidFill>
            <a:prstDash val="solid"/>
          </a:ln>
        </p:spPr>
      </p:sp>
      <p:sp>
        <p:nvSpPr>
          <p:cNvPr id="250" name="long-unc-title">
            <a:extLst xmlns:a="http://schemas.openxmlformats.org/drawingml/2006/main">
              <a:ext uri="{FF2B5EF4-FFF2-40B4-BE49-F238E27FC236}">
                <a16:creationId xmlns:a16="http://schemas.microsoft.com/office/drawing/2014/main" id="{4C5BC60B-3E99-40B5-8DF3-72A45F4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长期不确定性：</a:t>
            </a:r>
          </a:p>
        </p:txBody>
      </p:sp>
      <p:sp>
        <p:nvSpPr>
          <p:cNvPr id="251" name="long-unc-body">
            <a:extLst xmlns:a="http://schemas.openxmlformats.org/drawingml/2006/main">
              <a:ext uri="{FF2B5EF4-FFF2-40B4-BE49-F238E27FC236}">
                <a16:creationId xmlns:a16="http://schemas.microsoft.com/office/drawing/2014/main" id="{1F1B3E25-8859-428B-BD32-26306690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负荷增长、可再生投资</a:t>
            </a:r>
          </a:p>
        </p:txBody>
      </p:sp>
      <p:sp>
        <p:nvSpPr>
          <p:cNvPr id="252" name="short-unc-title">
            <a:extLst xmlns:a="http://schemas.openxmlformats.org/drawingml/2006/main">
              <a:ext uri="{FF2B5EF4-FFF2-40B4-BE49-F238E27FC236}">
                <a16:creationId xmlns:a16="http://schemas.microsoft.com/office/drawing/2014/main" id="{6DF2918D-651B-49F7-B218-EBA64A5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72400"/>
            <a:ext cx="2105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短期运行波动：</a:t>
            </a:r>
          </a:p>
        </p:txBody>
      </p:sp>
      <p:sp>
        <p:nvSpPr>
          <p:cNvPr id="253" name="short-unc-body">
            <a:extLst xmlns:a="http://schemas.openxmlformats.org/drawingml/2006/main">
              <a:ext uri="{FF2B5EF4-FFF2-40B4-BE49-F238E27FC236}">
                <a16:creationId xmlns:a16="http://schemas.microsoft.com/office/drawing/2014/main" id="{AB77E5B3-F8DC-4712-BEEF-F47E2DB8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295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典型日、时序负荷、EV充电</a:t>
            </a:r>
          </a:p>
        </p:txBody>
      </p:sp>
      <p:sp>
        <p:nvSpPr>
          <p:cNvPr id="254" name="objective-formulas">
            <a:extLst xmlns:a="http://schemas.openxmlformats.org/drawingml/2006/main">
              <a:ext uri="{FF2B5EF4-FFF2-40B4-BE49-F238E27FC236}">
                <a16:creationId xmlns:a16="http://schemas.microsoft.com/office/drawing/2014/main" id="{5B3AECA4-F3F7-4C98-9C07-4372D36C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38425"/>
            <a:ext cx="5638800" cy="1057275"/>
          </a:xfrm>
          <a:prstGeom xmlns:a="http://schemas.openxmlformats.org/drawingml/2006/main" prst="roundRect">
            <a:avLst>
              <a:gd name="adj" fmla="val 8108"/>
            </a:avLst>
          </a:prstGeom>
          <a:gradFill xmlns:a="http://schemas.openxmlformats.org/drawingml/2006/main">
            <a:gsLst>
              <a:gs pos="0">
                <a:srgbClr val="EBF7FF"/>
              </a:gs>
              <a:gs pos="100000">
                <a:srgbClr val="E2F2FC"/>
              </a:gs>
            </a:gsLst>
            <a:lin ang="5400000"/>
          </a:gra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pic>
        <p:nvPicPr>
          <p:cNvPr id="614" name="objective-expectation" descr="LATEX:objective-expectation:\min\ E\left[C_{inv}+C_{op}\right]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2dca7cfa14956">
            <a:extLst>
              <a:ext uri="{96DAC541-7B7A-43D3-8B79-37D633B846F1}">
                <asvg:svgBlip xmlns:asvg="http://schemas.microsoft.com/office/drawing/2016/SVG/main" r:embed="rId9191286056243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55882" y="2762250"/>
            <a:ext cx="2604712" cy="333375"/>
          </a:xfrm>
          <a:prstGeom xmlns:a="http://schemas.openxmlformats.org/drawingml/2006/main" prst="rect">
            <a:avLst/>
          </a:prstGeom>
        </p:spPr>
      </p:pic>
      <p:pic>
        <p:nvPicPr>
          <p:cNvPr id="615" name="objective-expanded" descr="LATEX:objective-expanded:\min\sum_m\pi_m\left(C_{trans}+C_{dist}+C_{sub}+C_{PST/ES/SC}+C_{op}\right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479e8f9044c12">
            <a:extLst>
              <a:ext uri="{96DAC541-7B7A-43D3-8B79-37D633B846F1}">
                <asvg:svgBlip xmlns:asvg="http://schemas.microsoft.com/office/drawing/2016/SVG/main" r:embed="rId9191286056243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95950" y="3160715"/>
            <a:ext cx="5238750" cy="469895"/>
          </a:xfrm>
          <a:prstGeom xmlns:a="http://schemas.openxmlformats.org/drawingml/2006/main" prst="rect">
            <a:avLst/>
          </a:prstGeom>
        </p:spPr>
      </p:pic>
      <p:sp>
        <p:nvSpPr>
          <p:cNvPr id="257" name="ctrans-label-bg">
            <a:extLst xmlns:a="http://schemas.openxmlformats.org/drawingml/2006/main">
              <a:ext uri="{FF2B5EF4-FFF2-40B4-BE49-F238E27FC236}">
                <a16:creationId xmlns:a16="http://schemas.microsoft.com/office/drawing/2014/main" id="{D231EAFB-6331-4CC1-92B7-9799CC6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24275"/>
            <a:ext cx="771525" cy="276225"/>
          </a:xfrm>
          <a:prstGeom xmlns:a="http://schemas.openxmlformats.org/drawingml/2006/main" prst="roundRect">
            <a:avLst>
              <a:gd name="adj" fmla="val 17241"/>
            </a:avLst>
          </a:prstGeom>
          <a:gradFill xmlns:a="http://schemas.openxmlformats.org/drawingml/2006/main">
            <a:gsLst>
              <a:gs pos="0">
                <a:srgbClr val="EFF8FF"/>
              </a:gs>
              <a:gs pos="100000">
                <a:srgbClr val="E6F2FA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pic>
        <p:nvPicPr>
          <p:cNvPr id="617" name="ctrans" descr="LATEX:ctrans:C_{trans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ef98264b441fa">
            <a:extLst>
              <a:ext uri="{96DAC541-7B7A-43D3-8B79-37D633B846F1}">
                <asvg:svgBlip xmlns:asvg="http://schemas.microsoft.com/office/drawing/2016/SVG/main" r:embed="rId9191286056243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0" y="3737659"/>
            <a:ext cx="723900" cy="249457"/>
          </a:xfrm>
          <a:prstGeom xmlns:a="http://schemas.openxmlformats.org/drawingml/2006/main" prst="rect">
            <a:avLst/>
          </a:prstGeom>
        </p:spPr>
      </p:pic>
      <p:sp>
        <p:nvSpPr>
          <p:cNvPr id="259" name="ctrans-dash">
            <a:extLst xmlns:a="http://schemas.openxmlformats.org/drawingml/2006/main">
              <a:ext uri="{FF2B5EF4-FFF2-40B4-BE49-F238E27FC236}">
                <a16:creationId xmlns:a16="http://schemas.microsoft.com/office/drawing/2014/main" id="{02E78106-DDE5-4C06-BBFF-5B770BC4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76675"/>
            <a:ext cx="447675" cy="95"/>
          </a:xfrm>
          <a:custGeom xmlns:a="http://schemas.openxmlformats.org/drawingml/2006/main"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6142C"/>
            </a:solidFill>
            <a:prstDash val="solid"/>
          </a:ln>
        </p:spPr>
      </p:sp>
      <p:sp>
        <p:nvSpPr>
          <p:cNvPr id="260" name="ctrans-meaning">
            <a:extLst xmlns:a="http://schemas.openxmlformats.org/drawingml/2006/main">
              <a:ext uri="{FF2B5EF4-FFF2-40B4-BE49-F238E27FC236}">
                <a16:creationId xmlns:a16="http://schemas.microsoft.com/office/drawing/2014/main" id="{FDBEEDA3-A2C4-4CED-9629-1935F1C8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24275"/>
            <a:ext cx="3924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输电扩建投资成本</a:t>
            </a:r>
          </a:p>
        </p:txBody>
      </p:sp>
      <p:sp>
        <p:nvSpPr>
          <p:cNvPr id="261" name="cdist-label-bg">
            <a:extLst xmlns:a="http://schemas.openxmlformats.org/drawingml/2006/main">
              <a:ext uri="{FF2B5EF4-FFF2-40B4-BE49-F238E27FC236}">
                <a16:creationId xmlns:a16="http://schemas.microsoft.com/office/drawing/2014/main" id="{22F3E506-979C-4E97-A7F4-729BF82B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29075"/>
            <a:ext cx="771525" cy="276225"/>
          </a:xfrm>
          <a:prstGeom xmlns:a="http://schemas.openxmlformats.org/drawingml/2006/main" prst="roundRect">
            <a:avLst>
              <a:gd name="adj" fmla="val 17241"/>
            </a:avLst>
          </a:prstGeom>
          <a:gradFill xmlns:a="http://schemas.openxmlformats.org/drawingml/2006/main">
            <a:gsLst>
              <a:gs pos="0">
                <a:srgbClr val="EFF8FF"/>
              </a:gs>
              <a:gs pos="100000">
                <a:srgbClr val="E6F2FA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pic>
        <p:nvPicPr>
          <p:cNvPr id="621" name="cdist" descr="LATEX:cdist:C_{dist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128605c624368">
            <a:extLst>
              <a:ext uri="{96DAC541-7B7A-43D3-8B79-37D633B846F1}">
                <asvg:svgBlip xmlns:asvg="http://schemas.microsoft.com/office/drawing/2016/SVG/main" r:embed="rId9191286056243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83833" y="4038600"/>
            <a:ext cx="595734" cy="257175"/>
          </a:xfrm>
          <a:prstGeom xmlns:a="http://schemas.openxmlformats.org/drawingml/2006/main" prst="rect">
            <a:avLst/>
          </a:prstGeom>
        </p:spPr>
      </p:pic>
      <p:sp>
        <p:nvSpPr>
          <p:cNvPr id="263" name="cdist-dash">
            <a:extLst xmlns:a="http://schemas.openxmlformats.org/drawingml/2006/main">
              <a:ext uri="{FF2B5EF4-FFF2-40B4-BE49-F238E27FC236}">
                <a16:creationId xmlns:a16="http://schemas.microsoft.com/office/drawing/2014/main" id="{C3D19AAB-97A7-46F1-B465-B09590AB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81475"/>
            <a:ext cx="447675" cy="95"/>
          </a:xfrm>
          <a:custGeom xmlns:a="http://schemas.openxmlformats.org/drawingml/2006/main"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6142C"/>
            </a:solidFill>
            <a:prstDash val="solid"/>
          </a:ln>
        </p:spPr>
      </p:sp>
      <p:sp>
        <p:nvSpPr>
          <p:cNvPr id="264" name="cdist-meaning">
            <a:extLst xmlns:a="http://schemas.openxmlformats.org/drawingml/2006/main">
              <a:ext uri="{FF2B5EF4-FFF2-40B4-BE49-F238E27FC236}">
                <a16:creationId xmlns:a16="http://schemas.microsoft.com/office/drawing/2014/main" id="{0E766719-0CF0-4C6B-9CFB-73D5AB88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29075"/>
            <a:ext cx="3924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配电扩建投资成本</a:t>
            </a:r>
          </a:p>
        </p:txBody>
      </p:sp>
      <p:sp>
        <p:nvSpPr>
          <p:cNvPr id="265" name="csub-label-bg">
            <a:extLst xmlns:a="http://schemas.openxmlformats.org/drawingml/2006/main">
              <a:ext uri="{FF2B5EF4-FFF2-40B4-BE49-F238E27FC236}">
                <a16:creationId xmlns:a16="http://schemas.microsoft.com/office/drawing/2014/main" id="{E9A005AA-072F-4C6A-8B7C-20361893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33875"/>
            <a:ext cx="771525" cy="276225"/>
          </a:xfrm>
          <a:prstGeom xmlns:a="http://schemas.openxmlformats.org/drawingml/2006/main" prst="roundRect">
            <a:avLst>
              <a:gd name="adj" fmla="val 17241"/>
            </a:avLst>
          </a:prstGeom>
          <a:gradFill xmlns:a="http://schemas.openxmlformats.org/drawingml/2006/main">
            <a:gsLst>
              <a:gs pos="0">
                <a:srgbClr val="EFF8FF"/>
              </a:gs>
              <a:gs pos="100000">
                <a:srgbClr val="E6F2FA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pic>
        <p:nvPicPr>
          <p:cNvPr id="625" name="csub" descr="LATEX:csub:C_{sub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6436cba694c24">
            <a:extLst>
              <a:ext uri="{96DAC541-7B7A-43D3-8B79-37D633B846F1}">
                <asvg:svgBlip xmlns:asvg="http://schemas.microsoft.com/office/drawing/2016/SVG/main" r:embed="rId9191286056243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07434" y="4343400"/>
            <a:ext cx="548531" cy="257175"/>
          </a:xfrm>
          <a:prstGeom xmlns:a="http://schemas.openxmlformats.org/drawingml/2006/main" prst="rect">
            <a:avLst/>
          </a:prstGeom>
        </p:spPr>
      </p:pic>
      <p:sp>
        <p:nvSpPr>
          <p:cNvPr id="267" name="csub-dash">
            <a:extLst xmlns:a="http://schemas.openxmlformats.org/drawingml/2006/main">
              <a:ext uri="{FF2B5EF4-FFF2-40B4-BE49-F238E27FC236}">
                <a16:creationId xmlns:a16="http://schemas.microsoft.com/office/drawing/2014/main" id="{FF757F16-E87C-44C4-A6BC-14AE93A4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86275"/>
            <a:ext cx="447675" cy="95"/>
          </a:xfrm>
          <a:custGeom xmlns:a="http://schemas.openxmlformats.org/drawingml/2006/main"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6142C"/>
            </a:solidFill>
            <a:prstDash val="solid"/>
          </a:ln>
        </p:spPr>
      </p:sp>
      <p:sp>
        <p:nvSpPr>
          <p:cNvPr id="268" name="csub-meaning">
            <a:extLst xmlns:a="http://schemas.openxmlformats.org/drawingml/2006/main">
              <a:ext uri="{FF2B5EF4-FFF2-40B4-BE49-F238E27FC236}">
                <a16:creationId xmlns:a16="http://schemas.microsoft.com/office/drawing/2014/main" id="{1243C864-4FCF-4A16-81AD-114F1A4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33875"/>
            <a:ext cx="3924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耦合变电站投资成本</a:t>
            </a:r>
          </a:p>
        </p:txBody>
      </p:sp>
      <p:sp>
        <p:nvSpPr>
          <p:cNvPr id="269" name="csmart-label-bg">
            <a:extLst xmlns:a="http://schemas.openxmlformats.org/drawingml/2006/main">
              <a:ext uri="{FF2B5EF4-FFF2-40B4-BE49-F238E27FC236}">
                <a16:creationId xmlns:a16="http://schemas.microsoft.com/office/drawing/2014/main" id="{D785D882-B290-45D1-B516-60DFA30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38675"/>
            <a:ext cx="771525" cy="276225"/>
          </a:xfrm>
          <a:prstGeom xmlns:a="http://schemas.openxmlformats.org/drawingml/2006/main" prst="roundRect">
            <a:avLst>
              <a:gd name="adj" fmla="val 17241"/>
            </a:avLst>
          </a:prstGeom>
          <a:gradFill xmlns:a="http://schemas.openxmlformats.org/drawingml/2006/main">
            <a:gsLst>
              <a:gs pos="0">
                <a:srgbClr val="EFF8FF"/>
              </a:gs>
              <a:gs pos="100000">
                <a:srgbClr val="E6F2FA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pic>
        <p:nvPicPr>
          <p:cNvPr id="629" name="csmart" descr="LATEX:csmart:C_{PST/ES/SC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7394fd66349a5">
            <a:extLst>
              <a:ext uri="{96DAC541-7B7A-43D3-8B79-37D633B846F1}">
                <asvg:svgBlip xmlns:asvg="http://schemas.microsoft.com/office/drawing/2016/SVG/main" r:embed="rId9191286056243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0" y="4699878"/>
            <a:ext cx="723900" cy="153819"/>
          </a:xfrm>
          <a:prstGeom xmlns:a="http://schemas.openxmlformats.org/drawingml/2006/main" prst="rect">
            <a:avLst/>
          </a:prstGeom>
        </p:spPr>
      </p:pic>
      <p:sp>
        <p:nvSpPr>
          <p:cNvPr id="271" name="csmart-dash">
            <a:extLst xmlns:a="http://schemas.openxmlformats.org/drawingml/2006/main">
              <a:ext uri="{FF2B5EF4-FFF2-40B4-BE49-F238E27FC236}">
                <a16:creationId xmlns:a16="http://schemas.microsoft.com/office/drawing/2014/main" id="{88A801D4-4356-40FF-BC17-7530DD6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91075"/>
            <a:ext cx="447675" cy="95"/>
          </a:xfrm>
          <a:custGeom xmlns:a="http://schemas.openxmlformats.org/drawingml/2006/main"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6142C"/>
            </a:solidFill>
            <a:prstDash val="solid"/>
          </a:ln>
        </p:spPr>
      </p:sp>
      <p:sp>
        <p:nvSpPr>
          <p:cNvPr id="272" name="csmart-meaning">
            <a:extLst xmlns:a="http://schemas.openxmlformats.org/drawingml/2006/main">
              <a:ext uri="{FF2B5EF4-FFF2-40B4-BE49-F238E27FC236}">
                <a16:creationId xmlns:a16="http://schemas.microsoft.com/office/drawing/2014/main" id="{EF640765-4230-4B6B-A885-95B0B12F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38675"/>
            <a:ext cx="3924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智能投资成本（PST、储能ES、EV智能充电SC等）</a:t>
            </a:r>
          </a:p>
        </p:txBody>
      </p:sp>
      <p:sp>
        <p:nvSpPr>
          <p:cNvPr id="273" name="cop-label-bg">
            <a:extLst xmlns:a="http://schemas.openxmlformats.org/drawingml/2006/main">
              <a:ext uri="{FF2B5EF4-FFF2-40B4-BE49-F238E27FC236}">
                <a16:creationId xmlns:a16="http://schemas.microsoft.com/office/drawing/2014/main" id="{94ECB3DC-7532-4F5F-AD93-4983BE84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43475"/>
            <a:ext cx="771525" cy="276225"/>
          </a:xfrm>
          <a:prstGeom xmlns:a="http://schemas.openxmlformats.org/drawingml/2006/main" prst="roundRect">
            <a:avLst>
              <a:gd name="adj" fmla="val 17241"/>
            </a:avLst>
          </a:prstGeom>
          <a:gradFill xmlns:a="http://schemas.openxmlformats.org/drawingml/2006/main">
            <a:gsLst>
              <a:gs pos="0">
                <a:srgbClr val="EFF8FF"/>
              </a:gs>
              <a:gs pos="100000">
                <a:srgbClr val="E6F2FA"/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pic>
        <p:nvPicPr>
          <p:cNvPr id="633" name="cop" descr="LATEX:cop:C_{op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1d262ab984eab">
            <a:extLst>
              <a:ext uri="{96DAC541-7B7A-43D3-8B79-37D633B846F1}">
                <asvg:svgBlip xmlns:asvg="http://schemas.microsoft.com/office/drawing/2016/SVG/main" r:embed="rId9191286056243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87759" y="4953000"/>
            <a:ext cx="387882" cy="257175"/>
          </a:xfrm>
          <a:prstGeom xmlns:a="http://schemas.openxmlformats.org/drawingml/2006/main" prst="rect">
            <a:avLst/>
          </a:prstGeom>
        </p:spPr>
      </p:pic>
      <p:sp>
        <p:nvSpPr>
          <p:cNvPr id="275" name="cop-dash">
            <a:extLst xmlns:a="http://schemas.openxmlformats.org/drawingml/2006/main">
              <a:ext uri="{FF2B5EF4-FFF2-40B4-BE49-F238E27FC236}">
                <a16:creationId xmlns:a16="http://schemas.microsoft.com/office/drawing/2014/main" id="{5F506C80-1CF6-47F9-9FE6-B1CFA269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95875"/>
            <a:ext cx="447675" cy="95"/>
          </a:xfrm>
          <a:custGeom xmlns:a="http://schemas.openxmlformats.org/drawingml/2006/main">
            <a:pathLst>
              <a:path w="447675" h="9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6142C"/>
            </a:solidFill>
            <a:prstDash val="solid"/>
          </a:ln>
        </p:spPr>
      </p:sp>
      <p:sp>
        <p:nvSpPr>
          <p:cNvPr id="276" name="cop-meaning">
            <a:extLst xmlns:a="http://schemas.openxmlformats.org/drawingml/2006/main">
              <a:ext uri="{FF2B5EF4-FFF2-40B4-BE49-F238E27FC236}">
                <a16:creationId xmlns:a16="http://schemas.microsoft.com/office/drawing/2014/main" id="{153BC5C9-3FDA-4D4C-85CF-8606E43C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43475"/>
            <a:ext cx="3924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系统运行成本</a:t>
            </a:r>
          </a:p>
        </p:txBody>
      </p:sp>
      <p:sp>
        <p:nvSpPr>
          <p:cNvPr id="277" name="obj-conclusion-bg">
            <a:extLst xmlns:a="http://schemas.openxmlformats.org/drawingml/2006/main">
              <a:ext uri="{FF2B5EF4-FFF2-40B4-BE49-F238E27FC236}">
                <a16:creationId xmlns:a16="http://schemas.microsoft.com/office/drawing/2014/main" id="{6FA70799-8D9C-4AD4-80E0-A2DE7E4D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95900"/>
            <a:ext cx="5695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8" name="obj-conclusion">
            <a:extLst xmlns:a="http://schemas.openxmlformats.org/drawingml/2006/main">
              <a:ext uri="{FF2B5EF4-FFF2-40B4-BE49-F238E27FC236}">
                <a16:creationId xmlns:a16="http://schemas.microsoft.com/office/drawing/2014/main" id="{32BE6FE7-0833-4D44-AFE6-51495B0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5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1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1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该目标函数统一比较了</a:t>
            </a:r>
            <a:r>
              <a:rPr sz="1515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传统电网扩建</a:t>
            </a:r>
            <a:r>
              <a:rPr sz="151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515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灵活智能投资</a:t>
            </a:r>
            <a:r>
              <a:rPr sz="151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的经济性。</a:t>
            </a:r>
          </a:p>
        </p:txBody>
      </p:sp>
      <p:sp>
        <p:nvSpPr>
          <p:cNvPr id="279" name="cons1">
            <a:extLst xmlns:a="http://schemas.openxmlformats.org/drawingml/2006/main">
              <a:ext uri="{FF2B5EF4-FFF2-40B4-BE49-F238E27FC236}">
                <a16:creationId xmlns:a16="http://schemas.microsoft.com/office/drawing/2014/main" id="{1437A6AB-32FC-4179-8543-AC6FA219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219825"/>
            <a:ext cx="2800350" cy="981075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280" name="cons1-top">
            <a:extLst xmlns:a="http://schemas.openxmlformats.org/drawingml/2006/main">
              <a:ext uri="{FF2B5EF4-FFF2-40B4-BE49-F238E27FC236}">
                <a16:creationId xmlns:a16="http://schemas.microsoft.com/office/drawing/2014/main" id="{167E2F4F-D67D-46A8-9699-F16E41CE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229350"/>
            <a:ext cx="2781300" cy="295275"/>
          </a:xfrm>
          <a:prstGeom xmlns:a="http://schemas.openxmlformats.org/drawingml/2006/main" prst="roundRect">
            <a:avLst>
              <a:gd name="adj" fmla="val 29032"/>
            </a:avLst>
          </a:prstGeom>
          <a:gradFill xmlns:a="http://schemas.openxmlformats.org/drawingml/2006/main">
            <a:gsLst>
              <a:gs pos="0">
                <a:srgbClr val="EEF8FF"/>
              </a:gs>
              <a:gs pos="100000">
                <a:srgbClr val="E1F1FC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81" name="cons1-number">
            <a:extLst xmlns:a="http://schemas.openxmlformats.org/drawingml/2006/main">
              <a:ext uri="{FF2B5EF4-FFF2-40B4-BE49-F238E27FC236}">
                <a16:creationId xmlns:a16="http://schemas.microsoft.com/office/drawing/2014/main" id="{9F2FF664-C045-42CD-B1D0-24B25D35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2388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cons1-number-t">
            <a:extLst xmlns:a="http://schemas.openxmlformats.org/drawingml/2006/main">
              <a:ext uri="{FF2B5EF4-FFF2-40B4-BE49-F238E27FC236}">
                <a16:creationId xmlns:a16="http://schemas.microsoft.com/office/drawing/2014/main" id="{E66F4CCE-A771-404E-9942-488CD437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238875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3" name="cons1-title">
            <a:extLst xmlns:a="http://schemas.openxmlformats.org/drawingml/2006/main">
              <a:ext uri="{FF2B5EF4-FFF2-40B4-BE49-F238E27FC236}">
                <a16:creationId xmlns:a16="http://schemas.microsoft.com/office/drawing/2014/main" id="{67D11DC8-9015-4922-B100-1DD2E592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229350"/>
            <a:ext cx="2371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输电侧功率平衡与DC潮流约束</a:t>
            </a:r>
          </a:p>
        </p:txBody>
      </p:sp>
      <p:sp>
        <p:nvSpPr>
          <p:cNvPr id="284" name="cons2">
            <a:extLst xmlns:a="http://schemas.openxmlformats.org/drawingml/2006/main">
              <a:ext uri="{FF2B5EF4-FFF2-40B4-BE49-F238E27FC236}">
                <a16:creationId xmlns:a16="http://schemas.microsoft.com/office/drawing/2014/main" id="{81136443-03CB-4420-B99D-9D2764FD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19825"/>
            <a:ext cx="2800350" cy="981075"/>
          </a:xfrm>
          <a:prstGeom xmlns:a="http://schemas.openxmlformats.org/drawingml/2006/main" prst="roundRect">
            <a:avLst>
              <a:gd name="adj" fmla="val 9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285" name="cons2-top">
            <a:extLst xmlns:a="http://schemas.openxmlformats.org/drawingml/2006/main">
              <a:ext uri="{FF2B5EF4-FFF2-40B4-BE49-F238E27FC236}">
                <a16:creationId xmlns:a16="http://schemas.microsoft.com/office/drawing/2014/main" id="{542E5EF1-6BE5-4EF4-B6D9-B4D0CE95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6229350"/>
            <a:ext cx="2781300" cy="295275"/>
          </a:xfrm>
          <a:prstGeom xmlns:a="http://schemas.openxmlformats.org/drawingml/2006/main" prst="roundRect">
            <a:avLst>
              <a:gd name="adj" fmla="val 29032"/>
            </a:avLst>
          </a:prstGeom>
          <a:gradFill xmlns:a="http://schemas.openxmlformats.org/drawingml/2006/main">
            <a:gsLst>
              <a:gs pos="0">
                <a:srgbClr val="EEF8FF"/>
              </a:gs>
              <a:gs pos="100000">
                <a:srgbClr val="E1F1FC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86" name="cons2-number">
            <a:extLst xmlns:a="http://schemas.openxmlformats.org/drawingml/2006/main">
              <a:ext uri="{FF2B5EF4-FFF2-40B4-BE49-F238E27FC236}">
                <a16:creationId xmlns:a16="http://schemas.microsoft.com/office/drawing/2014/main" id="{CA5B34A6-9A69-40E4-A902-2E789D3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388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cons2-number-t">
            <a:extLst xmlns:a="http://schemas.openxmlformats.org/drawingml/2006/main">
              <a:ext uri="{FF2B5EF4-FFF2-40B4-BE49-F238E27FC236}">
                <a16:creationId xmlns:a16="http://schemas.microsoft.com/office/drawing/2014/main" id="{D9E00213-3568-468C-99E5-9561F6F9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38875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8" name="cons2-title">
            <a:extLst xmlns:a="http://schemas.openxmlformats.org/drawingml/2006/main">
              <a:ext uri="{FF2B5EF4-FFF2-40B4-BE49-F238E27FC236}">
                <a16:creationId xmlns:a16="http://schemas.microsoft.com/office/drawing/2014/main" id="{F1D09BA9-6B4A-44E5-96AD-7B6C3E42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229350"/>
            <a:ext cx="2371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配电侧功率平衡与线性化AC潮流约束</a:t>
            </a:r>
          </a:p>
        </p:txBody>
      </p:sp>
      <p:pic>
        <p:nvPicPr>
          <p:cNvPr id="648" name="cons-dc" descr="LATEX:cons-dc:P_{ij}=B_{ij}(\theta_i-\theta_j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8480a82ab45bb">
            <a:extLst>
              <a:ext uri="{96DAC541-7B7A-43D3-8B79-37D633B846F1}">
                <asvg:svgBlip xmlns:asvg="http://schemas.microsoft.com/office/drawing/2016/SVG/main" r:embed="rId9191286056243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19800" y="6561626"/>
            <a:ext cx="1543050" cy="211748"/>
          </a:xfrm>
          <a:prstGeom xmlns:a="http://schemas.openxmlformats.org/drawingml/2006/main" prst="rect">
            <a:avLst/>
          </a:prstGeom>
        </p:spPr>
      </p:pic>
      <p:sp>
        <p:nvSpPr>
          <p:cNvPr id="290" name="cons1-note">
            <a:extLst xmlns:a="http://schemas.openxmlformats.org/drawingml/2006/main">
              <a:ext uri="{FF2B5EF4-FFF2-40B4-BE49-F238E27FC236}">
                <a16:creationId xmlns:a16="http://schemas.microsoft.com/office/drawing/2014/main" id="{A5230652-64D3-4038-89B1-BFEB5C0B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810375"/>
            <a:ext cx="2085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保证输电网功率平衡与</a:t>
            </a:r>
          </a:p>
          <a:p xmlns:a="http://schemas.openxmlformats.org/drawingml/2006/main">
            <a:pPr algn="ctr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线路潮流可行。</a:t>
            </a:r>
          </a:p>
        </p:txBody>
      </p:sp>
      <p:pic>
        <p:nvPicPr>
          <p:cNvPr id="650" name="cons-ac" descr="LATEX:cons-ac:P_{in}-P_{out}=P_{load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09492d7d24e3b">
            <a:extLst>
              <a:ext uri="{96DAC541-7B7A-43D3-8B79-37D633B846F1}">
                <asvg:svgBlip xmlns:asvg="http://schemas.microsoft.com/office/drawing/2016/SVG/main" r:embed="rId9191286056243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43950" y="6563542"/>
            <a:ext cx="1905000" cy="207916"/>
          </a:xfrm>
          <a:prstGeom xmlns:a="http://schemas.openxmlformats.org/drawingml/2006/main" prst="rect">
            <a:avLst/>
          </a:prstGeom>
        </p:spPr>
      </p:pic>
      <p:sp>
        <p:nvSpPr>
          <p:cNvPr id="292" name="cons2-note">
            <a:extLst xmlns:a="http://schemas.openxmlformats.org/drawingml/2006/main">
              <a:ext uri="{FF2B5EF4-FFF2-40B4-BE49-F238E27FC236}">
                <a16:creationId xmlns:a16="http://schemas.microsoft.com/office/drawing/2014/main" id="{A792A0C4-3E00-464C-AD7C-AD6D71D1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810375"/>
            <a:ext cx="2105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保证主动配电网各节点</a:t>
            </a:r>
          </a:p>
          <a:p xmlns:a="http://schemas.openxmlformats.org/drawingml/2006/main">
            <a:pPr algn="ctr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满足潮流平衡。</a:t>
            </a:r>
          </a:p>
        </p:txBody>
      </p:sp>
      <p:sp>
        <p:nvSpPr>
          <p:cNvPr id="293" name="cons3">
            <a:extLst xmlns:a="http://schemas.openxmlformats.org/drawingml/2006/main">
              <a:ext uri="{FF2B5EF4-FFF2-40B4-BE49-F238E27FC236}">
                <a16:creationId xmlns:a16="http://schemas.microsoft.com/office/drawing/2014/main" id="{6417AA1C-CBEB-4BA5-9FE2-E4D81CDB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258050"/>
            <a:ext cx="1771650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294" name="cons3-top">
            <a:extLst xmlns:a="http://schemas.openxmlformats.org/drawingml/2006/main">
              <a:ext uri="{FF2B5EF4-FFF2-40B4-BE49-F238E27FC236}">
                <a16:creationId xmlns:a16="http://schemas.microsoft.com/office/drawing/2014/main" id="{BFDF1C54-97D5-4A86-8BC6-1A1C0F9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267575"/>
            <a:ext cx="1752600" cy="295275"/>
          </a:xfrm>
          <a:prstGeom xmlns:a="http://schemas.openxmlformats.org/drawingml/2006/main" prst="roundRect">
            <a:avLst>
              <a:gd name="adj" fmla="val 29032"/>
            </a:avLst>
          </a:prstGeom>
          <a:gradFill xmlns:a="http://schemas.openxmlformats.org/drawingml/2006/main">
            <a:gsLst>
              <a:gs pos="0">
                <a:srgbClr val="EEF8FF"/>
              </a:gs>
              <a:gs pos="100000">
                <a:srgbClr val="E1F1FC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5" name="cons3-number">
            <a:extLst xmlns:a="http://schemas.openxmlformats.org/drawingml/2006/main">
              <a:ext uri="{FF2B5EF4-FFF2-40B4-BE49-F238E27FC236}">
                <a16:creationId xmlns:a16="http://schemas.microsoft.com/office/drawing/2014/main" id="{2F37DC15-A435-41E4-B815-C01DE00A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2771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cons3-number-t">
            <a:extLst xmlns:a="http://schemas.openxmlformats.org/drawingml/2006/main">
              <a:ext uri="{FF2B5EF4-FFF2-40B4-BE49-F238E27FC236}">
                <a16:creationId xmlns:a16="http://schemas.microsoft.com/office/drawing/2014/main" id="{CDE5BB80-790A-4127-8D3D-591103F4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27710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7" name="cons3-title">
            <a:extLst xmlns:a="http://schemas.openxmlformats.org/drawingml/2006/main">
              <a:ext uri="{FF2B5EF4-FFF2-40B4-BE49-F238E27FC236}">
                <a16:creationId xmlns:a16="http://schemas.microsoft.com/office/drawing/2014/main" id="{8DF06DCE-5DC1-440B-BD8E-70B847DD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26757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线路/设备容量约束</a:t>
            </a:r>
          </a:p>
        </p:txBody>
      </p:sp>
      <p:sp>
        <p:nvSpPr>
          <p:cNvPr id="298" name="cons4">
            <a:extLst xmlns:a="http://schemas.openxmlformats.org/drawingml/2006/main">
              <a:ext uri="{FF2B5EF4-FFF2-40B4-BE49-F238E27FC236}">
                <a16:creationId xmlns:a16="http://schemas.microsoft.com/office/drawing/2014/main" id="{81EF7950-B65E-4E7F-B973-BDA6F3E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7258050"/>
            <a:ext cx="2009775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299" name="cons4-top">
            <a:extLst xmlns:a="http://schemas.openxmlformats.org/drawingml/2006/main">
              <a:ext uri="{FF2B5EF4-FFF2-40B4-BE49-F238E27FC236}">
                <a16:creationId xmlns:a16="http://schemas.microsoft.com/office/drawing/2014/main" id="{F75FD0F5-D09D-428B-9C3F-2F12E814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67575"/>
            <a:ext cx="1990725" cy="295275"/>
          </a:xfrm>
          <a:prstGeom xmlns:a="http://schemas.openxmlformats.org/drawingml/2006/main" prst="roundRect">
            <a:avLst>
              <a:gd name="adj" fmla="val 29032"/>
            </a:avLst>
          </a:prstGeom>
          <a:gradFill xmlns:a="http://schemas.openxmlformats.org/drawingml/2006/main">
            <a:gsLst>
              <a:gs pos="0">
                <a:srgbClr val="EEF8FF"/>
              </a:gs>
              <a:gs pos="100000">
                <a:srgbClr val="E1F1FC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00" name="cons4-number">
            <a:extLst xmlns:a="http://schemas.openxmlformats.org/drawingml/2006/main">
              <a:ext uri="{FF2B5EF4-FFF2-40B4-BE49-F238E27FC236}">
                <a16:creationId xmlns:a16="http://schemas.microsoft.com/office/drawing/2014/main" id="{29818707-1A61-4BDF-BD83-1D44395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72771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cons4-number-t">
            <a:extLst xmlns:a="http://schemas.openxmlformats.org/drawingml/2006/main">
              <a:ext uri="{FF2B5EF4-FFF2-40B4-BE49-F238E27FC236}">
                <a16:creationId xmlns:a16="http://schemas.microsoft.com/office/drawing/2014/main" id="{D6C3656B-F4D9-4F44-ADBD-1C93C7C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727710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2" name="cons4-title">
            <a:extLst xmlns:a="http://schemas.openxmlformats.org/drawingml/2006/main">
              <a:ext uri="{FF2B5EF4-FFF2-40B4-BE49-F238E27FC236}">
                <a16:creationId xmlns:a16="http://schemas.microsoft.com/office/drawing/2014/main" id="{2818684E-DC73-461E-8006-90118B4A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267575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阶段投资逻辑与时序耦合约束</a:t>
            </a:r>
          </a:p>
        </p:txBody>
      </p:sp>
      <p:sp>
        <p:nvSpPr>
          <p:cNvPr id="303" name="cons5">
            <a:extLst xmlns:a="http://schemas.openxmlformats.org/drawingml/2006/main">
              <a:ext uri="{FF2B5EF4-FFF2-40B4-BE49-F238E27FC236}">
                <a16:creationId xmlns:a16="http://schemas.microsoft.com/office/drawing/2014/main" id="{1AB12A42-AF76-40C6-B374-1578E20E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7258050"/>
            <a:ext cx="1762125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304" name="cons5-top">
            <a:extLst xmlns:a="http://schemas.openxmlformats.org/drawingml/2006/main">
              <a:ext uri="{FF2B5EF4-FFF2-40B4-BE49-F238E27FC236}">
                <a16:creationId xmlns:a16="http://schemas.microsoft.com/office/drawing/2014/main" id="{42BCDDD2-3A71-4D5E-856B-2145FBC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267575"/>
            <a:ext cx="1743075" cy="295275"/>
          </a:xfrm>
          <a:prstGeom xmlns:a="http://schemas.openxmlformats.org/drawingml/2006/main" prst="roundRect">
            <a:avLst>
              <a:gd name="adj" fmla="val 29032"/>
            </a:avLst>
          </a:prstGeom>
          <a:gradFill xmlns:a="http://schemas.openxmlformats.org/drawingml/2006/main">
            <a:gsLst>
              <a:gs pos="0">
                <a:srgbClr val="EEF8FF"/>
              </a:gs>
              <a:gs pos="100000">
                <a:srgbClr val="E1F1FC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05" name="cons5-number">
            <a:extLst xmlns:a="http://schemas.openxmlformats.org/drawingml/2006/main">
              <a:ext uri="{FF2B5EF4-FFF2-40B4-BE49-F238E27FC236}">
                <a16:creationId xmlns:a16="http://schemas.microsoft.com/office/drawing/2014/main" id="{3AFFC45B-E5FA-4F24-8588-67F1C2A5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2771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cons5-number-t">
            <a:extLst xmlns:a="http://schemas.openxmlformats.org/drawingml/2006/main">
              <a:ext uri="{FF2B5EF4-FFF2-40B4-BE49-F238E27FC236}">
                <a16:creationId xmlns:a16="http://schemas.microsoft.com/office/drawing/2014/main" id="{DE2D17BB-DB64-4888-821F-4B684369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27710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7" name="cons5-title">
            <a:extLst xmlns:a="http://schemas.openxmlformats.org/drawingml/2006/main">
              <a:ext uri="{FF2B5EF4-FFF2-40B4-BE49-F238E27FC236}">
                <a16:creationId xmlns:a16="http://schemas.microsoft.com/office/drawing/2014/main" id="{61680A12-1B16-4588-A214-9DA138CF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7267575"/>
            <a:ext cx="133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智能资源运行约束</a:t>
            </a:r>
          </a:p>
        </p:txBody>
      </p:sp>
      <p:pic>
        <p:nvPicPr>
          <p:cNvPr id="667" name="cons-capacity" descr="LATEX:cons-capacity:|P_l|\leq P_l^{max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a79f5884c4c3e">
            <a:extLst>
              <a:ext uri="{96DAC541-7B7A-43D3-8B79-37D633B846F1}">
                <asvg:svgBlip xmlns:asvg="http://schemas.microsoft.com/office/drawing/2016/SVG/main" r:embed="rId9191286056243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72150" y="7619048"/>
            <a:ext cx="1009650" cy="201930"/>
          </a:xfrm>
          <a:prstGeom xmlns:a="http://schemas.openxmlformats.org/drawingml/2006/main" prst="rect">
            <a:avLst/>
          </a:prstGeom>
        </p:spPr>
      </p:pic>
      <p:sp>
        <p:nvSpPr>
          <p:cNvPr id="309" name="cons3-note">
            <a:extLst xmlns:a="http://schemas.openxmlformats.org/drawingml/2006/main">
              <a:ext uri="{FF2B5EF4-FFF2-40B4-BE49-F238E27FC236}">
                <a16:creationId xmlns:a16="http://schemas.microsoft.com/office/drawing/2014/main" id="{C78FE42B-1737-49CF-AB55-93B9810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9152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限制线路、变电站和设备</a:t>
            </a:r>
          </a:p>
          <a:p xmlns:a="http://schemas.openxmlformats.org/drawingml/2006/main">
            <a:pPr algn="l">
              <a:def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不过载。</a:t>
            </a:r>
          </a:p>
        </p:txBody>
      </p:sp>
      <p:pic>
        <p:nvPicPr>
          <p:cNvPr id="669" name="cons-stage" descr="LATEX:cons-stage:x_t\leq x_{t+1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e9f6ccea743ff">
            <a:extLst>
              <a:ext uri="{96DAC541-7B7A-43D3-8B79-37D633B846F1}">
                <asvg:svgBlip xmlns:asvg="http://schemas.microsoft.com/office/drawing/2016/SVG/main" r:embed="rId9191286056243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39075" y="7621296"/>
            <a:ext cx="904875" cy="187908"/>
          </a:xfrm>
          <a:prstGeom xmlns:a="http://schemas.openxmlformats.org/drawingml/2006/main" prst="rect">
            <a:avLst/>
          </a:prstGeom>
        </p:spPr>
      </p:pic>
      <p:sp>
        <p:nvSpPr>
          <p:cNvPr id="311" name="cons4-note">
            <a:extLst xmlns:a="http://schemas.openxmlformats.org/drawingml/2006/main">
              <a:ext uri="{FF2B5EF4-FFF2-40B4-BE49-F238E27FC236}">
                <a16:creationId xmlns:a16="http://schemas.microsoft.com/office/drawing/2014/main" id="{73F16C6D-DB7F-47AF-BF86-824A8D7B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91527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反映阶段投资继承关系</a:t>
            </a:r>
          </a:p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与建设时滞。</a:t>
            </a:r>
          </a:p>
        </p:txBody>
      </p:sp>
      <p:pic>
        <p:nvPicPr>
          <p:cNvPr id="671" name="cons-soc" descr="LATEX:cons-soc:SOC_{min}\leq SOC_t\leq SOC_{max}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157a7ff0a4c2f">
            <a:extLst>
              <a:ext uri="{96DAC541-7B7A-43D3-8B79-37D633B846F1}">
                <asvg:svgBlip xmlns:asvg="http://schemas.microsoft.com/office/drawing/2016/SVG/main" r:embed="rId9191286056243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91650" y="7658529"/>
            <a:ext cx="1609725" cy="113442"/>
          </a:xfrm>
          <a:prstGeom xmlns:a="http://schemas.openxmlformats.org/drawingml/2006/main" prst="rect">
            <a:avLst/>
          </a:prstGeom>
        </p:spPr>
      </p:pic>
      <p:sp>
        <p:nvSpPr>
          <p:cNvPr id="313" name="cons5-note">
            <a:extLst xmlns:a="http://schemas.openxmlformats.org/drawingml/2006/main">
              <a:ext uri="{FF2B5EF4-FFF2-40B4-BE49-F238E27FC236}">
                <a16:creationId xmlns:a16="http://schemas.microsoft.com/office/drawing/2014/main" id="{EA050D85-08E6-460A-B484-8E0A6E4C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9152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体现储能与EV智能充电</a:t>
            </a:r>
          </a:p>
          <a:p xmlns:a="http://schemas.openxmlformats.org/drawingml/2006/main">
            <a:pPr algn="l">
              <a:def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2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的灵活调节边界。</a:t>
            </a:r>
          </a:p>
        </p:txBody>
      </p:sp>
      <p:sp>
        <p:nvSpPr>
          <p:cNvPr id="314" name="solve-input">
            <a:extLst xmlns:a="http://schemas.openxmlformats.org/drawingml/2006/main">
              <a:ext uri="{FF2B5EF4-FFF2-40B4-BE49-F238E27FC236}">
                <a16:creationId xmlns:a16="http://schemas.microsoft.com/office/drawing/2014/main" id="{4A0E6A3F-D340-47D4-82A2-0E4F3EC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38425"/>
            <a:ext cx="3476625" cy="371475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9F5FF"/>
              </a:gs>
            </a:gsLst>
            <a:lin ang="5400000"/>
          </a:gradFill>
          <a:ln xmlns:a="http://schemas.openxmlformats.org/drawingml/2006/main" w="10478">
            <a:solidFill>
              <a:srgbClr val="0867D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输入：场景树 + 网络数据 + 候选投资方案</a:t>
            </a:r>
          </a:p>
        </p:txBody>
      </p:sp>
      <p:sp>
        <p:nvSpPr>
          <p:cNvPr id="315" name="input-model-route">
            <a:extLst xmlns:a="http://schemas.openxmlformats.org/drawingml/2006/main">
              <a:ext uri="{FF2B5EF4-FFF2-40B4-BE49-F238E27FC236}">
                <a16:creationId xmlns:a16="http://schemas.microsoft.com/office/drawing/2014/main" id="{F223EDF6-FC49-4BA0-B26F-52F9ADE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75" y="3019425"/>
            <a:ext cx="95" cy="142875"/>
          </a:xfrm>
          <a:custGeom xmlns:a="http://schemas.openxmlformats.org/drawingml/2006/main"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16" name="input-model-head">
            <a:extLst xmlns:a="http://schemas.openxmlformats.org/drawingml/2006/main">
              <a:ext uri="{FF2B5EF4-FFF2-40B4-BE49-F238E27FC236}">
                <a16:creationId xmlns:a16="http://schemas.microsoft.com/office/drawing/2014/main" id="{5F8F37EA-9375-42BA-83B7-28B1CC3A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0255" y="3067050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17" name="solve-model">
            <a:extLst xmlns:a="http://schemas.openxmlformats.org/drawingml/2006/main">
              <a:ext uri="{FF2B5EF4-FFF2-40B4-BE49-F238E27FC236}">
                <a16:creationId xmlns:a16="http://schemas.microsoft.com/office/drawing/2014/main" id="{3B086216-65C7-4556-8757-43F8079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3171825"/>
            <a:ext cx="2495550" cy="371475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6EAFC"/>
              </a:gs>
            </a:gsLst>
            <a:lin ang="5400000"/>
          </a:gradFill>
          <a:ln xmlns:a="http://schemas.openxmlformats.org/drawingml/2006/main" w="10478">
            <a:solidFill>
              <a:srgbClr val="0867D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建立多阶段随机MILP</a:t>
            </a:r>
          </a:p>
        </p:txBody>
      </p:sp>
      <p:sp>
        <p:nvSpPr>
          <p:cNvPr id="318" name="model-pm-route">
            <a:extLst xmlns:a="http://schemas.openxmlformats.org/drawingml/2006/main">
              <a:ext uri="{FF2B5EF4-FFF2-40B4-BE49-F238E27FC236}">
                <a16:creationId xmlns:a16="http://schemas.microsoft.com/office/drawing/2014/main" id="{9B8FE3D8-D0B6-4509-9101-387D34F5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543300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19" name="model-pm-head">
            <a:extLst xmlns:a="http://schemas.openxmlformats.org/drawingml/2006/main">
              <a:ext uri="{FF2B5EF4-FFF2-40B4-BE49-F238E27FC236}">
                <a16:creationId xmlns:a16="http://schemas.microsoft.com/office/drawing/2014/main" id="{F1ED36AE-002C-42A2-B14F-D34B30D1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0" y="357187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20" name="solve-pm">
            <a:extLst xmlns:a="http://schemas.openxmlformats.org/drawingml/2006/main">
              <a:ext uri="{FF2B5EF4-FFF2-40B4-BE49-F238E27FC236}">
                <a16:creationId xmlns:a16="http://schemas.microsoft.com/office/drawing/2014/main" id="{EE6E3689-EBA6-4CBA-BB5E-FFD759C9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76650"/>
            <a:ext cx="2752725" cy="581025"/>
          </a:xfrm>
          <a:prstGeom xmlns:a="http://schemas.openxmlformats.org/drawingml/2006/main" prst="roundRect">
            <a:avLst>
              <a:gd name="adj" fmla="val 9836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F4DE"/>
              </a:gs>
            </a:gsLst>
            <a:lin ang="5400000"/>
          </a:gradFill>
          <a:ln xmlns:a="http://schemas.openxmlformats.org/drawingml/2006/main" w="10478">
            <a:solidFill>
              <a:srgbClr val="62BA6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1" name="pm-vars">
            <a:extLst xmlns:a="http://schemas.openxmlformats.org/drawingml/2006/main">
              <a:ext uri="{FF2B5EF4-FFF2-40B4-BE49-F238E27FC236}">
                <a16:creationId xmlns:a16="http://schemas.microsoft.com/office/drawing/2014/main" id="{EB4F1753-F87F-4837-9B3F-DE884760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943350"/>
            <a:ext cx="2600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(投资决策：线路、变电站、PST、ES、SC)</a:t>
            </a:r>
          </a:p>
        </p:txBody>
      </p:sp>
      <p:sp>
        <p:nvSpPr>
          <p:cNvPr id="322" name="pm-title">
            <a:extLst xmlns:a="http://schemas.openxmlformats.org/drawingml/2006/main">
              <a:ext uri="{FF2B5EF4-FFF2-40B4-BE49-F238E27FC236}">
                <a16:creationId xmlns:a16="http://schemas.microsoft.com/office/drawing/2014/main" id="{A9860C61-5F35-4781-B0E1-22595271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05225"/>
            <a:ext cx="2752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主问题 PM</a:t>
            </a:r>
          </a:p>
        </p:txBody>
      </p:sp>
      <p:sp>
        <p:nvSpPr>
          <p:cNvPr id="323" name="pm-side-bg">
            <a:extLst xmlns:a="http://schemas.openxmlformats.org/drawingml/2006/main">
              <a:ext uri="{FF2B5EF4-FFF2-40B4-BE49-F238E27FC236}">
                <a16:creationId xmlns:a16="http://schemas.microsoft.com/office/drawing/2014/main" id="{E98B2AB5-2706-44E1-9B1B-CBAC6C88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3657600"/>
            <a:ext cx="93345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1C6F4"/>
            </a:solidFill>
            <a:prstDash val="solid"/>
          </a:ln>
        </p:spPr>
      </p:sp>
      <p:sp>
        <p:nvSpPr>
          <p:cNvPr id="324" name="pm-side">
            <a:extLst xmlns:a="http://schemas.openxmlformats.org/drawingml/2006/main">
              <a:ext uri="{FF2B5EF4-FFF2-40B4-BE49-F238E27FC236}">
                <a16:creationId xmlns:a16="http://schemas.microsoft.com/office/drawing/2014/main" id="{D56F0896-740E-4D92-B821-406B2C8E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3714750"/>
            <a:ext cx="819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确定各阶段</a:t>
            </a:r>
          </a:p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投资方案与</a:t>
            </a:r>
          </a:p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建设时序</a:t>
            </a:r>
          </a:p>
        </p:txBody>
      </p:sp>
      <p:sp>
        <p:nvSpPr>
          <p:cNvPr id="325" name="pm-ps-route">
            <a:extLst xmlns:a="http://schemas.openxmlformats.org/drawingml/2006/main">
              <a:ext uri="{FF2B5EF4-FFF2-40B4-BE49-F238E27FC236}">
                <a16:creationId xmlns:a16="http://schemas.microsoft.com/office/drawing/2014/main" id="{E0FE64C6-1D07-4000-8DA7-5A4B738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57675"/>
            <a:ext cx="95" cy="142875"/>
          </a:xfrm>
          <a:custGeom xmlns:a="http://schemas.openxmlformats.org/drawingml/2006/main"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26" name="pm-ps-head">
            <a:extLst xmlns:a="http://schemas.openxmlformats.org/drawingml/2006/main">
              <a:ext uri="{FF2B5EF4-FFF2-40B4-BE49-F238E27FC236}">
                <a16:creationId xmlns:a16="http://schemas.microsoft.com/office/drawing/2014/main" id="{80272459-0585-45C0-B788-FC4824A5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530" y="4305300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27" name="solve-ps">
            <a:extLst xmlns:a="http://schemas.openxmlformats.org/drawingml/2006/main">
              <a:ext uri="{FF2B5EF4-FFF2-40B4-BE49-F238E27FC236}">
                <a16:creationId xmlns:a16="http://schemas.microsoft.com/office/drawing/2014/main" id="{CA04626F-CD12-48BF-9810-85A8083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4419600"/>
            <a:ext cx="2533650" cy="752475"/>
          </a:xfrm>
          <a:prstGeom xmlns:a="http://schemas.openxmlformats.org/drawingml/2006/main" prst="roundRect">
            <a:avLst>
              <a:gd name="adj" fmla="val 7595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FF0D5"/>
              </a:gs>
            </a:gsLst>
            <a:lin ang="5400000"/>
          </a:gradFill>
          <a:ln xmlns:a="http://schemas.openxmlformats.org/drawingml/2006/main" w="10478">
            <a:solidFill>
              <a:srgbClr val="EAB33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8" name="ps-title">
            <a:extLst xmlns:a="http://schemas.openxmlformats.org/drawingml/2006/main">
              <a:ext uri="{FF2B5EF4-FFF2-40B4-BE49-F238E27FC236}">
                <a16:creationId xmlns:a16="http://schemas.microsoft.com/office/drawing/2014/main" id="{15F410B5-FD7A-4B8A-BA0D-F08F7DA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4672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运行子问题 PS</a:t>
            </a:r>
          </a:p>
        </p:txBody>
      </p:sp>
      <p:sp>
        <p:nvSpPr>
          <p:cNvPr id="329" name="ps-details">
            <a:extLst xmlns:a="http://schemas.openxmlformats.org/drawingml/2006/main">
              <a:ext uri="{FF2B5EF4-FFF2-40B4-BE49-F238E27FC236}">
                <a16:creationId xmlns:a16="http://schemas.microsoft.com/office/drawing/2014/main" id="{7C34665C-413F-4A56-8E14-DD81A99F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4724400"/>
            <a:ext cx="2371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(输电运行 + 配电运行，</a:t>
            </a:r>
          </a:p>
          <a:p xmlns:a="http://schemas.openxmlformats.org/drawingml/2006/main">
            <a:pPr algn="ctr">
              <a:def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按场景并行求解)</a:t>
            </a:r>
          </a:p>
        </p:txBody>
      </p:sp>
      <p:sp>
        <p:nvSpPr>
          <p:cNvPr id="330" name="ps-side-bg">
            <a:extLst xmlns:a="http://schemas.openxmlformats.org/drawingml/2006/main">
              <a:ext uri="{FF2B5EF4-FFF2-40B4-BE49-F238E27FC236}">
                <a16:creationId xmlns:a16="http://schemas.microsoft.com/office/drawing/2014/main" id="{F5BDF41C-DF45-400D-B0C8-46305682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4400550"/>
            <a:ext cx="933450" cy="847725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1C6F4"/>
            </a:solidFill>
            <a:prstDash val="solid"/>
          </a:ln>
        </p:spPr>
      </p:sp>
      <p:sp>
        <p:nvSpPr>
          <p:cNvPr id="331" name="ps-side">
            <a:extLst xmlns:a="http://schemas.openxmlformats.org/drawingml/2006/main">
              <a:ext uri="{FF2B5EF4-FFF2-40B4-BE49-F238E27FC236}">
                <a16:creationId xmlns:a16="http://schemas.microsoft.com/office/drawing/2014/main" id="{F48D02A9-0151-41C2-A8C7-C74EDDD9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4448175"/>
            <a:ext cx="819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评估给定投资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方案下的系统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运行成本与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运行可行性</a:t>
            </a:r>
          </a:p>
        </p:txBody>
      </p:sp>
      <p:sp>
        <p:nvSpPr>
          <p:cNvPr id="332" name="ps-cuts-route">
            <a:extLst xmlns:a="http://schemas.openxmlformats.org/drawingml/2006/main">
              <a:ext uri="{FF2B5EF4-FFF2-40B4-BE49-F238E27FC236}">
                <a16:creationId xmlns:a16="http://schemas.microsoft.com/office/drawing/2014/main" id="{5652CC5A-2F27-471F-A754-BE83BCCE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5172075"/>
            <a:ext cx="95" cy="142875"/>
          </a:xfrm>
          <a:custGeom xmlns:a="http://schemas.openxmlformats.org/drawingml/2006/main"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33" name="ps-cuts-head">
            <a:extLst xmlns:a="http://schemas.openxmlformats.org/drawingml/2006/main">
              <a:ext uri="{FF2B5EF4-FFF2-40B4-BE49-F238E27FC236}">
                <a16:creationId xmlns:a16="http://schemas.microsoft.com/office/drawing/2014/main" id="{D2D7B08F-921A-49BC-AD20-1303273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530" y="5219700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34" name="solve-cuts">
            <a:extLst xmlns:a="http://schemas.openxmlformats.org/drawingml/2006/main">
              <a:ext uri="{FF2B5EF4-FFF2-40B4-BE49-F238E27FC236}">
                <a16:creationId xmlns:a16="http://schemas.microsoft.com/office/drawing/2014/main" id="{9FBE8275-5236-4258-99EA-2696E4A1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334000"/>
            <a:ext cx="2628900" cy="352425"/>
          </a:xfrm>
          <a:prstGeom xmlns:a="http://schemas.openxmlformats.org/drawingml/2006/main" prst="roundRect">
            <a:avLst>
              <a:gd name="adj" fmla="val 16216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FD8DD"/>
              </a:gs>
            </a:gsLst>
            <a:lin ang="5400000"/>
          </a:gradFill>
          <a:ln xmlns:a="http://schemas.openxmlformats.org/drawingml/2006/main" w="10478">
            <a:solidFill>
              <a:srgbClr val="F4646D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生成最优性割</a:t>
            </a:r>
          </a:p>
        </p:txBody>
      </p:sp>
      <p:sp>
        <p:nvSpPr>
          <p:cNvPr id="335" name="cuts-ml-route">
            <a:extLst xmlns:a="http://schemas.openxmlformats.org/drawingml/2006/main">
              <a:ext uri="{FF2B5EF4-FFF2-40B4-BE49-F238E27FC236}">
                <a16:creationId xmlns:a16="http://schemas.microsoft.com/office/drawing/2014/main" id="{32E342A6-F1E6-46E8-AE85-220ECDE2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5686425"/>
            <a:ext cx="95" cy="123825"/>
          </a:xfrm>
          <a:custGeom xmlns:a="http://schemas.openxmlformats.org/drawingml/2006/main">
            <a:pathLst>
              <a:path w="9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36" name="cuts-ml-head">
            <a:extLst xmlns:a="http://schemas.openxmlformats.org/drawingml/2006/main">
              <a:ext uri="{FF2B5EF4-FFF2-40B4-BE49-F238E27FC236}">
                <a16:creationId xmlns:a16="http://schemas.microsoft.com/office/drawing/2014/main" id="{B93A412C-7214-4AC7-ABEE-CE85AF8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5955" y="5715000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37" name="solve-ml">
            <a:extLst xmlns:a="http://schemas.openxmlformats.org/drawingml/2006/main">
              <a:ext uri="{FF2B5EF4-FFF2-40B4-BE49-F238E27FC236}">
                <a16:creationId xmlns:a16="http://schemas.microsoft.com/office/drawing/2014/main" id="{9067810D-9C60-4024-B59E-AB83439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829300"/>
            <a:ext cx="2609850" cy="628650"/>
          </a:xfrm>
          <a:prstGeom xmlns:a="http://schemas.openxmlformats.org/drawingml/2006/main" prst="roundRect">
            <a:avLst>
              <a:gd name="adj" fmla="val 9091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DFF9"/>
              </a:gs>
            </a:gsLst>
            <a:lin ang="5400000"/>
          </a:gradFill>
          <a:ln xmlns:a="http://schemas.openxmlformats.org/drawingml/2006/main" w="10478">
            <a:solidFill>
              <a:srgbClr val="9659E9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8" name="ml-title">
            <a:extLst xmlns:a="http://schemas.openxmlformats.org/drawingml/2006/main">
              <a:ext uri="{FF2B5EF4-FFF2-40B4-BE49-F238E27FC236}">
                <a16:creationId xmlns:a16="http://schemas.microsoft.com/office/drawing/2014/main" id="{BAC00D44-FBB6-42BA-A741-BBC11978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5895975"/>
            <a:ext cx="252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ML割分类器</a:t>
            </a:r>
          </a:p>
        </p:txBody>
      </p:sp>
      <p:sp>
        <p:nvSpPr>
          <p:cNvPr id="339" name="ml-details">
            <a:extLst xmlns:a="http://schemas.openxmlformats.org/drawingml/2006/main">
              <a:ext uri="{FF2B5EF4-FFF2-40B4-BE49-F238E27FC236}">
                <a16:creationId xmlns:a16="http://schemas.microsoft.com/office/drawing/2014/main" id="{C47C5C99-6E5F-4CD5-84AF-250A8EC8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1531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(识别有效割 / 低效割)</a:t>
            </a:r>
          </a:p>
        </p:txBody>
      </p:sp>
      <p:sp>
        <p:nvSpPr>
          <p:cNvPr id="340" name="ml-side-bg">
            <a:extLst xmlns:a="http://schemas.openxmlformats.org/drawingml/2006/main">
              <a:ext uri="{FF2B5EF4-FFF2-40B4-BE49-F238E27FC236}">
                <a16:creationId xmlns:a16="http://schemas.microsoft.com/office/drawing/2014/main" id="{BCC20597-0B70-4A2E-A0A7-B026F004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5781675"/>
            <a:ext cx="933450" cy="847725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1C6F4"/>
            </a:solidFill>
            <a:prstDash val="solid"/>
          </a:ln>
        </p:spPr>
      </p:sp>
      <p:sp>
        <p:nvSpPr>
          <p:cNvPr id="341" name="ml-side">
            <a:extLst xmlns:a="http://schemas.openxmlformats.org/drawingml/2006/main">
              <a:ext uri="{FF2B5EF4-FFF2-40B4-BE49-F238E27FC236}">
                <a16:creationId xmlns:a16="http://schemas.microsoft.com/office/drawing/2014/main" id="{8A750D9B-BB83-4FBA-AFC9-982FBF80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5829300"/>
            <a:ext cx="81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利用机器学习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识别并筛选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低效割，提高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求解效率</a:t>
            </a:r>
          </a:p>
        </p:txBody>
      </p:sp>
      <p:sp>
        <p:nvSpPr>
          <p:cNvPr id="342" name="ml-effective-route">
            <a:extLst xmlns:a="http://schemas.openxmlformats.org/drawingml/2006/main">
              <a:ext uri="{FF2B5EF4-FFF2-40B4-BE49-F238E27FC236}">
                <a16:creationId xmlns:a16="http://schemas.microsoft.com/office/drawing/2014/main" id="{0FC8FE9B-CBD0-45A9-9101-A2DE4402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6457950"/>
            <a:ext cx="95" cy="142875"/>
          </a:xfrm>
          <a:custGeom xmlns:a="http://schemas.openxmlformats.org/drawingml/2006/main"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43" name="ml-effective-head">
            <a:extLst xmlns:a="http://schemas.openxmlformats.org/drawingml/2006/main">
              <a:ext uri="{FF2B5EF4-FFF2-40B4-BE49-F238E27FC236}">
                <a16:creationId xmlns:a16="http://schemas.microsoft.com/office/drawing/2014/main" id="{2738694B-B544-44FC-AB2D-C654DF06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8330" y="650557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44" name="solve-effective">
            <a:extLst xmlns:a="http://schemas.openxmlformats.org/drawingml/2006/main">
              <a:ext uri="{FF2B5EF4-FFF2-40B4-BE49-F238E27FC236}">
                <a16:creationId xmlns:a16="http://schemas.microsoft.com/office/drawing/2014/main" id="{7DD6F938-A1E2-4E61-9A91-1075E4C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6619875"/>
            <a:ext cx="2847975" cy="36195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DEEFF"/>
              </a:gs>
            </a:gsLst>
            <a:lin ang="5400000"/>
          </a:gradFill>
          <a:ln xmlns:a="http://schemas.openxmlformats.org/drawingml/2006/main" w="10478">
            <a:solidFill>
              <a:srgbClr val="0867D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有效割加入主问题，更新LB/UB</a:t>
            </a:r>
          </a:p>
        </p:txBody>
      </p:sp>
      <p:sp>
        <p:nvSpPr>
          <p:cNvPr id="345" name="effective-convergence-route">
            <a:extLst xmlns:a="http://schemas.openxmlformats.org/drawingml/2006/main">
              <a:ext uri="{FF2B5EF4-FFF2-40B4-BE49-F238E27FC236}">
                <a16:creationId xmlns:a16="http://schemas.microsoft.com/office/drawing/2014/main" id="{57B5B51E-2DA8-4503-98EE-0AE3C1C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818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46" name="effective-convergence-head">
            <a:extLst xmlns:a="http://schemas.openxmlformats.org/drawingml/2006/main">
              <a:ext uri="{FF2B5EF4-FFF2-40B4-BE49-F238E27FC236}">
                <a16:creationId xmlns:a16="http://schemas.microsoft.com/office/drawing/2014/main" id="{A07CD6CE-8ACA-439A-9DE6-21096DE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280" y="701992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47" name="convergence">
            <a:extLst xmlns:a="http://schemas.openxmlformats.org/drawingml/2006/main">
              <a:ext uri="{FF2B5EF4-FFF2-40B4-BE49-F238E27FC236}">
                <a16:creationId xmlns:a16="http://schemas.microsoft.com/office/drawing/2014/main" id="{7AE344C4-128D-4A64-9A33-B9886CA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7124700"/>
            <a:ext cx="2019300" cy="619125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C9E7FF"/>
              </a:gs>
            </a:gsLst>
            <a:lin ang="5400000"/>
          </a:gradFill>
          <a:ln xmlns:a="http://schemas.openxmlformats.org/drawingml/2006/main" w="11430">
            <a:solidFill>
              <a:srgbClr val="0867D4"/>
            </a:solidFill>
            <a:prstDash val="solid"/>
          </a:ln>
        </p:spPr>
      </p:sp>
      <p:sp>
        <p:nvSpPr>
          <p:cNvPr id="348" name="convergence-text">
            <a:extLst xmlns:a="http://schemas.openxmlformats.org/drawingml/2006/main">
              <a:ext uri="{FF2B5EF4-FFF2-40B4-BE49-F238E27FC236}">
                <a16:creationId xmlns:a16="http://schemas.microsoft.com/office/drawing/2014/main" id="{30F43724-1C46-4602-B606-0E473B9D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286625"/>
            <a:ext cx="92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收敛判定</a:t>
            </a:r>
          </a:p>
        </p:txBody>
      </p:sp>
      <p:sp>
        <p:nvSpPr>
          <p:cNvPr id="349" name="not-converged-route">
            <a:extLst xmlns:a="http://schemas.openxmlformats.org/drawingml/2006/main">
              <a:ext uri="{FF2B5EF4-FFF2-40B4-BE49-F238E27FC236}">
                <a16:creationId xmlns:a16="http://schemas.microsoft.com/office/drawing/2014/main" id="{3C33037A-B284-460D-9DFE-0A50EFA3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990975"/>
            <a:ext cx="800100" cy="3438525"/>
          </a:xfrm>
          <a:custGeom xmlns:a="http://schemas.openxmlformats.org/drawingml/2006/main">
            <a:pathLst>
              <a:path w="800100" h="3438525">
                <a:moveTo>
                  <a:pt x="800100" y="3438525"/>
                </a:moveTo>
                <a:lnTo>
                  <a:pt x="0" y="3438525"/>
                </a:lnTo>
                <a:lnTo>
                  <a:pt x="0" y="0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43AB6"/>
            </a:solidFill>
            <a:prstDash val="solid"/>
          </a:ln>
        </p:spPr>
      </p:sp>
      <p:sp>
        <p:nvSpPr>
          <p:cNvPr id="350" name="not-converged-head">
            <a:extLst xmlns:a="http://schemas.openxmlformats.org/drawingml/2006/main">
              <a:ext uri="{FF2B5EF4-FFF2-40B4-BE49-F238E27FC236}">
                <a16:creationId xmlns:a16="http://schemas.microsoft.com/office/drawing/2014/main" id="{2B9DF1AE-5A6F-4A34-A915-5D12CF3D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3945255"/>
            <a:ext cx="95250" cy="91440"/>
          </a:xfrm>
          <a:custGeom xmlns:a="http://schemas.openxmlformats.org/drawingml/2006/main">
            <a:pathLst>
              <a:path w="95250" h="91440">
                <a:moveTo>
                  <a:pt x="9525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43AB6"/>
          </a:solidFill>
          <a:ln xmlns:a="http://schemas.openxmlformats.org/drawingml/2006/main" w="0">
            <a:solidFill>
              <a:srgbClr val="043AB6"/>
            </a:solidFill>
            <a:prstDash val="solid"/>
          </a:ln>
        </p:spPr>
      </p:sp>
      <p:sp>
        <p:nvSpPr>
          <p:cNvPr id="351" name="not-converged-label">
            <a:extLst xmlns:a="http://schemas.openxmlformats.org/drawingml/2006/main">
              <a:ext uri="{FF2B5EF4-FFF2-40B4-BE49-F238E27FC236}">
                <a16:creationId xmlns:a16="http://schemas.microsoft.com/office/drawing/2014/main" id="{9A0AC913-34B9-4D13-A94B-6D7065CA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7162800"/>
            <a:ext cx="276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52" name="converged-output-route">
            <a:extLst xmlns:a="http://schemas.openxmlformats.org/drawingml/2006/main">
              <a:ext uri="{FF2B5EF4-FFF2-40B4-BE49-F238E27FC236}">
                <a16:creationId xmlns:a16="http://schemas.microsoft.com/office/drawing/2014/main" id="{3CB5B6FE-0895-4F05-AFA3-FE2DF33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743825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7368C"/>
            </a:solidFill>
            <a:prstDash val="solid"/>
          </a:ln>
        </p:spPr>
      </p:sp>
      <p:sp>
        <p:nvSpPr>
          <p:cNvPr id="353" name="converged-output-head">
            <a:extLst xmlns:a="http://schemas.openxmlformats.org/drawingml/2006/main">
              <a:ext uri="{FF2B5EF4-FFF2-40B4-BE49-F238E27FC236}">
                <a16:creationId xmlns:a16="http://schemas.microsoft.com/office/drawing/2014/main" id="{2933026A-ED7F-4149-977E-924B63E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280" y="7839075"/>
            <a:ext cx="91440" cy="95250"/>
          </a:xfrm>
          <a:custGeom xmlns:a="http://schemas.openxmlformats.org/drawingml/2006/main">
            <a:pathLst>
              <a:path w="91440" h="95250">
                <a:moveTo>
                  <a:pt x="45720" y="95250"/>
                </a:moveTo>
                <a:lnTo>
                  <a:pt x="0" y="0"/>
                </a:lnTo>
                <a:lnTo>
                  <a:pt x="9144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354" name="converged-label">
            <a:extLst xmlns:a="http://schemas.openxmlformats.org/drawingml/2006/main">
              <a:ext uri="{FF2B5EF4-FFF2-40B4-BE49-F238E27FC236}">
                <a16:creationId xmlns:a16="http://schemas.microsoft.com/office/drawing/2014/main" id="{BEC7E222-7B27-4C18-9870-6C156B6E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772477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55" name="solve-output">
            <a:extLst xmlns:a="http://schemas.openxmlformats.org/drawingml/2006/main">
              <a:ext uri="{FF2B5EF4-FFF2-40B4-BE49-F238E27FC236}">
                <a16:creationId xmlns:a16="http://schemas.microsoft.com/office/drawing/2014/main" id="{951A911B-8DFC-4E75-9881-319924E5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7943850"/>
            <a:ext cx="2295525" cy="428625"/>
          </a:xfrm>
          <a:prstGeom xmlns:a="http://schemas.openxmlformats.org/drawingml/2006/main" prst="roundRect">
            <a:avLst>
              <a:gd name="adj" fmla="val 1333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D8EEFC"/>
              </a:gs>
            </a:gsLst>
            <a:lin ang="5400000"/>
          </a:gradFill>
          <a:ln xmlns:a="http://schemas.openxmlformats.org/drawingml/2006/main" w="10478">
            <a:solidFill>
              <a:srgbClr val="0867D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输出最优扩展策略</a:t>
            </a:r>
          </a:p>
        </p:txBody>
      </p:sp>
      <p:sp>
        <p:nvSpPr>
          <p:cNvPr id="356" name="output-side-bg">
            <a:extLst xmlns:a="http://schemas.openxmlformats.org/drawingml/2006/main">
              <a:ext uri="{FF2B5EF4-FFF2-40B4-BE49-F238E27FC236}">
                <a16:creationId xmlns:a16="http://schemas.microsoft.com/office/drawing/2014/main" id="{CCC53104-9DEE-439D-848A-17255B0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772400"/>
            <a:ext cx="12192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1C6F4"/>
            </a:solidFill>
            <a:prstDash val="solid"/>
          </a:ln>
        </p:spPr>
      </p:sp>
      <p:sp>
        <p:nvSpPr>
          <p:cNvPr id="357" name="output-side">
            <a:extLst xmlns:a="http://schemas.openxmlformats.org/drawingml/2006/main">
              <a:ext uri="{FF2B5EF4-FFF2-40B4-BE49-F238E27FC236}">
                <a16:creationId xmlns:a16="http://schemas.microsoft.com/office/drawing/2014/main" id="{272E6FB6-39AD-4DCB-86D3-28C1A0B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7820025"/>
            <a:ext cx="1076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得到输配电网络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扩建方案与灵活</a:t>
            </a:r>
          </a:p>
          <a:p xmlns:a="http://schemas.openxmlformats.org/drawingml/2006/main">
            <a:pPr algn="l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资源配置策略</a:t>
            </a:r>
          </a:p>
        </p:txBody>
      </p:sp>
      <p:sp>
        <p:nvSpPr>
          <p:cNvPr id="358" name="conclusion">
            <a:extLst xmlns:a="http://schemas.openxmlformats.org/drawingml/2006/main">
              <a:ext uri="{FF2B5EF4-FFF2-40B4-BE49-F238E27FC236}">
                <a16:creationId xmlns:a16="http://schemas.microsoft.com/office/drawing/2014/main" id="{C7BDA826-D73C-4DDB-A50C-DD6D71D7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8553450"/>
            <a:ext cx="15601950" cy="352425"/>
          </a:xfrm>
          <a:prstGeom xmlns:a="http://schemas.openxmlformats.org/drawingml/2006/main" prst="roundRect">
            <a:avLst>
              <a:gd name="adj" fmla="val 27027"/>
            </a:avLst>
          </a:prstGeom>
          <a:gradFill xmlns:a="http://schemas.openxmlformats.org/drawingml/2006/main">
            <a:gsLst>
              <a:gs pos="0">
                <a:srgbClr val="E5F5FF"/>
              </a:gs>
              <a:gs pos="100000">
                <a:srgbClr val="D8EDFA"/>
              </a:gs>
            </a:gsLst>
            <a:lin ang="5400000"/>
          </a:gradFill>
          <a:ln xmlns:a="http://schemas.openxmlformats.org/drawingml/2006/main" w="9525">
            <a:solidFill>
              <a:srgbClr val="63B4FA"/>
            </a:solidFill>
            <a:prstDash val="solid"/>
          </a:ln>
        </p:spPr>
      </p:sp>
      <p:sp>
        <p:nvSpPr>
          <p:cNvPr id="359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DBEA785D-56F9-40B3-996D-8769DF8C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0"/>
            <a:ext cx="1438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该模型通过“多阶段随机规划 + TSO–DSO一体化建模 + 智能投资比较 + MLMBD求解”，实现了输配电扩建与灵活资源配置的统一优化。</a:t>
            </a:r>
          </a:p>
        </p:txBody>
      </p:sp>
    </p:spTree>
    <p:extLst>
      <p:ext uri="{BB962C8B-B14F-4D97-AF65-F5344CB8AC3E}">
        <p14:creationId xmlns:p14="http://schemas.microsoft.com/office/powerpoint/2010/main" val="1975367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0" name="s2-title-1">
            <a:extLst xmlns:a="http://schemas.openxmlformats.org/drawingml/2006/main">
              <a:ext uri="{FF2B5EF4-FFF2-40B4-BE49-F238E27FC236}">
                <a16:creationId xmlns:a16="http://schemas.microsoft.com/office/drawing/2014/main" id="{2C3ECC10-07E0-4AD6-AEA4-4DE3BDB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"/>
            <a:ext cx="156114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2. 对比算例与实验结果 --- 多阶段规划与智能投资价值</a:t>
            </a:r>
          </a:p>
        </p:txBody>
      </p:sp>
      <p:sp>
        <p:nvSpPr>
          <p:cNvPr id="2" name="s2-title-rule-2">
            <a:extLst xmlns:a="http://schemas.openxmlformats.org/drawingml/2006/main">
              <a:ext uri="{FF2B5EF4-FFF2-40B4-BE49-F238E27FC236}">
                <a16:creationId xmlns:a16="http://schemas.microsoft.com/office/drawing/2014/main" id="{475000D9-DDF8-4F89-A8C5-C49E649D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19125"/>
            <a:ext cx="15621000" cy="95"/>
          </a:xfrm>
          <a:custGeom xmlns:a="http://schemas.openxmlformats.org/drawingml/2006/main">
            <a:pathLst>
              <a:path w="15621000" h="95">
                <a:moveTo>
                  <a:pt x="0" y="0"/>
                </a:moveTo>
                <a:lnTo>
                  <a:pt x="1562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753C6"/>
            </a:solidFill>
            <a:prstDash val="solid"/>
          </a:ln>
        </p:spPr>
      </p:sp>
      <p:sp>
        <p:nvSpPr>
          <p:cNvPr id="3" name="s2-summary-3">
            <a:extLst xmlns:a="http://schemas.openxmlformats.org/drawingml/2006/main">
              <a:ext uri="{FF2B5EF4-FFF2-40B4-BE49-F238E27FC236}">
                <a16:creationId xmlns:a16="http://schemas.microsoft.com/office/drawing/2014/main" id="{C615AB92-2650-4DB0-883F-91B80A9D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742950"/>
            <a:ext cx="15563850" cy="1190625"/>
          </a:xfrm>
          <a:prstGeom xmlns:a="http://schemas.openxmlformats.org/drawingml/2006/main" prst="roundRect">
            <a:avLst>
              <a:gd name="adj" fmla="val 11200"/>
            </a:avLst>
          </a:prstGeom>
          <a:gradFill xmlns:a="http://schemas.openxmlformats.org/drawingml/2006/main">
            <a:gsLst>
              <a:gs pos="0">
                <a:srgbClr val="F0F8FF"/>
              </a:gs>
              <a:gs pos="100000">
                <a:srgbClr val="E2F1FF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4" name="s2-bullet-4">
            <a:extLst xmlns:a="http://schemas.openxmlformats.org/drawingml/2006/main">
              <a:ext uri="{FF2B5EF4-FFF2-40B4-BE49-F238E27FC236}">
                <a16:creationId xmlns:a16="http://schemas.microsoft.com/office/drawing/2014/main" id="{133E2CC6-4730-44F6-883C-0207ABCD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1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solidFill>
              <a:srgbClr val="F00000"/>
            </a:solidFill>
            <a:prstDash val="solid"/>
          </a:ln>
        </p:spPr>
      </p:sp>
      <p:sp>
        <p:nvSpPr>
          <p:cNvPr id="5" name="s2-bullet-5">
            <a:extLst xmlns:a="http://schemas.openxmlformats.org/drawingml/2006/main">
              <a:ext uri="{FF2B5EF4-FFF2-40B4-BE49-F238E27FC236}">
                <a16:creationId xmlns:a16="http://schemas.microsoft.com/office/drawing/2014/main" id="{F2A7A8F2-4F67-41C3-989C-9D297E25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8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solidFill>
              <a:srgbClr val="F00000"/>
            </a:solidFill>
            <a:prstDash val="solid"/>
          </a:ln>
        </p:spPr>
      </p:sp>
      <p:sp>
        <p:nvSpPr>
          <p:cNvPr id="6" name="s2-summary-a-6">
            <a:extLst xmlns:a="http://schemas.openxmlformats.org/drawingml/2006/main">
              <a:ext uri="{FF2B5EF4-FFF2-40B4-BE49-F238E27FC236}">
                <a16:creationId xmlns:a16="http://schemas.microsoft.com/office/drawing/2014/main" id="{ECCE54BE-3718-456E-9BEA-2945FF8B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8675"/>
            <a:ext cx="1491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多阶段价值：</a:t>
            </a:r>
            <a:r>
              <a: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四阶段规划能够在不确定性逐步揭示的过程中，</a:t>
            </a:r>
            <a:r>
              <a:rPr sz="1740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推迟或调整投资</a:t>
            </a:r>
            <a:r>
              <a: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，根据实际需求动态决策，有效降低低增长场景下的过度建设风险。</a:t>
            </a:r>
          </a:p>
        </p:txBody>
      </p:sp>
      <p:sp>
        <p:nvSpPr>
          <p:cNvPr id="7" name="s2-summary-b-7">
            <a:extLst xmlns:a="http://schemas.openxmlformats.org/drawingml/2006/main">
              <a:ext uri="{FF2B5EF4-FFF2-40B4-BE49-F238E27FC236}">
                <a16:creationId xmlns:a16="http://schemas.microsoft.com/office/drawing/2014/main" id="{A253262C-D13D-4CB0-A4BD-514884D9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4916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智能投资与算法价值：</a:t>
            </a:r>
            <a:r>
              <a: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PST、ES和EV智能充电能够通过潮流重分配、储能调节和负荷柔性，</a:t>
            </a:r>
            <a:r>
              <a:rPr sz="1740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替代传统网络强化</a:t>
            </a:r>
            <a:r>
              <a: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；同时，基于机器学习的Benders算法</a:t>
            </a:r>
          </a:p>
        </p:txBody>
      </p:sp>
      <p:sp>
        <p:nvSpPr>
          <p:cNvPr id="8" name="s2-summary-c-8">
            <a:extLst xmlns:a="http://schemas.openxmlformats.org/drawingml/2006/main">
              <a:ext uri="{FF2B5EF4-FFF2-40B4-BE49-F238E27FC236}">
                <a16:creationId xmlns:a16="http://schemas.microsoft.com/office/drawing/2014/main" id="{D8BCCD76-2CBC-4E25-871C-57A68E99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466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（MLMBD）</a:t>
            </a:r>
            <a:r>
              <a:rPr sz="1740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提升可求解性</a:t>
            </a:r>
            <a:r>
              <a:rPr sz="174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，显著改善大规模多场景规划问题的求解效率。</a:t>
            </a:r>
          </a:p>
        </p:txBody>
      </p:sp>
      <p:sp>
        <p:nvSpPr>
          <p:cNvPr id="9" name="s2-left-panel-9">
            <a:extLst xmlns:a="http://schemas.openxmlformats.org/drawingml/2006/main">
              <a:ext uri="{FF2B5EF4-FFF2-40B4-BE49-F238E27FC236}">
                <a16:creationId xmlns:a16="http://schemas.microsoft.com/office/drawing/2014/main" id="{F5116257-7643-42C0-9C92-758C9FA5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028825"/>
            <a:ext cx="5153025" cy="6772275"/>
          </a:xfrm>
          <a:prstGeom xmlns:a="http://schemas.openxmlformats.org/drawingml/2006/main" prst="roundRect">
            <a:avLst>
              <a:gd name="adj" fmla="val 22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8CF6"/>
            </a:solidFill>
            <a:prstDash val="solid"/>
          </a:ln>
        </p:spPr>
      </p:sp>
      <p:sp>
        <p:nvSpPr>
          <p:cNvPr id="10" name="s2-center-panel-10">
            <a:extLst xmlns:a="http://schemas.openxmlformats.org/drawingml/2006/main">
              <a:ext uri="{FF2B5EF4-FFF2-40B4-BE49-F238E27FC236}">
                <a16:creationId xmlns:a16="http://schemas.microsoft.com/office/drawing/2014/main" id="{9C57CAD0-940B-4BCC-8185-2251A58D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28825"/>
            <a:ext cx="5086350" cy="6772275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8CF6"/>
            </a:solidFill>
            <a:prstDash val="solid"/>
          </a:ln>
        </p:spPr>
      </p:sp>
      <p:sp>
        <p:nvSpPr>
          <p:cNvPr id="11" name="s2-right-panel-11">
            <a:extLst xmlns:a="http://schemas.openxmlformats.org/drawingml/2006/main">
              <a:ext uri="{FF2B5EF4-FFF2-40B4-BE49-F238E27FC236}">
                <a16:creationId xmlns:a16="http://schemas.microsoft.com/office/drawing/2014/main" id="{91B44ECF-F76A-4D0B-9FE9-33AE3544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28825"/>
            <a:ext cx="5133975" cy="6772275"/>
          </a:xfrm>
          <a:prstGeom xmlns:a="http://schemas.openxmlformats.org/drawingml/2006/main" prst="roundRect">
            <a:avLst>
              <a:gd name="adj" fmla="val 2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8CF6"/>
            </a:solidFill>
            <a:prstDash val="solid"/>
          </a:ln>
        </p:spPr>
      </p:sp>
      <p:sp>
        <p:nvSpPr>
          <p:cNvPr id="12" name="s2-left-title-12">
            <a:extLst xmlns:a="http://schemas.openxmlformats.org/drawingml/2006/main">
              <a:ext uri="{FF2B5EF4-FFF2-40B4-BE49-F238E27FC236}">
                <a16:creationId xmlns:a16="http://schemas.microsoft.com/office/drawing/2014/main" id="{CFFD83ED-101A-4D4D-9CB2-329B220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57400"/>
            <a:ext cx="489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1. 多阶段规划价值</a:t>
            </a:r>
          </a:p>
        </p:txBody>
      </p:sp>
      <p:sp>
        <p:nvSpPr>
          <p:cNvPr id="13" name="s2-center-title-13">
            <a:extLst xmlns:a="http://schemas.openxmlformats.org/drawingml/2006/main">
              <a:ext uri="{FF2B5EF4-FFF2-40B4-BE49-F238E27FC236}">
                <a16:creationId xmlns:a16="http://schemas.microsoft.com/office/drawing/2014/main" id="{24ACE591-917C-4D07-A296-74E5BFB0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5740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2. 智能投资价值</a:t>
            </a:r>
          </a:p>
        </p:txBody>
      </p:sp>
      <p:sp>
        <p:nvSpPr>
          <p:cNvPr id="14" name="s2-right-title-14">
            <a:extLst xmlns:a="http://schemas.openxmlformats.org/drawingml/2006/main">
              <a:ext uri="{FF2B5EF4-FFF2-40B4-BE49-F238E27FC236}">
                <a16:creationId xmlns:a16="http://schemas.microsoft.com/office/drawing/2014/main" id="{81CCD0DF-0295-4344-A7EA-3CD0FF1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057400"/>
            <a:ext cx="486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3. 大规模算例与算法性能</a:t>
            </a:r>
          </a:p>
        </p:txBody>
      </p:sp>
      <p:sp>
        <p:nvSpPr>
          <p:cNvPr id="15" name="s2-two-stage-15">
            <a:extLst xmlns:a="http://schemas.openxmlformats.org/drawingml/2006/main">
              <a:ext uri="{FF2B5EF4-FFF2-40B4-BE49-F238E27FC236}">
                <a16:creationId xmlns:a16="http://schemas.microsoft.com/office/drawing/2014/main" id="{3D7B7EEE-1F57-42CC-B702-FA5B4125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05075"/>
            <a:ext cx="2457450" cy="319087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66B7FA"/>
            </a:solidFill>
            <a:prstDash val="solid"/>
          </a:ln>
        </p:spPr>
      </p:sp>
      <p:sp>
        <p:nvSpPr>
          <p:cNvPr id="16" name="s2-two-stage-heading-16">
            <a:extLst xmlns:a="http://schemas.openxmlformats.org/drawingml/2006/main">
              <a:ext uri="{FF2B5EF4-FFF2-40B4-BE49-F238E27FC236}">
                <a16:creationId xmlns:a16="http://schemas.microsoft.com/office/drawing/2014/main" id="{2920D6AF-6A0C-43E2-AF1C-D8FF8937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05075"/>
            <a:ext cx="2457450" cy="36195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7F3FD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17" name="s2-two-stage-headingt-17">
            <a:extLst xmlns:a="http://schemas.openxmlformats.org/drawingml/2006/main">
              <a:ext uri="{FF2B5EF4-FFF2-40B4-BE49-F238E27FC236}">
                <a16:creationId xmlns:a16="http://schemas.microsoft.com/office/drawing/2014/main" id="{A12CFE7F-685A-4D2D-9E75-2C6B52A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050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两阶段规划</a:t>
            </a:r>
          </a:p>
        </p:txBody>
      </p:sp>
      <p:sp>
        <p:nvSpPr>
          <p:cNvPr id="18" name="s2-now-18">
            <a:extLst xmlns:a="http://schemas.openxmlformats.org/drawingml/2006/main">
              <a:ext uri="{FF2B5EF4-FFF2-40B4-BE49-F238E27FC236}">
                <a16:creationId xmlns:a16="http://schemas.microsoft.com/office/drawing/2014/main" id="{4AFB5928-3031-4CE1-B85E-3249895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66687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FF7FE"/>
          </a:solidFill>
          <a:ln xmlns:a="http://schemas.openxmlformats.org/drawingml/2006/main" w="9525">
            <a:solidFill>
              <a:srgbClr val="246BF3"/>
            </a:solidFill>
            <a:prstDash val="solid"/>
          </a:ln>
        </p:spPr>
      </p:sp>
      <p:sp>
        <p:nvSpPr>
          <p:cNvPr id="19" name="s2-now-label-19">
            <a:extLst xmlns:a="http://schemas.openxmlformats.org/drawingml/2006/main">
              <a:ext uri="{FF2B5EF4-FFF2-40B4-BE49-F238E27FC236}">
                <a16:creationId xmlns:a16="http://schemas.microsoft.com/office/drawing/2014/main" id="{0A790273-D566-4299-B897-C36D6AD9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当前时刻</a:t>
            </a:r>
          </a:p>
        </p:txBody>
      </p:sp>
      <p:sp>
        <p:nvSpPr>
          <p:cNvPr id="20" name="s2-now-emphasis-20">
            <a:extLst xmlns:a="http://schemas.openxmlformats.org/drawingml/2006/main">
              <a:ext uri="{FF2B5EF4-FFF2-40B4-BE49-F238E27FC236}">
                <a16:creationId xmlns:a16="http://schemas.microsoft.com/office/drawing/2014/main" id="{F5C19794-AC86-4FD9-90BA-D50BD32A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7660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350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一次性大规模投资</a:t>
            </a: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21" name="s2-early-investment-21">
            <a:extLst xmlns:a="http://schemas.openxmlformats.org/drawingml/2006/main">
              <a:ext uri="{FF2B5EF4-FFF2-40B4-BE49-F238E27FC236}">
                <a16:creationId xmlns:a16="http://schemas.microsoft.com/office/drawing/2014/main" id="{AE85F907-0482-432E-AA25-44F534FE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38550"/>
            <a:ext cx="657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前期</a:t>
            </a:r>
          </a:p>
          <a:p xmlns:a="http://schemas.openxmlformats.org/drawingml/2006/main">
            <a:pPr algn="l">
              <a:defRPr sz="131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集中投资</a:t>
            </a:r>
          </a:p>
        </p:txBody>
      </p:sp>
      <p:sp>
        <p:nvSpPr>
          <p:cNvPr id="22" name="s2-now-low-22-route">
            <a:extLst xmlns:a="http://schemas.openxmlformats.org/drawingml/2006/main">
              <a:ext uri="{FF2B5EF4-FFF2-40B4-BE49-F238E27FC236}">
                <a16:creationId xmlns:a16="http://schemas.microsoft.com/office/drawing/2014/main" id="{6B796E9B-64FE-44D7-8DBE-5911ED64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0450"/>
            <a:ext cx="762000" cy="723900"/>
          </a:xfrm>
          <a:custGeom xmlns:a="http://schemas.openxmlformats.org/drawingml/2006/main">
            <a:pathLst>
              <a:path w="762000" h="723900">
                <a:moveTo>
                  <a:pt x="762000" y="0"/>
                </a:moveTo>
                <a:lnTo>
                  <a:pt x="762000" y="180975"/>
                </a:ln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437A7"/>
            </a:solidFill>
            <a:prstDash val="solid"/>
          </a:ln>
        </p:spPr>
      </p:sp>
      <p:sp>
        <p:nvSpPr>
          <p:cNvPr id="23" name="s2-now-low-22-head">
            <a:extLst xmlns:a="http://schemas.openxmlformats.org/drawingml/2006/main">
              <a:ext uri="{FF2B5EF4-FFF2-40B4-BE49-F238E27FC236}">
                <a16:creationId xmlns:a16="http://schemas.microsoft.com/office/drawing/2014/main" id="{56D932E0-E058-4B41-A594-77F0E90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59595"/>
            <a:ext cx="72873" cy="64755"/>
          </a:xfrm>
          <a:custGeom xmlns:a="http://schemas.openxmlformats.org/drawingml/2006/main">
            <a:pathLst>
              <a:path w="72873" h="64755">
                <a:moveTo>
                  <a:pt x="0" y="64755"/>
                </a:moveTo>
                <a:lnTo>
                  <a:pt x="35730" y="0"/>
                </a:lnTo>
                <a:lnTo>
                  <a:pt x="72873" y="52129"/>
                </a:lnTo>
                <a:close/>
              </a:path>
            </a:pathLst>
          </a:custGeom>
          <a:solidFill xmlns:a="http://schemas.openxmlformats.org/drawingml/2006/main">
            <a:srgbClr val="0437A7"/>
          </a:solidFill>
          <a:ln xmlns:a="http://schemas.openxmlformats.org/drawingml/2006/main" w="0">
            <a:solidFill>
              <a:srgbClr val="0437A7"/>
            </a:solidFill>
            <a:prstDash val="solid"/>
          </a:ln>
        </p:spPr>
      </p:sp>
      <p:sp>
        <p:nvSpPr>
          <p:cNvPr id="24" name="s2-now-base-23-route">
            <a:extLst xmlns:a="http://schemas.openxmlformats.org/drawingml/2006/main">
              <a:ext uri="{FF2B5EF4-FFF2-40B4-BE49-F238E27FC236}">
                <a16:creationId xmlns:a16="http://schemas.microsoft.com/office/drawing/2014/main" id="{0EED3B42-B767-4069-8226-655C4E6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00450"/>
            <a:ext cx="95" cy="733425"/>
          </a:xfrm>
          <a:custGeom xmlns:a="http://schemas.openxmlformats.org/drawingml/2006/main">
            <a:pathLst>
              <a:path w="95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437A7"/>
            </a:solidFill>
            <a:prstDash val="solid"/>
          </a:ln>
        </p:spPr>
      </p:sp>
      <p:sp>
        <p:nvSpPr>
          <p:cNvPr id="25" name="s2-now-base-23-head">
            <a:extLst xmlns:a="http://schemas.openxmlformats.org/drawingml/2006/main">
              <a:ext uri="{FF2B5EF4-FFF2-40B4-BE49-F238E27FC236}">
                <a16:creationId xmlns:a16="http://schemas.microsoft.com/office/drawing/2014/main" id="{57FF0D41-FD19-40FA-8FB4-315EBFF5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421" y="4267200"/>
            <a:ext cx="64008" cy="66675"/>
          </a:xfrm>
          <a:custGeom xmlns:a="http://schemas.openxmlformats.org/drawingml/2006/main">
            <a:pathLst>
              <a:path w="64008" h="66675">
                <a:moveTo>
                  <a:pt x="32004" y="66675"/>
                </a:moveTo>
                <a:lnTo>
                  <a:pt x="0" y="0"/>
                </a:lnTo>
                <a:lnTo>
                  <a:pt x="64008" y="0"/>
                </a:lnTo>
                <a:close/>
              </a:path>
            </a:pathLst>
          </a:custGeom>
          <a:solidFill xmlns:a="http://schemas.openxmlformats.org/drawingml/2006/main">
            <a:srgbClr val="0437A7"/>
          </a:solidFill>
          <a:ln xmlns:a="http://schemas.openxmlformats.org/drawingml/2006/main" w="0">
            <a:solidFill>
              <a:srgbClr val="0437A7"/>
            </a:solidFill>
            <a:prstDash val="solid"/>
          </a:ln>
        </p:spPr>
      </p:sp>
      <p:sp>
        <p:nvSpPr>
          <p:cNvPr id="26" name="s2-now-high-24-route">
            <a:extLst xmlns:a="http://schemas.openxmlformats.org/drawingml/2006/main">
              <a:ext uri="{FF2B5EF4-FFF2-40B4-BE49-F238E27FC236}">
                <a16:creationId xmlns:a16="http://schemas.microsoft.com/office/drawing/2014/main" id="{1417B48D-2078-4025-AAAD-5D363ED2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81425"/>
            <a:ext cx="800100" cy="542925"/>
          </a:xfrm>
          <a:custGeom xmlns:a="http://schemas.openxmlformats.org/drawingml/2006/main">
            <a:pathLst>
              <a:path w="800100" h="542925">
                <a:moveTo>
                  <a:pt x="0" y="0"/>
                </a:moveTo>
                <a:lnTo>
                  <a:pt x="80010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437A7"/>
            </a:solidFill>
            <a:prstDash val="solid"/>
          </a:ln>
        </p:spPr>
      </p:sp>
      <p:sp>
        <p:nvSpPr>
          <p:cNvPr id="27" name="s2-now-high-24-head">
            <a:extLst xmlns:a="http://schemas.openxmlformats.org/drawingml/2006/main">
              <a:ext uri="{FF2B5EF4-FFF2-40B4-BE49-F238E27FC236}">
                <a16:creationId xmlns:a16="http://schemas.microsoft.com/office/drawing/2014/main" id="{A14123C3-431E-4D12-88FF-D37DD27D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383" y="4260429"/>
            <a:ext cx="73142" cy="63921"/>
          </a:xfrm>
          <a:custGeom xmlns:a="http://schemas.openxmlformats.org/drawingml/2006/main">
            <a:pathLst>
              <a:path w="73142" h="63921">
                <a:moveTo>
                  <a:pt x="73142" y="63921"/>
                </a:moveTo>
                <a:lnTo>
                  <a:pt x="0" y="52965"/>
                </a:lnTo>
                <a:lnTo>
                  <a:pt x="35941" y="0"/>
                </a:lnTo>
                <a:close/>
              </a:path>
            </a:pathLst>
          </a:custGeom>
          <a:solidFill xmlns:a="http://schemas.openxmlformats.org/drawingml/2006/main">
            <a:srgbClr val="0437A7"/>
          </a:solidFill>
          <a:ln xmlns:a="http://schemas.openxmlformats.org/drawingml/2006/main" w="0">
            <a:solidFill>
              <a:srgbClr val="0437A7"/>
            </a:solidFill>
            <a:prstDash val="solid"/>
          </a:ln>
        </p:spPr>
      </p:sp>
      <p:sp>
        <p:nvSpPr>
          <p:cNvPr id="28" name="s2-scenario-leaf-25">
            <a:extLst xmlns:a="http://schemas.openxmlformats.org/drawingml/2006/main">
              <a:ext uri="{FF2B5EF4-FFF2-40B4-BE49-F238E27FC236}">
                <a16:creationId xmlns:a16="http://schemas.microsoft.com/office/drawing/2014/main" id="{247270F1-E8C5-44C1-99CC-63C27AB5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352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E4"/>
          </a:solidFill>
          <a:ln xmlns:a="http://schemas.openxmlformats.org/drawingml/2006/main" w="8573">
            <a:solidFill>
              <a:srgbClr val="68C188"/>
            </a:solidFill>
            <a:prstDash val="solid"/>
          </a:ln>
        </p:spPr>
      </p:sp>
      <p:sp>
        <p:nvSpPr>
          <p:cNvPr id="29" name="s2-scenario-label-26">
            <a:extLst xmlns:a="http://schemas.openxmlformats.org/drawingml/2006/main">
              <a:ext uri="{FF2B5EF4-FFF2-40B4-BE49-F238E27FC236}">
                <a16:creationId xmlns:a16="http://schemas.microsoft.com/office/drawing/2014/main" id="{CF970B66-3A94-4853-9B98-35F562D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3865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低增长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(低需求)</a:t>
            </a:r>
          </a:p>
        </p:txBody>
      </p:sp>
      <p:sp>
        <p:nvSpPr>
          <p:cNvPr id="30" name="s2-scenario-leaf-27">
            <a:extLst xmlns:a="http://schemas.openxmlformats.org/drawingml/2006/main">
              <a:ext uri="{FF2B5EF4-FFF2-40B4-BE49-F238E27FC236}">
                <a16:creationId xmlns:a16="http://schemas.microsoft.com/office/drawing/2014/main" id="{D199C152-8358-452D-A429-22884C57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52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E"/>
          </a:solidFill>
          <a:ln xmlns:a="http://schemas.openxmlformats.org/drawingml/2006/main" w="8573">
            <a:solidFill>
              <a:srgbClr val="76B6F6"/>
            </a:solidFill>
            <a:prstDash val="solid"/>
          </a:ln>
        </p:spPr>
      </p:sp>
      <p:sp>
        <p:nvSpPr>
          <p:cNvPr id="31" name="s2-scenario-label-28">
            <a:extLst xmlns:a="http://schemas.openxmlformats.org/drawingml/2006/main">
              <a:ext uri="{FF2B5EF4-FFF2-40B4-BE49-F238E27FC236}">
                <a16:creationId xmlns:a16="http://schemas.microsoft.com/office/drawing/2014/main" id="{7F8074FA-632E-457F-834F-0675829A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3865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(中需求)</a:t>
            </a:r>
          </a:p>
        </p:txBody>
      </p:sp>
      <p:sp>
        <p:nvSpPr>
          <p:cNvPr id="32" name="s2-scenario-leaf-29">
            <a:extLst xmlns:a="http://schemas.openxmlformats.org/drawingml/2006/main">
              <a:ext uri="{FF2B5EF4-FFF2-40B4-BE49-F238E27FC236}">
                <a16:creationId xmlns:a16="http://schemas.microsoft.com/office/drawing/2014/main" id="{DD4F82D2-ECBF-48B2-87E1-6129C865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3529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8573">
            <a:solidFill>
              <a:srgbClr val="F2A0A0"/>
            </a:solidFill>
            <a:prstDash val="solid"/>
          </a:ln>
        </p:spPr>
      </p:sp>
      <p:sp>
        <p:nvSpPr>
          <p:cNvPr id="33" name="s2-scenario-label-30">
            <a:extLst xmlns:a="http://schemas.openxmlformats.org/drawingml/2006/main">
              <a:ext uri="{FF2B5EF4-FFF2-40B4-BE49-F238E27FC236}">
                <a16:creationId xmlns:a16="http://schemas.microsoft.com/office/drawing/2014/main" id="{ABB031FF-2756-485D-A3E6-E83D46A3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3865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高增长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(高需求)</a:t>
            </a:r>
          </a:p>
        </p:txBody>
      </p:sp>
      <p:sp>
        <p:nvSpPr>
          <p:cNvPr id="34" name="s2-two-stage-note-31">
            <a:extLst xmlns:a="http://schemas.openxmlformats.org/drawingml/2006/main">
              <a:ext uri="{FF2B5EF4-FFF2-40B4-BE49-F238E27FC236}">
                <a16:creationId xmlns:a16="http://schemas.microsoft.com/office/drawing/2014/main" id="{9F7DBCE5-A2EC-46B9-BBE1-98440389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72075"/>
            <a:ext cx="2362200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9F5FC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35" name="s2-two-stage-note-t-32">
            <a:extLst xmlns:a="http://schemas.openxmlformats.org/drawingml/2006/main">
              <a:ext uri="{FF2B5EF4-FFF2-40B4-BE49-F238E27FC236}">
                <a16:creationId xmlns:a16="http://schemas.microsoft.com/office/drawing/2014/main" id="{46FD9AED-63C4-4A5B-AD5A-758C5B0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00650"/>
            <a:ext cx="2305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所有场景共享同一投资方案，</a:t>
            </a:r>
          </a:p>
          <a:p xmlns:a="http://schemas.openxmlformats.org/drawingml/2006/main">
            <a:pPr algn="ctr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易造成低增长场景下的过度建设。</a:t>
            </a:r>
          </a:p>
        </p:txBody>
      </p:sp>
      <p:sp>
        <p:nvSpPr>
          <p:cNvPr id="36" name="s2-four-stage-33">
            <a:extLst xmlns:a="http://schemas.openxmlformats.org/drawingml/2006/main">
              <a:ext uri="{FF2B5EF4-FFF2-40B4-BE49-F238E27FC236}">
                <a16:creationId xmlns:a16="http://schemas.microsoft.com/office/drawing/2014/main" id="{4EF3AF75-E934-4212-8508-5BCD63F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05075"/>
            <a:ext cx="2457450" cy="3190875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66B7FA"/>
            </a:solidFill>
            <a:prstDash val="solid"/>
          </a:ln>
        </p:spPr>
      </p:sp>
      <p:sp>
        <p:nvSpPr>
          <p:cNvPr id="37" name="s2-four-stage-heading-34">
            <a:extLst xmlns:a="http://schemas.openxmlformats.org/drawingml/2006/main">
              <a:ext uri="{FF2B5EF4-FFF2-40B4-BE49-F238E27FC236}">
                <a16:creationId xmlns:a16="http://schemas.microsoft.com/office/drawing/2014/main" id="{E4EB8355-DF42-40E1-88E2-C3C21D6F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05075"/>
            <a:ext cx="2457450" cy="36195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7F3FD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38" name="s2-four-stage-headingt-35">
            <a:extLst xmlns:a="http://schemas.openxmlformats.org/drawingml/2006/main">
              <a:ext uri="{FF2B5EF4-FFF2-40B4-BE49-F238E27FC236}">
                <a16:creationId xmlns:a16="http://schemas.microsoft.com/office/drawing/2014/main" id="{485ED26E-162C-425B-8CCB-26CCA86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050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四阶段规划</a:t>
            </a:r>
          </a:p>
        </p:txBody>
      </p:sp>
      <p:sp>
        <p:nvSpPr>
          <p:cNvPr id="39" name="s2-stage-1-36">
            <a:extLst xmlns:a="http://schemas.openxmlformats.org/drawingml/2006/main">
              <a:ext uri="{FF2B5EF4-FFF2-40B4-BE49-F238E27FC236}">
                <a16:creationId xmlns:a16="http://schemas.microsoft.com/office/drawing/2014/main" id="{FBF4378F-6462-4DBC-BC0B-339EBD33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14650"/>
            <a:ext cx="101917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7FE"/>
          </a:solidFill>
          <a:ln xmlns:a="http://schemas.openxmlformats.org/drawingml/2006/main" w="8573">
            <a:solidFill>
              <a:srgbClr val="246BF3"/>
            </a:solidFill>
            <a:prstDash val="solid"/>
          </a:ln>
        </p:spPr>
      </p:sp>
      <p:sp>
        <p:nvSpPr>
          <p:cNvPr id="40" name="s2-stage-1-t-37">
            <a:extLst xmlns:a="http://schemas.openxmlformats.org/drawingml/2006/main">
              <a:ext uri="{FF2B5EF4-FFF2-40B4-BE49-F238E27FC236}">
                <a16:creationId xmlns:a16="http://schemas.microsoft.com/office/drawing/2014/main" id="{1A755F33-0CE5-4CFA-9C51-D66FB1C2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981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阶段1</a:t>
            </a:r>
          </a:p>
          <a:p xmlns:a="http://schemas.openxmlformats.org/drawingml/2006/main">
            <a:pPr algn="ctr">
              <a:defRPr sz="1313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(初始投资)</a:t>
            </a:r>
          </a:p>
        </p:txBody>
      </p:sp>
      <p:sp>
        <p:nvSpPr>
          <p:cNvPr id="41" name="s2-stage-2-38">
            <a:extLst xmlns:a="http://schemas.openxmlformats.org/drawingml/2006/main">
              <a:ext uri="{FF2B5EF4-FFF2-40B4-BE49-F238E27FC236}">
                <a16:creationId xmlns:a16="http://schemas.microsoft.com/office/drawing/2014/main" id="{21C08A82-A42F-4DA7-A4E3-121DDF1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7715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0F8FF"/>
          </a:solidFill>
          <a:ln xmlns:a="http://schemas.openxmlformats.org/drawingml/2006/main" w="8573">
            <a:solidFill>
              <a:srgbClr val="246BF3"/>
            </a:solidFill>
            <a:prstDash val="solid"/>
          </a:ln>
        </p:spPr>
      </p:sp>
      <p:sp>
        <p:nvSpPr>
          <p:cNvPr id="42" name="s2-stage-2-t-39">
            <a:extLst xmlns:a="http://schemas.openxmlformats.org/drawingml/2006/main">
              <a:ext uri="{FF2B5EF4-FFF2-40B4-BE49-F238E27FC236}">
                <a16:creationId xmlns:a16="http://schemas.microsoft.com/office/drawing/2014/main" id="{A66EB1B9-5816-492F-84D0-A59502DD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77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阶段2</a:t>
            </a:r>
          </a:p>
        </p:txBody>
      </p:sp>
      <p:sp>
        <p:nvSpPr>
          <p:cNvPr id="43" name="s2-stage-3-40">
            <a:extLst xmlns:a="http://schemas.openxmlformats.org/drawingml/2006/main">
              <a:ext uri="{FF2B5EF4-FFF2-40B4-BE49-F238E27FC236}">
                <a16:creationId xmlns:a16="http://schemas.microsoft.com/office/drawing/2014/main" id="{216AA44D-0973-451A-9B68-4900CB6B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52387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0F8FF"/>
          </a:solidFill>
          <a:ln xmlns:a="http://schemas.openxmlformats.org/drawingml/2006/main" w="8573">
            <a:solidFill>
              <a:srgbClr val="246BF3"/>
            </a:solidFill>
            <a:prstDash val="solid"/>
          </a:ln>
        </p:spPr>
      </p:sp>
      <p:sp>
        <p:nvSpPr>
          <p:cNvPr id="44" name="s2-stage-4-41">
            <a:extLst xmlns:a="http://schemas.openxmlformats.org/drawingml/2006/main">
              <a:ext uri="{FF2B5EF4-FFF2-40B4-BE49-F238E27FC236}">
                <a16:creationId xmlns:a16="http://schemas.microsoft.com/office/drawing/2014/main" id="{50F05358-AD22-4CBC-9C52-A8080162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14800"/>
            <a:ext cx="52387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0F8FF"/>
          </a:solidFill>
          <a:ln xmlns:a="http://schemas.openxmlformats.org/drawingml/2006/main" w="8573">
            <a:solidFill>
              <a:srgbClr val="246BF3"/>
            </a:solidFill>
            <a:prstDash val="solid"/>
          </a:ln>
        </p:spPr>
      </p:sp>
      <p:sp>
        <p:nvSpPr>
          <p:cNvPr id="45" name="s2-stage-3-t-42">
            <a:extLst xmlns:a="http://schemas.openxmlformats.org/drawingml/2006/main">
              <a:ext uri="{FF2B5EF4-FFF2-40B4-BE49-F238E27FC236}">
                <a16:creationId xmlns:a16="http://schemas.microsoft.com/office/drawing/2014/main" id="{CCCBEAF2-4254-4686-B2D7-0D4E2CF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阶段3</a:t>
            </a:r>
          </a:p>
        </p:txBody>
      </p:sp>
      <p:sp>
        <p:nvSpPr>
          <p:cNvPr id="46" name="s2-stage-4-t-43">
            <a:extLst xmlns:a="http://schemas.openxmlformats.org/drawingml/2006/main">
              <a:ext uri="{FF2B5EF4-FFF2-40B4-BE49-F238E27FC236}">
                <a16:creationId xmlns:a16="http://schemas.microsoft.com/office/drawing/2014/main" id="{69BABBF9-5CE5-4E94-9E88-3D96FB82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148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阶段4</a:t>
            </a:r>
          </a:p>
        </p:txBody>
      </p:sp>
      <p:sp>
        <p:nvSpPr>
          <p:cNvPr id="47" name="s2-stage12-44-route">
            <a:extLst xmlns:a="http://schemas.openxmlformats.org/drawingml/2006/main">
              <a:ext uri="{FF2B5EF4-FFF2-40B4-BE49-F238E27FC236}">
                <a16:creationId xmlns:a16="http://schemas.microsoft.com/office/drawing/2014/main" id="{6F8C1C2A-CC56-43D7-B862-17D35CEF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43275"/>
            <a:ext cx="85725" cy="209550"/>
          </a:xfrm>
          <a:custGeom xmlns:a="http://schemas.openxmlformats.org/drawingml/2006/main">
            <a:pathLst>
              <a:path w="85725" h="209550">
                <a:moveTo>
                  <a:pt x="85725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37A9"/>
            </a:solidFill>
            <a:prstDash val="solid"/>
          </a:ln>
        </p:spPr>
      </p:sp>
      <p:sp>
        <p:nvSpPr>
          <p:cNvPr id="48" name="s2-stage12-44-head">
            <a:extLst xmlns:a="http://schemas.openxmlformats.org/drawingml/2006/main">
              <a:ext uri="{FF2B5EF4-FFF2-40B4-BE49-F238E27FC236}">
                <a16:creationId xmlns:a16="http://schemas.microsoft.com/office/drawing/2014/main" id="{F45C720B-8387-4AAC-871D-96163FA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99" y="3489543"/>
            <a:ext cx="50779" cy="63282"/>
          </a:xfrm>
          <a:custGeom xmlns:a="http://schemas.openxmlformats.org/drawingml/2006/main">
            <a:pathLst>
              <a:path w="50779" h="63282">
                <a:moveTo>
                  <a:pt x="3751" y="63282"/>
                </a:moveTo>
                <a:lnTo>
                  <a:pt x="0" y="0"/>
                </a:lnTo>
                <a:lnTo>
                  <a:pt x="50779" y="20773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49" name="s2-stage23-45-route">
            <a:extLst xmlns:a="http://schemas.openxmlformats.org/drawingml/2006/main">
              <a:ext uri="{FF2B5EF4-FFF2-40B4-BE49-F238E27FC236}">
                <a16:creationId xmlns:a16="http://schemas.microsoft.com/office/drawing/2014/main" id="{7CBF4843-A003-413A-807E-EB4C457B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180975" cy="219075"/>
          </a:xfrm>
          <a:custGeom xmlns:a="http://schemas.openxmlformats.org/drawingml/2006/main">
            <a:pathLst>
              <a:path w="180975" h="219075">
                <a:moveTo>
                  <a:pt x="180975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37A9"/>
            </a:solidFill>
            <a:prstDash val="solid"/>
          </a:ln>
        </p:spPr>
      </p:sp>
      <p:sp>
        <p:nvSpPr>
          <p:cNvPr id="50" name="s2-stage23-45-head">
            <a:extLst xmlns:a="http://schemas.openxmlformats.org/drawingml/2006/main">
              <a:ext uri="{FF2B5EF4-FFF2-40B4-BE49-F238E27FC236}">
                <a16:creationId xmlns:a16="http://schemas.microsoft.com/office/drawing/2014/main" id="{D3EF2A98-0B18-4F73-95DE-94B0FC64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43744"/>
            <a:ext cx="57547" cy="61531"/>
          </a:xfrm>
          <a:custGeom xmlns:a="http://schemas.openxmlformats.org/drawingml/2006/main">
            <a:pathLst>
              <a:path w="57547" h="61531">
                <a:moveTo>
                  <a:pt x="0" y="61531"/>
                </a:moveTo>
                <a:lnTo>
                  <a:pt x="15249" y="0"/>
                </a:lnTo>
                <a:lnTo>
                  <a:pt x="57547" y="34942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51" name="s2-stage24-46-route">
            <a:extLst xmlns:a="http://schemas.openxmlformats.org/drawingml/2006/main">
              <a:ext uri="{FF2B5EF4-FFF2-40B4-BE49-F238E27FC236}">
                <a16:creationId xmlns:a16="http://schemas.microsoft.com/office/drawing/2014/main" id="{31F5A557-A213-41AD-9F4B-1237089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304800" cy="219075"/>
          </a:xfrm>
          <a:custGeom xmlns:a="http://schemas.openxmlformats.org/drawingml/2006/main">
            <a:pathLst>
              <a:path w="304800" h="219075">
                <a:moveTo>
                  <a:pt x="0" y="0"/>
                </a:moveTo>
                <a:lnTo>
                  <a:pt x="3048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37A9"/>
            </a:solidFill>
            <a:prstDash val="solid"/>
          </a:ln>
        </p:spPr>
      </p:sp>
      <p:sp>
        <p:nvSpPr>
          <p:cNvPr id="52" name="s2-stage24-46-head">
            <a:extLst xmlns:a="http://schemas.openxmlformats.org/drawingml/2006/main">
              <a:ext uri="{FF2B5EF4-FFF2-40B4-BE49-F238E27FC236}">
                <a16:creationId xmlns:a16="http://schemas.microsoft.com/office/drawing/2014/main" id="{8AAFCFB3-7044-405D-9A51-F425A5A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583" y="4049645"/>
            <a:ext cx="62417" cy="55630"/>
          </a:xfrm>
          <a:custGeom xmlns:a="http://schemas.openxmlformats.org/drawingml/2006/main">
            <a:pathLst>
              <a:path w="62417" h="55630">
                <a:moveTo>
                  <a:pt x="62417" y="55630"/>
                </a:moveTo>
                <a:lnTo>
                  <a:pt x="0" y="44550"/>
                </a:lnTo>
                <a:lnTo>
                  <a:pt x="32021" y="0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53" name="s2-reveal-note-47">
            <a:extLst xmlns:a="http://schemas.openxmlformats.org/drawingml/2006/main">
              <a:ext uri="{FF2B5EF4-FFF2-40B4-BE49-F238E27FC236}">
                <a16:creationId xmlns:a16="http://schemas.microsoft.com/office/drawing/2014/main" id="{EA5BEA4D-82AD-492E-B221-72495F8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33775"/>
            <a:ext cx="80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根据不确定性</a:t>
            </a:r>
          </a:p>
          <a:p xmlns:a="http://schemas.openxmlformats.org/drawingml/2006/main">
            <a:pPr algn="ctr">
              <a:defRPr sz="11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逐步调整投资</a:t>
            </a:r>
          </a:p>
        </p:txBody>
      </p:sp>
      <p:sp>
        <p:nvSpPr>
          <p:cNvPr id="54" name="s2-tree-edge0-48-route">
            <a:extLst xmlns:a="http://schemas.openxmlformats.org/drawingml/2006/main">
              <a:ext uri="{FF2B5EF4-FFF2-40B4-BE49-F238E27FC236}">
                <a16:creationId xmlns:a16="http://schemas.microsoft.com/office/drawing/2014/main" id="{C5227CB4-9331-4249-91D0-3E4A0696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428625" cy="276225"/>
          </a:xfrm>
          <a:custGeom xmlns:a="http://schemas.openxmlformats.org/drawingml/2006/main">
            <a:pathLst>
              <a:path w="428625" h="276225">
                <a:moveTo>
                  <a:pt x="428625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37A9"/>
            </a:solidFill>
            <a:prstDash val="solid"/>
          </a:ln>
        </p:spPr>
      </p:sp>
      <p:sp>
        <p:nvSpPr>
          <p:cNvPr id="55" name="s2-tree-edge0-48-head">
            <a:extLst xmlns:a="http://schemas.openxmlformats.org/drawingml/2006/main">
              <a:ext uri="{FF2B5EF4-FFF2-40B4-BE49-F238E27FC236}">
                <a16:creationId xmlns:a16="http://schemas.microsoft.com/office/drawing/2014/main" id="{D55141A3-C30A-497B-AB1C-79E235D7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41808"/>
            <a:ext cx="62899" cy="54017"/>
          </a:xfrm>
          <a:custGeom xmlns:a="http://schemas.openxmlformats.org/drawingml/2006/main">
            <a:pathLst>
              <a:path w="62899" h="54017">
                <a:moveTo>
                  <a:pt x="0" y="54017"/>
                </a:moveTo>
                <a:lnTo>
                  <a:pt x="33179" y="0"/>
                </a:lnTo>
                <a:lnTo>
                  <a:pt x="62899" y="46117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56" name="s2-tree-edge1-49-route">
            <a:extLst xmlns:a="http://schemas.openxmlformats.org/drawingml/2006/main">
              <a:ext uri="{FF2B5EF4-FFF2-40B4-BE49-F238E27FC236}">
                <a16:creationId xmlns:a16="http://schemas.microsoft.com/office/drawing/2014/main" id="{F69BA62F-B983-401A-83B0-BAC2873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19600"/>
            <a:ext cx="95" cy="295275"/>
          </a:xfrm>
          <a:custGeom xmlns:a="http://schemas.openxmlformats.org/drawingml/2006/main">
            <a:pathLst>
              <a:path w="9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37A9"/>
            </a:solidFill>
            <a:prstDash val="solid"/>
          </a:ln>
        </p:spPr>
      </p:sp>
      <p:sp>
        <p:nvSpPr>
          <p:cNvPr id="57" name="s2-tree-edge1-49-head">
            <a:extLst xmlns:a="http://schemas.openxmlformats.org/drawingml/2006/main">
              <a:ext uri="{FF2B5EF4-FFF2-40B4-BE49-F238E27FC236}">
                <a16:creationId xmlns:a16="http://schemas.microsoft.com/office/drawing/2014/main" id="{ED0068E5-D6C5-4CDE-BF4C-D1F534E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143" y="4657725"/>
            <a:ext cx="54864" cy="57150"/>
          </a:xfrm>
          <a:custGeom xmlns:a="http://schemas.openxmlformats.org/drawingml/2006/main">
            <a:pathLst>
              <a:path w="54864" h="57150">
                <a:moveTo>
                  <a:pt x="27432" y="57150"/>
                </a:moveTo>
                <a:lnTo>
                  <a:pt x="0" y="0"/>
                </a:lnTo>
                <a:lnTo>
                  <a:pt x="54864" y="0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58" name="s2-tree-edge2-50-route">
            <a:extLst xmlns:a="http://schemas.openxmlformats.org/drawingml/2006/main">
              <a:ext uri="{FF2B5EF4-FFF2-40B4-BE49-F238E27FC236}">
                <a16:creationId xmlns:a16="http://schemas.microsoft.com/office/drawing/2014/main" id="{D50A1894-7D2A-40A2-81DB-7CB8238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29125"/>
            <a:ext cx="285750" cy="266700"/>
          </a:xfrm>
          <a:custGeom xmlns:a="http://schemas.openxmlformats.org/drawingml/2006/main">
            <a:pathLst>
              <a:path w="285750" h="266700">
                <a:moveTo>
                  <a:pt x="0" y="0"/>
                </a:moveTo>
                <a:lnTo>
                  <a:pt x="28575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37A9"/>
            </a:solidFill>
            <a:prstDash val="solid"/>
          </a:ln>
        </p:spPr>
      </p:sp>
      <p:sp>
        <p:nvSpPr>
          <p:cNvPr id="59" name="s2-tree-edge2-50-head">
            <a:extLst xmlns:a="http://schemas.openxmlformats.org/drawingml/2006/main">
              <a:ext uri="{FF2B5EF4-FFF2-40B4-BE49-F238E27FC236}">
                <a16:creationId xmlns:a16="http://schemas.microsoft.com/office/drawing/2014/main" id="{F1A80B20-A87E-4B78-8962-2B6A4BCB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553" y="4636776"/>
            <a:ext cx="60497" cy="59049"/>
          </a:xfrm>
          <a:custGeom xmlns:a="http://schemas.openxmlformats.org/drawingml/2006/main">
            <a:pathLst>
              <a:path w="60497" h="59049">
                <a:moveTo>
                  <a:pt x="60497" y="59049"/>
                </a:moveTo>
                <a:lnTo>
                  <a:pt x="0" y="40109"/>
                </a:lnTo>
                <a:lnTo>
                  <a:pt x="37435" y="0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60" name="s2-tree-edge3-51-route">
            <a:extLst xmlns:a="http://schemas.openxmlformats.org/drawingml/2006/main">
              <a:ext uri="{FF2B5EF4-FFF2-40B4-BE49-F238E27FC236}">
                <a16:creationId xmlns:a16="http://schemas.microsoft.com/office/drawing/2014/main" id="{A2BEB411-4AA3-41B8-88F0-D54B5F6B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419600"/>
            <a:ext cx="47625" cy="285750"/>
          </a:xfrm>
          <a:custGeom xmlns:a="http://schemas.openxmlformats.org/drawingml/2006/main">
            <a:pathLst>
              <a:path w="47625" h="285750">
                <a:moveTo>
                  <a:pt x="0" y="0"/>
                </a:moveTo>
                <a:lnTo>
                  <a:pt x="4762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37A9"/>
            </a:solidFill>
            <a:prstDash val="solid"/>
          </a:ln>
        </p:spPr>
      </p:sp>
      <p:sp>
        <p:nvSpPr>
          <p:cNvPr id="61" name="s2-tree-edge3-51-head">
            <a:extLst xmlns:a="http://schemas.openxmlformats.org/drawingml/2006/main">
              <a:ext uri="{FF2B5EF4-FFF2-40B4-BE49-F238E27FC236}">
                <a16:creationId xmlns:a16="http://schemas.microsoft.com/office/drawing/2014/main" id="{D91A28CB-8F6F-4C6F-B6E0-452AEA88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746" y="4644468"/>
            <a:ext cx="54118" cy="60882"/>
          </a:xfrm>
          <a:custGeom xmlns:a="http://schemas.openxmlformats.org/drawingml/2006/main">
            <a:pathLst>
              <a:path w="54118" h="60882">
                <a:moveTo>
                  <a:pt x="36454" y="60882"/>
                </a:moveTo>
                <a:lnTo>
                  <a:pt x="0" y="9020"/>
                </a:lnTo>
                <a:lnTo>
                  <a:pt x="54118" y="0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62" name="s2-tree-edge4-52-route">
            <a:extLst xmlns:a="http://schemas.openxmlformats.org/drawingml/2006/main">
              <a:ext uri="{FF2B5EF4-FFF2-40B4-BE49-F238E27FC236}">
                <a16:creationId xmlns:a16="http://schemas.microsoft.com/office/drawing/2014/main" id="{98EAF953-C4A3-4274-B725-D74AF93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19600"/>
            <a:ext cx="342900" cy="276225"/>
          </a:xfrm>
          <a:custGeom xmlns:a="http://schemas.openxmlformats.org/drawingml/2006/main">
            <a:pathLst>
              <a:path w="342900" h="276225">
                <a:moveTo>
                  <a:pt x="0" y="0"/>
                </a:moveTo>
                <a:lnTo>
                  <a:pt x="3429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37A9"/>
            </a:solidFill>
            <a:prstDash val="solid"/>
          </a:ln>
        </p:spPr>
      </p:sp>
      <p:sp>
        <p:nvSpPr>
          <p:cNvPr id="63" name="s2-tree-edge4-52-head">
            <a:extLst xmlns:a="http://schemas.openxmlformats.org/drawingml/2006/main">
              <a:ext uri="{FF2B5EF4-FFF2-40B4-BE49-F238E27FC236}">
                <a16:creationId xmlns:a16="http://schemas.microsoft.com/office/drawing/2014/main" id="{31372F76-F7CB-4C40-9AB2-E3DDB4A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960" y="4638610"/>
            <a:ext cx="61715" cy="57215"/>
          </a:xfrm>
          <a:custGeom xmlns:a="http://schemas.openxmlformats.org/drawingml/2006/main">
            <a:pathLst>
              <a:path w="61715" h="57215">
                <a:moveTo>
                  <a:pt x="61715" y="57215"/>
                </a:moveTo>
                <a:lnTo>
                  <a:pt x="0" y="42726"/>
                </a:lnTo>
                <a:lnTo>
                  <a:pt x="34418" y="0"/>
                </a:lnTo>
                <a:close/>
              </a:path>
            </a:pathLst>
          </a:custGeom>
          <a:solidFill xmlns:a="http://schemas.openxmlformats.org/drawingml/2006/main">
            <a:srgbClr val="0037A9"/>
          </a:solidFill>
          <a:ln xmlns:a="http://schemas.openxmlformats.org/drawingml/2006/main" w="0">
            <a:solidFill>
              <a:srgbClr val="0037A9"/>
            </a:solidFill>
            <a:prstDash val="solid"/>
          </a:ln>
        </p:spPr>
      </p:sp>
      <p:sp>
        <p:nvSpPr>
          <p:cNvPr id="64" name="s2-final-stage-53">
            <a:extLst xmlns:a="http://schemas.openxmlformats.org/drawingml/2006/main">
              <a:ext uri="{FF2B5EF4-FFF2-40B4-BE49-F238E27FC236}">
                <a16:creationId xmlns:a16="http://schemas.microsoft.com/office/drawing/2014/main" id="{8501CB9B-403B-470B-B410-C80487A9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6E1"/>
          </a:solidFill>
          <a:ln xmlns:a="http://schemas.openxmlformats.org/drawingml/2006/main" w="8573">
            <a:solidFill>
              <a:srgbClr val="4CB971"/>
            </a:solidFill>
            <a:prstDash val="solid"/>
          </a:ln>
        </p:spPr>
      </p:sp>
      <p:sp>
        <p:nvSpPr>
          <p:cNvPr id="65" name="s2-final-stage-54">
            <a:extLst xmlns:a="http://schemas.openxmlformats.org/drawingml/2006/main">
              <a:ext uri="{FF2B5EF4-FFF2-40B4-BE49-F238E27FC236}">
                <a16:creationId xmlns:a16="http://schemas.microsoft.com/office/drawing/2014/main" id="{206D2629-3BEE-4200-85FF-A4E6FF5B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EFB"/>
          </a:solidFill>
          <a:ln xmlns:a="http://schemas.openxmlformats.org/drawingml/2006/main" w="8573">
            <a:solidFill>
              <a:srgbClr val="3188ED"/>
            </a:solidFill>
            <a:prstDash val="solid"/>
          </a:ln>
        </p:spPr>
      </p:sp>
      <p:sp>
        <p:nvSpPr>
          <p:cNvPr id="66" name="s2-final-stage-55">
            <a:extLst xmlns:a="http://schemas.openxmlformats.org/drawingml/2006/main">
              <a:ext uri="{FF2B5EF4-FFF2-40B4-BE49-F238E27FC236}">
                <a16:creationId xmlns:a16="http://schemas.microsoft.com/office/drawing/2014/main" id="{21EBDD6F-7F95-4F77-AA53-3A0D6620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4E4"/>
          </a:solidFill>
          <a:ln xmlns:a="http://schemas.openxmlformats.org/drawingml/2006/main" w="8573">
            <a:solidFill>
              <a:srgbClr val="FC6767"/>
            </a:solidFill>
            <a:prstDash val="solid"/>
          </a:ln>
        </p:spPr>
      </p:sp>
      <p:sp>
        <p:nvSpPr>
          <p:cNvPr id="67" name="s2-final-stage-56">
            <a:extLst xmlns:a="http://schemas.openxmlformats.org/drawingml/2006/main">
              <a:ext uri="{FF2B5EF4-FFF2-40B4-BE49-F238E27FC236}">
                <a16:creationId xmlns:a16="http://schemas.microsoft.com/office/drawing/2014/main" id="{D6ACF4F0-D316-472F-9AF6-55A8F62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EFB"/>
          </a:solidFill>
          <a:ln xmlns:a="http://schemas.openxmlformats.org/drawingml/2006/main" w="8573">
            <a:solidFill>
              <a:srgbClr val="3188ED"/>
            </a:solidFill>
            <a:prstDash val="solid"/>
          </a:ln>
        </p:spPr>
      </p:sp>
      <p:sp>
        <p:nvSpPr>
          <p:cNvPr id="68" name="s2-final-stage-57">
            <a:extLst xmlns:a="http://schemas.openxmlformats.org/drawingml/2006/main">
              <a:ext uri="{FF2B5EF4-FFF2-40B4-BE49-F238E27FC236}">
                <a16:creationId xmlns:a16="http://schemas.microsoft.com/office/drawing/2014/main" id="{E90987A4-9C84-4064-B51B-7954DFA1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4E4"/>
          </a:solidFill>
          <a:ln xmlns:a="http://schemas.openxmlformats.org/drawingml/2006/main" w="8573">
            <a:solidFill>
              <a:srgbClr val="FC6767"/>
            </a:solidFill>
            <a:prstDash val="solid"/>
          </a:ln>
        </p:spPr>
      </p:sp>
      <p:sp>
        <p:nvSpPr>
          <p:cNvPr id="69" name="s2-tree-ellipsis-58">
            <a:extLst xmlns:a="http://schemas.openxmlformats.org/drawingml/2006/main">
              <a:ext uri="{FF2B5EF4-FFF2-40B4-BE49-F238E27FC236}">
                <a16:creationId xmlns:a16="http://schemas.microsoft.com/office/drawing/2014/main" id="{B5CFD543-4C06-472C-B35C-099732D2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70" name="s2-four-stage-note-59">
            <a:extLst xmlns:a="http://schemas.openxmlformats.org/drawingml/2006/main">
              <a:ext uri="{FF2B5EF4-FFF2-40B4-BE49-F238E27FC236}">
                <a16:creationId xmlns:a16="http://schemas.microsoft.com/office/drawing/2014/main" id="{697D0583-2258-4452-A9BA-B1749828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172075"/>
            <a:ext cx="23526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9F5FC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71" name="s2-four-stage-note-t-60">
            <a:extLst xmlns:a="http://schemas.openxmlformats.org/drawingml/2006/main">
              <a:ext uri="{FF2B5EF4-FFF2-40B4-BE49-F238E27FC236}">
                <a16:creationId xmlns:a16="http://schemas.microsoft.com/office/drawing/2014/main" id="{7D3FC875-0C6E-4642-98FA-49736C2B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00650"/>
            <a:ext cx="2295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随着不确定性逐步揭示，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分阶段灵活投资。</a:t>
            </a:r>
          </a:p>
        </p:txBody>
      </p:sp>
      <p:sp>
        <p:nvSpPr>
          <p:cNvPr id="72" name="s2-investment-chart-frame-61">
            <a:extLst xmlns:a="http://schemas.openxmlformats.org/drawingml/2006/main">
              <a:ext uri="{FF2B5EF4-FFF2-40B4-BE49-F238E27FC236}">
                <a16:creationId xmlns:a16="http://schemas.microsoft.com/office/drawing/2014/main" id="{E5BD1AD4-5990-4B47-A21F-D2126980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81675"/>
            <a:ext cx="4991100" cy="2314575"/>
          </a:xfrm>
          <a:prstGeom xmlns:a="http://schemas.openxmlformats.org/drawingml/2006/main" prst="roundRect">
            <a:avLst>
              <a:gd name="adj" fmla="val 2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73" name="s2-investment-chart-title-62">
            <a:extLst xmlns:a="http://schemas.openxmlformats.org/drawingml/2006/main">
              <a:ext uri="{FF2B5EF4-FFF2-40B4-BE49-F238E27FC236}">
                <a16:creationId xmlns:a16="http://schemas.microsoft.com/office/drawing/2014/main" id="{491219C4-55C4-4BAC-9446-C4CAD1AE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819775"/>
            <a:ext cx="4867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不同场景下的投资成本对比</a:t>
            </a:r>
          </a:p>
        </p:txBody>
      </p:sp>
      <p:sp>
        <p:nvSpPr>
          <p:cNvPr id="74" name="s2-legend-blue-63">
            <a:extLst xmlns:a="http://schemas.openxmlformats.org/drawingml/2006/main">
              <a:ext uri="{FF2B5EF4-FFF2-40B4-BE49-F238E27FC236}">
                <a16:creationId xmlns:a16="http://schemas.microsoft.com/office/drawing/2014/main" id="{D9F24E84-9629-49F6-B18B-78914C64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143625"/>
            <a:ext cx="152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s2-legend-two-64">
            <a:extLst xmlns:a="http://schemas.openxmlformats.org/drawingml/2006/main">
              <a:ext uri="{FF2B5EF4-FFF2-40B4-BE49-F238E27FC236}">
                <a16:creationId xmlns:a16="http://schemas.microsoft.com/office/drawing/2014/main" id="{1EE4EEC3-34C1-4376-82AC-BD7CC8B8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105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两阶段规划</a:t>
            </a:r>
          </a:p>
        </p:txBody>
      </p:sp>
      <p:sp>
        <p:nvSpPr>
          <p:cNvPr id="76" name="s2-legend-orange-65">
            <a:extLst xmlns:a="http://schemas.openxmlformats.org/drawingml/2006/main">
              <a:ext uri="{FF2B5EF4-FFF2-40B4-BE49-F238E27FC236}">
                <a16:creationId xmlns:a16="http://schemas.microsoft.com/office/drawing/2014/main" id="{C968891A-D23D-4F3A-A40E-9AAB41F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6143625"/>
            <a:ext cx="1524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s2-legend-four-66">
            <a:extLst xmlns:a="http://schemas.openxmlformats.org/drawingml/2006/main">
              <a:ext uri="{FF2B5EF4-FFF2-40B4-BE49-F238E27FC236}">
                <a16:creationId xmlns:a16="http://schemas.microsoft.com/office/drawing/2014/main" id="{62B7C1A2-B3D7-4116-966A-101DA6C9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10552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四阶段规划</a:t>
            </a:r>
          </a:p>
        </p:txBody>
      </p:sp>
      <p:sp>
        <p:nvSpPr>
          <p:cNvPr id="78" name="s2-investment-grid-67">
            <a:extLst xmlns:a="http://schemas.openxmlformats.org/drawingml/2006/main">
              <a:ext uri="{FF2B5EF4-FFF2-40B4-BE49-F238E27FC236}">
                <a16:creationId xmlns:a16="http://schemas.microsoft.com/office/drawing/2014/main" id="{05B1C15C-9FCB-4443-933E-E032065A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91450"/>
            <a:ext cx="4181475" cy="95"/>
          </a:xfrm>
          <a:custGeom xmlns:a="http://schemas.openxmlformats.org/drawingml/2006/main">
            <a:pathLst>
              <a:path w="4181475" h="95">
                <a:moveTo>
                  <a:pt x="0" y="0"/>
                </a:moveTo>
                <a:lnTo>
                  <a:pt x="418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E3E8EB"/>
            </a:solidFill>
            <a:prstDash val="solid"/>
          </a:ln>
        </p:spPr>
      </p:sp>
      <p:sp>
        <p:nvSpPr>
          <p:cNvPr id="79" name="s2-investment-tick-68">
            <a:extLst xmlns:a="http://schemas.openxmlformats.org/drawingml/2006/main">
              <a:ext uri="{FF2B5EF4-FFF2-40B4-BE49-F238E27FC236}">
                <a16:creationId xmlns:a16="http://schemas.microsoft.com/office/drawing/2014/main" id="{7BB46A2B-70DD-4CE9-8651-68A9BD99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96200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80" name="s2-investment-grid-69">
            <a:extLst xmlns:a="http://schemas.openxmlformats.org/drawingml/2006/main">
              <a:ext uri="{FF2B5EF4-FFF2-40B4-BE49-F238E27FC236}">
                <a16:creationId xmlns:a16="http://schemas.microsoft.com/office/drawing/2014/main" id="{5EDB9996-1D75-4770-956C-8D94424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4745"/>
            <a:ext cx="4181475" cy="95"/>
          </a:xfrm>
          <a:custGeom xmlns:a="http://schemas.openxmlformats.org/drawingml/2006/main">
            <a:pathLst>
              <a:path w="4181475" h="95">
                <a:moveTo>
                  <a:pt x="0" y="0"/>
                </a:moveTo>
                <a:lnTo>
                  <a:pt x="418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E3E8EB"/>
            </a:solidFill>
            <a:prstDash val="solid"/>
          </a:ln>
        </p:spPr>
      </p:sp>
      <p:sp>
        <p:nvSpPr>
          <p:cNvPr id="81" name="s2-investment-tick-70">
            <a:extLst xmlns:a="http://schemas.openxmlformats.org/drawingml/2006/main">
              <a:ext uri="{FF2B5EF4-FFF2-40B4-BE49-F238E27FC236}">
                <a16:creationId xmlns:a16="http://schemas.microsoft.com/office/drawing/2014/main" id="{14330D47-5EF5-4553-9A13-1877A462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389495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2" name="s2-investment-grid-71">
            <a:extLst xmlns:a="http://schemas.openxmlformats.org/drawingml/2006/main">
              <a:ext uri="{FF2B5EF4-FFF2-40B4-BE49-F238E27FC236}">
                <a16:creationId xmlns:a16="http://schemas.microsoft.com/office/drawing/2014/main" id="{A82974B0-052A-46E9-B7FA-09D2EFAF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78040"/>
            <a:ext cx="4181475" cy="95"/>
          </a:xfrm>
          <a:custGeom xmlns:a="http://schemas.openxmlformats.org/drawingml/2006/main">
            <a:pathLst>
              <a:path w="4181475" h="95">
                <a:moveTo>
                  <a:pt x="0" y="0"/>
                </a:moveTo>
                <a:lnTo>
                  <a:pt x="418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E3E8EB"/>
            </a:solidFill>
            <a:prstDash val="solid"/>
          </a:ln>
        </p:spPr>
      </p:sp>
      <p:sp>
        <p:nvSpPr>
          <p:cNvPr id="83" name="s2-investment-tick-72">
            <a:extLst xmlns:a="http://schemas.openxmlformats.org/drawingml/2006/main">
              <a:ext uri="{FF2B5EF4-FFF2-40B4-BE49-F238E27FC236}">
                <a16:creationId xmlns:a16="http://schemas.microsoft.com/office/drawing/2014/main" id="{0D48C381-AF9F-44EF-AC84-4F40BDA4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82790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84" name="s2-investment-grid-73">
            <a:extLst xmlns:a="http://schemas.openxmlformats.org/drawingml/2006/main">
              <a:ext uri="{FF2B5EF4-FFF2-40B4-BE49-F238E27FC236}">
                <a16:creationId xmlns:a16="http://schemas.microsoft.com/office/drawing/2014/main" id="{4ECF5F42-68BC-43FC-A2B2-8E46A2EB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71335"/>
            <a:ext cx="4181475" cy="95"/>
          </a:xfrm>
          <a:custGeom xmlns:a="http://schemas.openxmlformats.org/drawingml/2006/main">
            <a:pathLst>
              <a:path w="4181475" h="95">
                <a:moveTo>
                  <a:pt x="0" y="0"/>
                </a:moveTo>
                <a:lnTo>
                  <a:pt x="418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E3E8EB"/>
            </a:solidFill>
            <a:prstDash val="solid"/>
          </a:ln>
        </p:spPr>
      </p:sp>
      <p:sp>
        <p:nvSpPr>
          <p:cNvPr id="85" name="s2-investment-tick-74">
            <a:extLst xmlns:a="http://schemas.openxmlformats.org/drawingml/2006/main">
              <a:ext uri="{FF2B5EF4-FFF2-40B4-BE49-F238E27FC236}">
                <a16:creationId xmlns:a16="http://schemas.microsoft.com/office/drawing/2014/main" id="{69B2A379-C317-41DB-81F6-CA6AE1A9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776085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86" name="s2-investment-grid-75">
            <a:extLst xmlns:a="http://schemas.openxmlformats.org/drawingml/2006/main">
              <a:ext uri="{FF2B5EF4-FFF2-40B4-BE49-F238E27FC236}">
                <a16:creationId xmlns:a16="http://schemas.microsoft.com/office/drawing/2014/main" id="{2ACF2954-8F46-42D1-906D-58BF79B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564630"/>
            <a:ext cx="4181475" cy="95"/>
          </a:xfrm>
          <a:custGeom xmlns:a="http://schemas.openxmlformats.org/drawingml/2006/main">
            <a:pathLst>
              <a:path w="4181475" h="95">
                <a:moveTo>
                  <a:pt x="0" y="0"/>
                </a:moveTo>
                <a:lnTo>
                  <a:pt x="418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E3E8EB"/>
            </a:solidFill>
            <a:prstDash val="solid"/>
          </a:ln>
        </p:spPr>
      </p:sp>
      <p:sp>
        <p:nvSpPr>
          <p:cNvPr id="87" name="s2-investment-tick-76">
            <a:extLst xmlns:a="http://schemas.openxmlformats.org/drawingml/2006/main">
              <a:ext uri="{FF2B5EF4-FFF2-40B4-BE49-F238E27FC236}">
                <a16:creationId xmlns:a16="http://schemas.microsoft.com/office/drawing/2014/main" id="{BD152FB9-DDE8-48F2-AC17-A2CA92A5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69380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88" name="s2-investment-grid-77">
            <a:extLst xmlns:a="http://schemas.openxmlformats.org/drawingml/2006/main">
              <a:ext uri="{FF2B5EF4-FFF2-40B4-BE49-F238E27FC236}">
                <a16:creationId xmlns:a16="http://schemas.microsoft.com/office/drawing/2014/main" id="{EDA81AF8-FF48-4825-86C9-3750AE59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57925"/>
            <a:ext cx="4181475" cy="95"/>
          </a:xfrm>
          <a:custGeom xmlns:a="http://schemas.openxmlformats.org/drawingml/2006/main">
            <a:pathLst>
              <a:path w="4181475" h="95">
                <a:moveTo>
                  <a:pt x="0" y="0"/>
                </a:moveTo>
                <a:lnTo>
                  <a:pt x="418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E3E8EB"/>
            </a:solidFill>
            <a:prstDash val="solid"/>
          </a:ln>
        </p:spPr>
      </p:sp>
      <p:sp>
        <p:nvSpPr>
          <p:cNvPr id="89" name="s2-investment-tick-78">
            <a:extLst xmlns:a="http://schemas.openxmlformats.org/drawingml/2006/main">
              <a:ext uri="{FF2B5EF4-FFF2-40B4-BE49-F238E27FC236}">
                <a16:creationId xmlns:a16="http://schemas.microsoft.com/office/drawing/2014/main" id="{D0445C47-6F14-4F36-9A36-F73395D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62675"/>
            <a:ext cx="352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250</a:t>
            </a:r>
          </a:p>
        </p:txBody>
      </p:sp>
      <p:sp>
        <p:nvSpPr>
          <p:cNvPr id="90" name="s2-investment-y-79">
            <a:extLst xmlns:a="http://schemas.openxmlformats.org/drawingml/2006/main">
              <a:ext uri="{FF2B5EF4-FFF2-40B4-BE49-F238E27FC236}">
                <a16:creationId xmlns:a16="http://schemas.microsoft.com/office/drawing/2014/main" id="{5AFEA8E2-484A-4679-AFC3-8F5F2A4C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57925"/>
            <a:ext cx="95" cy="1533525"/>
          </a:xfrm>
          <a:custGeom xmlns:a="http://schemas.openxmlformats.org/drawingml/2006/main">
            <a:pathLst>
              <a:path w="95" h="1533525">
                <a:moveTo>
                  <a:pt x="0" y="0"/>
                </a:moveTo>
                <a:lnTo>
                  <a:pt x="0" y="1533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88C"/>
            </a:solidFill>
            <a:prstDash val="solid"/>
          </a:ln>
        </p:spPr>
      </p:sp>
      <p:sp>
        <p:nvSpPr>
          <p:cNvPr id="91" name="s2-investment-x-80">
            <a:extLst xmlns:a="http://schemas.openxmlformats.org/drawingml/2006/main">
              <a:ext uri="{FF2B5EF4-FFF2-40B4-BE49-F238E27FC236}">
                <a16:creationId xmlns:a16="http://schemas.microsoft.com/office/drawing/2014/main" id="{69FD1692-5BC4-49FA-AB01-DC0CA53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91450"/>
            <a:ext cx="4181475" cy="95"/>
          </a:xfrm>
          <a:custGeom xmlns:a="http://schemas.openxmlformats.org/drawingml/2006/main">
            <a:pathLst>
              <a:path w="4181475" h="95">
                <a:moveTo>
                  <a:pt x="0" y="0"/>
                </a:moveTo>
                <a:lnTo>
                  <a:pt x="418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88C"/>
            </a:solidFill>
            <a:prstDash val="solid"/>
          </a:ln>
        </p:spPr>
      </p:sp>
      <p:sp>
        <p:nvSpPr>
          <p:cNvPr id="92" name="s2-investment-axis-name-81">
            <a:extLst xmlns:a="http://schemas.openxmlformats.org/drawingml/2006/main">
              <a:ext uri="{FF2B5EF4-FFF2-40B4-BE49-F238E27FC236}">
                <a16:creationId xmlns:a16="http://schemas.microsoft.com/office/drawing/2014/main" id="{8819BD43-FBF0-4FE5-818B-520F16E6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47650" y="6400800"/>
            <a:ext cx="2952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投资成本（亿元）</a:t>
            </a:r>
          </a:p>
        </p:txBody>
      </p:sp>
      <p:sp>
        <p:nvSpPr>
          <p:cNvPr id="93" name="s2-two-stage-data-82">
            <a:extLst xmlns:a="http://schemas.openxmlformats.org/drawingml/2006/main">
              <a:ext uri="{FF2B5EF4-FFF2-40B4-BE49-F238E27FC236}">
                <a16:creationId xmlns:a16="http://schemas.microsoft.com/office/drawing/2014/main" id="{97557D32-5070-49F7-B900-C09C374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64630"/>
            <a:ext cx="285750" cy="1226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2-four-stage-data-83">
            <a:extLst xmlns:a="http://schemas.openxmlformats.org/drawingml/2006/main">
              <a:ext uri="{FF2B5EF4-FFF2-40B4-BE49-F238E27FC236}">
                <a16:creationId xmlns:a16="http://schemas.microsoft.com/office/drawing/2014/main" id="{BD6C5EB7-2385-4515-9EB4-9040003C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055358"/>
            <a:ext cx="285750" cy="736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8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s2-two-stage-value-84">
            <a:extLst xmlns:a="http://schemas.openxmlformats.org/drawingml/2006/main">
              <a:ext uri="{FF2B5EF4-FFF2-40B4-BE49-F238E27FC236}">
                <a16:creationId xmlns:a16="http://schemas.microsoft.com/office/drawing/2014/main" id="{6209E7DA-BA3D-457F-AE8E-845F3273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31698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96" name="s2-four-stage-value-85">
            <a:extLst xmlns:a="http://schemas.openxmlformats.org/drawingml/2006/main">
              <a:ext uri="{FF2B5EF4-FFF2-40B4-BE49-F238E27FC236}">
                <a16:creationId xmlns:a16="http://schemas.microsoft.com/office/drawing/2014/main" id="{CB35C438-3ABD-4263-99E0-757CCD6C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07708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97" name="s2-investment-category-86">
            <a:extLst xmlns:a="http://schemas.openxmlformats.org/drawingml/2006/main">
              <a:ext uri="{FF2B5EF4-FFF2-40B4-BE49-F238E27FC236}">
                <a16:creationId xmlns:a16="http://schemas.microsoft.com/office/drawing/2014/main" id="{20860C53-E128-49C3-B31E-D9AB5F6D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8390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低增长</a:t>
            </a:r>
          </a:p>
        </p:txBody>
      </p:sp>
      <p:sp>
        <p:nvSpPr>
          <p:cNvPr id="98" name="s2-two-stage-data-87">
            <a:extLst xmlns:a="http://schemas.openxmlformats.org/drawingml/2006/main">
              <a:ext uri="{FF2B5EF4-FFF2-40B4-BE49-F238E27FC236}">
                <a16:creationId xmlns:a16="http://schemas.microsoft.com/office/drawing/2014/main" id="{F1EE4947-439C-4007-BCF2-CCE5932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687312"/>
            <a:ext cx="285750" cy="11041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s2-four-stage-data-88">
            <a:extLst xmlns:a="http://schemas.openxmlformats.org/drawingml/2006/main">
              <a:ext uri="{FF2B5EF4-FFF2-40B4-BE49-F238E27FC236}">
                <a16:creationId xmlns:a16="http://schemas.microsoft.com/office/drawing/2014/main" id="{38784C10-87F7-4793-8FF3-E59219AC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809994"/>
            <a:ext cx="285750" cy="9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8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2-two-stage-value-89">
            <a:extLst xmlns:a="http://schemas.openxmlformats.org/drawingml/2006/main">
              <a:ext uri="{FF2B5EF4-FFF2-40B4-BE49-F238E27FC236}">
                <a16:creationId xmlns:a16="http://schemas.microsoft.com/office/drawing/2014/main" id="{BDED6B2C-78C9-43A1-A112-F738B680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439662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101" name="s2-four-stage-value-90">
            <a:extLst xmlns:a="http://schemas.openxmlformats.org/drawingml/2006/main">
              <a:ext uri="{FF2B5EF4-FFF2-40B4-BE49-F238E27FC236}">
                <a16:creationId xmlns:a16="http://schemas.microsoft.com/office/drawing/2014/main" id="{7A735638-ED83-4D0A-A507-A207316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6562344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160</a:t>
            </a:r>
          </a:p>
        </p:txBody>
      </p:sp>
      <p:sp>
        <p:nvSpPr>
          <p:cNvPr id="102" name="s2-investment-category-91">
            <a:extLst xmlns:a="http://schemas.openxmlformats.org/drawingml/2006/main">
              <a:ext uri="{FF2B5EF4-FFF2-40B4-BE49-F238E27FC236}">
                <a16:creationId xmlns:a16="http://schemas.microsoft.com/office/drawing/2014/main" id="{A570B2BA-62D9-46AC-A434-A8138462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8390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</p:txBody>
      </p:sp>
      <p:sp>
        <p:nvSpPr>
          <p:cNvPr id="103" name="s2-two-stage-data-92">
            <a:extLst xmlns:a="http://schemas.openxmlformats.org/drawingml/2006/main">
              <a:ext uri="{FF2B5EF4-FFF2-40B4-BE49-F238E27FC236}">
                <a16:creationId xmlns:a16="http://schemas.microsoft.com/office/drawing/2014/main" id="{7CDB71A4-9819-4918-B2E4-EC3DC4DD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748653"/>
            <a:ext cx="285750" cy="104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2-four-stage-data-93">
            <a:extLst xmlns:a="http://schemas.openxmlformats.org/drawingml/2006/main">
              <a:ext uri="{FF2B5EF4-FFF2-40B4-BE49-F238E27FC236}">
                <a16:creationId xmlns:a16="http://schemas.microsoft.com/office/drawing/2014/main" id="{F88AF991-E28B-4CE2-A5A3-3907B5C7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779324"/>
            <a:ext cx="285750" cy="1012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8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s2-two-stage-value-94">
            <a:extLst xmlns:a="http://schemas.openxmlformats.org/drawingml/2006/main">
              <a:ext uri="{FF2B5EF4-FFF2-40B4-BE49-F238E27FC236}">
                <a16:creationId xmlns:a16="http://schemas.microsoft.com/office/drawing/2014/main" id="{64DD83E8-37BC-4F91-A5C2-DE6C4484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501003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170</a:t>
            </a:r>
          </a:p>
        </p:txBody>
      </p:sp>
      <p:sp>
        <p:nvSpPr>
          <p:cNvPr id="106" name="s2-four-stage-value-95">
            <a:extLst xmlns:a="http://schemas.openxmlformats.org/drawingml/2006/main">
              <a:ext uri="{FF2B5EF4-FFF2-40B4-BE49-F238E27FC236}">
                <a16:creationId xmlns:a16="http://schemas.microsoft.com/office/drawing/2014/main" id="{165C4526-0307-44FD-86F8-53AF5DAB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531674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165</a:t>
            </a:r>
          </a:p>
        </p:txBody>
      </p:sp>
      <p:sp>
        <p:nvSpPr>
          <p:cNvPr id="107" name="s2-investment-category-96">
            <a:extLst xmlns:a="http://schemas.openxmlformats.org/drawingml/2006/main">
              <a:ext uri="{FF2B5EF4-FFF2-40B4-BE49-F238E27FC236}">
                <a16:creationId xmlns:a16="http://schemas.microsoft.com/office/drawing/2014/main" id="{EFECDFD4-A5C8-405B-8540-E7A548EF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8390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高增长</a:t>
            </a:r>
          </a:p>
        </p:txBody>
      </p:sp>
      <p:sp>
        <p:nvSpPr>
          <p:cNvPr id="108" name="s2-two-stage-data-97">
            <a:extLst xmlns:a="http://schemas.openxmlformats.org/drawingml/2006/main">
              <a:ext uri="{FF2B5EF4-FFF2-40B4-BE49-F238E27FC236}">
                <a16:creationId xmlns:a16="http://schemas.microsoft.com/office/drawing/2014/main" id="{549E9C0C-2408-4A26-A859-6CAFF53F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6668910"/>
            <a:ext cx="285750" cy="1122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s2-four-stage-data-98">
            <a:extLst xmlns:a="http://schemas.openxmlformats.org/drawingml/2006/main">
              <a:ext uri="{FF2B5EF4-FFF2-40B4-BE49-F238E27FC236}">
                <a16:creationId xmlns:a16="http://schemas.microsoft.com/office/drawing/2014/main" id="{128C6ECF-A081-4573-BE69-74E7A61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883603"/>
            <a:ext cx="285750" cy="907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8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s2-two-stage-value-99">
            <a:extLst xmlns:a="http://schemas.openxmlformats.org/drawingml/2006/main">
              <a:ext uri="{FF2B5EF4-FFF2-40B4-BE49-F238E27FC236}">
                <a16:creationId xmlns:a16="http://schemas.microsoft.com/office/drawing/2014/main" id="{EBBA1EBB-E61A-4246-B3BE-F4EBBBD6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2126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183</a:t>
            </a:r>
          </a:p>
        </p:txBody>
      </p:sp>
      <p:sp>
        <p:nvSpPr>
          <p:cNvPr id="111" name="s2-four-stage-value-100">
            <a:extLst xmlns:a="http://schemas.openxmlformats.org/drawingml/2006/main">
              <a:ext uri="{FF2B5EF4-FFF2-40B4-BE49-F238E27FC236}">
                <a16:creationId xmlns:a16="http://schemas.microsoft.com/office/drawing/2014/main" id="{6F3ED3B6-E27B-45E4-BA31-E1310E88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635953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148</a:t>
            </a:r>
          </a:p>
        </p:txBody>
      </p:sp>
      <p:sp>
        <p:nvSpPr>
          <p:cNvPr id="112" name="s2-investment-category-101">
            <a:extLst xmlns:a="http://schemas.openxmlformats.org/drawingml/2006/main">
              <a:ext uri="{FF2B5EF4-FFF2-40B4-BE49-F238E27FC236}">
                <a16:creationId xmlns:a16="http://schemas.microsoft.com/office/drawing/2014/main" id="{43413B7C-B3C4-4788-ABD9-05BB82A2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390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平均</a:t>
            </a:r>
          </a:p>
        </p:txBody>
      </p:sp>
      <p:sp>
        <p:nvSpPr>
          <p:cNvPr id="113" name="s2-smart-combinations-102">
            <a:extLst xmlns:a="http://schemas.openxmlformats.org/drawingml/2006/main">
              <a:ext uri="{FF2B5EF4-FFF2-40B4-BE49-F238E27FC236}">
                <a16:creationId xmlns:a16="http://schemas.microsoft.com/office/drawing/2014/main" id="{2187F5BD-264C-40C4-B940-02E8453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05075"/>
            <a:ext cx="4962525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114" name="s2-smart-heading-103">
            <a:extLst xmlns:a="http://schemas.openxmlformats.org/drawingml/2006/main">
              <a:ext uri="{FF2B5EF4-FFF2-40B4-BE49-F238E27FC236}">
                <a16:creationId xmlns:a16="http://schemas.microsoft.com/office/drawing/2014/main" id="{53F50B6E-5A94-4F85-9EBF-039095B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05075"/>
            <a:ext cx="4962525" cy="361950"/>
          </a:xfrm>
          <a:prstGeom xmlns:a="http://schemas.openxmlformats.org/drawingml/2006/main" prst="roundRect">
            <a:avLst>
              <a:gd name="adj" fmla="val 15789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7F3FD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115" name="s2-smart-headingt-104">
            <a:extLst xmlns:a="http://schemas.openxmlformats.org/drawingml/2006/main">
              <a:ext uri="{FF2B5EF4-FFF2-40B4-BE49-F238E27FC236}">
                <a16:creationId xmlns:a16="http://schemas.microsoft.com/office/drawing/2014/main" id="{EFDED9D5-E4ED-4CBD-AF69-0CC90A03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05075"/>
            <a:ext cx="496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考虑的智能投资组合</a:t>
            </a:r>
          </a:p>
        </p:txBody>
      </p:sp>
      <p:sp>
        <p:nvSpPr>
          <p:cNvPr id="116" name="s2-smart-card-105">
            <a:extLst xmlns:a="http://schemas.openxmlformats.org/drawingml/2006/main">
              <a:ext uri="{FF2B5EF4-FFF2-40B4-BE49-F238E27FC236}">
                <a16:creationId xmlns:a16="http://schemas.microsoft.com/office/drawing/2014/main" id="{51F48554-1AFB-43F4-9454-ED23A769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0375"/>
            <a:ext cx="1123950" cy="20288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117" name="s2-smart-acronym-106">
            <a:extLst xmlns:a="http://schemas.openxmlformats.org/drawingml/2006/main">
              <a:ext uri="{FF2B5EF4-FFF2-40B4-BE49-F238E27FC236}">
                <a16:creationId xmlns:a16="http://schemas.microsoft.com/office/drawing/2014/main" id="{6EC967F4-82DD-428D-B852-0D20B3BE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PST</a:t>
            </a:r>
          </a:p>
        </p:txBody>
      </p:sp>
      <p:sp>
        <p:nvSpPr>
          <p:cNvPr id="118" name="s2-smart-expansion-107">
            <a:extLst xmlns:a="http://schemas.openxmlformats.org/drawingml/2006/main">
              <a:ext uri="{FF2B5EF4-FFF2-40B4-BE49-F238E27FC236}">
                <a16:creationId xmlns:a16="http://schemas.microsoft.com/office/drawing/2014/main" id="{BFEA792D-84D2-4DAB-80CB-1EC8FF6C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14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(相移变压器)</a:t>
            </a:r>
          </a:p>
        </p:txBody>
      </p:sp>
      <p:sp>
        <p:nvSpPr>
          <p:cNvPr id="119" name="s2-smart-icon-space-108">
            <a:extLst xmlns:a="http://schemas.openxmlformats.org/drawingml/2006/main">
              <a:ext uri="{FF2B5EF4-FFF2-40B4-BE49-F238E27FC236}">
                <a16:creationId xmlns:a16="http://schemas.microsoft.com/office/drawing/2014/main" id="{BBE039BD-6D2C-484D-BA32-82EBA7D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9975"/>
            <a:ext cx="10287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s2-smart-description-109">
            <a:extLst xmlns:a="http://schemas.openxmlformats.org/drawingml/2006/main">
              <a:ext uri="{FF2B5EF4-FFF2-40B4-BE49-F238E27FC236}">
                <a16:creationId xmlns:a16="http://schemas.microsoft.com/office/drawing/2014/main" id="{A9A84432-FBD2-4D7B-A29B-95969697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67225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潮流重分配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缓解线路拥塞</a:t>
            </a:r>
          </a:p>
        </p:txBody>
      </p:sp>
      <p:sp>
        <p:nvSpPr>
          <p:cNvPr id="121" name="s2-smart-card-110">
            <a:extLst xmlns:a="http://schemas.openxmlformats.org/drawingml/2006/main">
              <a:ext uri="{FF2B5EF4-FFF2-40B4-BE49-F238E27FC236}">
                <a16:creationId xmlns:a16="http://schemas.microsoft.com/office/drawing/2014/main" id="{61A6B847-292C-4A16-A572-FFD59BDA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0375"/>
            <a:ext cx="1123950" cy="20288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122" name="s2-smart-acronym-111">
            <a:extLst xmlns:a="http://schemas.openxmlformats.org/drawingml/2006/main">
              <a:ext uri="{FF2B5EF4-FFF2-40B4-BE49-F238E27FC236}">
                <a16:creationId xmlns:a16="http://schemas.microsoft.com/office/drawing/2014/main" id="{49336439-AF8D-41D8-B1C3-5B84065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ES</a:t>
            </a:r>
          </a:p>
        </p:txBody>
      </p:sp>
      <p:sp>
        <p:nvSpPr>
          <p:cNvPr id="123" name="s2-smart-expansion-112">
            <a:extLst xmlns:a="http://schemas.openxmlformats.org/drawingml/2006/main">
              <a:ext uri="{FF2B5EF4-FFF2-40B4-BE49-F238E27FC236}">
                <a16:creationId xmlns:a16="http://schemas.microsoft.com/office/drawing/2014/main" id="{392EC1B8-95B0-4BDF-A254-189F3DF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(储能系统)</a:t>
            </a:r>
          </a:p>
        </p:txBody>
      </p:sp>
      <p:sp>
        <p:nvSpPr>
          <p:cNvPr id="124" name="s2-smart-icon-space-113">
            <a:extLst xmlns:a="http://schemas.openxmlformats.org/drawingml/2006/main">
              <a:ext uri="{FF2B5EF4-FFF2-40B4-BE49-F238E27FC236}">
                <a16:creationId xmlns:a16="http://schemas.microsoft.com/office/drawing/2014/main" id="{62AFAE9C-49BF-4780-B541-C004A246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09975"/>
            <a:ext cx="10287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s2-smart-description-114">
            <a:extLst xmlns:a="http://schemas.openxmlformats.org/drawingml/2006/main">
              <a:ext uri="{FF2B5EF4-FFF2-40B4-BE49-F238E27FC236}">
                <a16:creationId xmlns:a16="http://schemas.microsoft.com/office/drawing/2014/main" id="{33019554-9E7A-49AD-B303-3E5C76C8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67225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削峰填谷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调节时空平衡</a:t>
            </a:r>
          </a:p>
        </p:txBody>
      </p:sp>
      <p:sp>
        <p:nvSpPr>
          <p:cNvPr id="126" name="s2-smart-card-115">
            <a:extLst xmlns:a="http://schemas.openxmlformats.org/drawingml/2006/main">
              <a:ext uri="{FF2B5EF4-FFF2-40B4-BE49-F238E27FC236}">
                <a16:creationId xmlns:a16="http://schemas.microsoft.com/office/drawing/2014/main" id="{5F0FE0F7-E105-4A18-9ACF-511F424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00375"/>
            <a:ext cx="1123950" cy="20288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127" name="s2-smart-acronym-116">
            <a:extLst xmlns:a="http://schemas.openxmlformats.org/drawingml/2006/main">
              <a:ext uri="{FF2B5EF4-FFF2-40B4-BE49-F238E27FC236}">
                <a16:creationId xmlns:a16="http://schemas.microsoft.com/office/drawing/2014/main" id="{20F1C2B6-ADCA-46DE-9CB4-00B29B4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48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SC</a:t>
            </a:r>
          </a:p>
        </p:txBody>
      </p:sp>
      <p:sp>
        <p:nvSpPr>
          <p:cNvPr id="128" name="s2-smart-expansion-117">
            <a:extLst xmlns:a="http://schemas.openxmlformats.org/drawingml/2006/main">
              <a:ext uri="{FF2B5EF4-FFF2-40B4-BE49-F238E27FC236}">
                <a16:creationId xmlns:a16="http://schemas.microsoft.com/office/drawing/2014/main" id="{4C5E0321-9225-4D39-A418-349B0B12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314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(智能充电)</a:t>
            </a:r>
          </a:p>
        </p:txBody>
      </p:sp>
      <p:sp>
        <p:nvSpPr>
          <p:cNvPr id="129" name="s2-smart-icon-space-118">
            <a:extLst xmlns:a="http://schemas.openxmlformats.org/drawingml/2006/main">
              <a:ext uri="{FF2B5EF4-FFF2-40B4-BE49-F238E27FC236}">
                <a16:creationId xmlns:a16="http://schemas.microsoft.com/office/drawing/2014/main" id="{D01214CB-75F5-47DC-8914-790AD03B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9975"/>
            <a:ext cx="10287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s2-smart-description-119">
            <a:extLst xmlns:a="http://schemas.openxmlformats.org/drawingml/2006/main">
              <a:ext uri="{FF2B5EF4-FFF2-40B4-BE49-F238E27FC236}">
                <a16:creationId xmlns:a16="http://schemas.microsoft.com/office/drawing/2014/main" id="{2E55CA47-0E83-4067-89A4-85089DDF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67225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负荷柔性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时空可调度</a:t>
            </a:r>
          </a:p>
        </p:txBody>
      </p:sp>
      <p:sp>
        <p:nvSpPr>
          <p:cNvPr id="131" name="s2-smart-card-120">
            <a:extLst xmlns:a="http://schemas.openxmlformats.org/drawingml/2006/main">
              <a:ext uri="{FF2B5EF4-FFF2-40B4-BE49-F238E27FC236}">
                <a16:creationId xmlns:a16="http://schemas.microsoft.com/office/drawing/2014/main" id="{37745026-084C-41A2-9EE3-E62E98C3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0375"/>
            <a:ext cx="1190625" cy="20288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132" name="s2-smart-acronym-121">
            <a:extLst xmlns:a="http://schemas.openxmlformats.org/drawingml/2006/main">
              <a:ext uri="{FF2B5EF4-FFF2-40B4-BE49-F238E27FC236}">
                <a16:creationId xmlns:a16="http://schemas.microsoft.com/office/drawing/2014/main" id="{586CBDF5-3860-4E60-AFF8-3363A7A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All</a:t>
            </a:r>
          </a:p>
        </p:txBody>
      </p:sp>
      <p:sp>
        <p:nvSpPr>
          <p:cNvPr id="133" name="s2-smart-expansion-122">
            <a:extLst xmlns:a="http://schemas.openxmlformats.org/drawingml/2006/main">
              <a:ext uri="{FF2B5EF4-FFF2-40B4-BE49-F238E27FC236}">
                <a16:creationId xmlns:a16="http://schemas.microsoft.com/office/drawing/2014/main" id="{4E04558B-EF03-44A1-9C14-8D325A27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(综合方案)</a:t>
            </a:r>
          </a:p>
        </p:txBody>
      </p:sp>
      <p:sp>
        <p:nvSpPr>
          <p:cNvPr id="134" name="s2-smart-icon-space-123">
            <a:extLst xmlns:a="http://schemas.openxmlformats.org/drawingml/2006/main">
              <a:ext uri="{FF2B5EF4-FFF2-40B4-BE49-F238E27FC236}">
                <a16:creationId xmlns:a16="http://schemas.microsoft.com/office/drawing/2014/main" id="{0F868692-AA63-40E5-B715-E51AB56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09975"/>
            <a:ext cx="109537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s2-smart-description-124">
            <a:extLst xmlns:a="http://schemas.openxmlformats.org/drawingml/2006/main">
              <a:ext uri="{FF2B5EF4-FFF2-40B4-BE49-F238E27FC236}">
                <a16:creationId xmlns:a16="http://schemas.microsoft.com/office/drawing/2014/main" id="{391F9D4E-0416-4130-A9F9-1465338A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67225"/>
            <a:ext cx="11334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PST + ES + SC</a:t>
            </a:r>
          </a:p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协同优化</a:t>
            </a:r>
          </a:p>
        </p:txBody>
      </p:sp>
      <p:sp>
        <p:nvSpPr>
          <p:cNvPr id="136" name="s2-pst-shape-125">
            <a:extLst xmlns:a="http://schemas.openxmlformats.org/drawingml/2006/main">
              <a:ext uri="{FF2B5EF4-FFF2-40B4-BE49-F238E27FC236}">
                <a16:creationId xmlns:a16="http://schemas.microsoft.com/office/drawing/2014/main" id="{20F07A29-9A60-4ED3-8D6B-264275CB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408" y="3918204"/>
            <a:ext cx="385001" cy="2948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60">
            <a:solidFill>
              <a:srgbClr val="07368C"/>
            </a:solidFill>
            <a:prstDash val="solid"/>
          </a:ln>
        </p:spPr>
      </p:sp>
      <p:sp>
        <p:nvSpPr>
          <p:cNvPr id="137" name="s2-pst-line-126">
            <a:extLst xmlns:a="http://schemas.openxmlformats.org/drawingml/2006/main">
              <a:ext uri="{FF2B5EF4-FFF2-40B4-BE49-F238E27FC236}">
                <a16:creationId xmlns:a16="http://schemas.microsoft.com/office/drawing/2014/main" id="{3C82103A-65D5-45F2-9C93-0653E14A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01821"/>
            <a:ext cx="475107" cy="95"/>
          </a:xfrm>
          <a:custGeom xmlns:a="http://schemas.openxmlformats.org/drawingml/2006/main">
            <a:pathLst>
              <a:path w="475107" h="95">
                <a:moveTo>
                  <a:pt x="0" y="0"/>
                </a:moveTo>
                <a:lnTo>
                  <a:pt x="4751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575">
            <a:solidFill>
              <a:srgbClr val="07368C"/>
            </a:solidFill>
            <a:prstDash val="solid"/>
          </a:ln>
        </p:spPr>
      </p:sp>
      <p:sp>
        <p:nvSpPr>
          <p:cNvPr id="138" name="s2-pst-line-127">
            <a:extLst xmlns:a="http://schemas.openxmlformats.org/drawingml/2006/main">
              <a:ext uri="{FF2B5EF4-FFF2-40B4-BE49-F238E27FC236}">
                <a16:creationId xmlns:a16="http://schemas.microsoft.com/office/drawing/2014/main" id="{DCEDBA1A-2B54-45F9-8477-EA318C75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025" y="4229481"/>
            <a:ext cx="434149" cy="95"/>
          </a:xfrm>
          <a:custGeom xmlns:a="http://schemas.openxmlformats.org/drawingml/2006/main">
            <a:pathLst>
              <a:path w="434149" h="95">
                <a:moveTo>
                  <a:pt x="0" y="0"/>
                </a:moveTo>
                <a:lnTo>
                  <a:pt x="4341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575">
            <a:solidFill>
              <a:srgbClr val="07368C"/>
            </a:solidFill>
            <a:prstDash val="solid"/>
          </a:ln>
        </p:spPr>
      </p:sp>
      <p:sp>
        <p:nvSpPr>
          <p:cNvPr id="139" name="s2-pst-shape-128">
            <a:extLst xmlns:a="http://schemas.openxmlformats.org/drawingml/2006/main">
              <a:ext uri="{FF2B5EF4-FFF2-40B4-BE49-F238E27FC236}">
                <a16:creationId xmlns:a16="http://schemas.microsoft.com/office/drawing/2014/main" id="{96F88BE0-1BBB-43B4-8F96-6D1DD8AC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791" y="4229481"/>
            <a:ext cx="40958" cy="3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4096">
            <a:solidFill>
              <a:srgbClr val="07368C"/>
            </a:solidFill>
            <a:prstDash val="solid"/>
          </a:ln>
        </p:spPr>
      </p:sp>
      <p:sp>
        <p:nvSpPr>
          <p:cNvPr id="140" name="s2-pst-shape-129">
            <a:extLst xmlns:a="http://schemas.openxmlformats.org/drawingml/2006/main">
              <a:ext uri="{FF2B5EF4-FFF2-40B4-BE49-F238E27FC236}">
                <a16:creationId xmlns:a16="http://schemas.microsoft.com/office/drawing/2014/main" id="{AFBBD1EC-A650-4686-AB18-9A6A3160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068" y="4229481"/>
            <a:ext cx="40958" cy="3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4096">
            <a:solidFill>
              <a:srgbClr val="07368C"/>
            </a:solidFill>
            <a:prstDash val="solid"/>
          </a:ln>
        </p:spPr>
      </p:sp>
      <p:sp>
        <p:nvSpPr>
          <p:cNvPr id="141" name="s2-pst-line-130">
            <a:extLst xmlns:a="http://schemas.openxmlformats.org/drawingml/2006/main">
              <a:ext uri="{FF2B5EF4-FFF2-40B4-BE49-F238E27FC236}">
                <a16:creationId xmlns:a16="http://schemas.microsoft.com/office/drawing/2014/main" id="{3BEEA5FD-BA06-4164-80AD-4C5B0F1E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57" y="3950970"/>
            <a:ext cx="95" cy="229362"/>
          </a:xfrm>
          <a:custGeom xmlns:a="http://schemas.openxmlformats.org/drawingml/2006/main">
            <a:pathLst>
              <a:path w="95" h="229362">
                <a:moveTo>
                  <a:pt x="0" y="0"/>
                </a:moveTo>
                <a:lnTo>
                  <a:pt x="0" y="229362"/>
                </a:lnTo>
              </a:path>
            </a:pathLst>
          </a:custGeom>
          <a:noFill xmlns:a="http://schemas.openxmlformats.org/drawingml/2006/main"/>
          <a:ln xmlns:a="http://schemas.openxmlformats.org/drawingml/2006/main" w="22936">
            <a:solidFill>
              <a:srgbClr val="07368C"/>
            </a:solidFill>
            <a:prstDash val="solid"/>
          </a:ln>
        </p:spPr>
      </p:sp>
      <p:sp>
        <p:nvSpPr>
          <p:cNvPr id="142" name="s2-pst-line-131">
            <a:extLst xmlns:a="http://schemas.openxmlformats.org/drawingml/2006/main">
              <a:ext uri="{FF2B5EF4-FFF2-40B4-BE49-F238E27FC236}">
                <a16:creationId xmlns:a16="http://schemas.microsoft.com/office/drawing/2014/main" id="{43EA7753-E82F-4605-8ACC-11584646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897" y="3950970"/>
            <a:ext cx="95" cy="229362"/>
          </a:xfrm>
          <a:custGeom xmlns:a="http://schemas.openxmlformats.org/drawingml/2006/main">
            <a:pathLst>
              <a:path w="95" h="229362">
                <a:moveTo>
                  <a:pt x="0" y="0"/>
                </a:moveTo>
                <a:lnTo>
                  <a:pt x="0" y="229362"/>
                </a:lnTo>
              </a:path>
            </a:pathLst>
          </a:custGeom>
          <a:noFill xmlns:a="http://schemas.openxmlformats.org/drawingml/2006/main"/>
          <a:ln xmlns:a="http://schemas.openxmlformats.org/drawingml/2006/main" w="22936">
            <a:solidFill>
              <a:srgbClr val="07368C"/>
            </a:solidFill>
            <a:prstDash val="solid"/>
          </a:ln>
        </p:spPr>
      </p:sp>
      <p:sp>
        <p:nvSpPr>
          <p:cNvPr id="143" name="s2-pst-line-132">
            <a:extLst xmlns:a="http://schemas.openxmlformats.org/drawingml/2006/main">
              <a:ext uri="{FF2B5EF4-FFF2-40B4-BE49-F238E27FC236}">
                <a16:creationId xmlns:a16="http://schemas.microsoft.com/office/drawing/2014/main" id="{BF697115-F9BD-44D0-A996-B152969C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3950970"/>
            <a:ext cx="95" cy="229362"/>
          </a:xfrm>
          <a:custGeom xmlns:a="http://schemas.openxmlformats.org/drawingml/2006/main">
            <a:pathLst>
              <a:path w="95" h="229362">
                <a:moveTo>
                  <a:pt x="0" y="0"/>
                </a:moveTo>
                <a:lnTo>
                  <a:pt x="0" y="229362"/>
                </a:lnTo>
              </a:path>
            </a:pathLst>
          </a:custGeom>
          <a:noFill xmlns:a="http://schemas.openxmlformats.org/drawingml/2006/main"/>
          <a:ln xmlns:a="http://schemas.openxmlformats.org/drawingml/2006/main" w="22936">
            <a:solidFill>
              <a:srgbClr val="07368C"/>
            </a:solidFill>
            <a:prstDash val="solid"/>
          </a:ln>
        </p:spPr>
      </p:sp>
      <p:sp>
        <p:nvSpPr>
          <p:cNvPr id="144" name="s2-pst-line-133">
            <a:extLst xmlns:a="http://schemas.openxmlformats.org/drawingml/2006/main">
              <a:ext uri="{FF2B5EF4-FFF2-40B4-BE49-F238E27FC236}">
                <a16:creationId xmlns:a16="http://schemas.microsoft.com/office/drawing/2014/main" id="{770D712B-BD63-46A6-8C4D-55C887E9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578" y="3950970"/>
            <a:ext cx="95" cy="229362"/>
          </a:xfrm>
          <a:custGeom xmlns:a="http://schemas.openxmlformats.org/drawingml/2006/main">
            <a:pathLst>
              <a:path w="95" h="229362">
                <a:moveTo>
                  <a:pt x="0" y="0"/>
                </a:moveTo>
                <a:lnTo>
                  <a:pt x="0" y="229362"/>
                </a:lnTo>
              </a:path>
            </a:pathLst>
          </a:custGeom>
          <a:noFill xmlns:a="http://schemas.openxmlformats.org/drawingml/2006/main"/>
          <a:ln xmlns:a="http://schemas.openxmlformats.org/drawingml/2006/main" w="22936">
            <a:solidFill>
              <a:srgbClr val="07368C"/>
            </a:solidFill>
            <a:prstDash val="solid"/>
          </a:ln>
        </p:spPr>
      </p:sp>
      <p:sp>
        <p:nvSpPr>
          <p:cNvPr id="145" name="s2-pst-line-134">
            <a:extLst xmlns:a="http://schemas.openxmlformats.org/drawingml/2006/main">
              <a:ext uri="{FF2B5EF4-FFF2-40B4-BE49-F238E27FC236}">
                <a16:creationId xmlns:a16="http://schemas.microsoft.com/office/drawing/2014/main" id="{9E045102-2518-4A7C-99E7-B13DDEEB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919" y="3950970"/>
            <a:ext cx="95" cy="229362"/>
          </a:xfrm>
          <a:custGeom xmlns:a="http://schemas.openxmlformats.org/drawingml/2006/main">
            <a:pathLst>
              <a:path w="95" h="229362">
                <a:moveTo>
                  <a:pt x="0" y="0"/>
                </a:moveTo>
                <a:lnTo>
                  <a:pt x="0" y="229362"/>
                </a:lnTo>
              </a:path>
            </a:pathLst>
          </a:custGeom>
          <a:noFill xmlns:a="http://schemas.openxmlformats.org/drawingml/2006/main"/>
          <a:ln xmlns:a="http://schemas.openxmlformats.org/drawingml/2006/main" w="22936">
            <a:solidFill>
              <a:srgbClr val="07368C"/>
            </a:solidFill>
            <a:prstDash val="solid"/>
          </a:ln>
        </p:spPr>
      </p:sp>
      <p:sp>
        <p:nvSpPr>
          <p:cNvPr id="146" name="s2-pst-line-135">
            <a:extLst xmlns:a="http://schemas.openxmlformats.org/drawingml/2006/main">
              <a:ext uri="{FF2B5EF4-FFF2-40B4-BE49-F238E27FC236}">
                <a16:creationId xmlns:a16="http://schemas.microsoft.com/office/drawing/2014/main" id="{10D1C4EF-B4CB-4E88-BA7F-5DC7500F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59" y="3950970"/>
            <a:ext cx="95" cy="229362"/>
          </a:xfrm>
          <a:custGeom xmlns:a="http://schemas.openxmlformats.org/drawingml/2006/main">
            <a:pathLst>
              <a:path w="95" h="229362">
                <a:moveTo>
                  <a:pt x="0" y="0"/>
                </a:moveTo>
                <a:lnTo>
                  <a:pt x="0" y="229362"/>
                </a:lnTo>
              </a:path>
            </a:pathLst>
          </a:custGeom>
          <a:noFill xmlns:a="http://schemas.openxmlformats.org/drawingml/2006/main"/>
          <a:ln xmlns:a="http://schemas.openxmlformats.org/drawingml/2006/main" w="22936">
            <a:solidFill>
              <a:srgbClr val="07368C"/>
            </a:solidFill>
            <a:prstDash val="solid"/>
          </a:ln>
        </p:spPr>
      </p:sp>
      <p:sp>
        <p:nvSpPr>
          <p:cNvPr id="147" name="s2-pst-line-136">
            <a:extLst xmlns:a="http://schemas.openxmlformats.org/drawingml/2006/main">
              <a:ext uri="{FF2B5EF4-FFF2-40B4-BE49-F238E27FC236}">
                <a16:creationId xmlns:a16="http://schemas.microsoft.com/office/drawing/2014/main" id="{B6051EAD-856E-4385-A013-CA5E75D7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897" y="3737991"/>
            <a:ext cx="95" cy="163830"/>
          </a:xfrm>
          <a:custGeom xmlns:a="http://schemas.openxmlformats.org/drawingml/2006/main">
            <a:pathLst>
              <a:path w="95" h="163830">
                <a:moveTo>
                  <a:pt x="0" y="0"/>
                </a:moveTo>
                <a:lnTo>
                  <a:pt x="0" y="163830"/>
                </a:lnTo>
              </a:path>
            </a:pathLst>
          </a:custGeom>
          <a:noFill xmlns:a="http://schemas.openxmlformats.org/drawingml/2006/main"/>
          <a:ln xmlns:a="http://schemas.openxmlformats.org/drawingml/2006/main" w="16383">
            <a:solidFill>
              <a:srgbClr val="07368C"/>
            </a:solidFill>
            <a:prstDash val="solid"/>
          </a:ln>
        </p:spPr>
      </p:sp>
      <p:sp>
        <p:nvSpPr>
          <p:cNvPr id="148" name="s2-pst-line-137">
            <a:extLst xmlns:a="http://schemas.openxmlformats.org/drawingml/2006/main">
              <a:ext uri="{FF2B5EF4-FFF2-40B4-BE49-F238E27FC236}">
                <a16:creationId xmlns:a16="http://schemas.microsoft.com/office/drawing/2014/main" id="{9304520C-865C-49C8-A76A-A3B3156C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939" y="3778949"/>
            <a:ext cx="81915" cy="95"/>
          </a:xfrm>
          <a:custGeom xmlns:a="http://schemas.openxmlformats.org/drawingml/2006/main">
            <a:pathLst>
              <a:path w="81915" h="95">
                <a:moveTo>
                  <a:pt x="0" y="0"/>
                </a:moveTo>
                <a:lnTo>
                  <a:pt x="81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49" name="s2-pst-line-138">
            <a:extLst xmlns:a="http://schemas.openxmlformats.org/drawingml/2006/main">
              <a:ext uri="{FF2B5EF4-FFF2-40B4-BE49-F238E27FC236}">
                <a16:creationId xmlns:a16="http://schemas.microsoft.com/office/drawing/2014/main" id="{E874B48F-C41D-4C21-944D-95BB7094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493" y="3806800"/>
            <a:ext cx="68809" cy="95"/>
          </a:xfrm>
          <a:custGeom xmlns:a="http://schemas.openxmlformats.org/drawingml/2006/main">
            <a:pathLst>
              <a:path w="68809" h="95">
                <a:moveTo>
                  <a:pt x="0" y="0"/>
                </a:moveTo>
                <a:lnTo>
                  <a:pt x="68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50" name="s2-pst-line-139">
            <a:extLst xmlns:a="http://schemas.openxmlformats.org/drawingml/2006/main">
              <a:ext uri="{FF2B5EF4-FFF2-40B4-BE49-F238E27FC236}">
                <a16:creationId xmlns:a16="http://schemas.microsoft.com/office/drawing/2014/main" id="{C490EF19-AEB3-4999-813D-43C65042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046" y="3834651"/>
            <a:ext cx="55702" cy="95"/>
          </a:xfrm>
          <a:custGeom xmlns:a="http://schemas.openxmlformats.org/drawingml/2006/main">
            <a:pathLst>
              <a:path w="55702" h="95">
                <a:moveTo>
                  <a:pt x="0" y="0"/>
                </a:moveTo>
                <a:lnTo>
                  <a:pt x="55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51" name="s2-pst-line-140">
            <a:extLst xmlns:a="http://schemas.openxmlformats.org/drawingml/2006/main">
              <a:ext uri="{FF2B5EF4-FFF2-40B4-BE49-F238E27FC236}">
                <a16:creationId xmlns:a16="http://schemas.microsoft.com/office/drawing/2014/main" id="{989CFE41-3482-4AA0-BE6C-1566435C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599" y="3862502"/>
            <a:ext cx="42596" cy="95"/>
          </a:xfrm>
          <a:custGeom xmlns:a="http://schemas.openxmlformats.org/drawingml/2006/main">
            <a:pathLst>
              <a:path w="42596" h="95">
                <a:moveTo>
                  <a:pt x="0" y="0"/>
                </a:moveTo>
                <a:lnTo>
                  <a:pt x="42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52" name="s2-pst-line-141">
            <a:extLst xmlns:a="http://schemas.openxmlformats.org/drawingml/2006/main">
              <a:ext uri="{FF2B5EF4-FFF2-40B4-BE49-F238E27FC236}">
                <a16:creationId xmlns:a16="http://schemas.microsoft.com/office/drawing/2014/main" id="{9CE6D8CE-6E7B-4502-8FE1-C14FEA6D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727" y="3737991"/>
            <a:ext cx="95" cy="163830"/>
          </a:xfrm>
          <a:custGeom xmlns:a="http://schemas.openxmlformats.org/drawingml/2006/main">
            <a:pathLst>
              <a:path w="95" h="163830">
                <a:moveTo>
                  <a:pt x="0" y="0"/>
                </a:moveTo>
                <a:lnTo>
                  <a:pt x="0" y="163830"/>
                </a:lnTo>
              </a:path>
            </a:pathLst>
          </a:custGeom>
          <a:noFill xmlns:a="http://schemas.openxmlformats.org/drawingml/2006/main"/>
          <a:ln xmlns:a="http://schemas.openxmlformats.org/drawingml/2006/main" w="16383">
            <a:solidFill>
              <a:srgbClr val="07368C"/>
            </a:solidFill>
            <a:prstDash val="solid"/>
          </a:ln>
        </p:spPr>
      </p:sp>
      <p:sp>
        <p:nvSpPr>
          <p:cNvPr id="153" name="s2-pst-line-142">
            <a:extLst xmlns:a="http://schemas.openxmlformats.org/drawingml/2006/main">
              <a:ext uri="{FF2B5EF4-FFF2-40B4-BE49-F238E27FC236}">
                <a16:creationId xmlns:a16="http://schemas.microsoft.com/office/drawing/2014/main" id="{C0DE2BB1-E481-44D7-9D0B-F3F22E9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770" y="3778949"/>
            <a:ext cx="81915" cy="95"/>
          </a:xfrm>
          <a:custGeom xmlns:a="http://schemas.openxmlformats.org/drawingml/2006/main">
            <a:pathLst>
              <a:path w="81915" h="95">
                <a:moveTo>
                  <a:pt x="0" y="0"/>
                </a:moveTo>
                <a:lnTo>
                  <a:pt x="81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54" name="s2-pst-line-143">
            <a:extLst xmlns:a="http://schemas.openxmlformats.org/drawingml/2006/main">
              <a:ext uri="{FF2B5EF4-FFF2-40B4-BE49-F238E27FC236}">
                <a16:creationId xmlns:a16="http://schemas.microsoft.com/office/drawing/2014/main" id="{C651F5C4-6D94-437D-BC37-A3BAA97B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323" y="3806800"/>
            <a:ext cx="68809" cy="95"/>
          </a:xfrm>
          <a:custGeom xmlns:a="http://schemas.openxmlformats.org/drawingml/2006/main">
            <a:pathLst>
              <a:path w="68809" h="95">
                <a:moveTo>
                  <a:pt x="0" y="0"/>
                </a:moveTo>
                <a:lnTo>
                  <a:pt x="688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55" name="s2-pst-line-144">
            <a:extLst xmlns:a="http://schemas.openxmlformats.org/drawingml/2006/main">
              <a:ext uri="{FF2B5EF4-FFF2-40B4-BE49-F238E27FC236}">
                <a16:creationId xmlns:a16="http://schemas.microsoft.com/office/drawing/2014/main" id="{8FB6665C-655E-4CDC-9609-A09C28C0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876" y="3834651"/>
            <a:ext cx="55702" cy="95"/>
          </a:xfrm>
          <a:custGeom xmlns:a="http://schemas.openxmlformats.org/drawingml/2006/main">
            <a:pathLst>
              <a:path w="55702" h="95">
                <a:moveTo>
                  <a:pt x="0" y="0"/>
                </a:moveTo>
                <a:lnTo>
                  <a:pt x="55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56" name="s2-pst-line-145">
            <a:extLst xmlns:a="http://schemas.openxmlformats.org/drawingml/2006/main">
              <a:ext uri="{FF2B5EF4-FFF2-40B4-BE49-F238E27FC236}">
                <a16:creationId xmlns:a16="http://schemas.microsoft.com/office/drawing/2014/main" id="{E88CBC9D-C4AE-426F-8EAA-5A7D266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429" y="3862502"/>
            <a:ext cx="42596" cy="95"/>
          </a:xfrm>
          <a:custGeom xmlns:a="http://schemas.openxmlformats.org/drawingml/2006/main">
            <a:pathLst>
              <a:path w="42596" h="95">
                <a:moveTo>
                  <a:pt x="0" y="0"/>
                </a:moveTo>
                <a:lnTo>
                  <a:pt x="42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564">
            <a:solidFill>
              <a:srgbClr val="07368C"/>
            </a:solidFill>
            <a:prstDash val="solid"/>
          </a:ln>
        </p:spPr>
      </p:sp>
      <p:sp>
        <p:nvSpPr>
          <p:cNvPr id="157" name="s2-pst-curved-left-146-route">
            <a:extLst xmlns:a="http://schemas.openxmlformats.org/drawingml/2006/main">
              <a:ext uri="{FF2B5EF4-FFF2-40B4-BE49-F238E27FC236}">
                <a16:creationId xmlns:a16="http://schemas.microsoft.com/office/drawing/2014/main" id="{0F2B7D25-1986-408C-8D04-77FDCD09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131" y="3705225"/>
            <a:ext cx="73724" cy="131064"/>
          </a:xfrm>
          <a:custGeom xmlns:a="http://schemas.openxmlformats.org/drawingml/2006/main">
            <a:pathLst>
              <a:path w="73724" h="131064">
                <a:moveTo>
                  <a:pt x="73724" y="16383"/>
                </a:moveTo>
                <a:lnTo>
                  <a:pt x="32766" y="0"/>
                </a:lnTo>
                <a:lnTo>
                  <a:pt x="0" y="57340"/>
                </a:lnTo>
                <a:lnTo>
                  <a:pt x="8192" y="131064"/>
                </a:lnTo>
              </a:path>
            </a:pathLst>
          </a:custGeom>
          <a:noFill xmlns:a="http://schemas.openxmlformats.org/drawingml/2006/main"/>
          <a:ln xmlns:a="http://schemas.openxmlformats.org/drawingml/2006/main" w="16383">
            <a:solidFill>
              <a:srgbClr val="07368C"/>
            </a:solidFill>
            <a:prstDash val="solid"/>
          </a:ln>
        </p:spPr>
      </p:sp>
      <p:sp>
        <p:nvSpPr>
          <p:cNvPr id="158" name="s2-pst-curved-left-146-head">
            <a:extLst xmlns:a="http://schemas.openxmlformats.org/drawingml/2006/main">
              <a:ext uri="{FF2B5EF4-FFF2-40B4-BE49-F238E27FC236}">
                <a16:creationId xmlns:a16="http://schemas.microsoft.com/office/drawing/2014/main" id="{659FCFD4-227A-45CE-A4E3-5C2BB7D9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073" y="3801987"/>
            <a:ext cx="31263" cy="34302"/>
          </a:xfrm>
          <a:custGeom xmlns:a="http://schemas.openxmlformats.org/drawingml/2006/main">
            <a:pathLst>
              <a:path w="31263" h="34302">
                <a:moveTo>
                  <a:pt x="19250" y="34302"/>
                </a:moveTo>
                <a:lnTo>
                  <a:pt x="0" y="3474"/>
                </a:lnTo>
                <a:lnTo>
                  <a:pt x="31263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159" name="s2-pst-curved-right-147-route">
            <a:extLst xmlns:a="http://schemas.openxmlformats.org/drawingml/2006/main">
              <a:ext uri="{FF2B5EF4-FFF2-40B4-BE49-F238E27FC236}">
                <a16:creationId xmlns:a16="http://schemas.microsoft.com/office/drawing/2014/main" id="{2F18D03B-404D-4CAC-8D61-31BE4C26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961" y="3705225"/>
            <a:ext cx="73724" cy="131064"/>
          </a:xfrm>
          <a:custGeom xmlns:a="http://schemas.openxmlformats.org/drawingml/2006/main">
            <a:pathLst>
              <a:path w="73724" h="131064">
                <a:moveTo>
                  <a:pt x="0" y="16383"/>
                </a:moveTo>
                <a:lnTo>
                  <a:pt x="40957" y="0"/>
                </a:lnTo>
                <a:lnTo>
                  <a:pt x="73724" y="57340"/>
                </a:lnTo>
                <a:lnTo>
                  <a:pt x="65532" y="131064"/>
                </a:lnTo>
              </a:path>
            </a:pathLst>
          </a:custGeom>
          <a:noFill xmlns:a="http://schemas.openxmlformats.org/drawingml/2006/main"/>
          <a:ln xmlns:a="http://schemas.openxmlformats.org/drawingml/2006/main" w="16383">
            <a:solidFill>
              <a:srgbClr val="07368C"/>
            </a:solidFill>
            <a:prstDash val="solid"/>
          </a:ln>
        </p:spPr>
      </p:sp>
      <p:sp>
        <p:nvSpPr>
          <p:cNvPr id="160" name="s2-pst-curved-right-147-head">
            <a:extLst xmlns:a="http://schemas.openxmlformats.org/drawingml/2006/main">
              <a:ext uri="{FF2B5EF4-FFF2-40B4-BE49-F238E27FC236}">
                <a16:creationId xmlns:a16="http://schemas.microsoft.com/office/drawing/2014/main" id="{26922346-67A0-4B5E-8402-11407F9C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480" y="3801987"/>
            <a:ext cx="31263" cy="34302"/>
          </a:xfrm>
          <a:custGeom xmlns:a="http://schemas.openxmlformats.org/drawingml/2006/main">
            <a:pathLst>
              <a:path w="31263" h="34302">
                <a:moveTo>
                  <a:pt x="12013" y="34302"/>
                </a:moveTo>
                <a:lnTo>
                  <a:pt x="0" y="0"/>
                </a:lnTo>
                <a:lnTo>
                  <a:pt x="31263" y="3474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161" name="s2-battery-body-148">
            <a:extLst xmlns:a="http://schemas.openxmlformats.org/drawingml/2006/main">
              <a:ext uri="{FF2B5EF4-FFF2-40B4-BE49-F238E27FC236}">
                <a16:creationId xmlns:a16="http://schemas.microsoft.com/office/drawing/2014/main" id="{4505ADE4-4C2B-4A64-869B-A1A7717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2861"/>
            <a:ext cx="340043" cy="510064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0005">
            <a:solidFill>
              <a:srgbClr val="07368C"/>
            </a:solidFill>
            <a:prstDash val="solid"/>
          </a:ln>
        </p:spPr>
      </p:sp>
      <p:sp>
        <p:nvSpPr>
          <p:cNvPr id="162" name="s2-battery-cap-149">
            <a:extLst xmlns:a="http://schemas.openxmlformats.org/drawingml/2006/main">
              <a:ext uri="{FF2B5EF4-FFF2-40B4-BE49-F238E27FC236}">
                <a16:creationId xmlns:a16="http://schemas.microsoft.com/office/drawing/2014/main" id="{270E89CC-D8A4-47EB-8113-CF31B5D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3772853"/>
            <a:ext cx="150019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0004">
            <a:solidFill>
              <a:srgbClr val="07368C"/>
            </a:solidFill>
            <a:prstDash val="solid"/>
          </a:ln>
        </p:spPr>
      </p:sp>
      <p:sp>
        <p:nvSpPr>
          <p:cNvPr id="163" name="s2-battery-mark1-150">
            <a:extLst xmlns:a="http://schemas.openxmlformats.org/drawingml/2006/main">
              <a:ext uri="{FF2B5EF4-FFF2-40B4-BE49-F238E27FC236}">
                <a16:creationId xmlns:a16="http://schemas.microsoft.com/office/drawing/2014/main" id="{71701FFE-AD11-4269-8AA7-0A046B29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3982879"/>
            <a:ext cx="110014" cy="95"/>
          </a:xfrm>
          <a:custGeom xmlns:a="http://schemas.openxmlformats.org/drawingml/2006/main">
            <a:pathLst>
              <a:path w="110014" h="95">
                <a:moveTo>
                  <a:pt x="0" y="0"/>
                </a:moveTo>
                <a:lnTo>
                  <a:pt x="110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005">
            <a:solidFill>
              <a:srgbClr val="07368C"/>
            </a:solidFill>
            <a:prstDash val="solid"/>
          </a:ln>
        </p:spPr>
      </p:sp>
      <p:sp>
        <p:nvSpPr>
          <p:cNvPr id="164" name="s2-battery-mark2-151">
            <a:extLst xmlns:a="http://schemas.openxmlformats.org/drawingml/2006/main">
              <a:ext uri="{FF2B5EF4-FFF2-40B4-BE49-F238E27FC236}">
                <a16:creationId xmlns:a16="http://schemas.microsoft.com/office/drawing/2014/main" id="{D4523C93-0E94-4B90-B968-0776F4B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4082891"/>
            <a:ext cx="100013" cy="95"/>
          </a:xfrm>
          <a:custGeom xmlns:a="http://schemas.openxmlformats.org/drawingml/2006/main">
            <a:pathLst>
              <a:path w="100013" h="95">
                <a:moveTo>
                  <a:pt x="0" y="0"/>
                </a:moveTo>
                <a:lnTo>
                  <a:pt x="1000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005">
            <a:solidFill>
              <a:srgbClr val="07368C"/>
            </a:solidFill>
            <a:prstDash val="solid"/>
          </a:ln>
        </p:spPr>
      </p:sp>
      <p:sp>
        <p:nvSpPr>
          <p:cNvPr id="165" name="s2-battery-bolt-152-route">
            <a:extLst xmlns:a="http://schemas.openxmlformats.org/drawingml/2006/main">
              <a:ext uri="{FF2B5EF4-FFF2-40B4-BE49-F238E27FC236}">
                <a16:creationId xmlns:a16="http://schemas.microsoft.com/office/drawing/2014/main" id="{571E8B02-A542-4D00-8A35-2E1234A7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3992880"/>
            <a:ext cx="110014" cy="290036"/>
          </a:xfrm>
          <a:custGeom xmlns:a="http://schemas.openxmlformats.org/drawingml/2006/main">
            <a:pathLst>
              <a:path w="110014" h="290036">
                <a:moveTo>
                  <a:pt x="90011" y="0"/>
                </a:moveTo>
                <a:lnTo>
                  <a:pt x="0" y="160020"/>
                </a:lnTo>
                <a:lnTo>
                  <a:pt x="110014" y="150019"/>
                </a:lnTo>
                <a:lnTo>
                  <a:pt x="10001" y="290036"/>
                </a:lnTo>
              </a:path>
            </a:pathLst>
          </a:custGeom>
          <a:noFill xmlns:a="http://schemas.openxmlformats.org/drawingml/2006/main"/>
          <a:ln xmlns:a="http://schemas.openxmlformats.org/drawingml/2006/main" w="30004">
            <a:solidFill>
              <a:srgbClr val="07368C"/>
            </a:solidFill>
            <a:prstDash val="solid"/>
          </a:ln>
        </p:spPr>
      </p:sp>
      <p:sp>
        <p:nvSpPr>
          <p:cNvPr id="166" name="s2-battery-bolt-152-head">
            <a:extLst xmlns:a="http://schemas.openxmlformats.org/drawingml/2006/main">
              <a:ext uri="{FF2B5EF4-FFF2-40B4-BE49-F238E27FC236}">
                <a16:creationId xmlns:a16="http://schemas.microsoft.com/office/drawing/2014/main" id="{5B359236-7708-451C-BA2B-89C81D5B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816" y="4282916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167" name="s2-ev-pump-153">
            <a:extLst xmlns:a="http://schemas.openxmlformats.org/drawingml/2006/main">
              <a:ext uri="{FF2B5EF4-FFF2-40B4-BE49-F238E27FC236}">
                <a16:creationId xmlns:a16="http://schemas.microsoft.com/office/drawing/2014/main" id="{DFBB10F5-4762-43D3-BEE7-3CED66EA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80473"/>
            <a:ext cx="235268" cy="47053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956">
            <a:solidFill>
              <a:srgbClr val="07368C"/>
            </a:solidFill>
            <a:prstDash val="solid"/>
          </a:ln>
        </p:spPr>
      </p:sp>
      <p:sp>
        <p:nvSpPr>
          <p:cNvPr id="168" name="s2-ev-display-154">
            <a:extLst xmlns:a="http://schemas.openxmlformats.org/drawingml/2006/main">
              <a:ext uri="{FF2B5EF4-FFF2-40B4-BE49-F238E27FC236}">
                <a16:creationId xmlns:a16="http://schemas.microsoft.com/office/drawing/2014/main" id="{63E1DCF9-67A3-468E-990F-34E9DB53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643" y="3843814"/>
            <a:ext cx="117634" cy="1176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907">
            <a:solidFill>
              <a:srgbClr val="07368C"/>
            </a:solidFill>
            <a:prstDash val="solid"/>
          </a:ln>
        </p:spPr>
      </p:sp>
      <p:sp>
        <p:nvSpPr>
          <p:cNvPr id="169" name="s2-ev-base-155">
            <a:extLst xmlns:a="http://schemas.openxmlformats.org/drawingml/2006/main">
              <a:ext uri="{FF2B5EF4-FFF2-40B4-BE49-F238E27FC236}">
                <a16:creationId xmlns:a16="http://schemas.microsoft.com/office/drawing/2014/main" id="{3411B9CB-4EFC-4FEA-8364-D0AEA120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8155" y="4260056"/>
            <a:ext cx="307657" cy="95"/>
          </a:xfrm>
          <a:custGeom xmlns:a="http://schemas.openxmlformats.org/drawingml/2006/main">
            <a:pathLst>
              <a:path w="307657" h="95">
                <a:moveTo>
                  <a:pt x="0" y="0"/>
                </a:moveTo>
                <a:lnTo>
                  <a:pt x="3076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7368C"/>
            </a:solidFill>
            <a:prstDash val="solid"/>
          </a:ln>
        </p:spPr>
      </p:sp>
      <p:sp>
        <p:nvSpPr>
          <p:cNvPr id="170" name="s2-ev-hose-156">
            <a:extLst xmlns:a="http://schemas.openxmlformats.org/drawingml/2006/main">
              <a:ext uri="{FF2B5EF4-FFF2-40B4-BE49-F238E27FC236}">
                <a16:creationId xmlns:a16="http://schemas.microsoft.com/office/drawing/2014/main" id="{D9DE7476-43A6-4748-BB33-F56C04F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715" y="3898106"/>
            <a:ext cx="72390" cy="36195"/>
          </a:xfrm>
          <a:custGeom xmlns:a="http://schemas.openxmlformats.org/drawingml/2006/main">
            <a:pathLst>
              <a:path w="72390" h="36195">
                <a:moveTo>
                  <a:pt x="0" y="0"/>
                </a:moveTo>
                <a:lnTo>
                  <a:pt x="72390" y="36195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7368C"/>
            </a:solidFill>
            <a:prstDash val="solid"/>
          </a:ln>
        </p:spPr>
      </p:sp>
      <p:sp>
        <p:nvSpPr>
          <p:cNvPr id="171" name="s2-ev-hose-157">
            <a:extLst xmlns:a="http://schemas.openxmlformats.org/drawingml/2006/main">
              <a:ext uri="{FF2B5EF4-FFF2-40B4-BE49-F238E27FC236}">
                <a16:creationId xmlns:a16="http://schemas.microsoft.com/office/drawing/2014/main" id="{4B068A52-D3C3-48CA-96E4-1D1C49F8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105" y="3934301"/>
            <a:ext cx="95" cy="190024"/>
          </a:xfrm>
          <a:custGeom xmlns:a="http://schemas.openxmlformats.org/drawingml/2006/main">
            <a:pathLst>
              <a:path w="95" h="190024">
                <a:moveTo>
                  <a:pt x="0" y="0"/>
                </a:moveTo>
                <a:lnTo>
                  <a:pt x="0" y="190024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7368C"/>
            </a:solidFill>
            <a:prstDash val="solid"/>
          </a:ln>
        </p:spPr>
      </p:sp>
      <p:sp>
        <p:nvSpPr>
          <p:cNvPr id="172" name="s2-ev-hose-158">
            <a:extLst xmlns:a="http://schemas.openxmlformats.org/drawingml/2006/main">
              <a:ext uri="{FF2B5EF4-FFF2-40B4-BE49-F238E27FC236}">
                <a16:creationId xmlns:a16="http://schemas.microsoft.com/office/drawing/2014/main" id="{8D3D3520-0D28-447B-8145-F45300F1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861" y="4124325"/>
            <a:ext cx="45244" cy="27146"/>
          </a:xfrm>
          <a:custGeom xmlns:a="http://schemas.openxmlformats.org/drawingml/2006/main">
            <a:pathLst>
              <a:path w="45244" h="27146">
                <a:moveTo>
                  <a:pt x="45244" y="0"/>
                </a:moveTo>
                <a:lnTo>
                  <a:pt x="0" y="27146"/>
                </a:lnTo>
              </a:path>
            </a:pathLst>
          </a:custGeom>
          <a:noFill xmlns:a="http://schemas.openxmlformats.org/drawingml/2006/main"/>
          <a:ln xmlns:a="http://schemas.openxmlformats.org/drawingml/2006/main" w="27146">
            <a:solidFill>
              <a:srgbClr val="07368C"/>
            </a:solidFill>
            <a:prstDash val="solid"/>
          </a:ln>
        </p:spPr>
      </p:sp>
      <p:sp>
        <p:nvSpPr>
          <p:cNvPr id="173" name="s2-ev-plug-159">
            <a:extLst xmlns:a="http://schemas.openxmlformats.org/drawingml/2006/main">
              <a:ext uri="{FF2B5EF4-FFF2-40B4-BE49-F238E27FC236}">
                <a16:creationId xmlns:a16="http://schemas.microsoft.com/office/drawing/2014/main" id="{5343657E-D346-49F0-9A6F-B90F52BA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503" y="4027503"/>
            <a:ext cx="48863" cy="48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174" name="s2-ev-plug-160">
            <a:extLst xmlns:a="http://schemas.openxmlformats.org/drawingml/2006/main">
              <a:ext uri="{FF2B5EF4-FFF2-40B4-BE49-F238E27FC236}">
                <a16:creationId xmlns:a16="http://schemas.microsoft.com/office/drawing/2014/main" id="{0E4DD8F1-F6EA-45A2-9236-2329C7AA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935" y="4070033"/>
            <a:ext cx="95" cy="81439"/>
          </a:xfrm>
          <a:custGeom xmlns:a="http://schemas.openxmlformats.org/drawingml/2006/main">
            <a:pathLst>
              <a:path w="95" h="81439">
                <a:moveTo>
                  <a:pt x="0" y="0"/>
                </a:moveTo>
                <a:lnTo>
                  <a:pt x="0" y="814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07368C"/>
            </a:solidFill>
            <a:prstDash val="solid"/>
          </a:ln>
        </p:spPr>
      </p:sp>
      <p:sp>
        <p:nvSpPr>
          <p:cNvPr id="175" name="s2-car-body-161">
            <a:extLst xmlns:a="http://schemas.openxmlformats.org/drawingml/2006/main">
              <a:ext uri="{FF2B5EF4-FFF2-40B4-BE49-F238E27FC236}">
                <a16:creationId xmlns:a16="http://schemas.microsoft.com/office/drawing/2014/main" id="{E9246A1A-51CA-4D90-A333-4560FA3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544" y="4051935"/>
            <a:ext cx="443389" cy="153829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7146">
            <a:solidFill>
              <a:srgbClr val="07368C"/>
            </a:solidFill>
            <a:prstDash val="solid"/>
          </a:ln>
        </p:spPr>
      </p:sp>
      <p:sp>
        <p:nvSpPr>
          <p:cNvPr id="176" name="s2-car-roof-162-route">
            <a:extLst xmlns:a="http://schemas.openxmlformats.org/drawingml/2006/main">
              <a:ext uri="{FF2B5EF4-FFF2-40B4-BE49-F238E27FC236}">
                <a16:creationId xmlns:a16="http://schemas.microsoft.com/office/drawing/2014/main" id="{8DE435C2-9D84-42F7-9C7F-B488782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836" y="3952399"/>
            <a:ext cx="334804" cy="99536"/>
          </a:xfrm>
          <a:custGeom xmlns:a="http://schemas.openxmlformats.org/drawingml/2006/main">
            <a:pathLst>
              <a:path w="334804" h="99536">
                <a:moveTo>
                  <a:pt x="0" y="90488"/>
                </a:moveTo>
                <a:lnTo>
                  <a:pt x="63341" y="0"/>
                </a:lnTo>
                <a:lnTo>
                  <a:pt x="244316" y="0"/>
                </a:lnTo>
                <a:lnTo>
                  <a:pt x="334804" y="99536"/>
                </a:lnTo>
              </a:path>
            </a:pathLst>
          </a:custGeom>
          <a:noFill xmlns:a="http://schemas.openxmlformats.org/drawingml/2006/main"/>
          <a:ln xmlns:a="http://schemas.openxmlformats.org/drawingml/2006/main" w="22622">
            <a:solidFill>
              <a:srgbClr val="07368C"/>
            </a:solidFill>
            <a:prstDash val="solid"/>
          </a:ln>
        </p:spPr>
      </p:sp>
      <p:sp>
        <p:nvSpPr>
          <p:cNvPr id="177" name="s2-car-roof-162-head">
            <a:extLst xmlns:a="http://schemas.openxmlformats.org/drawingml/2006/main">
              <a:ext uri="{FF2B5EF4-FFF2-40B4-BE49-F238E27FC236}">
                <a16:creationId xmlns:a16="http://schemas.microsoft.com/office/drawing/2014/main" id="{6571F189-23DE-41D0-A2DD-1B20CE92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640" y="405193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178" name="s2-car-window-163">
            <a:extLst xmlns:a="http://schemas.openxmlformats.org/drawingml/2006/main">
              <a:ext uri="{FF2B5EF4-FFF2-40B4-BE49-F238E27FC236}">
                <a16:creationId xmlns:a16="http://schemas.microsoft.com/office/drawing/2014/main" id="{BF818B0B-0D58-4740-8221-BBB1B2E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519" y="3961448"/>
            <a:ext cx="9049" cy="81439"/>
          </a:xfrm>
          <a:custGeom xmlns:a="http://schemas.openxmlformats.org/drawingml/2006/main">
            <a:pathLst>
              <a:path w="9049" h="81439">
                <a:moveTo>
                  <a:pt x="9049" y="0"/>
                </a:moveTo>
                <a:lnTo>
                  <a:pt x="0" y="814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07368C"/>
            </a:solidFill>
            <a:prstDash val="solid"/>
          </a:ln>
        </p:spPr>
      </p:sp>
      <p:sp>
        <p:nvSpPr>
          <p:cNvPr id="179" name="s2-car-wheel-164">
            <a:extLst xmlns:a="http://schemas.openxmlformats.org/drawingml/2006/main">
              <a:ext uri="{FF2B5EF4-FFF2-40B4-BE49-F238E27FC236}">
                <a16:creationId xmlns:a16="http://schemas.microsoft.com/office/drawing/2014/main" id="{3C94FADD-5070-47E7-9398-8412B2F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88" y="4160520"/>
            <a:ext cx="90488" cy="90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717">
            <a:solidFill>
              <a:srgbClr val="07368C"/>
            </a:solidFill>
            <a:prstDash val="solid"/>
          </a:ln>
        </p:spPr>
      </p:sp>
      <p:sp>
        <p:nvSpPr>
          <p:cNvPr id="180" name="s2-car-wheel-165">
            <a:extLst xmlns:a="http://schemas.openxmlformats.org/drawingml/2006/main">
              <a:ext uri="{FF2B5EF4-FFF2-40B4-BE49-F238E27FC236}">
                <a16:creationId xmlns:a16="http://schemas.microsoft.com/office/drawing/2014/main" id="{69266CC2-E304-4EA5-8612-104FA99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0520"/>
            <a:ext cx="90488" cy="90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717">
            <a:solidFill>
              <a:srgbClr val="07368C"/>
            </a:solidFill>
            <a:prstDash val="solid"/>
          </a:ln>
        </p:spPr>
      </p:sp>
      <p:sp>
        <p:nvSpPr>
          <p:cNvPr id="181" name="s2-pst-shape-166">
            <a:extLst xmlns:a="http://schemas.openxmlformats.org/drawingml/2006/main">
              <a:ext uri="{FF2B5EF4-FFF2-40B4-BE49-F238E27FC236}">
                <a16:creationId xmlns:a16="http://schemas.microsoft.com/office/drawing/2014/main" id="{38C61E9B-3828-4E2C-9F07-1900522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453" y="3914013"/>
            <a:ext cx="188023" cy="1440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601">
            <a:solidFill>
              <a:srgbClr val="07368C"/>
            </a:solidFill>
            <a:prstDash val="solid"/>
          </a:ln>
        </p:spPr>
      </p:sp>
      <p:sp>
        <p:nvSpPr>
          <p:cNvPr id="182" name="s2-pst-line-167">
            <a:extLst xmlns:a="http://schemas.openxmlformats.org/drawingml/2006/main">
              <a:ext uri="{FF2B5EF4-FFF2-40B4-BE49-F238E27FC236}">
                <a16:creationId xmlns:a16="http://schemas.microsoft.com/office/drawing/2014/main" id="{86C4F10D-A4B9-43BC-820B-A3BEEB4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06012"/>
            <a:ext cx="232029" cy="95"/>
          </a:xfrm>
          <a:custGeom xmlns:a="http://schemas.openxmlformats.org/drawingml/2006/main">
            <a:pathLst>
              <a:path w="232029" h="95">
                <a:moveTo>
                  <a:pt x="0" y="0"/>
                </a:moveTo>
                <a:lnTo>
                  <a:pt x="2320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368C"/>
            </a:solidFill>
            <a:prstDash val="solid"/>
          </a:ln>
        </p:spPr>
      </p:sp>
      <p:sp>
        <p:nvSpPr>
          <p:cNvPr id="183" name="s2-pst-line-168">
            <a:extLst xmlns:a="http://schemas.openxmlformats.org/drawingml/2006/main">
              <a:ext uri="{FF2B5EF4-FFF2-40B4-BE49-F238E27FC236}">
                <a16:creationId xmlns:a16="http://schemas.microsoft.com/office/drawing/2014/main" id="{CD1102E1-0E30-486F-96D5-0F5FAE2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452" y="4066032"/>
            <a:ext cx="212026" cy="95"/>
          </a:xfrm>
          <a:custGeom xmlns:a="http://schemas.openxmlformats.org/drawingml/2006/main">
            <a:pathLst>
              <a:path w="212026" h="95">
                <a:moveTo>
                  <a:pt x="0" y="0"/>
                </a:moveTo>
                <a:lnTo>
                  <a:pt x="2120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002">
            <a:solidFill>
              <a:srgbClr val="07368C"/>
            </a:solidFill>
            <a:prstDash val="solid"/>
          </a:ln>
        </p:spPr>
      </p:sp>
      <p:sp>
        <p:nvSpPr>
          <p:cNvPr id="184" name="s2-pst-shape-169">
            <a:extLst xmlns:a="http://schemas.openxmlformats.org/drawingml/2006/main">
              <a:ext uri="{FF2B5EF4-FFF2-40B4-BE49-F238E27FC236}">
                <a16:creationId xmlns:a16="http://schemas.microsoft.com/office/drawing/2014/main" id="{70D3A346-F552-4655-AF59-4403AEA8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454" y="4066032"/>
            <a:ext cx="20003" cy="16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2000">
            <a:solidFill>
              <a:srgbClr val="07368C"/>
            </a:solidFill>
            <a:prstDash val="solid"/>
          </a:ln>
        </p:spPr>
      </p:sp>
      <p:sp>
        <p:nvSpPr>
          <p:cNvPr id="185" name="s2-pst-shape-170">
            <a:extLst xmlns:a="http://schemas.openxmlformats.org/drawingml/2006/main">
              <a:ext uri="{FF2B5EF4-FFF2-40B4-BE49-F238E27FC236}">
                <a16:creationId xmlns:a16="http://schemas.microsoft.com/office/drawing/2014/main" id="{88B73278-2F3E-4782-961A-76461105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473" y="4066032"/>
            <a:ext cx="20003" cy="160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2000">
            <a:solidFill>
              <a:srgbClr val="07368C"/>
            </a:solidFill>
            <a:prstDash val="solid"/>
          </a:ln>
        </p:spPr>
      </p:sp>
      <p:sp>
        <p:nvSpPr>
          <p:cNvPr id="186" name="s2-pst-line-171">
            <a:extLst xmlns:a="http://schemas.openxmlformats.org/drawingml/2006/main">
              <a:ext uri="{FF2B5EF4-FFF2-40B4-BE49-F238E27FC236}">
                <a16:creationId xmlns:a16="http://schemas.microsoft.com/office/drawing/2014/main" id="{B9403BEA-448B-4F2F-AD48-59DE7CDA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456" y="3930015"/>
            <a:ext cx="95" cy="112014"/>
          </a:xfrm>
          <a:custGeom xmlns:a="http://schemas.openxmlformats.org/drawingml/2006/main">
            <a:pathLst>
              <a:path w="95" h="112014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 xmlns:a="http://schemas.openxmlformats.org/drawingml/2006/main"/>
          <a:ln xmlns:a="http://schemas.openxmlformats.org/drawingml/2006/main" w="11201">
            <a:solidFill>
              <a:srgbClr val="07368C"/>
            </a:solidFill>
            <a:prstDash val="solid"/>
          </a:ln>
        </p:spPr>
      </p:sp>
      <p:sp>
        <p:nvSpPr>
          <p:cNvPr id="187" name="s2-pst-line-172">
            <a:extLst xmlns:a="http://schemas.openxmlformats.org/drawingml/2006/main">
              <a:ext uri="{FF2B5EF4-FFF2-40B4-BE49-F238E27FC236}">
                <a16:creationId xmlns:a16="http://schemas.microsoft.com/office/drawing/2014/main" id="{E9E4D608-9B05-40CA-B8F4-4471CB97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459" y="3930015"/>
            <a:ext cx="95" cy="112014"/>
          </a:xfrm>
          <a:custGeom xmlns:a="http://schemas.openxmlformats.org/drawingml/2006/main">
            <a:pathLst>
              <a:path w="95" h="112014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 xmlns:a="http://schemas.openxmlformats.org/drawingml/2006/main"/>
          <a:ln xmlns:a="http://schemas.openxmlformats.org/drawingml/2006/main" w="11201">
            <a:solidFill>
              <a:srgbClr val="07368C"/>
            </a:solidFill>
            <a:prstDash val="solid"/>
          </a:ln>
        </p:spPr>
      </p:sp>
      <p:sp>
        <p:nvSpPr>
          <p:cNvPr id="188" name="s2-pst-line-173">
            <a:extLst xmlns:a="http://schemas.openxmlformats.org/drawingml/2006/main">
              <a:ext uri="{FF2B5EF4-FFF2-40B4-BE49-F238E27FC236}">
                <a16:creationId xmlns:a16="http://schemas.microsoft.com/office/drawing/2014/main" id="{806BDDF6-29E5-49F6-B2D8-D2A1647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3930015"/>
            <a:ext cx="95" cy="112014"/>
          </a:xfrm>
          <a:custGeom xmlns:a="http://schemas.openxmlformats.org/drawingml/2006/main">
            <a:pathLst>
              <a:path w="95" h="112014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 xmlns:a="http://schemas.openxmlformats.org/drawingml/2006/main"/>
          <a:ln xmlns:a="http://schemas.openxmlformats.org/drawingml/2006/main" w="11201">
            <a:solidFill>
              <a:srgbClr val="07368C"/>
            </a:solidFill>
            <a:prstDash val="solid"/>
          </a:ln>
        </p:spPr>
      </p:sp>
      <p:sp>
        <p:nvSpPr>
          <p:cNvPr id="189" name="s2-pst-line-174">
            <a:extLst xmlns:a="http://schemas.openxmlformats.org/drawingml/2006/main">
              <a:ext uri="{FF2B5EF4-FFF2-40B4-BE49-F238E27FC236}">
                <a16:creationId xmlns:a16="http://schemas.microsoft.com/office/drawing/2014/main" id="{C1FCE1C0-051F-4DCE-BAA0-916C37BE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466" y="3930015"/>
            <a:ext cx="95" cy="112014"/>
          </a:xfrm>
          <a:custGeom xmlns:a="http://schemas.openxmlformats.org/drawingml/2006/main">
            <a:pathLst>
              <a:path w="95" h="112014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 xmlns:a="http://schemas.openxmlformats.org/drawingml/2006/main"/>
          <a:ln xmlns:a="http://schemas.openxmlformats.org/drawingml/2006/main" w="11201">
            <a:solidFill>
              <a:srgbClr val="07368C"/>
            </a:solidFill>
            <a:prstDash val="solid"/>
          </a:ln>
        </p:spPr>
      </p:sp>
      <p:sp>
        <p:nvSpPr>
          <p:cNvPr id="190" name="s2-pst-line-175">
            <a:extLst xmlns:a="http://schemas.openxmlformats.org/drawingml/2006/main">
              <a:ext uri="{FF2B5EF4-FFF2-40B4-BE49-F238E27FC236}">
                <a16:creationId xmlns:a16="http://schemas.microsoft.com/office/drawing/2014/main" id="{57B7924D-41E4-4DEA-92AE-B0894F5E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470" y="3930015"/>
            <a:ext cx="95" cy="112014"/>
          </a:xfrm>
          <a:custGeom xmlns:a="http://schemas.openxmlformats.org/drawingml/2006/main">
            <a:pathLst>
              <a:path w="95" h="112014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 xmlns:a="http://schemas.openxmlformats.org/drawingml/2006/main"/>
          <a:ln xmlns:a="http://schemas.openxmlformats.org/drawingml/2006/main" w="11201">
            <a:solidFill>
              <a:srgbClr val="07368C"/>
            </a:solidFill>
            <a:prstDash val="solid"/>
          </a:ln>
        </p:spPr>
      </p:sp>
      <p:sp>
        <p:nvSpPr>
          <p:cNvPr id="191" name="s2-pst-line-176">
            <a:extLst xmlns:a="http://schemas.openxmlformats.org/drawingml/2006/main">
              <a:ext uri="{FF2B5EF4-FFF2-40B4-BE49-F238E27FC236}">
                <a16:creationId xmlns:a16="http://schemas.microsoft.com/office/drawing/2014/main" id="{B7FBC06C-7638-4228-BEBF-8FE9FBB9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473" y="3930015"/>
            <a:ext cx="95" cy="112014"/>
          </a:xfrm>
          <a:custGeom xmlns:a="http://schemas.openxmlformats.org/drawingml/2006/main">
            <a:pathLst>
              <a:path w="95" h="112014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 xmlns:a="http://schemas.openxmlformats.org/drawingml/2006/main"/>
          <a:ln xmlns:a="http://schemas.openxmlformats.org/drawingml/2006/main" w="11201">
            <a:solidFill>
              <a:srgbClr val="07368C"/>
            </a:solidFill>
            <a:prstDash val="solid"/>
          </a:ln>
        </p:spPr>
      </p:sp>
      <p:sp>
        <p:nvSpPr>
          <p:cNvPr id="192" name="s2-pst-line-177">
            <a:extLst xmlns:a="http://schemas.openxmlformats.org/drawingml/2006/main">
              <a:ext uri="{FF2B5EF4-FFF2-40B4-BE49-F238E27FC236}">
                <a16:creationId xmlns:a16="http://schemas.microsoft.com/office/drawing/2014/main" id="{03EC7DDB-48E4-483A-9DC0-B55E16E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459" y="3826002"/>
            <a:ext cx="95" cy="80010"/>
          </a:xfrm>
          <a:custGeom xmlns:a="http://schemas.openxmlformats.org/drawingml/2006/main">
            <a:pathLst>
              <a:path w="95" h="80010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8001">
            <a:solidFill>
              <a:srgbClr val="07368C"/>
            </a:solidFill>
            <a:prstDash val="solid"/>
          </a:ln>
        </p:spPr>
      </p:sp>
      <p:sp>
        <p:nvSpPr>
          <p:cNvPr id="193" name="s2-pst-line-178">
            <a:extLst xmlns:a="http://schemas.openxmlformats.org/drawingml/2006/main">
              <a:ext uri="{FF2B5EF4-FFF2-40B4-BE49-F238E27FC236}">
                <a16:creationId xmlns:a16="http://schemas.microsoft.com/office/drawing/2014/main" id="{FF801103-D6E7-40BA-985E-5AC8376D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7457" y="3846004"/>
            <a:ext cx="40005" cy="95"/>
          </a:xfrm>
          <a:custGeom xmlns:a="http://schemas.openxmlformats.org/drawingml/2006/main">
            <a:pathLst>
              <a:path w="40005" h="95">
                <a:moveTo>
                  <a:pt x="0" y="0"/>
                </a:moveTo>
                <a:lnTo>
                  <a:pt x="400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194" name="s2-pst-line-179">
            <a:extLst xmlns:a="http://schemas.openxmlformats.org/drawingml/2006/main">
              <a:ext uri="{FF2B5EF4-FFF2-40B4-BE49-F238E27FC236}">
                <a16:creationId xmlns:a16="http://schemas.microsoft.com/office/drawing/2014/main" id="{9A3293F1-6E30-4E43-A2A8-5610E7E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57" y="3859606"/>
            <a:ext cx="33604" cy="95"/>
          </a:xfrm>
          <a:custGeom xmlns:a="http://schemas.openxmlformats.org/drawingml/2006/main">
            <a:pathLst>
              <a:path w="33604" h="95">
                <a:moveTo>
                  <a:pt x="0" y="0"/>
                </a:moveTo>
                <a:lnTo>
                  <a:pt x="33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195" name="s2-pst-line-180">
            <a:extLst xmlns:a="http://schemas.openxmlformats.org/drawingml/2006/main">
              <a:ext uri="{FF2B5EF4-FFF2-40B4-BE49-F238E27FC236}">
                <a16:creationId xmlns:a16="http://schemas.microsoft.com/office/drawing/2014/main" id="{486DDB58-F327-4C1E-9AEF-B80E802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857" y="3873208"/>
            <a:ext cx="27203" cy="95"/>
          </a:xfrm>
          <a:custGeom xmlns:a="http://schemas.openxmlformats.org/drawingml/2006/main">
            <a:pathLst>
              <a:path w="27203" h="95">
                <a:moveTo>
                  <a:pt x="0" y="0"/>
                </a:moveTo>
                <a:lnTo>
                  <a:pt x="272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196" name="s2-pst-line-181">
            <a:extLst xmlns:a="http://schemas.openxmlformats.org/drawingml/2006/main">
              <a:ext uri="{FF2B5EF4-FFF2-40B4-BE49-F238E27FC236}">
                <a16:creationId xmlns:a16="http://schemas.microsoft.com/office/drawing/2014/main" id="{3E714918-7348-4794-AD66-F9E926DB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058" y="3886810"/>
            <a:ext cx="20803" cy="95"/>
          </a:xfrm>
          <a:custGeom xmlns:a="http://schemas.openxmlformats.org/drawingml/2006/main">
            <a:pathLst>
              <a:path w="20803" h="95">
                <a:moveTo>
                  <a:pt x="0" y="0"/>
                </a:moveTo>
                <a:lnTo>
                  <a:pt x="20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197" name="s2-pst-line-182">
            <a:extLst xmlns:a="http://schemas.openxmlformats.org/drawingml/2006/main">
              <a:ext uri="{FF2B5EF4-FFF2-40B4-BE49-F238E27FC236}">
                <a16:creationId xmlns:a16="http://schemas.microsoft.com/office/drawing/2014/main" id="{1C30B1E6-298A-487D-89FE-EA5F7474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469" y="3826002"/>
            <a:ext cx="95" cy="80010"/>
          </a:xfrm>
          <a:custGeom xmlns:a="http://schemas.openxmlformats.org/drawingml/2006/main">
            <a:pathLst>
              <a:path w="95" h="80010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 xmlns:a="http://schemas.openxmlformats.org/drawingml/2006/main"/>
          <a:ln xmlns:a="http://schemas.openxmlformats.org/drawingml/2006/main" w="8001">
            <a:solidFill>
              <a:srgbClr val="07368C"/>
            </a:solidFill>
            <a:prstDash val="solid"/>
          </a:ln>
        </p:spPr>
      </p:sp>
      <p:sp>
        <p:nvSpPr>
          <p:cNvPr id="198" name="s2-pst-line-183">
            <a:extLst xmlns:a="http://schemas.openxmlformats.org/drawingml/2006/main">
              <a:ext uri="{FF2B5EF4-FFF2-40B4-BE49-F238E27FC236}">
                <a16:creationId xmlns:a16="http://schemas.microsoft.com/office/drawing/2014/main" id="{214ABC3B-18DA-4A50-BBCB-486D4097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467" y="3846004"/>
            <a:ext cx="40005" cy="95"/>
          </a:xfrm>
          <a:custGeom xmlns:a="http://schemas.openxmlformats.org/drawingml/2006/main">
            <a:pathLst>
              <a:path w="40005" h="95">
                <a:moveTo>
                  <a:pt x="0" y="0"/>
                </a:moveTo>
                <a:lnTo>
                  <a:pt x="400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199" name="s2-pst-line-184">
            <a:extLst xmlns:a="http://schemas.openxmlformats.org/drawingml/2006/main">
              <a:ext uri="{FF2B5EF4-FFF2-40B4-BE49-F238E27FC236}">
                <a16:creationId xmlns:a16="http://schemas.microsoft.com/office/drawing/2014/main" id="{47DEB2B9-D3D5-4AF0-9154-9AF63F1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667" y="3859606"/>
            <a:ext cx="33604" cy="95"/>
          </a:xfrm>
          <a:custGeom xmlns:a="http://schemas.openxmlformats.org/drawingml/2006/main">
            <a:pathLst>
              <a:path w="33604" h="95">
                <a:moveTo>
                  <a:pt x="0" y="0"/>
                </a:moveTo>
                <a:lnTo>
                  <a:pt x="33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200" name="s2-pst-line-185">
            <a:extLst xmlns:a="http://schemas.openxmlformats.org/drawingml/2006/main">
              <a:ext uri="{FF2B5EF4-FFF2-40B4-BE49-F238E27FC236}">
                <a16:creationId xmlns:a16="http://schemas.microsoft.com/office/drawing/2014/main" id="{A0538B10-84E3-460A-8E08-5C2A482D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867" y="3873208"/>
            <a:ext cx="27203" cy="95"/>
          </a:xfrm>
          <a:custGeom xmlns:a="http://schemas.openxmlformats.org/drawingml/2006/main">
            <a:pathLst>
              <a:path w="27203" h="95">
                <a:moveTo>
                  <a:pt x="0" y="0"/>
                </a:moveTo>
                <a:lnTo>
                  <a:pt x="272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201" name="s2-pst-line-186">
            <a:extLst xmlns:a="http://schemas.openxmlformats.org/drawingml/2006/main">
              <a:ext uri="{FF2B5EF4-FFF2-40B4-BE49-F238E27FC236}">
                <a16:creationId xmlns:a16="http://schemas.microsoft.com/office/drawing/2014/main" id="{7042C93A-867F-424F-ACD4-E6B8795B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068" y="3886810"/>
            <a:ext cx="20803" cy="95"/>
          </a:xfrm>
          <a:custGeom xmlns:a="http://schemas.openxmlformats.org/drawingml/2006/main">
            <a:pathLst>
              <a:path w="20803" h="95">
                <a:moveTo>
                  <a:pt x="0" y="0"/>
                </a:moveTo>
                <a:lnTo>
                  <a:pt x="208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01">
            <a:solidFill>
              <a:srgbClr val="07368C"/>
            </a:solidFill>
            <a:prstDash val="solid"/>
          </a:ln>
        </p:spPr>
      </p:sp>
      <p:sp>
        <p:nvSpPr>
          <p:cNvPr id="202" name="s2-pst-curved-left-187-route">
            <a:extLst xmlns:a="http://schemas.openxmlformats.org/drawingml/2006/main">
              <a:ext uri="{FF2B5EF4-FFF2-40B4-BE49-F238E27FC236}">
                <a16:creationId xmlns:a16="http://schemas.microsoft.com/office/drawing/2014/main" id="{C1FD0554-EA1A-4D7C-A3CB-05361EC2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457" y="3810000"/>
            <a:ext cx="36004" cy="64008"/>
          </a:xfrm>
          <a:custGeom xmlns:a="http://schemas.openxmlformats.org/drawingml/2006/main">
            <a:pathLst>
              <a:path w="36004" h="64008">
                <a:moveTo>
                  <a:pt x="36004" y="8001"/>
                </a:moveTo>
                <a:lnTo>
                  <a:pt x="16002" y="0"/>
                </a:lnTo>
                <a:lnTo>
                  <a:pt x="0" y="28003"/>
                </a:lnTo>
                <a:lnTo>
                  <a:pt x="4000" y="64008"/>
                </a:lnTo>
              </a:path>
            </a:pathLst>
          </a:custGeom>
          <a:noFill xmlns:a="http://schemas.openxmlformats.org/drawingml/2006/main"/>
          <a:ln xmlns:a="http://schemas.openxmlformats.org/drawingml/2006/main" w="8001">
            <a:solidFill>
              <a:srgbClr val="07368C"/>
            </a:solidFill>
            <a:prstDash val="solid"/>
          </a:ln>
        </p:spPr>
      </p:sp>
      <p:sp>
        <p:nvSpPr>
          <p:cNvPr id="203" name="s2-pst-curved-left-187-head">
            <a:extLst xmlns:a="http://schemas.openxmlformats.org/drawingml/2006/main">
              <a:ext uri="{FF2B5EF4-FFF2-40B4-BE49-F238E27FC236}">
                <a16:creationId xmlns:a16="http://schemas.microsoft.com/office/drawing/2014/main" id="{61161DDE-8BCF-403A-B5E6-63113F34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056" y="3857256"/>
            <a:ext cx="15268" cy="16752"/>
          </a:xfrm>
          <a:custGeom xmlns:a="http://schemas.openxmlformats.org/drawingml/2006/main">
            <a:pathLst>
              <a:path w="15268" h="16752">
                <a:moveTo>
                  <a:pt x="9401" y="16752"/>
                </a:moveTo>
                <a:lnTo>
                  <a:pt x="0" y="1696"/>
                </a:lnTo>
                <a:lnTo>
                  <a:pt x="15268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04" name="s2-pst-curved-right-188-route">
            <a:extLst xmlns:a="http://schemas.openxmlformats.org/drawingml/2006/main">
              <a:ext uri="{FF2B5EF4-FFF2-40B4-BE49-F238E27FC236}">
                <a16:creationId xmlns:a16="http://schemas.microsoft.com/office/drawing/2014/main" id="{DD615DEF-AE02-4A29-83E6-7229FA1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467" y="3810000"/>
            <a:ext cx="36004" cy="64008"/>
          </a:xfrm>
          <a:custGeom xmlns:a="http://schemas.openxmlformats.org/drawingml/2006/main">
            <a:pathLst>
              <a:path w="36004" h="64008">
                <a:moveTo>
                  <a:pt x="0" y="8001"/>
                </a:moveTo>
                <a:lnTo>
                  <a:pt x="20003" y="0"/>
                </a:lnTo>
                <a:lnTo>
                  <a:pt x="36004" y="28003"/>
                </a:lnTo>
                <a:lnTo>
                  <a:pt x="32004" y="64008"/>
                </a:lnTo>
              </a:path>
            </a:pathLst>
          </a:custGeom>
          <a:noFill xmlns:a="http://schemas.openxmlformats.org/drawingml/2006/main"/>
          <a:ln xmlns:a="http://schemas.openxmlformats.org/drawingml/2006/main" w="8001">
            <a:solidFill>
              <a:srgbClr val="07368C"/>
            </a:solidFill>
            <a:prstDash val="solid"/>
          </a:ln>
        </p:spPr>
      </p:sp>
      <p:sp>
        <p:nvSpPr>
          <p:cNvPr id="205" name="s2-pst-curved-right-188-head">
            <a:extLst xmlns:a="http://schemas.openxmlformats.org/drawingml/2006/main">
              <a:ext uri="{FF2B5EF4-FFF2-40B4-BE49-F238E27FC236}">
                <a16:creationId xmlns:a16="http://schemas.microsoft.com/office/drawing/2014/main" id="{61D7137E-1FAB-4823-A738-E758F7DE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604" y="3857256"/>
            <a:ext cx="15268" cy="16752"/>
          </a:xfrm>
          <a:custGeom xmlns:a="http://schemas.openxmlformats.org/drawingml/2006/main">
            <a:pathLst>
              <a:path w="15268" h="16752">
                <a:moveTo>
                  <a:pt x="5867" y="16752"/>
                </a:moveTo>
                <a:lnTo>
                  <a:pt x="0" y="0"/>
                </a:lnTo>
                <a:lnTo>
                  <a:pt x="15268" y="1696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06" name="s2-battery-body-189">
            <a:extLst xmlns:a="http://schemas.openxmlformats.org/drawingml/2006/main">
              <a:ext uri="{FF2B5EF4-FFF2-40B4-BE49-F238E27FC236}">
                <a16:creationId xmlns:a16="http://schemas.microsoft.com/office/drawing/2014/main" id="{23F0728B-71B8-4DF7-8581-4ED3CAE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69341"/>
            <a:ext cx="152210" cy="228314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907">
            <a:solidFill>
              <a:srgbClr val="07368C"/>
            </a:solidFill>
            <a:prstDash val="solid"/>
          </a:ln>
        </p:spPr>
      </p:sp>
      <p:sp>
        <p:nvSpPr>
          <p:cNvPr id="207" name="s2-battery-cap-190">
            <a:extLst xmlns:a="http://schemas.openxmlformats.org/drawingml/2006/main">
              <a:ext uri="{FF2B5EF4-FFF2-40B4-BE49-F238E27FC236}">
                <a16:creationId xmlns:a16="http://schemas.microsoft.com/office/drawing/2014/main" id="{2F836CED-3F0E-4A61-BA8C-6DBF6D69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743" y="3838004"/>
            <a:ext cx="67151" cy="358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430">
            <a:solidFill>
              <a:srgbClr val="07368C"/>
            </a:solidFill>
            <a:prstDash val="solid"/>
          </a:ln>
        </p:spPr>
      </p:sp>
      <p:sp>
        <p:nvSpPr>
          <p:cNvPr id="208" name="s2-battery-mark1-191">
            <a:extLst xmlns:a="http://schemas.openxmlformats.org/drawingml/2006/main">
              <a:ext uri="{FF2B5EF4-FFF2-40B4-BE49-F238E27FC236}">
                <a16:creationId xmlns:a16="http://schemas.microsoft.com/office/drawing/2014/main" id="{2B341BCD-21C9-4C24-A787-4561042D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696" y="3932015"/>
            <a:ext cx="49244" cy="95"/>
          </a:xfrm>
          <a:custGeom xmlns:a="http://schemas.openxmlformats.org/drawingml/2006/main">
            <a:pathLst>
              <a:path w="49244" h="95">
                <a:moveTo>
                  <a:pt x="0" y="0"/>
                </a:moveTo>
                <a:lnTo>
                  <a:pt x="49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07">
            <a:solidFill>
              <a:srgbClr val="07368C"/>
            </a:solidFill>
            <a:prstDash val="solid"/>
          </a:ln>
        </p:spPr>
      </p:sp>
      <p:sp>
        <p:nvSpPr>
          <p:cNvPr id="209" name="s2-battery-mark2-192">
            <a:extLst xmlns:a="http://schemas.openxmlformats.org/drawingml/2006/main">
              <a:ext uri="{FF2B5EF4-FFF2-40B4-BE49-F238E27FC236}">
                <a16:creationId xmlns:a16="http://schemas.microsoft.com/office/drawing/2014/main" id="{D1598A28-23A7-46D5-B2D9-AE14004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696" y="3976783"/>
            <a:ext cx="44767" cy="95"/>
          </a:xfrm>
          <a:custGeom xmlns:a="http://schemas.openxmlformats.org/drawingml/2006/main">
            <a:pathLst>
              <a:path w="44767" h="95">
                <a:moveTo>
                  <a:pt x="0" y="0"/>
                </a:moveTo>
                <a:lnTo>
                  <a:pt x="447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907">
            <a:solidFill>
              <a:srgbClr val="07368C"/>
            </a:solidFill>
            <a:prstDash val="solid"/>
          </a:ln>
        </p:spPr>
      </p:sp>
      <p:sp>
        <p:nvSpPr>
          <p:cNvPr id="210" name="s2-battery-bolt-193-route">
            <a:extLst xmlns:a="http://schemas.openxmlformats.org/drawingml/2006/main">
              <a:ext uri="{FF2B5EF4-FFF2-40B4-BE49-F238E27FC236}">
                <a16:creationId xmlns:a16="http://schemas.microsoft.com/office/drawing/2014/main" id="{D539C02B-FDBF-46D0-A833-8ABBC7E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696" y="3936492"/>
            <a:ext cx="49244" cy="129826"/>
          </a:xfrm>
          <a:custGeom xmlns:a="http://schemas.openxmlformats.org/drawingml/2006/main">
            <a:pathLst>
              <a:path w="49244" h="129826">
                <a:moveTo>
                  <a:pt x="40291" y="0"/>
                </a:moveTo>
                <a:lnTo>
                  <a:pt x="0" y="71628"/>
                </a:lnTo>
                <a:lnTo>
                  <a:pt x="49244" y="67151"/>
                </a:lnTo>
                <a:lnTo>
                  <a:pt x="4477" y="129826"/>
                </a:lnTo>
              </a:path>
            </a:pathLst>
          </a:custGeom>
          <a:noFill xmlns:a="http://schemas.openxmlformats.org/drawingml/2006/main"/>
          <a:ln xmlns:a="http://schemas.openxmlformats.org/drawingml/2006/main" w="13430">
            <a:solidFill>
              <a:srgbClr val="07368C"/>
            </a:solidFill>
            <a:prstDash val="solid"/>
          </a:ln>
        </p:spPr>
      </p:sp>
      <p:sp>
        <p:nvSpPr>
          <p:cNvPr id="211" name="s2-battery-bolt-193-head">
            <a:extLst xmlns:a="http://schemas.openxmlformats.org/drawingml/2006/main">
              <a:ext uri="{FF2B5EF4-FFF2-40B4-BE49-F238E27FC236}">
                <a16:creationId xmlns:a16="http://schemas.microsoft.com/office/drawing/2014/main" id="{1E13F78C-494B-441E-A538-3BD03AAD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173" y="4066318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12" name="s2-ev-pump-194">
            <a:extLst xmlns:a="http://schemas.openxmlformats.org/drawingml/2006/main">
              <a:ext uri="{FF2B5EF4-FFF2-40B4-BE49-F238E27FC236}">
                <a16:creationId xmlns:a16="http://schemas.microsoft.com/office/drawing/2014/main" id="{5DEBFD90-AA54-43A8-B47D-A9018A5F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46767"/>
            <a:ext cx="106490" cy="212979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106">
            <a:solidFill>
              <a:srgbClr val="07368C"/>
            </a:solidFill>
            <a:prstDash val="solid"/>
          </a:ln>
        </p:spPr>
      </p:sp>
      <p:sp>
        <p:nvSpPr>
          <p:cNvPr id="213" name="s2-ev-display-195">
            <a:extLst xmlns:a="http://schemas.openxmlformats.org/drawingml/2006/main">
              <a:ext uri="{FF2B5EF4-FFF2-40B4-BE49-F238E27FC236}">
                <a16:creationId xmlns:a16="http://schemas.microsoft.com/office/drawing/2014/main" id="{9C4BF110-C740-4FD0-9D36-7AB641D7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775" y="3875437"/>
            <a:ext cx="53245" cy="53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011">
            <a:solidFill>
              <a:srgbClr val="07368C"/>
            </a:solidFill>
            <a:prstDash val="solid"/>
          </a:ln>
        </p:spPr>
      </p:sp>
      <p:sp>
        <p:nvSpPr>
          <p:cNvPr id="214" name="s2-ev-base-196">
            <a:extLst xmlns:a="http://schemas.openxmlformats.org/drawingml/2006/main">
              <a:ext uri="{FF2B5EF4-FFF2-40B4-BE49-F238E27FC236}">
                <a16:creationId xmlns:a16="http://schemas.microsoft.com/office/drawing/2014/main" id="{89F5A339-C282-44F8-8788-52F771D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817" y="4063841"/>
            <a:ext cx="139256" cy="95"/>
          </a:xfrm>
          <a:custGeom xmlns:a="http://schemas.openxmlformats.org/drawingml/2006/main">
            <a:pathLst>
              <a:path w="139256" h="95">
                <a:moveTo>
                  <a:pt x="0" y="0"/>
                </a:moveTo>
                <a:lnTo>
                  <a:pt x="1392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87">
            <a:solidFill>
              <a:srgbClr val="07368C"/>
            </a:solidFill>
            <a:prstDash val="solid"/>
          </a:ln>
        </p:spPr>
      </p:sp>
      <p:sp>
        <p:nvSpPr>
          <p:cNvPr id="215" name="s2-ev-hose-197">
            <a:extLst xmlns:a="http://schemas.openxmlformats.org/drawingml/2006/main">
              <a:ext uri="{FF2B5EF4-FFF2-40B4-BE49-F238E27FC236}">
                <a16:creationId xmlns:a16="http://schemas.microsoft.com/office/drawing/2014/main" id="{FCB49218-6331-4739-A176-DB404638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881" y="3900011"/>
            <a:ext cx="32766" cy="16383"/>
          </a:xfrm>
          <a:custGeom xmlns:a="http://schemas.openxmlformats.org/drawingml/2006/main">
            <a:pathLst>
              <a:path w="32766" h="16383">
                <a:moveTo>
                  <a:pt x="0" y="0"/>
                </a:moveTo>
                <a:lnTo>
                  <a:pt x="32766" y="16383"/>
                </a:lnTo>
              </a:path>
            </a:pathLst>
          </a:custGeom>
          <a:noFill xmlns:a="http://schemas.openxmlformats.org/drawingml/2006/main"/>
          <a:ln xmlns:a="http://schemas.openxmlformats.org/drawingml/2006/main" w="12287">
            <a:solidFill>
              <a:srgbClr val="07368C"/>
            </a:solidFill>
            <a:prstDash val="solid"/>
          </a:ln>
        </p:spPr>
      </p:sp>
      <p:sp>
        <p:nvSpPr>
          <p:cNvPr id="216" name="s2-ev-hose-198">
            <a:extLst xmlns:a="http://schemas.openxmlformats.org/drawingml/2006/main">
              <a:ext uri="{FF2B5EF4-FFF2-40B4-BE49-F238E27FC236}">
                <a16:creationId xmlns:a16="http://schemas.microsoft.com/office/drawing/2014/main" id="{2F65C216-BC74-46FD-8861-92D88102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647" y="3916394"/>
            <a:ext cx="95" cy="86011"/>
          </a:xfrm>
          <a:custGeom xmlns:a="http://schemas.openxmlformats.org/drawingml/2006/main">
            <a:pathLst>
              <a:path w="95" h="86011">
                <a:moveTo>
                  <a:pt x="0" y="0"/>
                </a:moveTo>
                <a:lnTo>
                  <a:pt x="0" y="86011"/>
                </a:lnTo>
              </a:path>
            </a:pathLst>
          </a:custGeom>
          <a:noFill xmlns:a="http://schemas.openxmlformats.org/drawingml/2006/main"/>
          <a:ln xmlns:a="http://schemas.openxmlformats.org/drawingml/2006/main" w="12287">
            <a:solidFill>
              <a:srgbClr val="07368C"/>
            </a:solidFill>
            <a:prstDash val="solid"/>
          </a:ln>
        </p:spPr>
      </p:sp>
      <p:sp>
        <p:nvSpPr>
          <p:cNvPr id="217" name="s2-ev-hose-199">
            <a:extLst xmlns:a="http://schemas.openxmlformats.org/drawingml/2006/main">
              <a:ext uri="{FF2B5EF4-FFF2-40B4-BE49-F238E27FC236}">
                <a16:creationId xmlns:a16="http://schemas.microsoft.com/office/drawing/2014/main" id="{17ED9EAB-C79F-458E-A8E8-3701159E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168" y="4002405"/>
            <a:ext cx="20479" cy="12287"/>
          </a:xfrm>
          <a:custGeom xmlns:a="http://schemas.openxmlformats.org/drawingml/2006/main">
            <a:pathLst>
              <a:path w="20479" h="12287">
                <a:moveTo>
                  <a:pt x="20479" y="0"/>
                </a:moveTo>
                <a:lnTo>
                  <a:pt x="0" y="12287"/>
                </a:lnTo>
              </a:path>
            </a:pathLst>
          </a:custGeom>
          <a:noFill xmlns:a="http://schemas.openxmlformats.org/drawingml/2006/main"/>
          <a:ln xmlns:a="http://schemas.openxmlformats.org/drawingml/2006/main" w="12287">
            <a:solidFill>
              <a:srgbClr val="07368C"/>
            </a:solidFill>
            <a:prstDash val="solid"/>
          </a:ln>
        </p:spPr>
      </p:sp>
      <p:sp>
        <p:nvSpPr>
          <p:cNvPr id="218" name="s2-ev-plug-200">
            <a:extLst xmlns:a="http://schemas.openxmlformats.org/drawingml/2006/main">
              <a:ext uri="{FF2B5EF4-FFF2-40B4-BE49-F238E27FC236}">
                <a16:creationId xmlns:a16="http://schemas.microsoft.com/office/drawing/2014/main" id="{F97BC990-81C8-48B0-A81B-D4EEFE51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290" y="3958580"/>
            <a:ext cx="22117" cy="221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19" name="s2-ev-plug-201">
            <a:extLst xmlns:a="http://schemas.openxmlformats.org/drawingml/2006/main">
              <a:ext uri="{FF2B5EF4-FFF2-40B4-BE49-F238E27FC236}">
                <a16:creationId xmlns:a16="http://schemas.microsoft.com/office/drawing/2014/main" id="{EB8519EE-F70D-4466-950A-A0D715F2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349" y="3977831"/>
            <a:ext cx="95" cy="36862"/>
          </a:xfrm>
          <a:custGeom xmlns:a="http://schemas.openxmlformats.org/drawingml/2006/main">
            <a:pathLst>
              <a:path w="95" h="36862">
                <a:moveTo>
                  <a:pt x="0" y="0"/>
                </a:moveTo>
                <a:lnTo>
                  <a:pt x="0" y="36862"/>
                </a:lnTo>
              </a:path>
            </a:pathLst>
          </a:custGeom>
          <a:noFill xmlns:a="http://schemas.openxmlformats.org/drawingml/2006/main"/>
          <a:ln xmlns:a="http://schemas.openxmlformats.org/drawingml/2006/main" w="8192">
            <a:solidFill>
              <a:srgbClr val="07368C"/>
            </a:solidFill>
            <a:prstDash val="solid"/>
          </a:ln>
        </p:spPr>
      </p:sp>
      <p:sp>
        <p:nvSpPr>
          <p:cNvPr id="220" name="s2-car-body-202">
            <a:extLst xmlns:a="http://schemas.openxmlformats.org/drawingml/2006/main">
              <a:ext uri="{FF2B5EF4-FFF2-40B4-BE49-F238E27FC236}">
                <a16:creationId xmlns:a16="http://schemas.microsoft.com/office/drawing/2014/main" id="{9BFA1934-6DA5-47FF-8073-A3B396C3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509" y="3969639"/>
            <a:ext cx="200692" cy="69628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287">
            <a:solidFill>
              <a:srgbClr val="07368C"/>
            </a:solidFill>
            <a:prstDash val="solid"/>
          </a:ln>
        </p:spPr>
      </p:sp>
      <p:sp>
        <p:nvSpPr>
          <p:cNvPr id="221" name="s2-car-roof-203-route">
            <a:extLst xmlns:a="http://schemas.openxmlformats.org/drawingml/2006/main">
              <a:ext uri="{FF2B5EF4-FFF2-40B4-BE49-F238E27FC236}">
                <a16:creationId xmlns:a16="http://schemas.microsoft.com/office/drawing/2014/main" id="{0E5C0DEB-022F-4B1F-A8E8-DED640B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083" y="3924586"/>
            <a:ext cx="151543" cy="45053"/>
          </a:xfrm>
          <a:custGeom xmlns:a="http://schemas.openxmlformats.org/drawingml/2006/main">
            <a:pathLst>
              <a:path w="151543" h="45053">
                <a:moveTo>
                  <a:pt x="0" y="40958"/>
                </a:moveTo>
                <a:lnTo>
                  <a:pt x="28670" y="0"/>
                </a:lnTo>
                <a:lnTo>
                  <a:pt x="110585" y="0"/>
                </a:lnTo>
                <a:lnTo>
                  <a:pt x="151543" y="45053"/>
                </a:lnTo>
              </a:path>
            </a:pathLst>
          </a:custGeom>
          <a:noFill xmlns:a="http://schemas.openxmlformats.org/drawingml/2006/main"/>
          <a:ln xmlns:a="http://schemas.openxmlformats.org/drawingml/2006/main" w="10239">
            <a:solidFill>
              <a:srgbClr val="07368C"/>
            </a:solidFill>
            <a:prstDash val="solid"/>
          </a:ln>
        </p:spPr>
      </p:sp>
      <p:sp>
        <p:nvSpPr>
          <p:cNvPr id="222" name="s2-car-roof-203-head">
            <a:extLst xmlns:a="http://schemas.openxmlformats.org/drawingml/2006/main">
              <a:ext uri="{FF2B5EF4-FFF2-40B4-BE49-F238E27FC236}">
                <a16:creationId xmlns:a16="http://schemas.microsoft.com/office/drawing/2014/main" id="{D9FA3C23-7E42-4A30-A1CB-802CA84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626" y="3969639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68C"/>
          </a:solidFill>
          <a:ln xmlns:a="http://schemas.openxmlformats.org/drawingml/2006/main" w="0">
            <a:solidFill>
              <a:srgbClr val="07368C"/>
            </a:solidFill>
            <a:prstDash val="solid"/>
          </a:ln>
        </p:spPr>
      </p:sp>
      <p:sp>
        <p:nvSpPr>
          <p:cNvPr id="223" name="s2-car-window-204">
            <a:extLst xmlns:a="http://schemas.openxmlformats.org/drawingml/2006/main">
              <a:ext uri="{FF2B5EF4-FFF2-40B4-BE49-F238E27FC236}">
                <a16:creationId xmlns:a16="http://schemas.microsoft.com/office/drawing/2014/main" id="{CFE8298C-A2FB-4B23-8B32-8215EF17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424" y="3928682"/>
            <a:ext cx="4096" cy="36862"/>
          </a:xfrm>
          <a:custGeom xmlns:a="http://schemas.openxmlformats.org/drawingml/2006/main">
            <a:pathLst>
              <a:path w="4096" h="36862">
                <a:moveTo>
                  <a:pt x="4096" y="0"/>
                </a:moveTo>
                <a:lnTo>
                  <a:pt x="0" y="36862"/>
                </a:lnTo>
              </a:path>
            </a:pathLst>
          </a:custGeom>
          <a:noFill xmlns:a="http://schemas.openxmlformats.org/drawingml/2006/main"/>
          <a:ln xmlns:a="http://schemas.openxmlformats.org/drawingml/2006/main" w="8192">
            <a:solidFill>
              <a:srgbClr val="07368C"/>
            </a:solidFill>
            <a:prstDash val="solid"/>
          </a:ln>
        </p:spPr>
      </p:sp>
      <p:sp>
        <p:nvSpPr>
          <p:cNvPr id="224" name="s2-car-wheel-205">
            <a:extLst xmlns:a="http://schemas.openxmlformats.org/drawingml/2006/main">
              <a:ext uri="{FF2B5EF4-FFF2-40B4-BE49-F238E27FC236}">
                <a16:creationId xmlns:a16="http://schemas.microsoft.com/office/drawing/2014/main" id="{2CD8095F-7B5B-4E23-82A5-D0CDF02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4018788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830">
            <a:solidFill>
              <a:srgbClr val="07368C"/>
            </a:solidFill>
            <a:prstDash val="solid"/>
          </a:ln>
        </p:spPr>
      </p:sp>
      <p:sp>
        <p:nvSpPr>
          <p:cNvPr id="225" name="s2-car-wheel-206">
            <a:extLst xmlns:a="http://schemas.openxmlformats.org/drawingml/2006/main">
              <a:ext uri="{FF2B5EF4-FFF2-40B4-BE49-F238E27FC236}">
                <a16:creationId xmlns:a16="http://schemas.microsoft.com/office/drawing/2014/main" id="{5E23481D-68CE-4BEF-824D-49581C29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860" y="4018788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830">
            <a:solidFill>
              <a:srgbClr val="07368C"/>
            </a:solidFill>
            <a:prstDash val="solid"/>
          </a:ln>
        </p:spPr>
      </p:sp>
      <p:sp>
        <p:nvSpPr>
          <p:cNvPr id="226" name="s2-reduction-frame-207">
            <a:extLst xmlns:a="http://schemas.openxmlformats.org/drawingml/2006/main">
              <a:ext uri="{FF2B5EF4-FFF2-40B4-BE49-F238E27FC236}">
                <a16:creationId xmlns:a16="http://schemas.microsoft.com/office/drawing/2014/main" id="{C4B12831-4DCB-4FA3-B597-F411E659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57800"/>
            <a:ext cx="4962525" cy="2847975"/>
          </a:xfrm>
          <a:prstGeom xmlns:a="http://schemas.openxmlformats.org/drawingml/2006/main" prst="roundRect">
            <a:avLst>
              <a:gd name="adj" fmla="val 20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227" name="s2-reduction-heading-208">
            <a:extLst xmlns:a="http://schemas.openxmlformats.org/drawingml/2006/main">
              <a:ext uri="{FF2B5EF4-FFF2-40B4-BE49-F238E27FC236}">
                <a16:creationId xmlns:a16="http://schemas.microsoft.com/office/drawing/2014/main" id="{375B58E4-9075-430F-AC35-C96C21B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57800"/>
            <a:ext cx="4962525" cy="371475"/>
          </a:xfrm>
          <a:prstGeom xmlns:a="http://schemas.openxmlformats.org/drawingml/2006/main" prst="roundRect">
            <a:avLst>
              <a:gd name="adj" fmla="val 15385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7F3FD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228" name="s2-reduction-headingt-209">
            <a:extLst xmlns:a="http://schemas.openxmlformats.org/drawingml/2006/main">
              <a:ext uri="{FF2B5EF4-FFF2-40B4-BE49-F238E27FC236}">
                <a16:creationId xmlns:a16="http://schemas.microsoft.com/office/drawing/2014/main" id="{1AFBF8BF-893C-4850-83D1-ECAD2C6B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57800"/>
            <a:ext cx="4962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不同智能投资组合的网络投资降低效果</a:t>
            </a:r>
          </a:p>
        </p:txBody>
      </p:sp>
      <p:sp>
        <p:nvSpPr>
          <p:cNvPr id="229" name="s2-reduction-legend-210">
            <a:extLst xmlns:a="http://schemas.openxmlformats.org/drawingml/2006/main">
              <a:ext uri="{FF2B5EF4-FFF2-40B4-BE49-F238E27FC236}">
                <a16:creationId xmlns:a16="http://schemas.microsoft.com/office/drawing/2014/main" id="{D646D027-182D-4818-A827-6F8496DD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53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s2-reduction-legend-t-211">
            <a:extLst xmlns:a="http://schemas.openxmlformats.org/drawingml/2006/main">
              <a:ext uri="{FF2B5EF4-FFF2-40B4-BE49-F238E27FC236}">
                <a16:creationId xmlns:a16="http://schemas.microsoft.com/office/drawing/2014/main" id="{16489627-AB13-44F5-8C2B-441DD137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054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输电投资</a:t>
            </a:r>
          </a:p>
        </p:txBody>
      </p:sp>
      <p:sp>
        <p:nvSpPr>
          <p:cNvPr id="231" name="s2-reduction-legend-212">
            <a:extLst xmlns:a="http://schemas.openxmlformats.org/drawingml/2006/main">
              <a:ext uri="{FF2B5EF4-FFF2-40B4-BE49-F238E27FC236}">
                <a16:creationId xmlns:a16="http://schemas.microsoft.com/office/drawing/2014/main" id="{B1A5CE29-0B5C-4B5F-A1D6-7442DF5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753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s2-reduction-legend-t-213">
            <a:extLst xmlns:a="http://schemas.openxmlformats.org/drawingml/2006/main">
              <a:ext uri="{FF2B5EF4-FFF2-40B4-BE49-F238E27FC236}">
                <a16:creationId xmlns:a16="http://schemas.microsoft.com/office/drawing/2014/main" id="{29CAF0C3-C56C-4845-B1DF-5F67150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7054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配电投资</a:t>
            </a:r>
          </a:p>
        </p:txBody>
      </p:sp>
      <p:sp>
        <p:nvSpPr>
          <p:cNvPr id="233" name="s2-reduction-legend-214">
            <a:extLst xmlns:a="http://schemas.openxmlformats.org/drawingml/2006/main">
              <a:ext uri="{FF2B5EF4-FFF2-40B4-BE49-F238E27FC236}">
                <a16:creationId xmlns:a16="http://schemas.microsoft.com/office/drawing/2014/main" id="{A4C3B029-969E-4553-B06F-8B4F2B59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531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s2-reduction-legend-t-215">
            <a:extLst xmlns:a="http://schemas.openxmlformats.org/drawingml/2006/main">
              <a:ext uri="{FF2B5EF4-FFF2-40B4-BE49-F238E27FC236}">
                <a16:creationId xmlns:a16="http://schemas.microsoft.com/office/drawing/2014/main" id="{1F2AF3ED-FD90-438B-A351-FEADE629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7054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变电站投资</a:t>
            </a:r>
          </a:p>
        </p:txBody>
      </p:sp>
      <p:sp>
        <p:nvSpPr>
          <p:cNvPr id="235" name="s2-reduction-total-legend-216">
            <a:extLst xmlns:a="http://schemas.openxmlformats.org/drawingml/2006/main">
              <a:ext uri="{FF2B5EF4-FFF2-40B4-BE49-F238E27FC236}">
                <a16:creationId xmlns:a16="http://schemas.microsoft.com/office/drawing/2014/main" id="{B490AA23-4F9E-44BE-82CC-DD9241A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74357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s2-reduction-total-legend-t-217">
            <a:extLst xmlns:a="http://schemas.openxmlformats.org/drawingml/2006/main">
              <a:ext uri="{FF2B5EF4-FFF2-40B4-BE49-F238E27FC236}">
                <a16:creationId xmlns:a16="http://schemas.microsoft.com/office/drawing/2014/main" id="{7D26CD1C-7D45-448C-A0D4-ADF3D9D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7054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总投资降幅</a:t>
            </a:r>
          </a:p>
        </p:txBody>
      </p:sp>
      <p:sp>
        <p:nvSpPr>
          <p:cNvPr id="237" name="s2-reduction-grid-218">
            <a:extLst xmlns:a="http://schemas.openxmlformats.org/drawingml/2006/main">
              <a:ext uri="{FF2B5EF4-FFF2-40B4-BE49-F238E27FC236}">
                <a16:creationId xmlns:a16="http://schemas.microsoft.com/office/drawing/2014/main" id="{917BE20A-DE44-4A80-9488-88FB99B8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7800975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DE3E8"/>
            </a:solidFill>
            <a:prstDash val="solid"/>
          </a:ln>
        </p:spPr>
      </p:sp>
      <p:sp>
        <p:nvSpPr>
          <p:cNvPr id="238" name="s2-reduction-tick-219">
            <a:extLst xmlns:a="http://schemas.openxmlformats.org/drawingml/2006/main">
              <a:ext uri="{FF2B5EF4-FFF2-40B4-BE49-F238E27FC236}">
                <a16:creationId xmlns:a16="http://schemas.microsoft.com/office/drawing/2014/main" id="{0005564A-EF8A-4475-964A-ADBFDFF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7057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9" name="s2-reduction-grid-220">
            <a:extLst xmlns:a="http://schemas.openxmlformats.org/drawingml/2006/main">
              <a:ext uri="{FF2B5EF4-FFF2-40B4-BE49-F238E27FC236}">
                <a16:creationId xmlns:a16="http://schemas.microsoft.com/office/drawing/2014/main" id="{3407D53E-9291-4AEB-9257-9C657A2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7519988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DE3E8"/>
            </a:solidFill>
            <a:prstDash val="solid"/>
          </a:ln>
        </p:spPr>
      </p:sp>
      <p:sp>
        <p:nvSpPr>
          <p:cNvPr id="240" name="s2-reduction-tick-221">
            <a:extLst xmlns:a="http://schemas.openxmlformats.org/drawingml/2006/main">
              <a:ext uri="{FF2B5EF4-FFF2-40B4-BE49-F238E27FC236}">
                <a16:creationId xmlns:a16="http://schemas.microsoft.com/office/drawing/2014/main" id="{BCC800FF-5BF4-4259-B0D4-8E8EEFD0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424738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41" name="s2-reduction-grid-222">
            <a:extLst xmlns:a="http://schemas.openxmlformats.org/drawingml/2006/main">
              <a:ext uri="{FF2B5EF4-FFF2-40B4-BE49-F238E27FC236}">
                <a16:creationId xmlns:a16="http://schemas.microsoft.com/office/drawing/2014/main" id="{2DDA41CD-B601-4140-B80D-99A454B9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7239000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DE3E8"/>
            </a:solidFill>
            <a:prstDash val="solid"/>
          </a:ln>
        </p:spPr>
      </p:sp>
      <p:sp>
        <p:nvSpPr>
          <p:cNvPr id="242" name="s2-reduction-tick-223">
            <a:extLst xmlns:a="http://schemas.openxmlformats.org/drawingml/2006/main">
              <a:ext uri="{FF2B5EF4-FFF2-40B4-BE49-F238E27FC236}">
                <a16:creationId xmlns:a16="http://schemas.microsoft.com/office/drawing/2014/main" id="{8CC0DDAA-1ADA-4D59-AA5A-57B38F37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143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43" name="s2-reduction-grid-224">
            <a:extLst xmlns:a="http://schemas.openxmlformats.org/drawingml/2006/main">
              <a:ext uri="{FF2B5EF4-FFF2-40B4-BE49-F238E27FC236}">
                <a16:creationId xmlns:a16="http://schemas.microsoft.com/office/drawing/2014/main" id="{AC00A746-262A-4AD1-B644-65EED909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958013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DE3E8"/>
            </a:solidFill>
            <a:prstDash val="solid"/>
          </a:ln>
        </p:spPr>
      </p:sp>
      <p:sp>
        <p:nvSpPr>
          <p:cNvPr id="244" name="s2-reduction-tick-225">
            <a:extLst xmlns:a="http://schemas.openxmlformats.org/drawingml/2006/main">
              <a:ext uri="{FF2B5EF4-FFF2-40B4-BE49-F238E27FC236}">
                <a16:creationId xmlns:a16="http://schemas.microsoft.com/office/drawing/2014/main" id="{3FDDF437-0497-40DF-89B5-E9ED549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862763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45" name="s2-reduction-grid-226">
            <a:extLst xmlns:a="http://schemas.openxmlformats.org/drawingml/2006/main">
              <a:ext uri="{FF2B5EF4-FFF2-40B4-BE49-F238E27FC236}">
                <a16:creationId xmlns:a16="http://schemas.microsoft.com/office/drawing/2014/main" id="{B13A4B14-F160-44E6-A467-353E4649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677025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DE3E8"/>
            </a:solidFill>
            <a:prstDash val="solid"/>
          </a:ln>
        </p:spPr>
      </p:sp>
      <p:sp>
        <p:nvSpPr>
          <p:cNvPr id="246" name="s2-reduction-tick-227">
            <a:extLst xmlns:a="http://schemas.openxmlformats.org/drawingml/2006/main">
              <a:ext uri="{FF2B5EF4-FFF2-40B4-BE49-F238E27FC236}">
                <a16:creationId xmlns:a16="http://schemas.microsoft.com/office/drawing/2014/main" id="{3CE7DFE8-C796-4ED9-B71D-9501D7DB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581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247" name="s2-reduction-grid-228">
            <a:extLst xmlns:a="http://schemas.openxmlformats.org/drawingml/2006/main">
              <a:ext uri="{FF2B5EF4-FFF2-40B4-BE49-F238E27FC236}">
                <a16:creationId xmlns:a16="http://schemas.microsoft.com/office/drawing/2014/main" id="{3D72F3E6-0065-40D8-9116-94F5D68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396038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DE3E8"/>
            </a:solidFill>
            <a:prstDash val="solid"/>
          </a:ln>
        </p:spPr>
      </p:sp>
      <p:sp>
        <p:nvSpPr>
          <p:cNvPr id="248" name="s2-reduction-tick-229">
            <a:extLst xmlns:a="http://schemas.openxmlformats.org/drawingml/2006/main">
              <a:ext uri="{FF2B5EF4-FFF2-40B4-BE49-F238E27FC236}">
                <a16:creationId xmlns:a16="http://schemas.microsoft.com/office/drawing/2014/main" id="{0A75117A-D8A4-4B50-87E1-E06EC17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300788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49" name="s2-reduction-grid-230">
            <a:extLst xmlns:a="http://schemas.openxmlformats.org/drawingml/2006/main">
              <a:ext uri="{FF2B5EF4-FFF2-40B4-BE49-F238E27FC236}">
                <a16:creationId xmlns:a16="http://schemas.microsoft.com/office/drawing/2014/main" id="{F841BA0C-0E03-45DF-9784-B8D159C9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115050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DE3E8"/>
            </a:solidFill>
            <a:prstDash val="solid"/>
          </a:ln>
        </p:spPr>
      </p:sp>
      <p:sp>
        <p:nvSpPr>
          <p:cNvPr id="250" name="s2-reduction-tick-231">
            <a:extLst xmlns:a="http://schemas.openxmlformats.org/drawingml/2006/main">
              <a:ext uri="{FF2B5EF4-FFF2-40B4-BE49-F238E27FC236}">
                <a16:creationId xmlns:a16="http://schemas.microsoft.com/office/drawing/2014/main" id="{16280F68-00EE-4B77-BD2E-5F46F022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019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251" name="s2-reduction-y-232">
            <a:extLst xmlns:a="http://schemas.openxmlformats.org/drawingml/2006/main">
              <a:ext uri="{FF2B5EF4-FFF2-40B4-BE49-F238E27FC236}">
                <a16:creationId xmlns:a16="http://schemas.microsoft.com/office/drawing/2014/main" id="{DC9A79A9-7CE8-46B5-8B7C-5FD40041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115050"/>
            <a:ext cx="95" cy="1685925"/>
          </a:xfrm>
          <a:custGeom xmlns:a="http://schemas.openxmlformats.org/drawingml/2006/main">
            <a:pathLst>
              <a:path w="95" h="1685925">
                <a:moveTo>
                  <a:pt x="0" y="0"/>
                </a:moveTo>
                <a:lnTo>
                  <a:pt x="0" y="16859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88C"/>
            </a:solidFill>
            <a:prstDash val="solid"/>
          </a:ln>
        </p:spPr>
      </p:sp>
      <p:sp>
        <p:nvSpPr>
          <p:cNvPr id="252" name="s2-reduction-x-233">
            <a:extLst xmlns:a="http://schemas.openxmlformats.org/drawingml/2006/main">
              <a:ext uri="{FF2B5EF4-FFF2-40B4-BE49-F238E27FC236}">
                <a16:creationId xmlns:a16="http://schemas.microsoft.com/office/drawing/2014/main" id="{0912998E-8EC6-4A99-9398-BDAC9C11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7800975"/>
            <a:ext cx="4267200" cy="95"/>
          </a:xfrm>
          <a:custGeom xmlns:a="http://schemas.openxmlformats.org/drawingml/2006/main">
            <a:pathLst>
              <a:path w="4267200" h="9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88C"/>
            </a:solidFill>
            <a:prstDash val="solid"/>
          </a:ln>
        </p:spPr>
      </p:sp>
      <p:sp>
        <p:nvSpPr>
          <p:cNvPr id="253" name="s2-reduction-axis-name-234">
            <a:extLst xmlns:a="http://schemas.openxmlformats.org/drawingml/2006/main">
              <a:ext uri="{FF2B5EF4-FFF2-40B4-BE49-F238E27FC236}">
                <a16:creationId xmlns:a16="http://schemas.microsoft.com/office/drawing/2014/main" id="{6AD790AD-C0CA-4734-A3D9-3189BB35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524500" y="6200775"/>
            <a:ext cx="266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投资降低比例（%）</a:t>
            </a:r>
          </a:p>
        </p:txBody>
      </p:sp>
      <p:sp>
        <p:nvSpPr>
          <p:cNvPr id="254" name="s2-reduction-val-235">
            <a:extLst xmlns:a="http://schemas.openxmlformats.org/drawingml/2006/main">
              <a:ext uri="{FF2B5EF4-FFF2-40B4-BE49-F238E27FC236}">
                <a16:creationId xmlns:a16="http://schemas.microsoft.com/office/drawing/2014/main" id="{96075267-6AD5-48FA-8955-9E0B8C1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75533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5" name="s2-reduction-val-236">
            <a:extLst xmlns:a="http://schemas.openxmlformats.org/drawingml/2006/main">
              <a:ext uri="{FF2B5EF4-FFF2-40B4-BE49-F238E27FC236}">
                <a16:creationId xmlns:a16="http://schemas.microsoft.com/office/drawing/2014/main" id="{7AEA9100-717E-4371-A6D3-C57F5BB7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5533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6" name="s2-reduction-val-237">
            <a:extLst xmlns:a="http://schemas.openxmlformats.org/drawingml/2006/main">
              <a:ext uri="{FF2B5EF4-FFF2-40B4-BE49-F238E27FC236}">
                <a16:creationId xmlns:a16="http://schemas.microsoft.com/office/drawing/2014/main" id="{93DDA1A8-D0DF-4F15-9DC0-27FFB7B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75533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57" name="s2-reduction-diamond-238">
            <a:extLst xmlns:a="http://schemas.openxmlformats.org/drawingml/2006/main">
              <a:ext uri="{FF2B5EF4-FFF2-40B4-BE49-F238E27FC236}">
                <a16:creationId xmlns:a16="http://schemas.microsoft.com/office/drawing/2014/main" id="{64941ECD-923F-4E45-B685-D0B5D27B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620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58" name="s2-reduction-total-239">
            <a:extLst xmlns:a="http://schemas.openxmlformats.org/drawingml/2006/main">
              <a:ext uri="{FF2B5EF4-FFF2-40B4-BE49-F238E27FC236}">
                <a16:creationId xmlns:a16="http://schemas.microsoft.com/office/drawing/2014/main" id="{DD7F0E1E-1224-48DF-848A-577A15DC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37235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259" name="s2-reduction-cat-240">
            <a:extLst xmlns:a="http://schemas.openxmlformats.org/drawingml/2006/main">
              <a:ext uri="{FF2B5EF4-FFF2-40B4-BE49-F238E27FC236}">
                <a16:creationId xmlns:a16="http://schemas.microsoft.com/office/drawing/2014/main" id="{B1759F81-EDFF-4758-B09D-252BB41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7829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基准方案</a:t>
            </a:r>
          </a:p>
        </p:txBody>
      </p:sp>
      <p:sp>
        <p:nvSpPr>
          <p:cNvPr id="260" name="s2-reduction-bar-241">
            <a:extLst xmlns:a="http://schemas.openxmlformats.org/drawingml/2006/main">
              <a:ext uri="{FF2B5EF4-FFF2-40B4-BE49-F238E27FC236}">
                <a16:creationId xmlns:a16="http://schemas.microsoft.com/office/drawing/2014/main" id="{EFEA6DD9-32C1-4045-BD30-132D72F9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7379494"/>
            <a:ext cx="1905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s2-reduction-val-242">
            <a:extLst xmlns:a="http://schemas.openxmlformats.org/drawingml/2006/main">
              <a:ext uri="{FF2B5EF4-FFF2-40B4-BE49-F238E27FC236}">
                <a16:creationId xmlns:a16="http://schemas.microsoft.com/office/drawing/2014/main" id="{C6D9AB96-8D8D-40DE-9FEF-61A3A22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7131844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62" name="s2-reduction-bar-243">
            <a:extLst xmlns:a="http://schemas.openxmlformats.org/drawingml/2006/main">
              <a:ext uri="{FF2B5EF4-FFF2-40B4-BE49-F238E27FC236}">
                <a16:creationId xmlns:a16="http://schemas.microsoft.com/office/drawing/2014/main" id="{813010BF-57CD-48F0-A9B2-C52F86D5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7576185"/>
            <a:ext cx="190500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s2-reduction-val-244">
            <a:extLst xmlns:a="http://schemas.openxmlformats.org/drawingml/2006/main">
              <a:ext uri="{FF2B5EF4-FFF2-40B4-BE49-F238E27FC236}">
                <a16:creationId xmlns:a16="http://schemas.microsoft.com/office/drawing/2014/main" id="{6CBC00D9-A786-441E-B79A-20E7EB4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32853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64" name="s2-reduction-bar-245">
            <a:extLst xmlns:a="http://schemas.openxmlformats.org/drawingml/2006/main">
              <a:ext uri="{FF2B5EF4-FFF2-40B4-BE49-F238E27FC236}">
                <a16:creationId xmlns:a16="http://schemas.microsoft.com/office/drawing/2014/main" id="{3AACFE02-12CD-4AD0-8DE7-B002E95B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7519988"/>
            <a:ext cx="190500" cy="280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s2-reduction-val-246">
            <a:extLst xmlns:a="http://schemas.openxmlformats.org/drawingml/2006/main">
              <a:ext uri="{FF2B5EF4-FFF2-40B4-BE49-F238E27FC236}">
                <a16:creationId xmlns:a16="http://schemas.microsoft.com/office/drawing/2014/main" id="{0BB0FAC5-11AF-4B1C-B978-67E0AA05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72338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66" name="s2-reduction-diamond-247">
            <a:extLst xmlns:a="http://schemas.openxmlformats.org/drawingml/2006/main">
              <a:ext uri="{FF2B5EF4-FFF2-40B4-BE49-F238E27FC236}">
                <a16:creationId xmlns:a16="http://schemas.microsoft.com/office/drawing/2014/main" id="{0F6AA0CC-0764-436F-BEA2-C86EADA7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190423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67" name="s2-reduction-total-248">
            <a:extLst xmlns:a="http://schemas.openxmlformats.org/drawingml/2006/main">
              <a:ext uri="{FF2B5EF4-FFF2-40B4-BE49-F238E27FC236}">
                <a16:creationId xmlns:a16="http://schemas.microsoft.com/office/drawing/2014/main" id="{2F6B3D3E-461B-463F-BCDA-BA491CDC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942773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18%</a:t>
            </a:r>
          </a:p>
        </p:txBody>
      </p:sp>
      <p:sp>
        <p:nvSpPr>
          <p:cNvPr id="268" name="s2-reduction-cat-249">
            <a:extLst xmlns:a="http://schemas.openxmlformats.org/drawingml/2006/main">
              <a:ext uri="{FF2B5EF4-FFF2-40B4-BE49-F238E27FC236}">
                <a16:creationId xmlns:a16="http://schemas.microsoft.com/office/drawing/2014/main" id="{348AFA8E-38F1-4F1E-8492-7E69E7D6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29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PST</a:t>
            </a:r>
          </a:p>
        </p:txBody>
      </p:sp>
      <p:sp>
        <p:nvSpPr>
          <p:cNvPr id="269" name="s2-reduction-bar-250">
            <a:extLst xmlns:a="http://schemas.openxmlformats.org/drawingml/2006/main">
              <a:ext uri="{FF2B5EF4-FFF2-40B4-BE49-F238E27FC236}">
                <a16:creationId xmlns:a16="http://schemas.microsoft.com/office/drawing/2014/main" id="{68601C65-453F-42C5-9F12-AB5C507B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463790"/>
            <a:ext cx="190500" cy="337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s2-reduction-val-251">
            <a:extLst xmlns:a="http://schemas.openxmlformats.org/drawingml/2006/main">
              <a:ext uri="{FF2B5EF4-FFF2-40B4-BE49-F238E27FC236}">
                <a16:creationId xmlns:a16="http://schemas.microsoft.com/office/drawing/2014/main" id="{A3465C0D-FB16-4289-B4C0-3012E06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21614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71" name="s2-reduction-bar-252">
            <a:extLst xmlns:a="http://schemas.openxmlformats.org/drawingml/2006/main">
              <a:ext uri="{FF2B5EF4-FFF2-40B4-BE49-F238E27FC236}">
                <a16:creationId xmlns:a16="http://schemas.microsoft.com/office/drawing/2014/main" id="{316EFA6B-0BD8-41B5-B54D-8832FAF9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7239000"/>
            <a:ext cx="190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s2-reduction-val-253">
            <a:extLst xmlns:a="http://schemas.openxmlformats.org/drawingml/2006/main">
              <a:ext uri="{FF2B5EF4-FFF2-40B4-BE49-F238E27FC236}">
                <a16:creationId xmlns:a16="http://schemas.microsoft.com/office/drawing/2014/main" id="{2D5791AC-C15D-4BF9-B966-E49A21C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913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73" name="s2-reduction-bar-254">
            <a:extLst xmlns:a="http://schemas.openxmlformats.org/drawingml/2006/main">
              <a:ext uri="{FF2B5EF4-FFF2-40B4-BE49-F238E27FC236}">
                <a16:creationId xmlns:a16="http://schemas.microsoft.com/office/drawing/2014/main" id="{E3229D82-8985-451E-A699-84B9BC2C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7379494"/>
            <a:ext cx="1905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s2-reduction-val-255">
            <a:extLst xmlns:a="http://schemas.openxmlformats.org/drawingml/2006/main">
              <a:ext uri="{FF2B5EF4-FFF2-40B4-BE49-F238E27FC236}">
                <a16:creationId xmlns:a16="http://schemas.microsoft.com/office/drawing/2014/main" id="{53475939-BFDA-4712-A683-92D18FB8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131844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75" name="s2-reduction-diamond-256">
            <a:extLst xmlns:a="http://schemas.openxmlformats.org/drawingml/2006/main">
              <a:ext uri="{FF2B5EF4-FFF2-40B4-BE49-F238E27FC236}">
                <a16:creationId xmlns:a16="http://schemas.microsoft.com/office/drawing/2014/main" id="{5F9F9E34-E908-4EF0-958C-8D604786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90943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76" name="s2-reduction-total-257">
            <a:extLst xmlns:a="http://schemas.openxmlformats.org/drawingml/2006/main">
              <a:ext uri="{FF2B5EF4-FFF2-40B4-BE49-F238E27FC236}">
                <a16:creationId xmlns:a16="http://schemas.microsoft.com/office/drawing/2014/main" id="{DD8342F4-83EB-4756-AF0C-37C6238F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66178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277" name="s2-reduction-cat-258">
            <a:extLst xmlns:a="http://schemas.openxmlformats.org/drawingml/2006/main">
              <a:ext uri="{FF2B5EF4-FFF2-40B4-BE49-F238E27FC236}">
                <a16:creationId xmlns:a16="http://schemas.microsoft.com/office/drawing/2014/main" id="{0B18B7B7-CD00-4D68-9452-FA8237D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829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ES</a:t>
            </a:r>
          </a:p>
        </p:txBody>
      </p:sp>
      <p:sp>
        <p:nvSpPr>
          <p:cNvPr id="278" name="s2-reduction-bar-259">
            <a:extLst xmlns:a="http://schemas.openxmlformats.org/drawingml/2006/main">
              <a:ext uri="{FF2B5EF4-FFF2-40B4-BE49-F238E27FC236}">
                <a16:creationId xmlns:a16="http://schemas.microsoft.com/office/drawing/2014/main" id="{14595DF3-C225-4AB6-9B01-F402B032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7519988"/>
            <a:ext cx="190500" cy="280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s2-reduction-val-260">
            <a:extLst xmlns:a="http://schemas.openxmlformats.org/drawingml/2006/main">
              <a:ext uri="{FF2B5EF4-FFF2-40B4-BE49-F238E27FC236}">
                <a16:creationId xmlns:a16="http://schemas.microsoft.com/office/drawing/2014/main" id="{091CA4BC-F1FF-4F3E-BA43-05462259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272338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80" name="s2-reduction-bar-261">
            <a:extLst xmlns:a="http://schemas.openxmlformats.org/drawingml/2006/main">
              <a:ext uri="{FF2B5EF4-FFF2-40B4-BE49-F238E27FC236}">
                <a16:creationId xmlns:a16="http://schemas.microsoft.com/office/drawing/2014/main" id="{F3CE2ED4-CEB4-4778-8566-277B00B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7295198"/>
            <a:ext cx="190500" cy="5057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s2-reduction-val-262">
            <a:extLst xmlns:a="http://schemas.openxmlformats.org/drawingml/2006/main">
              <a:ext uri="{FF2B5EF4-FFF2-40B4-BE49-F238E27FC236}">
                <a16:creationId xmlns:a16="http://schemas.microsoft.com/office/drawing/2014/main" id="{89133CA6-4863-4CD7-AAE9-129C7B9A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047548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82" name="s2-reduction-bar-263">
            <a:extLst xmlns:a="http://schemas.openxmlformats.org/drawingml/2006/main">
              <a:ext uri="{FF2B5EF4-FFF2-40B4-BE49-F238E27FC236}">
                <a16:creationId xmlns:a16="http://schemas.microsoft.com/office/drawing/2014/main" id="{41769AF4-F173-4438-B96E-0DB05A3B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7463790"/>
            <a:ext cx="190500" cy="337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s2-reduction-val-264">
            <a:extLst xmlns:a="http://schemas.openxmlformats.org/drawingml/2006/main">
              <a:ext uri="{FF2B5EF4-FFF2-40B4-BE49-F238E27FC236}">
                <a16:creationId xmlns:a16="http://schemas.microsoft.com/office/drawing/2014/main" id="{68D1CF99-6E81-4497-9D81-41A6F00C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21614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84" name="s2-reduction-diamond-265">
            <a:extLst xmlns:a="http://schemas.openxmlformats.org/drawingml/2006/main">
              <a:ext uri="{FF2B5EF4-FFF2-40B4-BE49-F238E27FC236}">
                <a16:creationId xmlns:a16="http://schemas.microsoft.com/office/drawing/2014/main" id="{672C1625-3541-4B1F-81ED-6D484FC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965633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85" name="s2-reduction-total-266">
            <a:extLst xmlns:a="http://schemas.openxmlformats.org/drawingml/2006/main">
              <a:ext uri="{FF2B5EF4-FFF2-40B4-BE49-F238E27FC236}">
                <a16:creationId xmlns:a16="http://schemas.microsoft.com/office/drawing/2014/main" id="{E4A03C07-6030-4D1B-92CE-0C37D650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717983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26%</a:t>
            </a:r>
          </a:p>
        </p:txBody>
      </p:sp>
      <p:sp>
        <p:nvSpPr>
          <p:cNvPr id="286" name="s2-reduction-cat-267">
            <a:extLst xmlns:a="http://schemas.openxmlformats.org/drawingml/2006/main">
              <a:ext uri="{FF2B5EF4-FFF2-40B4-BE49-F238E27FC236}">
                <a16:creationId xmlns:a16="http://schemas.microsoft.com/office/drawing/2014/main" id="{2619844F-5A98-4E0D-BFE4-937BCBC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829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SC</a:t>
            </a:r>
          </a:p>
        </p:txBody>
      </p:sp>
      <p:sp>
        <p:nvSpPr>
          <p:cNvPr id="287" name="s2-reduction-bar-268">
            <a:extLst xmlns:a="http://schemas.openxmlformats.org/drawingml/2006/main">
              <a:ext uri="{FF2B5EF4-FFF2-40B4-BE49-F238E27FC236}">
                <a16:creationId xmlns:a16="http://schemas.microsoft.com/office/drawing/2014/main" id="{B2F67291-A517-410E-A182-59C04218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14210"/>
            <a:ext cx="190500" cy="786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s2-reduction-val-269">
            <a:extLst xmlns:a="http://schemas.openxmlformats.org/drawingml/2006/main">
              <a:ext uri="{FF2B5EF4-FFF2-40B4-BE49-F238E27FC236}">
                <a16:creationId xmlns:a16="http://schemas.microsoft.com/office/drawing/2014/main" id="{B00BF0A8-BB17-4AB3-9043-881DA41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76656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289" name="s2-reduction-bar-270">
            <a:extLst xmlns:a="http://schemas.openxmlformats.org/drawingml/2006/main">
              <a:ext uri="{FF2B5EF4-FFF2-40B4-BE49-F238E27FC236}">
                <a16:creationId xmlns:a16="http://schemas.microsoft.com/office/drawing/2014/main" id="{DDC98625-93AE-42F5-B1A7-91AC491C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817519"/>
            <a:ext cx="190500" cy="983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s2-reduction-val-271">
            <a:extLst xmlns:a="http://schemas.openxmlformats.org/drawingml/2006/main">
              <a:ext uri="{FF2B5EF4-FFF2-40B4-BE49-F238E27FC236}">
                <a16:creationId xmlns:a16="http://schemas.microsoft.com/office/drawing/2014/main" id="{4DE29D70-6F24-4E0A-B078-C5CE7E8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569869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291" name="s2-reduction-bar-272">
            <a:extLst xmlns:a="http://schemas.openxmlformats.org/drawingml/2006/main">
              <a:ext uri="{FF2B5EF4-FFF2-40B4-BE49-F238E27FC236}">
                <a16:creationId xmlns:a16="http://schemas.microsoft.com/office/drawing/2014/main" id="{59D47366-B496-4823-B86D-6BBD90E6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098506"/>
            <a:ext cx="190500" cy="702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7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s2-reduction-val-273">
            <a:extLst xmlns:a="http://schemas.openxmlformats.org/drawingml/2006/main">
              <a:ext uri="{FF2B5EF4-FFF2-40B4-BE49-F238E27FC236}">
                <a16:creationId xmlns:a16="http://schemas.microsoft.com/office/drawing/2014/main" id="{4B9D0D01-7CFC-4305-8CD6-1E91FE9B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850856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293" name="s2-reduction-diamond-274">
            <a:extLst xmlns:a="http://schemas.openxmlformats.org/drawingml/2006/main">
              <a:ext uri="{FF2B5EF4-FFF2-40B4-BE49-F238E27FC236}">
                <a16:creationId xmlns:a16="http://schemas.microsoft.com/office/drawing/2014/main" id="{22FA3BC0-B89B-482E-A195-F5EFC68C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150769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</p:sp>
      <p:sp>
        <p:nvSpPr>
          <p:cNvPr id="294" name="s2-reduction-total-275">
            <a:extLst xmlns:a="http://schemas.openxmlformats.org/drawingml/2006/main">
              <a:ext uri="{FF2B5EF4-FFF2-40B4-BE49-F238E27FC236}">
                <a16:creationId xmlns:a16="http://schemas.microsoft.com/office/drawing/2014/main" id="{BF6D9C97-8647-4902-893C-FABA68B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903119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55%</a:t>
            </a:r>
          </a:p>
        </p:txBody>
      </p:sp>
      <p:sp>
        <p:nvSpPr>
          <p:cNvPr id="295" name="s2-reduction-cat-276">
            <a:extLst xmlns:a="http://schemas.openxmlformats.org/drawingml/2006/main">
              <a:ext uri="{FF2B5EF4-FFF2-40B4-BE49-F238E27FC236}">
                <a16:creationId xmlns:a16="http://schemas.microsoft.com/office/drawing/2014/main" id="{2D349FE4-9F48-447E-B1B4-188D7FB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7829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All</a:t>
            </a:r>
          </a:p>
        </p:txBody>
      </p:sp>
      <p:sp>
        <p:nvSpPr>
          <p:cNvPr id="296" name="s2-scale-frame-277">
            <a:extLst xmlns:a="http://schemas.openxmlformats.org/drawingml/2006/main">
              <a:ext uri="{FF2B5EF4-FFF2-40B4-BE49-F238E27FC236}">
                <a16:creationId xmlns:a16="http://schemas.microsoft.com/office/drawing/2014/main" id="{D537F2D4-262D-4E6E-A5CF-87524B6A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05075"/>
            <a:ext cx="49720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297" name="s2-scale-heading-278">
            <a:extLst xmlns:a="http://schemas.openxmlformats.org/drawingml/2006/main">
              <a:ext uri="{FF2B5EF4-FFF2-40B4-BE49-F238E27FC236}">
                <a16:creationId xmlns:a16="http://schemas.microsoft.com/office/drawing/2014/main" id="{A429D129-1CEF-447D-BB40-AA96F52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05075"/>
            <a:ext cx="4972050" cy="295275"/>
          </a:xfrm>
          <a:prstGeom xmlns:a="http://schemas.openxmlformats.org/drawingml/2006/main" prst="roundRect">
            <a:avLst>
              <a:gd name="adj" fmla="val 19355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7F3FD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298" name="s2-scale-headingt-279">
            <a:extLst xmlns:a="http://schemas.openxmlformats.org/drawingml/2006/main">
              <a:ext uri="{FF2B5EF4-FFF2-40B4-BE49-F238E27FC236}">
                <a16:creationId xmlns:a16="http://schemas.microsoft.com/office/drawing/2014/main" id="{03A05A9E-7313-4CA5-A410-0FE4BD60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05075"/>
            <a:ext cx="497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算例规模对比</a:t>
            </a:r>
          </a:p>
        </p:txBody>
      </p:sp>
      <p:sp>
        <p:nvSpPr>
          <p:cNvPr id="299" name="s2-scale76-280">
            <a:extLst xmlns:a="http://schemas.openxmlformats.org/drawingml/2006/main">
              <a:ext uri="{FF2B5EF4-FFF2-40B4-BE49-F238E27FC236}">
                <a16:creationId xmlns:a16="http://schemas.microsoft.com/office/drawing/2014/main" id="{0543427C-3428-463B-9470-2A902B52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2343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4E8FA"/>
            </a:solidFill>
            <a:prstDash val="solid"/>
          </a:ln>
        </p:spPr>
      </p:sp>
      <p:sp>
        <p:nvSpPr>
          <p:cNvPr id="300" name="s2-scale229-281">
            <a:extLst xmlns:a="http://schemas.openxmlformats.org/drawingml/2006/main">
              <a:ext uri="{FF2B5EF4-FFF2-40B4-BE49-F238E27FC236}">
                <a16:creationId xmlns:a16="http://schemas.microsoft.com/office/drawing/2014/main" id="{958A29DD-B4E1-4335-8163-BCD625B6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2857500"/>
            <a:ext cx="2343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4E8FA"/>
            </a:solidFill>
            <a:prstDash val="solid"/>
          </a:ln>
        </p:spPr>
      </p:sp>
      <p:sp>
        <p:nvSpPr>
          <p:cNvPr id="301" name="s2-scale76-head-282">
            <a:extLst xmlns:a="http://schemas.openxmlformats.org/drawingml/2006/main">
              <a:ext uri="{FF2B5EF4-FFF2-40B4-BE49-F238E27FC236}">
                <a16:creationId xmlns:a16="http://schemas.microsoft.com/office/drawing/2014/main" id="{288747BD-7D0C-4097-A7FB-33FA2308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s2-scale229-head-283">
            <a:extLst xmlns:a="http://schemas.openxmlformats.org/drawingml/2006/main">
              <a:ext uri="{FF2B5EF4-FFF2-40B4-BE49-F238E27FC236}">
                <a16:creationId xmlns:a16="http://schemas.microsoft.com/office/drawing/2014/main" id="{2E4DD8F5-8AD8-427E-890F-7A6A7EC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28575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s2-scale76-title-284">
            <a:extLst xmlns:a="http://schemas.openxmlformats.org/drawingml/2006/main">
              <a:ext uri="{FF2B5EF4-FFF2-40B4-BE49-F238E27FC236}">
                <a16:creationId xmlns:a16="http://schemas.microsoft.com/office/drawing/2014/main" id="{2F204504-9B7E-4306-82C0-4A2F3B9B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67025"/>
            <a:ext cx="234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76节点算例</a:t>
            </a:r>
          </a:p>
        </p:txBody>
      </p:sp>
      <p:sp>
        <p:nvSpPr>
          <p:cNvPr id="304" name="s2-scale229-title-285">
            <a:extLst xmlns:a="http://schemas.openxmlformats.org/drawingml/2006/main">
              <a:ext uri="{FF2B5EF4-FFF2-40B4-BE49-F238E27FC236}">
                <a16:creationId xmlns:a16="http://schemas.microsoft.com/office/drawing/2014/main" id="{6A9ED7A1-0327-4244-85D0-2E8DDFFF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2867025"/>
            <a:ext cx="234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229节点算例</a:t>
            </a:r>
          </a:p>
        </p:txBody>
      </p:sp>
      <p:sp>
        <p:nvSpPr>
          <p:cNvPr id="305" name="s2-76-edge-286">
            <a:extLst xmlns:a="http://schemas.openxmlformats.org/drawingml/2006/main">
              <a:ext uri="{FF2B5EF4-FFF2-40B4-BE49-F238E27FC236}">
                <a16:creationId xmlns:a16="http://schemas.microsoft.com/office/drawing/2014/main" id="{6C2409B7-4467-4E44-8BD7-5457E544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752850"/>
            <a:ext cx="123825" cy="219075"/>
          </a:xfrm>
          <a:custGeom xmlns:a="http://schemas.openxmlformats.org/drawingml/2006/main">
            <a:pathLst>
              <a:path w="123825" h="219075">
                <a:moveTo>
                  <a:pt x="0" y="219075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06" name="s2-76-edge-287">
            <a:extLst xmlns:a="http://schemas.openxmlformats.org/drawingml/2006/main">
              <a:ext uri="{FF2B5EF4-FFF2-40B4-BE49-F238E27FC236}">
                <a16:creationId xmlns:a16="http://schemas.microsoft.com/office/drawing/2014/main" id="{8EE476F7-4617-42B1-8EE3-BB1F1E6C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752850"/>
            <a:ext cx="66675" cy="257175"/>
          </a:xfrm>
          <a:custGeom xmlns:a="http://schemas.openxmlformats.org/drawingml/2006/main">
            <a:pathLst>
              <a:path w="66675" h="257175">
                <a:moveTo>
                  <a:pt x="0" y="0"/>
                </a:moveTo>
                <a:lnTo>
                  <a:pt x="6667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07" name="s2-76-edge-288">
            <a:extLst xmlns:a="http://schemas.openxmlformats.org/drawingml/2006/main">
              <a:ext uri="{FF2B5EF4-FFF2-40B4-BE49-F238E27FC236}">
                <a16:creationId xmlns:a16="http://schemas.microsoft.com/office/drawing/2014/main" id="{B2560325-0FA4-464C-8241-C477B458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505200"/>
            <a:ext cx="200025" cy="247650"/>
          </a:xfrm>
          <a:custGeom xmlns:a="http://schemas.openxmlformats.org/drawingml/2006/main">
            <a:pathLst>
              <a:path w="200025" h="247650">
                <a:moveTo>
                  <a:pt x="0" y="24765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08" name="s2-76-edge-289">
            <a:extLst xmlns:a="http://schemas.openxmlformats.org/drawingml/2006/main">
              <a:ext uri="{FF2B5EF4-FFF2-40B4-BE49-F238E27FC236}">
                <a16:creationId xmlns:a16="http://schemas.microsoft.com/office/drawing/2014/main" id="{DC71F8A3-E6E5-41AC-B600-458E386B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333750"/>
            <a:ext cx="161925" cy="171450"/>
          </a:xfrm>
          <a:custGeom xmlns:a="http://schemas.openxmlformats.org/drawingml/2006/main">
            <a:pathLst>
              <a:path w="161925" h="171450">
                <a:moveTo>
                  <a:pt x="0" y="17145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09" name="s2-76-edge-290">
            <a:extLst xmlns:a="http://schemas.openxmlformats.org/drawingml/2006/main">
              <a:ext uri="{FF2B5EF4-FFF2-40B4-BE49-F238E27FC236}">
                <a16:creationId xmlns:a16="http://schemas.microsoft.com/office/drawing/2014/main" id="{2FC37788-11CB-4741-AA7C-AACEA6C5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333750"/>
            <a:ext cx="180975" cy="152400"/>
          </a:xfrm>
          <a:custGeom xmlns:a="http://schemas.openxmlformats.org/drawingml/2006/main">
            <a:pathLst>
              <a:path w="180975" h="152400">
                <a:moveTo>
                  <a:pt x="0" y="0"/>
                </a:moveTo>
                <a:lnTo>
                  <a:pt x="180975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0" name="s2-76-edge-291">
            <a:extLst xmlns:a="http://schemas.openxmlformats.org/drawingml/2006/main">
              <a:ext uri="{FF2B5EF4-FFF2-40B4-BE49-F238E27FC236}">
                <a16:creationId xmlns:a16="http://schemas.microsoft.com/office/drawing/2014/main" id="{650200D5-5FAE-41DC-8238-40FDF75D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48615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1" name="s2-76-edge-292">
            <a:extLst xmlns:a="http://schemas.openxmlformats.org/drawingml/2006/main">
              <a:ext uri="{FF2B5EF4-FFF2-40B4-BE49-F238E27FC236}">
                <a16:creationId xmlns:a16="http://schemas.microsoft.com/office/drawing/2014/main" id="{B399331A-B82F-4B4A-8E00-76E914E8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38550"/>
            <a:ext cx="180975" cy="104775"/>
          </a:xfrm>
          <a:custGeom xmlns:a="http://schemas.openxmlformats.org/drawingml/2006/main">
            <a:pathLst>
              <a:path w="180975" h="104775">
                <a:moveTo>
                  <a:pt x="180975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2" name="s2-76-edge-293">
            <a:extLst xmlns:a="http://schemas.openxmlformats.org/drawingml/2006/main">
              <a:ext uri="{FF2B5EF4-FFF2-40B4-BE49-F238E27FC236}">
                <a16:creationId xmlns:a16="http://schemas.microsoft.com/office/drawing/2014/main" id="{DC08F6C7-9A0D-43B5-A275-A6EDE1E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505200"/>
            <a:ext cx="161925" cy="238125"/>
          </a:xfrm>
          <a:custGeom xmlns:a="http://schemas.openxmlformats.org/drawingml/2006/main">
            <a:pathLst>
              <a:path w="161925" h="238125">
                <a:moveTo>
                  <a:pt x="161925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3" name="s2-76-edge-294">
            <a:extLst xmlns:a="http://schemas.openxmlformats.org/drawingml/2006/main">
              <a:ext uri="{FF2B5EF4-FFF2-40B4-BE49-F238E27FC236}">
                <a16:creationId xmlns:a16="http://schemas.microsoft.com/office/drawing/2014/main" id="{E1A09556-553C-45F5-A668-0F464219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743325"/>
            <a:ext cx="114300" cy="304800"/>
          </a:xfrm>
          <a:custGeom xmlns:a="http://schemas.openxmlformats.org/drawingml/2006/main">
            <a:pathLst>
              <a:path w="114300" h="304800">
                <a:moveTo>
                  <a:pt x="11430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4" name="s2-76-edge-295">
            <a:extLst xmlns:a="http://schemas.openxmlformats.org/drawingml/2006/main">
              <a:ext uri="{FF2B5EF4-FFF2-40B4-BE49-F238E27FC236}">
                <a16:creationId xmlns:a16="http://schemas.microsoft.com/office/drawing/2014/main" id="{76399CAB-5BE2-48B1-ADB0-6F77D60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743325"/>
            <a:ext cx="85725" cy="342900"/>
          </a:xfrm>
          <a:custGeom xmlns:a="http://schemas.openxmlformats.org/drawingml/2006/main">
            <a:pathLst>
              <a:path w="85725" h="342900">
                <a:moveTo>
                  <a:pt x="0" y="0"/>
                </a:moveTo>
                <a:lnTo>
                  <a:pt x="8572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5" name="s2-76-edge-296">
            <a:extLst xmlns:a="http://schemas.openxmlformats.org/drawingml/2006/main">
              <a:ext uri="{FF2B5EF4-FFF2-40B4-BE49-F238E27FC236}">
                <a16:creationId xmlns:a16="http://schemas.microsoft.com/office/drawing/2014/main" id="{B5256D08-3F9F-473B-8AD8-E75032C9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638550"/>
            <a:ext cx="238125" cy="104775"/>
          </a:xfrm>
          <a:custGeom xmlns:a="http://schemas.openxmlformats.org/drawingml/2006/main">
            <a:pathLst>
              <a:path w="238125" h="104775">
                <a:moveTo>
                  <a:pt x="0" y="0"/>
                </a:moveTo>
                <a:lnTo>
                  <a:pt x="23812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6" name="s2-76-edge-297">
            <a:extLst xmlns:a="http://schemas.openxmlformats.org/drawingml/2006/main">
              <a:ext uri="{FF2B5EF4-FFF2-40B4-BE49-F238E27FC236}">
                <a16:creationId xmlns:a16="http://schemas.microsoft.com/office/drawing/2014/main" id="{1F9C918C-324A-4747-8814-E26C1B9E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3743325"/>
            <a:ext cx="85725" cy="304800"/>
          </a:xfrm>
          <a:custGeom xmlns:a="http://schemas.openxmlformats.org/drawingml/2006/main">
            <a:pathLst>
              <a:path w="85725" h="304800">
                <a:moveTo>
                  <a:pt x="85725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7" name="s2-76-edge-298">
            <a:extLst xmlns:a="http://schemas.openxmlformats.org/drawingml/2006/main">
              <a:ext uri="{FF2B5EF4-FFF2-40B4-BE49-F238E27FC236}">
                <a16:creationId xmlns:a16="http://schemas.microsoft.com/office/drawing/2014/main" id="{7E883DA5-B2CD-4655-B98F-CBF10585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743325"/>
            <a:ext cx="104775" cy="304800"/>
          </a:xfrm>
          <a:custGeom xmlns:a="http://schemas.openxmlformats.org/drawingml/2006/main">
            <a:pathLst>
              <a:path w="104775" h="304800">
                <a:moveTo>
                  <a:pt x="0" y="0"/>
                </a:moveTo>
                <a:lnTo>
                  <a:pt x="104775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15F9D"/>
            </a:solidFill>
            <a:prstDash val="solid"/>
          </a:ln>
        </p:spPr>
      </p:sp>
      <p:sp>
        <p:nvSpPr>
          <p:cNvPr id="318" name="s2-76-node-299">
            <a:extLst xmlns:a="http://schemas.openxmlformats.org/drawingml/2006/main">
              <a:ext uri="{FF2B5EF4-FFF2-40B4-BE49-F238E27FC236}">
                <a16:creationId xmlns:a16="http://schemas.microsoft.com/office/drawing/2014/main" id="{B1E3CA12-CD05-4CAD-A367-AD6B93A2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785" y="39376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19" name="s2-76-node-300">
            <a:extLst xmlns:a="http://schemas.openxmlformats.org/drawingml/2006/main">
              <a:ext uri="{FF2B5EF4-FFF2-40B4-BE49-F238E27FC236}">
                <a16:creationId xmlns:a16="http://schemas.microsoft.com/office/drawing/2014/main" id="{F6043DCB-8BB5-4BDB-A050-F252A7CF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610" y="371856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0" name="s2-76-node-301">
            <a:extLst xmlns:a="http://schemas.openxmlformats.org/drawingml/2006/main">
              <a:ext uri="{FF2B5EF4-FFF2-40B4-BE49-F238E27FC236}">
                <a16:creationId xmlns:a16="http://schemas.microsoft.com/office/drawing/2014/main" id="{A707B4DE-2481-4536-8D70-9EE760D5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285" y="39757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1" name="s2-76-node-302">
            <a:extLst xmlns:a="http://schemas.openxmlformats.org/drawingml/2006/main">
              <a:ext uri="{FF2B5EF4-FFF2-40B4-BE49-F238E27FC236}">
                <a16:creationId xmlns:a16="http://schemas.microsoft.com/office/drawing/2014/main" id="{85F2FABE-1B67-4F45-B1DB-2DE03B1D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635" y="347091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2" name="s2-76-node-303">
            <a:extLst xmlns:a="http://schemas.openxmlformats.org/drawingml/2006/main">
              <a:ext uri="{FF2B5EF4-FFF2-40B4-BE49-F238E27FC236}">
                <a16:creationId xmlns:a16="http://schemas.microsoft.com/office/drawing/2014/main" id="{8FD0AE8E-289A-42B0-96E5-CB7BD134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329946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3" name="s2-76-node-304">
            <a:extLst xmlns:a="http://schemas.openxmlformats.org/drawingml/2006/main">
              <a:ext uri="{FF2B5EF4-FFF2-40B4-BE49-F238E27FC236}">
                <a16:creationId xmlns:a16="http://schemas.microsoft.com/office/drawing/2014/main" id="{A0D39772-9D11-4A57-8175-6732797C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535" y="345186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4" name="s2-76-node-305">
            <a:extLst xmlns:a="http://schemas.openxmlformats.org/drawingml/2006/main">
              <a:ext uri="{FF2B5EF4-FFF2-40B4-BE49-F238E27FC236}">
                <a16:creationId xmlns:a16="http://schemas.microsoft.com/office/drawing/2014/main" id="{04AFCCAA-CDAE-49E3-971B-0BA1316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535" y="360426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5" name="s2-76-node-306">
            <a:extLst xmlns:a="http://schemas.openxmlformats.org/drawingml/2006/main">
              <a:ext uri="{FF2B5EF4-FFF2-40B4-BE49-F238E27FC236}">
                <a16:creationId xmlns:a16="http://schemas.microsoft.com/office/drawing/2014/main" id="{297B7912-9EF9-4868-8363-4ED424D5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37090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6" name="s2-76-node-307">
            <a:extLst xmlns:a="http://schemas.openxmlformats.org/drawingml/2006/main">
              <a:ext uri="{FF2B5EF4-FFF2-40B4-BE49-F238E27FC236}">
                <a16:creationId xmlns:a16="http://schemas.microsoft.com/office/drawing/2014/main" id="{9AC08F22-6F07-452B-BAE8-AC94057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260" y="40138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7" name="s2-76-node-308">
            <a:extLst xmlns:a="http://schemas.openxmlformats.org/drawingml/2006/main">
              <a:ext uri="{FF2B5EF4-FFF2-40B4-BE49-F238E27FC236}">
                <a16:creationId xmlns:a16="http://schemas.microsoft.com/office/drawing/2014/main" id="{6FB695A1-DDB7-44C3-A778-C795FB46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4285" y="40519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8" name="s2-76-node-309">
            <a:extLst xmlns:a="http://schemas.openxmlformats.org/drawingml/2006/main">
              <a:ext uri="{FF2B5EF4-FFF2-40B4-BE49-F238E27FC236}">
                <a16:creationId xmlns:a16="http://schemas.microsoft.com/office/drawing/2014/main" id="{12E3032B-8A15-43DE-BF22-23AFB99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7660" y="37090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29" name="s2-76-node-310">
            <a:extLst xmlns:a="http://schemas.openxmlformats.org/drawingml/2006/main">
              <a:ext uri="{FF2B5EF4-FFF2-40B4-BE49-F238E27FC236}">
                <a16:creationId xmlns:a16="http://schemas.microsoft.com/office/drawing/2014/main" id="{49767E15-F989-465E-8E4A-4BF387B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1935" y="40138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30" name="s2-76-node-311">
            <a:extLst xmlns:a="http://schemas.openxmlformats.org/drawingml/2006/main">
              <a:ext uri="{FF2B5EF4-FFF2-40B4-BE49-F238E27FC236}">
                <a16:creationId xmlns:a16="http://schemas.microsoft.com/office/drawing/2014/main" id="{34BD828D-1921-4CD4-BE1A-9BC5BBC5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435" y="4013835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9CC"/>
          </a:solidFill>
          <a:ln xmlns:a="http://schemas.openxmlformats.org/drawingml/2006/main" w="5715">
            <a:solidFill>
              <a:srgbClr val="1648A9"/>
            </a:solidFill>
            <a:prstDash val="solid"/>
          </a:ln>
        </p:spPr>
      </p:sp>
      <p:sp>
        <p:nvSpPr>
          <p:cNvPr id="331" name="s2-scale76-text-312">
            <a:extLst xmlns:a="http://schemas.openxmlformats.org/drawingml/2006/main">
              <a:ext uri="{FF2B5EF4-FFF2-40B4-BE49-F238E27FC236}">
                <a16:creationId xmlns:a16="http://schemas.microsoft.com/office/drawing/2014/main" id="{A5A7C893-FD20-4444-9582-81DE2D33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352800"/>
            <a:ext cx="1009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76 个节点</a:t>
            </a:r>
          </a:p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118 条线路</a:t>
            </a:r>
          </a:p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3 个情景</a:t>
            </a:r>
          </a:p>
        </p:txBody>
      </p:sp>
      <p:sp>
        <p:nvSpPr>
          <p:cNvPr id="332" name="s2-229-edge-313">
            <a:extLst xmlns:a="http://schemas.openxmlformats.org/drawingml/2006/main">
              <a:ext uri="{FF2B5EF4-FFF2-40B4-BE49-F238E27FC236}">
                <a16:creationId xmlns:a16="http://schemas.microsoft.com/office/drawing/2014/main" id="{D8613E5A-C4F1-434D-A7C8-7EC6BAAA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286125"/>
            <a:ext cx="85725" cy="152400"/>
          </a:xfrm>
          <a:custGeom xmlns:a="http://schemas.openxmlformats.org/drawingml/2006/main">
            <a:pathLst>
              <a:path w="85725" h="152400">
                <a:moveTo>
                  <a:pt x="85725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33" name="s2-229-edge-314">
            <a:extLst xmlns:a="http://schemas.openxmlformats.org/drawingml/2006/main">
              <a:ext uri="{FF2B5EF4-FFF2-40B4-BE49-F238E27FC236}">
                <a16:creationId xmlns:a16="http://schemas.microsoft.com/office/drawing/2014/main" id="{EFB7EFAD-77A6-4C07-B213-C3D0215E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286125"/>
            <a:ext cx="142875" cy="85725"/>
          </a:xfrm>
          <a:custGeom xmlns:a="http://schemas.openxmlformats.org/drawingml/2006/main">
            <a:pathLst>
              <a:path w="142875" h="85725">
                <a:moveTo>
                  <a:pt x="0" y="0"/>
                </a:moveTo>
                <a:lnTo>
                  <a:pt x="14287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34" name="s2-229-edge-315">
            <a:extLst xmlns:a="http://schemas.openxmlformats.org/drawingml/2006/main">
              <a:ext uri="{FF2B5EF4-FFF2-40B4-BE49-F238E27FC236}">
                <a16:creationId xmlns:a16="http://schemas.microsoft.com/office/drawing/2014/main" id="{7E86864E-E205-436B-AD06-CA728741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371850"/>
            <a:ext cx="228600" cy="66675"/>
          </a:xfrm>
          <a:custGeom xmlns:a="http://schemas.openxmlformats.org/drawingml/2006/main">
            <a:pathLst>
              <a:path w="228600" h="66675">
                <a:moveTo>
                  <a:pt x="0" y="66675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35" name="s2-229-edge-316">
            <a:extLst xmlns:a="http://schemas.openxmlformats.org/drawingml/2006/main">
              <a:ext uri="{FF2B5EF4-FFF2-40B4-BE49-F238E27FC236}">
                <a16:creationId xmlns:a16="http://schemas.microsoft.com/office/drawing/2014/main" id="{242E30FC-CB28-4F23-80CB-E0C1973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438525"/>
            <a:ext cx="123825" cy="85725"/>
          </a:xfrm>
          <a:custGeom xmlns:a="http://schemas.openxmlformats.org/drawingml/2006/main">
            <a:pathLst>
              <a:path w="123825" h="85725">
                <a:moveTo>
                  <a:pt x="0" y="0"/>
                </a:moveTo>
                <a:lnTo>
                  <a:pt x="1238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36" name="s2-229-edge-317">
            <a:extLst xmlns:a="http://schemas.openxmlformats.org/drawingml/2006/main">
              <a:ext uri="{FF2B5EF4-FFF2-40B4-BE49-F238E27FC236}">
                <a16:creationId xmlns:a16="http://schemas.microsoft.com/office/drawing/2014/main" id="{9DFF02CA-8EE1-49DA-AC12-04006BB2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267075"/>
            <a:ext cx="190500" cy="104775"/>
          </a:xfrm>
          <a:custGeom xmlns:a="http://schemas.openxmlformats.org/drawingml/2006/main">
            <a:pathLst>
              <a:path w="190500" h="104775">
                <a:moveTo>
                  <a:pt x="0" y="104775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37" name="s2-229-edge-318">
            <a:extLst xmlns:a="http://schemas.openxmlformats.org/drawingml/2006/main">
              <a:ext uri="{FF2B5EF4-FFF2-40B4-BE49-F238E27FC236}">
                <a16:creationId xmlns:a16="http://schemas.microsoft.com/office/drawing/2014/main" id="{D6714D17-2A60-46D3-9767-83348821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71850"/>
            <a:ext cx="219075" cy="57150"/>
          </a:xfrm>
          <a:custGeom xmlns:a="http://schemas.openxmlformats.org/drawingml/2006/main">
            <a:pathLst>
              <a:path w="219075" h="57150">
                <a:moveTo>
                  <a:pt x="0" y="0"/>
                </a:moveTo>
                <a:lnTo>
                  <a:pt x="219075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38" name="s2-229-edge-319">
            <a:extLst xmlns:a="http://schemas.openxmlformats.org/drawingml/2006/main">
              <a:ext uri="{FF2B5EF4-FFF2-40B4-BE49-F238E27FC236}">
                <a16:creationId xmlns:a16="http://schemas.microsoft.com/office/drawing/2014/main" id="{76765406-99FB-40F5-B059-D7853B93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371850"/>
            <a:ext cx="104775" cy="152400"/>
          </a:xfrm>
          <a:custGeom xmlns:a="http://schemas.openxmlformats.org/drawingml/2006/main">
            <a:pathLst>
              <a:path w="104775" h="152400">
                <a:moveTo>
                  <a:pt x="104775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39" name="s2-229-edge-320">
            <a:extLst xmlns:a="http://schemas.openxmlformats.org/drawingml/2006/main">
              <a:ext uri="{FF2B5EF4-FFF2-40B4-BE49-F238E27FC236}">
                <a16:creationId xmlns:a16="http://schemas.microsoft.com/office/drawing/2014/main" id="{7D4AD4C2-A4CC-4C94-81A2-D9CE475C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3267075"/>
            <a:ext cx="28575" cy="161925"/>
          </a:xfrm>
          <a:custGeom xmlns:a="http://schemas.openxmlformats.org/drawingml/2006/main">
            <a:pathLst>
              <a:path w="28575" h="161925">
                <a:moveTo>
                  <a:pt x="0" y="0"/>
                </a:moveTo>
                <a:lnTo>
                  <a:pt x="2857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0" name="s2-229-edge-321">
            <a:extLst xmlns:a="http://schemas.openxmlformats.org/drawingml/2006/main">
              <a:ext uri="{FF2B5EF4-FFF2-40B4-BE49-F238E27FC236}">
                <a16:creationId xmlns:a16="http://schemas.microsoft.com/office/drawing/2014/main" id="{F4B779E4-0FBA-4296-813B-67DE30BE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295650"/>
            <a:ext cx="247650" cy="133350"/>
          </a:xfrm>
          <a:custGeom xmlns:a="http://schemas.openxmlformats.org/drawingml/2006/main">
            <a:pathLst>
              <a:path w="247650" h="133350">
                <a:moveTo>
                  <a:pt x="0" y="1333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1" name="s2-229-edge-322">
            <a:extLst xmlns:a="http://schemas.openxmlformats.org/drawingml/2006/main">
              <a:ext uri="{FF2B5EF4-FFF2-40B4-BE49-F238E27FC236}">
                <a16:creationId xmlns:a16="http://schemas.microsoft.com/office/drawing/2014/main" id="{9B0921AE-CA18-4C83-B3DC-91529595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429000"/>
            <a:ext cx="180975" cy="133350"/>
          </a:xfrm>
          <a:custGeom xmlns:a="http://schemas.openxmlformats.org/drawingml/2006/main">
            <a:pathLst>
              <a:path w="180975" h="133350">
                <a:moveTo>
                  <a:pt x="180975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2" name="s2-229-edge-323">
            <a:extLst xmlns:a="http://schemas.openxmlformats.org/drawingml/2006/main">
              <a:ext uri="{FF2B5EF4-FFF2-40B4-BE49-F238E27FC236}">
                <a16:creationId xmlns:a16="http://schemas.microsoft.com/office/drawing/2014/main" id="{D68F051D-071A-4550-B1A6-164AFE14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429000"/>
            <a:ext cx="28575" cy="161925"/>
          </a:xfrm>
          <a:custGeom xmlns:a="http://schemas.openxmlformats.org/drawingml/2006/main">
            <a:pathLst>
              <a:path w="28575" h="161925">
                <a:moveTo>
                  <a:pt x="0" y="0"/>
                </a:moveTo>
                <a:lnTo>
                  <a:pt x="2857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3" name="s2-229-edge-324">
            <a:extLst xmlns:a="http://schemas.openxmlformats.org/drawingml/2006/main">
              <a:ext uri="{FF2B5EF4-FFF2-40B4-BE49-F238E27FC236}">
                <a16:creationId xmlns:a16="http://schemas.microsoft.com/office/drawing/2014/main" id="{782DB038-00B6-4352-A04C-9521A401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429000"/>
            <a:ext cx="200025" cy="85725"/>
          </a:xfrm>
          <a:custGeom xmlns:a="http://schemas.openxmlformats.org/drawingml/2006/main">
            <a:pathLst>
              <a:path w="200025" h="85725">
                <a:moveTo>
                  <a:pt x="0" y="0"/>
                </a:moveTo>
                <a:lnTo>
                  <a:pt x="200025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4" name="s2-229-edge-325">
            <a:extLst xmlns:a="http://schemas.openxmlformats.org/drawingml/2006/main">
              <a:ext uri="{FF2B5EF4-FFF2-40B4-BE49-F238E27FC236}">
                <a16:creationId xmlns:a16="http://schemas.microsoft.com/office/drawing/2014/main" id="{4BDEBDAF-CF89-431E-A5A1-15268723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295650"/>
            <a:ext cx="161925" cy="76200"/>
          </a:xfrm>
          <a:custGeom xmlns:a="http://schemas.openxmlformats.org/drawingml/2006/main">
            <a:pathLst>
              <a:path w="161925" h="76200">
                <a:moveTo>
                  <a:pt x="0" y="0"/>
                </a:moveTo>
                <a:lnTo>
                  <a:pt x="1619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5" name="s2-229-edge-326">
            <a:extLst xmlns:a="http://schemas.openxmlformats.org/drawingml/2006/main">
              <a:ext uri="{FF2B5EF4-FFF2-40B4-BE49-F238E27FC236}">
                <a16:creationId xmlns:a16="http://schemas.microsoft.com/office/drawing/2014/main" id="{23DC5EAC-9C5D-4418-BF32-3AD319A5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295650"/>
            <a:ext cx="47625" cy="219075"/>
          </a:xfrm>
          <a:custGeom xmlns:a="http://schemas.openxmlformats.org/drawingml/2006/main">
            <a:pathLst>
              <a:path w="47625" h="219075">
                <a:moveTo>
                  <a:pt x="47625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6" name="s2-229-edge-327">
            <a:extLst xmlns:a="http://schemas.openxmlformats.org/drawingml/2006/main">
              <a:ext uri="{FF2B5EF4-FFF2-40B4-BE49-F238E27FC236}">
                <a16:creationId xmlns:a16="http://schemas.microsoft.com/office/drawing/2014/main" id="{62899C13-11BD-45C3-B64B-0914ED3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3371850"/>
            <a:ext cx="28575" cy="152400"/>
          </a:xfrm>
          <a:custGeom xmlns:a="http://schemas.openxmlformats.org/drawingml/2006/main">
            <a:pathLst>
              <a:path w="28575" h="152400">
                <a:moveTo>
                  <a:pt x="28575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7" name="s2-229-edge-328">
            <a:extLst xmlns:a="http://schemas.openxmlformats.org/drawingml/2006/main">
              <a:ext uri="{FF2B5EF4-FFF2-40B4-BE49-F238E27FC236}">
                <a16:creationId xmlns:a16="http://schemas.microsoft.com/office/drawing/2014/main" id="{525F5E0E-621E-4DB4-BE54-21028A09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371850"/>
            <a:ext cx="152400" cy="209550"/>
          </a:xfrm>
          <a:custGeom xmlns:a="http://schemas.openxmlformats.org/drawingml/2006/main">
            <a:pathLst>
              <a:path w="152400" h="209550">
                <a:moveTo>
                  <a:pt x="0" y="0"/>
                </a:moveTo>
                <a:lnTo>
                  <a:pt x="15240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8" name="s2-229-edge-329">
            <a:extLst xmlns:a="http://schemas.openxmlformats.org/drawingml/2006/main">
              <a:ext uri="{FF2B5EF4-FFF2-40B4-BE49-F238E27FC236}">
                <a16:creationId xmlns:a16="http://schemas.microsoft.com/office/drawing/2014/main" id="{EAD1CC58-DAF7-495C-8E9A-CAFE9FC3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3581400"/>
            <a:ext cx="9525" cy="171450"/>
          </a:xfrm>
          <a:custGeom xmlns:a="http://schemas.openxmlformats.org/drawingml/2006/main">
            <a:pathLst>
              <a:path w="9525" h="171450">
                <a:moveTo>
                  <a:pt x="9525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49" name="s2-229-edge-330">
            <a:extLst xmlns:a="http://schemas.openxmlformats.org/drawingml/2006/main">
              <a:ext uri="{FF2B5EF4-FFF2-40B4-BE49-F238E27FC236}">
                <a16:creationId xmlns:a16="http://schemas.microsoft.com/office/drawing/2014/main" id="{0A3646E2-E3F5-446F-B7D8-763DF543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3524250"/>
            <a:ext cx="180975" cy="57150"/>
          </a:xfrm>
          <a:custGeom xmlns:a="http://schemas.openxmlformats.org/drawingml/2006/main">
            <a:pathLst>
              <a:path w="180975" h="57150">
                <a:moveTo>
                  <a:pt x="180975" y="57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0" name="s2-229-edge-331">
            <a:extLst xmlns:a="http://schemas.openxmlformats.org/drawingml/2006/main">
              <a:ext uri="{FF2B5EF4-FFF2-40B4-BE49-F238E27FC236}">
                <a16:creationId xmlns:a16="http://schemas.microsoft.com/office/drawing/2014/main" id="{C739FD52-E9B1-48D3-B775-D239FCA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752850"/>
            <a:ext cx="76200" cy="190500"/>
          </a:xfrm>
          <a:custGeom xmlns:a="http://schemas.openxmlformats.org/drawingml/2006/main">
            <a:pathLst>
              <a:path w="76200" h="190500">
                <a:moveTo>
                  <a:pt x="7620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1" name="s2-229-edge-332">
            <a:extLst xmlns:a="http://schemas.openxmlformats.org/drawingml/2006/main">
              <a:ext uri="{FF2B5EF4-FFF2-40B4-BE49-F238E27FC236}">
                <a16:creationId xmlns:a16="http://schemas.microsoft.com/office/drawing/2014/main" id="{589F1010-381A-4216-B717-63638E17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714750"/>
            <a:ext cx="200025" cy="38100"/>
          </a:xfrm>
          <a:custGeom xmlns:a="http://schemas.openxmlformats.org/drawingml/2006/main">
            <a:pathLst>
              <a:path w="200025" h="38100">
                <a:moveTo>
                  <a:pt x="200025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2" name="s2-229-edge-333">
            <a:extLst xmlns:a="http://schemas.openxmlformats.org/drawingml/2006/main">
              <a:ext uri="{FF2B5EF4-FFF2-40B4-BE49-F238E27FC236}">
                <a16:creationId xmlns:a16="http://schemas.microsoft.com/office/drawing/2014/main" id="{DB1D0269-1BB8-46A4-A1DF-2B3C2CF4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175" y="3943350"/>
            <a:ext cx="19050" cy="152400"/>
          </a:xfrm>
          <a:custGeom xmlns:a="http://schemas.openxmlformats.org/drawingml/2006/main">
            <a:pathLst>
              <a:path w="19050" h="152400">
                <a:moveTo>
                  <a:pt x="1905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3" name="s2-229-edge-334">
            <a:extLst xmlns:a="http://schemas.openxmlformats.org/drawingml/2006/main">
              <a:ext uri="{FF2B5EF4-FFF2-40B4-BE49-F238E27FC236}">
                <a16:creationId xmlns:a16="http://schemas.microsoft.com/office/drawing/2014/main" id="{6C8FEB99-4B0C-4EC2-A3E1-FBC029E6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714750"/>
            <a:ext cx="123825" cy="228600"/>
          </a:xfrm>
          <a:custGeom xmlns:a="http://schemas.openxmlformats.org/drawingml/2006/main">
            <a:pathLst>
              <a:path w="123825" h="228600">
                <a:moveTo>
                  <a:pt x="123825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4" name="s2-229-edge-335">
            <a:extLst xmlns:a="http://schemas.openxmlformats.org/drawingml/2006/main">
              <a:ext uri="{FF2B5EF4-FFF2-40B4-BE49-F238E27FC236}">
                <a16:creationId xmlns:a16="http://schemas.microsoft.com/office/drawing/2014/main" id="{FD81CAE5-8D14-44DE-86D2-7423CC0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943350"/>
            <a:ext cx="247650" cy="95"/>
          </a:xfrm>
          <a:custGeom xmlns:a="http://schemas.openxmlformats.org/drawingml/2006/main">
            <a:pathLst>
              <a:path w="247650" h="95">
                <a:moveTo>
                  <a:pt x="247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5" name="s2-229-edge-336">
            <a:extLst xmlns:a="http://schemas.openxmlformats.org/drawingml/2006/main">
              <a:ext uri="{FF2B5EF4-FFF2-40B4-BE49-F238E27FC236}">
                <a16:creationId xmlns:a16="http://schemas.microsoft.com/office/drawing/2014/main" id="{284CD372-EC88-4FC9-90CD-FB63C9D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095750"/>
            <a:ext cx="180975" cy="28575"/>
          </a:xfrm>
          <a:custGeom xmlns:a="http://schemas.openxmlformats.org/drawingml/2006/main">
            <a:pathLst>
              <a:path w="180975" h="28575">
                <a:moveTo>
                  <a:pt x="180975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6" name="s2-229-edge-337">
            <a:extLst xmlns:a="http://schemas.openxmlformats.org/drawingml/2006/main">
              <a:ext uri="{FF2B5EF4-FFF2-40B4-BE49-F238E27FC236}">
                <a16:creationId xmlns:a16="http://schemas.microsoft.com/office/drawing/2014/main" id="{DA5BAC2D-47D4-4FB8-BDFB-05F3DDCD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124325"/>
            <a:ext cx="190500" cy="57150"/>
          </a:xfrm>
          <a:custGeom xmlns:a="http://schemas.openxmlformats.org/drawingml/2006/main">
            <a:pathLst>
              <a:path w="190500" h="57150">
                <a:moveTo>
                  <a:pt x="19050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7" name="s2-229-edge-338">
            <a:extLst xmlns:a="http://schemas.openxmlformats.org/drawingml/2006/main">
              <a:ext uri="{FF2B5EF4-FFF2-40B4-BE49-F238E27FC236}">
                <a16:creationId xmlns:a16="http://schemas.microsoft.com/office/drawing/2014/main" id="{BBC62CAC-3EB9-445A-BDB7-D8DDB519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943350"/>
            <a:ext cx="47625" cy="180975"/>
          </a:xfrm>
          <a:custGeom xmlns:a="http://schemas.openxmlformats.org/drawingml/2006/main">
            <a:pathLst>
              <a:path w="47625" h="180975">
                <a:moveTo>
                  <a:pt x="47625" y="180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8" name="s2-229-edge-339">
            <a:extLst xmlns:a="http://schemas.openxmlformats.org/drawingml/2006/main">
              <a:ext uri="{FF2B5EF4-FFF2-40B4-BE49-F238E27FC236}">
                <a16:creationId xmlns:a16="http://schemas.microsoft.com/office/drawing/2014/main" id="{0E8FAE65-971B-4B5F-B0B6-87D10E1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40481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59" name="s2-229-edge-340">
            <a:extLst xmlns:a="http://schemas.openxmlformats.org/drawingml/2006/main">
              <a:ext uri="{FF2B5EF4-FFF2-40B4-BE49-F238E27FC236}">
                <a16:creationId xmlns:a16="http://schemas.microsoft.com/office/drawing/2014/main" id="{EFA6A6A0-30B3-4186-8822-D468197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171950"/>
            <a:ext cx="171450" cy="9525"/>
          </a:xfrm>
          <a:custGeom xmlns:a="http://schemas.openxmlformats.org/drawingml/2006/main">
            <a:pathLst>
              <a:path w="171450" h="9525">
                <a:moveTo>
                  <a:pt x="17145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0" name="s2-229-edge-341">
            <a:extLst xmlns:a="http://schemas.openxmlformats.org/drawingml/2006/main">
              <a:ext uri="{FF2B5EF4-FFF2-40B4-BE49-F238E27FC236}">
                <a16:creationId xmlns:a16="http://schemas.microsoft.com/office/drawing/2014/main" id="{D900797F-1FB5-4176-827C-7AC4BFB9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4000500"/>
            <a:ext cx="85725" cy="180975"/>
          </a:xfrm>
          <a:custGeom xmlns:a="http://schemas.openxmlformats.org/drawingml/2006/main">
            <a:pathLst>
              <a:path w="85725" h="180975">
                <a:moveTo>
                  <a:pt x="85725" y="180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1" name="s2-229-edge-342">
            <a:extLst xmlns:a="http://schemas.openxmlformats.org/drawingml/2006/main">
              <a:ext uri="{FF2B5EF4-FFF2-40B4-BE49-F238E27FC236}">
                <a16:creationId xmlns:a16="http://schemas.microsoft.com/office/drawing/2014/main" id="{B75A6CB8-6A89-4BE9-B943-C9352A88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048125"/>
            <a:ext cx="104775" cy="133350"/>
          </a:xfrm>
          <a:custGeom xmlns:a="http://schemas.openxmlformats.org/drawingml/2006/main">
            <a:pathLst>
              <a:path w="104775" h="133350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2" name="s2-229-edge-343">
            <a:extLst xmlns:a="http://schemas.openxmlformats.org/drawingml/2006/main">
              <a:ext uri="{FF2B5EF4-FFF2-40B4-BE49-F238E27FC236}">
                <a16:creationId xmlns:a16="http://schemas.microsoft.com/office/drawing/2014/main" id="{0F1B5389-D663-4B16-88FF-D6AE131C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086225"/>
            <a:ext cx="171450" cy="85725"/>
          </a:xfrm>
          <a:custGeom xmlns:a="http://schemas.openxmlformats.org/drawingml/2006/main">
            <a:pathLst>
              <a:path w="171450" h="85725">
                <a:moveTo>
                  <a:pt x="171450" y="85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3" name="s2-229-edge-344">
            <a:extLst xmlns:a="http://schemas.openxmlformats.org/drawingml/2006/main">
              <a:ext uri="{FF2B5EF4-FFF2-40B4-BE49-F238E27FC236}">
                <a16:creationId xmlns:a16="http://schemas.microsoft.com/office/drawing/2014/main" id="{27E3BAA6-477D-4D61-891A-D8A7337E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962400"/>
            <a:ext cx="95250" cy="209550"/>
          </a:xfrm>
          <a:custGeom xmlns:a="http://schemas.openxmlformats.org/drawingml/2006/main">
            <a:pathLst>
              <a:path w="95250" h="209550">
                <a:moveTo>
                  <a:pt x="9525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4" name="s2-229-edge-345">
            <a:extLst xmlns:a="http://schemas.openxmlformats.org/drawingml/2006/main">
              <a:ext uri="{FF2B5EF4-FFF2-40B4-BE49-F238E27FC236}">
                <a16:creationId xmlns:a16="http://schemas.microsoft.com/office/drawing/2014/main" id="{AE0E23B8-2FF4-4C46-BD34-E6346694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00500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17145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5" name="s2-229-edge-346">
            <a:extLst xmlns:a="http://schemas.openxmlformats.org/drawingml/2006/main">
              <a:ext uri="{FF2B5EF4-FFF2-40B4-BE49-F238E27FC236}">
                <a16:creationId xmlns:a16="http://schemas.microsoft.com/office/drawing/2014/main" id="{52BD936C-0FDE-4D48-AA48-290E7497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19550"/>
            <a:ext cx="152400" cy="66675"/>
          </a:xfrm>
          <a:custGeom xmlns:a="http://schemas.openxmlformats.org/drawingml/2006/main">
            <a:pathLst>
              <a:path w="152400" h="66675">
                <a:moveTo>
                  <a:pt x="15240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6" name="s2-229-edge-347">
            <a:extLst xmlns:a="http://schemas.openxmlformats.org/drawingml/2006/main">
              <a:ext uri="{FF2B5EF4-FFF2-40B4-BE49-F238E27FC236}">
                <a16:creationId xmlns:a16="http://schemas.microsoft.com/office/drawing/2014/main" id="{C229426C-03C1-40F4-BD49-C2FB50A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962400"/>
            <a:ext cx="76200" cy="123825"/>
          </a:xfrm>
          <a:custGeom xmlns:a="http://schemas.openxmlformats.org/drawingml/2006/main">
            <a:pathLst>
              <a:path w="76200" h="123825">
                <a:moveTo>
                  <a:pt x="0" y="123825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7" name="s2-229-edge-348">
            <a:extLst xmlns:a="http://schemas.openxmlformats.org/drawingml/2006/main">
              <a:ext uri="{FF2B5EF4-FFF2-40B4-BE49-F238E27FC236}">
                <a16:creationId xmlns:a16="http://schemas.microsoft.com/office/drawing/2014/main" id="{883FE2D9-E6CC-4E5E-B124-05177ABB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3810000"/>
            <a:ext cx="123825" cy="209550"/>
          </a:xfrm>
          <a:custGeom xmlns:a="http://schemas.openxmlformats.org/drawingml/2006/main">
            <a:pathLst>
              <a:path w="123825" h="209550">
                <a:moveTo>
                  <a:pt x="123825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8" name="s2-229-edge-349">
            <a:extLst xmlns:a="http://schemas.openxmlformats.org/drawingml/2006/main">
              <a:ext uri="{FF2B5EF4-FFF2-40B4-BE49-F238E27FC236}">
                <a16:creationId xmlns:a16="http://schemas.microsoft.com/office/drawing/2014/main" id="{20C84F68-5468-49C8-86CA-C92575E4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886200"/>
            <a:ext cx="19050" cy="133350"/>
          </a:xfrm>
          <a:custGeom xmlns:a="http://schemas.openxmlformats.org/drawingml/2006/main">
            <a:pathLst>
              <a:path w="19050" h="133350">
                <a:moveTo>
                  <a:pt x="0" y="133350"/>
                </a:moveTo>
                <a:lnTo>
                  <a:pt x="19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69" name="s2-229-edge-350">
            <a:extLst xmlns:a="http://schemas.openxmlformats.org/drawingml/2006/main">
              <a:ext uri="{FF2B5EF4-FFF2-40B4-BE49-F238E27FC236}">
                <a16:creationId xmlns:a16="http://schemas.microsoft.com/office/drawing/2014/main" id="{B25DE873-136E-4EF1-B9C4-79D36ED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3667125"/>
            <a:ext cx="57150" cy="142875"/>
          </a:xfrm>
          <a:custGeom xmlns:a="http://schemas.openxmlformats.org/drawingml/2006/main">
            <a:pathLst>
              <a:path w="57150" h="142875">
                <a:moveTo>
                  <a:pt x="0" y="142875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0" name="s2-229-edge-351">
            <a:extLst xmlns:a="http://schemas.openxmlformats.org/drawingml/2006/main">
              <a:ext uri="{FF2B5EF4-FFF2-40B4-BE49-F238E27FC236}">
                <a16:creationId xmlns:a16="http://schemas.microsoft.com/office/drawing/2014/main" id="{CFDF65BD-3C96-47FA-A227-F9816D0B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3810000"/>
            <a:ext cx="142875" cy="76200"/>
          </a:xfrm>
          <a:custGeom xmlns:a="http://schemas.openxmlformats.org/drawingml/2006/main">
            <a:pathLst>
              <a:path w="142875" h="76200">
                <a:moveTo>
                  <a:pt x="0" y="0"/>
                </a:moveTo>
                <a:lnTo>
                  <a:pt x="14287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1" name="s2-229-edge-352">
            <a:extLst xmlns:a="http://schemas.openxmlformats.org/drawingml/2006/main">
              <a:ext uri="{FF2B5EF4-FFF2-40B4-BE49-F238E27FC236}">
                <a16:creationId xmlns:a16="http://schemas.microsoft.com/office/drawing/2014/main" id="{FCC649C8-6A31-47CA-A474-13F532F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3524250"/>
            <a:ext cx="152400" cy="142875"/>
          </a:xfrm>
          <a:custGeom xmlns:a="http://schemas.openxmlformats.org/drawingml/2006/main">
            <a:pathLst>
              <a:path w="152400" h="142875">
                <a:moveTo>
                  <a:pt x="0" y="142875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2" name="s2-229-edge-353">
            <a:extLst xmlns:a="http://schemas.openxmlformats.org/drawingml/2006/main">
              <a:ext uri="{FF2B5EF4-FFF2-40B4-BE49-F238E27FC236}">
                <a16:creationId xmlns:a16="http://schemas.microsoft.com/office/drawing/2014/main" id="{D84B8B8E-EB96-4887-AE51-EF093DF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3667125"/>
            <a:ext cx="171450" cy="19050"/>
          </a:xfrm>
          <a:custGeom xmlns:a="http://schemas.openxmlformats.org/drawingml/2006/main">
            <a:pathLst>
              <a:path w="171450" h="19050">
                <a:moveTo>
                  <a:pt x="0" y="0"/>
                </a:moveTo>
                <a:lnTo>
                  <a:pt x="17145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3" name="s2-229-edge-354">
            <a:extLst xmlns:a="http://schemas.openxmlformats.org/drawingml/2006/main">
              <a:ext uri="{FF2B5EF4-FFF2-40B4-BE49-F238E27FC236}">
                <a16:creationId xmlns:a16="http://schemas.microsoft.com/office/drawing/2014/main" id="{942FABE7-45F3-4D50-BC12-C956979D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524250"/>
            <a:ext cx="142875" cy="38100"/>
          </a:xfrm>
          <a:custGeom xmlns:a="http://schemas.openxmlformats.org/drawingml/2006/main">
            <a:pathLst>
              <a:path w="142875" h="38100">
                <a:moveTo>
                  <a:pt x="0" y="0"/>
                </a:moveTo>
                <a:lnTo>
                  <a:pt x="142875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4" name="s2-229-edge-355">
            <a:extLst xmlns:a="http://schemas.openxmlformats.org/drawingml/2006/main">
              <a:ext uri="{FF2B5EF4-FFF2-40B4-BE49-F238E27FC236}">
                <a16:creationId xmlns:a16="http://schemas.microsoft.com/office/drawing/2014/main" id="{AA18DD22-E3C1-4896-B2F1-8B01C7AC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524250"/>
            <a:ext cx="19050" cy="161925"/>
          </a:xfrm>
          <a:custGeom xmlns:a="http://schemas.openxmlformats.org/drawingml/2006/main">
            <a:pathLst>
              <a:path w="19050" h="161925">
                <a:moveTo>
                  <a:pt x="0" y="0"/>
                </a:moveTo>
                <a:lnTo>
                  <a:pt x="190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5" name="s2-229-edge-356">
            <a:extLst xmlns:a="http://schemas.openxmlformats.org/drawingml/2006/main">
              <a:ext uri="{FF2B5EF4-FFF2-40B4-BE49-F238E27FC236}">
                <a16:creationId xmlns:a16="http://schemas.microsoft.com/office/drawing/2014/main" id="{793C3BA3-BB78-4291-A5EC-A035436F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562350"/>
            <a:ext cx="209550" cy="28575"/>
          </a:xfrm>
          <a:custGeom xmlns:a="http://schemas.openxmlformats.org/drawingml/2006/main">
            <a:pathLst>
              <a:path w="209550" h="28575">
                <a:moveTo>
                  <a:pt x="0" y="0"/>
                </a:moveTo>
                <a:lnTo>
                  <a:pt x="20955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6" name="s2-229-edge-357">
            <a:extLst xmlns:a="http://schemas.openxmlformats.org/drawingml/2006/main">
              <a:ext uri="{FF2B5EF4-FFF2-40B4-BE49-F238E27FC236}">
                <a16:creationId xmlns:a16="http://schemas.microsoft.com/office/drawing/2014/main" id="{E5879A21-9D70-4E42-8D9E-01697D76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562350"/>
            <a:ext cx="19050" cy="200025"/>
          </a:xfrm>
          <a:custGeom xmlns:a="http://schemas.openxmlformats.org/drawingml/2006/main">
            <a:pathLst>
              <a:path w="19050" h="200025">
                <a:moveTo>
                  <a:pt x="0" y="0"/>
                </a:moveTo>
                <a:lnTo>
                  <a:pt x="1905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7" name="s2-229-edge-358">
            <a:extLst xmlns:a="http://schemas.openxmlformats.org/drawingml/2006/main">
              <a:ext uri="{FF2B5EF4-FFF2-40B4-BE49-F238E27FC236}">
                <a16:creationId xmlns:a16="http://schemas.microsoft.com/office/drawing/2014/main" id="{5D63D2C5-0056-4CA5-A360-1E2C57EF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562350"/>
            <a:ext cx="161925" cy="161925"/>
          </a:xfrm>
          <a:custGeom xmlns:a="http://schemas.openxmlformats.org/drawingml/2006/main">
            <a:pathLst>
              <a:path w="161925" h="161925">
                <a:moveTo>
                  <a:pt x="0" y="0"/>
                </a:moveTo>
                <a:lnTo>
                  <a:pt x="16192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8" name="s2-229-edge-359">
            <a:extLst xmlns:a="http://schemas.openxmlformats.org/drawingml/2006/main">
              <a:ext uri="{FF2B5EF4-FFF2-40B4-BE49-F238E27FC236}">
                <a16:creationId xmlns:a16="http://schemas.microsoft.com/office/drawing/2014/main" id="{3AF55979-AA62-4679-8989-BBD9C993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514725"/>
            <a:ext cx="171450" cy="76200"/>
          </a:xfrm>
          <a:custGeom xmlns:a="http://schemas.openxmlformats.org/drawingml/2006/main">
            <a:pathLst>
              <a:path w="171450" h="76200">
                <a:moveTo>
                  <a:pt x="0" y="7620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79" name="s2-229-edge-360">
            <a:extLst xmlns:a="http://schemas.openxmlformats.org/drawingml/2006/main">
              <a:ext uri="{FF2B5EF4-FFF2-40B4-BE49-F238E27FC236}">
                <a16:creationId xmlns:a16="http://schemas.microsoft.com/office/drawing/2014/main" id="{B4D3AFF0-3B29-4DE6-9F63-EF21A110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590925"/>
            <a:ext cx="142875" cy="171450"/>
          </a:xfrm>
          <a:custGeom xmlns:a="http://schemas.openxmlformats.org/drawingml/2006/main">
            <a:pathLst>
              <a:path w="142875" h="171450">
                <a:moveTo>
                  <a:pt x="0" y="0"/>
                </a:moveTo>
                <a:lnTo>
                  <a:pt x="14287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0" name="s2-229-edge-361">
            <a:extLst xmlns:a="http://schemas.openxmlformats.org/drawingml/2006/main">
              <a:ext uri="{FF2B5EF4-FFF2-40B4-BE49-F238E27FC236}">
                <a16:creationId xmlns:a16="http://schemas.microsoft.com/office/drawing/2014/main" id="{64EF3004-D283-4B13-AE85-35EF3101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3590925"/>
            <a:ext cx="47625" cy="133350"/>
          </a:xfrm>
          <a:custGeom xmlns:a="http://schemas.openxmlformats.org/drawingml/2006/main">
            <a:pathLst>
              <a:path w="47625" h="133350">
                <a:moveTo>
                  <a:pt x="47625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1" name="s2-229-edge-362">
            <a:extLst xmlns:a="http://schemas.openxmlformats.org/drawingml/2006/main">
              <a:ext uri="{FF2B5EF4-FFF2-40B4-BE49-F238E27FC236}">
                <a16:creationId xmlns:a16="http://schemas.microsoft.com/office/drawing/2014/main" id="{583EF764-2BE6-459E-85DB-660908F4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5147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2" name="s2-229-edge-363">
            <a:extLst xmlns:a="http://schemas.openxmlformats.org/drawingml/2006/main">
              <a:ext uri="{FF2B5EF4-FFF2-40B4-BE49-F238E27FC236}">
                <a16:creationId xmlns:a16="http://schemas.microsoft.com/office/drawing/2014/main" id="{B54A3BB6-439C-4415-99B6-23CE4B9F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514725"/>
            <a:ext cx="28575" cy="247650"/>
          </a:xfrm>
          <a:custGeom xmlns:a="http://schemas.openxmlformats.org/drawingml/2006/main">
            <a:pathLst>
              <a:path w="28575" h="247650">
                <a:moveTo>
                  <a:pt x="28575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3" name="s2-229-edge-364">
            <a:extLst xmlns:a="http://schemas.openxmlformats.org/drawingml/2006/main">
              <a:ext uri="{FF2B5EF4-FFF2-40B4-BE49-F238E27FC236}">
                <a16:creationId xmlns:a16="http://schemas.microsoft.com/office/drawing/2014/main" id="{303F3630-BC09-4383-9D06-AF640AC6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524250"/>
            <a:ext cx="28575" cy="190500"/>
          </a:xfrm>
          <a:custGeom xmlns:a="http://schemas.openxmlformats.org/drawingml/2006/main">
            <a:pathLst>
              <a:path w="28575" h="190500">
                <a:moveTo>
                  <a:pt x="28575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4" name="s2-229-edge-365">
            <a:extLst xmlns:a="http://schemas.openxmlformats.org/drawingml/2006/main">
              <a:ext uri="{FF2B5EF4-FFF2-40B4-BE49-F238E27FC236}">
                <a16:creationId xmlns:a16="http://schemas.microsoft.com/office/drawing/2014/main" id="{F14CDC37-EAB1-4146-BAC2-EE2A65BB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714750"/>
            <a:ext cx="180975" cy="47625"/>
          </a:xfrm>
          <a:custGeom xmlns:a="http://schemas.openxmlformats.org/drawingml/2006/main">
            <a:pathLst>
              <a:path w="180975" h="47625">
                <a:moveTo>
                  <a:pt x="180975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5" name="s2-229-edge-366">
            <a:extLst xmlns:a="http://schemas.openxmlformats.org/drawingml/2006/main">
              <a:ext uri="{FF2B5EF4-FFF2-40B4-BE49-F238E27FC236}">
                <a16:creationId xmlns:a16="http://schemas.microsoft.com/office/drawing/2014/main" id="{3E16E454-7801-4DA3-AE5C-C9AAA289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714750"/>
            <a:ext cx="123825" cy="228600"/>
          </a:xfrm>
          <a:custGeom xmlns:a="http://schemas.openxmlformats.org/drawingml/2006/main">
            <a:pathLst>
              <a:path w="123825" h="228600">
                <a:moveTo>
                  <a:pt x="123825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6" name="s2-229-edge-367">
            <a:extLst xmlns:a="http://schemas.openxmlformats.org/drawingml/2006/main">
              <a:ext uri="{FF2B5EF4-FFF2-40B4-BE49-F238E27FC236}">
                <a16:creationId xmlns:a16="http://schemas.microsoft.com/office/drawing/2014/main" id="{9742E98E-FB95-41BB-8B97-FEF3AC8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762375"/>
            <a:ext cx="161925" cy="57150"/>
          </a:xfrm>
          <a:custGeom xmlns:a="http://schemas.openxmlformats.org/drawingml/2006/main">
            <a:pathLst>
              <a:path w="161925" h="57150">
                <a:moveTo>
                  <a:pt x="161925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7" name="s2-229-edge-368">
            <a:extLst xmlns:a="http://schemas.openxmlformats.org/drawingml/2006/main">
              <a:ext uri="{FF2B5EF4-FFF2-40B4-BE49-F238E27FC236}">
                <a16:creationId xmlns:a16="http://schemas.microsoft.com/office/drawing/2014/main" id="{BC2D56A3-3F45-4EE1-A85F-CDFA5910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762375"/>
            <a:ext cx="171450" cy="238125"/>
          </a:xfrm>
          <a:custGeom xmlns:a="http://schemas.openxmlformats.org/drawingml/2006/main">
            <a:pathLst>
              <a:path w="171450" h="238125">
                <a:moveTo>
                  <a:pt x="17145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8" name="s2-229-edge-369">
            <a:extLst xmlns:a="http://schemas.openxmlformats.org/drawingml/2006/main">
              <a:ext uri="{FF2B5EF4-FFF2-40B4-BE49-F238E27FC236}">
                <a16:creationId xmlns:a16="http://schemas.microsoft.com/office/drawing/2014/main" id="{6BF6BE0B-3E20-4434-BFE5-C787FC77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762375"/>
            <a:ext cx="57150" cy="180975"/>
          </a:xfrm>
          <a:custGeom xmlns:a="http://schemas.openxmlformats.org/drawingml/2006/main">
            <a:pathLst>
              <a:path w="57150" h="180975">
                <a:moveTo>
                  <a:pt x="0" y="0"/>
                </a:moveTo>
                <a:lnTo>
                  <a:pt x="5715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89" name="s2-229-edge-370">
            <a:extLst xmlns:a="http://schemas.openxmlformats.org/drawingml/2006/main">
              <a:ext uri="{FF2B5EF4-FFF2-40B4-BE49-F238E27FC236}">
                <a16:creationId xmlns:a16="http://schemas.microsoft.com/office/drawing/2014/main" id="{14A6645D-1794-49D1-B8CD-B090C095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3762375"/>
            <a:ext cx="171450" cy="57150"/>
          </a:xfrm>
          <a:custGeom xmlns:a="http://schemas.openxmlformats.org/drawingml/2006/main">
            <a:pathLst>
              <a:path w="171450" h="57150">
                <a:moveTo>
                  <a:pt x="171450" y="57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0" name="s2-229-edge-371">
            <a:extLst xmlns:a="http://schemas.openxmlformats.org/drawingml/2006/main">
              <a:ext uri="{FF2B5EF4-FFF2-40B4-BE49-F238E27FC236}">
                <a16:creationId xmlns:a16="http://schemas.microsoft.com/office/drawing/2014/main" id="{E531AFE9-B576-4816-9D30-C53496A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819525"/>
            <a:ext cx="9525" cy="180975"/>
          </a:xfrm>
          <a:custGeom xmlns:a="http://schemas.openxmlformats.org/drawingml/2006/main">
            <a:pathLst>
              <a:path w="9525" h="180975">
                <a:moveTo>
                  <a:pt x="9525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1" name="s2-229-edge-372">
            <a:extLst xmlns:a="http://schemas.openxmlformats.org/drawingml/2006/main">
              <a:ext uri="{FF2B5EF4-FFF2-40B4-BE49-F238E27FC236}">
                <a16:creationId xmlns:a16="http://schemas.microsoft.com/office/drawing/2014/main" id="{3895AC77-F894-4CC3-8688-B766A33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3724275"/>
            <a:ext cx="28575" cy="95250"/>
          </a:xfrm>
          <a:custGeom xmlns:a="http://schemas.openxmlformats.org/drawingml/2006/main">
            <a:pathLst>
              <a:path w="28575" h="95250">
                <a:moveTo>
                  <a:pt x="28575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2" name="s2-229-edge-373">
            <a:extLst xmlns:a="http://schemas.openxmlformats.org/drawingml/2006/main">
              <a:ext uri="{FF2B5EF4-FFF2-40B4-BE49-F238E27FC236}">
                <a16:creationId xmlns:a16="http://schemas.microsoft.com/office/drawing/2014/main" id="{3F61CCF0-734C-4B69-90ED-F2D42A2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819525"/>
            <a:ext cx="190500" cy="28575"/>
          </a:xfrm>
          <a:custGeom xmlns:a="http://schemas.openxmlformats.org/drawingml/2006/main">
            <a:pathLst>
              <a:path w="190500" h="28575">
                <a:moveTo>
                  <a:pt x="19050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3" name="s2-229-edge-374">
            <a:extLst xmlns:a="http://schemas.openxmlformats.org/drawingml/2006/main">
              <a:ext uri="{FF2B5EF4-FFF2-40B4-BE49-F238E27FC236}">
                <a16:creationId xmlns:a16="http://schemas.microsoft.com/office/drawing/2014/main" id="{3F239B37-D080-44AB-A050-F6F795D7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3686175"/>
            <a:ext cx="142875" cy="76200"/>
          </a:xfrm>
          <a:custGeom xmlns:a="http://schemas.openxmlformats.org/drawingml/2006/main">
            <a:pathLst>
              <a:path w="142875" h="76200">
                <a:moveTo>
                  <a:pt x="142875" y="762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4" name="s2-229-edge-375">
            <a:extLst xmlns:a="http://schemas.openxmlformats.org/drawingml/2006/main">
              <a:ext uri="{FF2B5EF4-FFF2-40B4-BE49-F238E27FC236}">
                <a16:creationId xmlns:a16="http://schemas.microsoft.com/office/drawing/2014/main" id="{C9113BB4-0EB1-47DB-98A4-A9E94A3F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762375"/>
            <a:ext cx="19050" cy="200025"/>
          </a:xfrm>
          <a:custGeom xmlns:a="http://schemas.openxmlformats.org/drawingml/2006/main">
            <a:pathLst>
              <a:path w="19050" h="200025">
                <a:moveTo>
                  <a:pt x="1905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5" name="s2-229-edge-376">
            <a:extLst xmlns:a="http://schemas.openxmlformats.org/drawingml/2006/main">
              <a:ext uri="{FF2B5EF4-FFF2-40B4-BE49-F238E27FC236}">
                <a16:creationId xmlns:a16="http://schemas.microsoft.com/office/drawing/2014/main" id="{9B1FEE58-5053-4FDE-B591-8A0A6FA9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762375"/>
            <a:ext cx="19050" cy="85725"/>
          </a:xfrm>
          <a:custGeom xmlns:a="http://schemas.openxmlformats.org/drawingml/2006/main">
            <a:pathLst>
              <a:path w="19050" h="85725">
                <a:moveTo>
                  <a:pt x="1905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6" name="s2-229-edge-377">
            <a:extLst xmlns:a="http://schemas.openxmlformats.org/drawingml/2006/main">
              <a:ext uri="{FF2B5EF4-FFF2-40B4-BE49-F238E27FC236}">
                <a16:creationId xmlns:a16="http://schemas.microsoft.com/office/drawing/2014/main" id="{2735D04B-1B33-4AF8-B1E5-4C245C3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686175"/>
            <a:ext cx="85725" cy="200025"/>
          </a:xfrm>
          <a:custGeom xmlns:a="http://schemas.openxmlformats.org/drawingml/2006/main">
            <a:pathLst>
              <a:path w="85725" h="200025">
                <a:moveTo>
                  <a:pt x="85725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7" name="s2-229-edge-378">
            <a:extLst xmlns:a="http://schemas.openxmlformats.org/drawingml/2006/main">
              <a:ext uri="{FF2B5EF4-FFF2-40B4-BE49-F238E27FC236}">
                <a16:creationId xmlns:a16="http://schemas.microsoft.com/office/drawing/2014/main" id="{6F88DBCC-97A3-48AA-AD7D-1ED8380C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886200"/>
            <a:ext cx="209550" cy="76200"/>
          </a:xfrm>
          <a:custGeom xmlns:a="http://schemas.openxmlformats.org/drawingml/2006/main">
            <a:pathLst>
              <a:path w="209550" h="76200">
                <a:moveTo>
                  <a:pt x="0" y="0"/>
                </a:moveTo>
                <a:lnTo>
                  <a:pt x="2095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8" name="s2-229-edge-379">
            <a:extLst xmlns:a="http://schemas.openxmlformats.org/drawingml/2006/main">
              <a:ext uri="{FF2B5EF4-FFF2-40B4-BE49-F238E27FC236}">
                <a16:creationId xmlns:a16="http://schemas.microsoft.com/office/drawing/2014/main" id="{10393F43-64B5-41B1-9800-B946B3D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962400"/>
            <a:ext cx="180975" cy="38100"/>
          </a:xfrm>
          <a:custGeom xmlns:a="http://schemas.openxmlformats.org/drawingml/2006/main">
            <a:pathLst>
              <a:path w="180975" h="38100">
                <a:moveTo>
                  <a:pt x="0" y="0"/>
                </a:moveTo>
                <a:lnTo>
                  <a:pt x="180975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399" name="s2-229-edge-380">
            <a:extLst xmlns:a="http://schemas.openxmlformats.org/drawingml/2006/main">
              <a:ext uri="{FF2B5EF4-FFF2-40B4-BE49-F238E27FC236}">
                <a16:creationId xmlns:a16="http://schemas.microsoft.com/office/drawing/2014/main" id="{CBD43A7A-BBBC-4F2F-B77E-E237B282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848100"/>
            <a:ext cx="95" cy="114300"/>
          </a:xfrm>
          <a:custGeom xmlns:a="http://schemas.openxmlformats.org/drawingml/2006/main">
            <a:pathLst>
              <a:path w="95"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0" name="s2-229-edge-381">
            <a:extLst xmlns:a="http://schemas.openxmlformats.org/drawingml/2006/main">
              <a:ext uri="{FF2B5EF4-FFF2-40B4-BE49-F238E27FC236}">
                <a16:creationId xmlns:a16="http://schemas.microsoft.com/office/drawing/2014/main" id="{9578A9B2-EC0E-4E13-A061-ABFA806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943350"/>
            <a:ext cx="228600" cy="57150"/>
          </a:xfrm>
          <a:custGeom xmlns:a="http://schemas.openxmlformats.org/drawingml/2006/main">
            <a:pathLst>
              <a:path w="228600" h="57150">
                <a:moveTo>
                  <a:pt x="0" y="5715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1" name="s2-229-edge-382">
            <a:extLst xmlns:a="http://schemas.openxmlformats.org/drawingml/2006/main">
              <a:ext uri="{FF2B5EF4-FFF2-40B4-BE49-F238E27FC236}">
                <a16:creationId xmlns:a16="http://schemas.microsoft.com/office/drawing/2014/main" id="{A9D92BDF-2C32-4E6C-B7BF-9A0746D8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3943350"/>
            <a:ext cx="38100" cy="104775"/>
          </a:xfrm>
          <a:custGeom xmlns:a="http://schemas.openxmlformats.org/drawingml/2006/main">
            <a:pathLst>
              <a:path w="38100" h="104775">
                <a:moveTo>
                  <a:pt x="3810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2" name="s2-229-edge-383">
            <a:extLst xmlns:a="http://schemas.openxmlformats.org/drawingml/2006/main">
              <a:ext uri="{FF2B5EF4-FFF2-40B4-BE49-F238E27FC236}">
                <a16:creationId xmlns:a16="http://schemas.microsoft.com/office/drawing/2014/main" id="{477F6646-1064-4C7A-8CAB-AFEEDF8B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724275"/>
            <a:ext cx="161925" cy="123825"/>
          </a:xfrm>
          <a:custGeom xmlns:a="http://schemas.openxmlformats.org/drawingml/2006/main">
            <a:pathLst>
              <a:path w="161925" h="123825">
                <a:moveTo>
                  <a:pt x="161925" y="0"/>
                </a:moveTo>
                <a:lnTo>
                  <a:pt x="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3" name="s2-229-edge-384">
            <a:extLst xmlns:a="http://schemas.openxmlformats.org/drawingml/2006/main">
              <a:ext uri="{FF2B5EF4-FFF2-40B4-BE49-F238E27FC236}">
                <a16:creationId xmlns:a16="http://schemas.microsoft.com/office/drawing/2014/main" id="{31332CF1-D83D-43B2-A05E-4B60E752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286125"/>
            <a:ext cx="180975" cy="276225"/>
          </a:xfrm>
          <a:custGeom xmlns:a="http://schemas.openxmlformats.org/drawingml/2006/main">
            <a:pathLst>
              <a:path w="180975" h="276225">
                <a:moveTo>
                  <a:pt x="0" y="0"/>
                </a:moveTo>
                <a:lnTo>
                  <a:pt x="180975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4" name="s2-229-edge-385">
            <a:extLst xmlns:a="http://schemas.openxmlformats.org/drawingml/2006/main">
              <a:ext uri="{FF2B5EF4-FFF2-40B4-BE49-F238E27FC236}">
                <a16:creationId xmlns:a16="http://schemas.microsoft.com/office/drawing/2014/main" id="{BFDAF1B8-8A7D-4136-AFA5-7D894073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3524250"/>
            <a:ext cx="333375" cy="295275"/>
          </a:xfrm>
          <a:custGeom xmlns:a="http://schemas.openxmlformats.org/drawingml/2006/main">
            <a:pathLst>
              <a:path w="333375" h="295275">
                <a:moveTo>
                  <a:pt x="0" y="0"/>
                </a:moveTo>
                <a:lnTo>
                  <a:pt x="333375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5" name="s2-229-edge-386">
            <a:extLst xmlns:a="http://schemas.openxmlformats.org/drawingml/2006/main">
              <a:ext uri="{FF2B5EF4-FFF2-40B4-BE49-F238E27FC236}">
                <a16:creationId xmlns:a16="http://schemas.microsoft.com/office/drawing/2014/main" id="{C36DC91D-211A-4CAC-AE2C-15277A36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3524250"/>
            <a:ext cx="209550" cy="238125"/>
          </a:xfrm>
          <a:custGeom xmlns:a="http://schemas.openxmlformats.org/drawingml/2006/main">
            <a:pathLst>
              <a:path w="209550" h="238125">
                <a:moveTo>
                  <a:pt x="20955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6" name="s2-229-edge-387">
            <a:extLst xmlns:a="http://schemas.openxmlformats.org/drawingml/2006/main">
              <a:ext uri="{FF2B5EF4-FFF2-40B4-BE49-F238E27FC236}">
                <a16:creationId xmlns:a16="http://schemas.microsoft.com/office/drawing/2014/main" id="{AEC80E4D-AAA2-4EE6-BB59-6D4367B1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590925"/>
            <a:ext cx="209550" cy="371475"/>
          </a:xfrm>
          <a:custGeom xmlns:a="http://schemas.openxmlformats.org/drawingml/2006/main">
            <a:pathLst>
              <a:path w="209550" h="371475">
                <a:moveTo>
                  <a:pt x="20955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4176B4"/>
            </a:solidFill>
            <a:prstDash val="solid"/>
          </a:ln>
        </p:spPr>
      </p:sp>
      <p:sp>
        <p:nvSpPr>
          <p:cNvPr id="407" name="s2-229-node-388">
            <a:extLst xmlns:a="http://schemas.openxmlformats.org/drawingml/2006/main">
              <a:ext uri="{FF2B5EF4-FFF2-40B4-BE49-F238E27FC236}">
                <a16:creationId xmlns:a16="http://schemas.microsoft.com/office/drawing/2014/main" id="{2B5A53FD-9389-40F1-AFE9-D2C7172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546" y="32656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08" name="s2-229-node-389">
            <a:extLst xmlns:a="http://schemas.openxmlformats.org/drawingml/2006/main">
              <a:ext uri="{FF2B5EF4-FFF2-40B4-BE49-F238E27FC236}">
                <a16:creationId xmlns:a16="http://schemas.microsoft.com/office/drawing/2014/main" id="{2940F91A-ADF8-4F95-95CE-18DE5FC5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821" y="34180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09" name="s2-229-node-390">
            <a:extLst xmlns:a="http://schemas.openxmlformats.org/drawingml/2006/main">
              <a:ext uri="{FF2B5EF4-FFF2-40B4-BE49-F238E27FC236}">
                <a16:creationId xmlns:a16="http://schemas.microsoft.com/office/drawing/2014/main" id="{BB179AC1-0136-4EA0-8A48-FDAEB9E5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421" y="33513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0" name="s2-229-node-391">
            <a:extLst xmlns:a="http://schemas.openxmlformats.org/drawingml/2006/main">
              <a:ext uri="{FF2B5EF4-FFF2-40B4-BE49-F238E27FC236}">
                <a16:creationId xmlns:a16="http://schemas.microsoft.com/office/drawing/2014/main" id="{9A5E0FB8-9969-4CD4-8E6F-BE0D3F34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921" y="324659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1" name="s2-229-node-392">
            <a:extLst xmlns:a="http://schemas.openxmlformats.org/drawingml/2006/main">
              <a:ext uri="{FF2B5EF4-FFF2-40B4-BE49-F238E27FC236}">
                <a16:creationId xmlns:a16="http://schemas.microsoft.com/office/drawing/2014/main" id="{44C2762A-A735-426E-A841-ACD4F8A8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6496" y="340852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2" name="s2-229-node-393">
            <a:extLst xmlns:a="http://schemas.openxmlformats.org/drawingml/2006/main">
              <a:ext uri="{FF2B5EF4-FFF2-40B4-BE49-F238E27FC236}">
                <a16:creationId xmlns:a16="http://schemas.microsoft.com/office/drawing/2014/main" id="{0D2DC771-9889-474E-B546-1EF5F309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4146" y="32751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3" name="s2-229-node-394">
            <a:extLst xmlns:a="http://schemas.openxmlformats.org/drawingml/2006/main">
              <a:ext uri="{FF2B5EF4-FFF2-40B4-BE49-F238E27FC236}">
                <a16:creationId xmlns:a16="http://schemas.microsoft.com/office/drawing/2014/main" id="{FA3E2D3C-CB5F-4776-9EA6-A752E978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6071" y="33513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4" name="s2-229-node-395">
            <a:extLst xmlns:a="http://schemas.openxmlformats.org/drawingml/2006/main">
              <a:ext uri="{FF2B5EF4-FFF2-40B4-BE49-F238E27FC236}">
                <a16:creationId xmlns:a16="http://schemas.microsoft.com/office/drawing/2014/main" id="{27E751D2-1BB3-47AB-8987-1EEDC1F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471" y="356092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5" name="s2-229-node-396">
            <a:extLst xmlns:a="http://schemas.openxmlformats.org/drawingml/2006/main">
              <a:ext uri="{FF2B5EF4-FFF2-40B4-BE49-F238E27FC236}">
                <a16:creationId xmlns:a16="http://schemas.microsoft.com/office/drawing/2014/main" id="{FD03CCE5-8FD9-4820-B73C-9CEB6030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8946" y="37323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6" name="s2-229-node-397">
            <a:extLst xmlns:a="http://schemas.openxmlformats.org/drawingml/2006/main">
              <a:ext uri="{FF2B5EF4-FFF2-40B4-BE49-F238E27FC236}">
                <a16:creationId xmlns:a16="http://schemas.microsoft.com/office/drawing/2014/main" id="{65B2B2FD-A69E-41DC-84DA-EFC5420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746" y="39228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7" name="s2-229-node-398">
            <a:extLst xmlns:a="http://schemas.openxmlformats.org/drawingml/2006/main">
              <a:ext uri="{FF2B5EF4-FFF2-40B4-BE49-F238E27FC236}">
                <a16:creationId xmlns:a16="http://schemas.microsoft.com/office/drawing/2014/main" id="{8798F2D3-4DB2-45F0-B77C-0709A42E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696" y="40752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8" name="s2-229-node-399">
            <a:extLst xmlns:a="http://schemas.openxmlformats.org/drawingml/2006/main">
              <a:ext uri="{FF2B5EF4-FFF2-40B4-BE49-F238E27FC236}">
                <a16:creationId xmlns:a16="http://schemas.microsoft.com/office/drawing/2014/main" id="{CD1D1F17-9171-4C45-8298-DEE56483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721" y="41038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19" name="s2-229-node-400">
            <a:extLst xmlns:a="http://schemas.openxmlformats.org/drawingml/2006/main">
              <a:ext uri="{FF2B5EF4-FFF2-40B4-BE49-F238E27FC236}">
                <a16:creationId xmlns:a16="http://schemas.microsoft.com/office/drawing/2014/main" id="{D72EF3CB-57ED-449D-8F87-B380C8FD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221" y="416099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0" name="s2-229-node-401">
            <a:extLst xmlns:a="http://schemas.openxmlformats.org/drawingml/2006/main">
              <a:ext uri="{FF2B5EF4-FFF2-40B4-BE49-F238E27FC236}">
                <a16:creationId xmlns:a16="http://schemas.microsoft.com/office/drawing/2014/main" id="{10DAF8C0-7945-4420-B874-32BC6F58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771" y="41514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1" name="s2-229-node-402">
            <a:extLst xmlns:a="http://schemas.openxmlformats.org/drawingml/2006/main">
              <a:ext uri="{FF2B5EF4-FFF2-40B4-BE49-F238E27FC236}">
                <a16:creationId xmlns:a16="http://schemas.microsoft.com/office/drawing/2014/main" id="{D26C63A9-BB84-478B-9263-7C723DA6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321" y="40657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2" name="s2-229-node-403">
            <a:extLst xmlns:a="http://schemas.openxmlformats.org/drawingml/2006/main">
              <a:ext uri="{FF2B5EF4-FFF2-40B4-BE49-F238E27FC236}">
                <a16:creationId xmlns:a16="http://schemas.microsoft.com/office/drawing/2014/main" id="{6B8CB9DB-9CB0-4855-B901-696CF775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6921" y="39990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3" name="s2-229-node-404">
            <a:extLst xmlns:a="http://schemas.openxmlformats.org/drawingml/2006/main">
              <a:ext uri="{FF2B5EF4-FFF2-40B4-BE49-F238E27FC236}">
                <a16:creationId xmlns:a16="http://schemas.microsoft.com/office/drawing/2014/main" id="{19F9349F-EADE-478D-92AB-7A11E066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3096" y="378952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4" name="s2-229-node-405">
            <a:extLst xmlns:a="http://schemas.openxmlformats.org/drawingml/2006/main">
              <a:ext uri="{FF2B5EF4-FFF2-40B4-BE49-F238E27FC236}">
                <a16:creationId xmlns:a16="http://schemas.microsoft.com/office/drawing/2014/main" id="{5007E950-6214-4A55-9D01-42B2F05B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246" y="36466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5" name="s2-229-node-406">
            <a:extLst xmlns:a="http://schemas.openxmlformats.org/drawingml/2006/main">
              <a:ext uri="{FF2B5EF4-FFF2-40B4-BE49-F238E27FC236}">
                <a16:creationId xmlns:a16="http://schemas.microsoft.com/office/drawing/2014/main" id="{14E17F38-D3FC-425F-96F7-17CEDAEA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2646" y="35037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6" name="s2-229-node-407">
            <a:extLst xmlns:a="http://schemas.openxmlformats.org/drawingml/2006/main">
              <a:ext uri="{FF2B5EF4-FFF2-40B4-BE49-F238E27FC236}">
                <a16:creationId xmlns:a16="http://schemas.microsoft.com/office/drawing/2014/main" id="{7C6FCDB7-C444-4B61-A166-7AE458B5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5521" y="35418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7" name="s2-229-node-408">
            <a:extLst xmlns:a="http://schemas.openxmlformats.org/drawingml/2006/main">
              <a:ext uri="{FF2B5EF4-FFF2-40B4-BE49-F238E27FC236}">
                <a16:creationId xmlns:a16="http://schemas.microsoft.com/office/drawing/2014/main" id="{6B0EF4A3-00DE-4CE3-B615-9503E3DA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071" y="35704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8" name="s2-229-node-409">
            <a:extLst xmlns:a="http://schemas.openxmlformats.org/drawingml/2006/main">
              <a:ext uri="{FF2B5EF4-FFF2-40B4-BE49-F238E27FC236}">
                <a16:creationId xmlns:a16="http://schemas.microsoft.com/office/drawing/2014/main" id="{8C890127-2E70-4378-B1F0-3AAF1E2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6521" y="34942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29" name="s2-229-node-410">
            <a:extLst xmlns:a="http://schemas.openxmlformats.org/drawingml/2006/main">
              <a:ext uri="{FF2B5EF4-FFF2-40B4-BE49-F238E27FC236}">
                <a16:creationId xmlns:a16="http://schemas.microsoft.com/office/drawing/2014/main" id="{FDD77471-3034-4418-9B0F-46BF7A88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496" y="35037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0" name="s2-229-node-411">
            <a:extLst xmlns:a="http://schemas.openxmlformats.org/drawingml/2006/main">
              <a:ext uri="{FF2B5EF4-FFF2-40B4-BE49-F238E27FC236}">
                <a16:creationId xmlns:a16="http://schemas.microsoft.com/office/drawing/2014/main" id="{94BFA8B7-CCFB-4F1F-86C3-C0927455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921" y="36942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1" name="s2-229-node-412">
            <a:extLst xmlns:a="http://schemas.openxmlformats.org/drawingml/2006/main">
              <a:ext uri="{FF2B5EF4-FFF2-40B4-BE49-F238E27FC236}">
                <a16:creationId xmlns:a16="http://schemas.microsoft.com/office/drawing/2014/main" id="{39DF649A-2E1C-477B-BA66-4822113E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946" y="374189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2" name="s2-229-node-413">
            <a:extLst xmlns:a="http://schemas.openxmlformats.org/drawingml/2006/main">
              <a:ext uri="{FF2B5EF4-FFF2-40B4-BE49-F238E27FC236}">
                <a16:creationId xmlns:a16="http://schemas.microsoft.com/office/drawing/2014/main" id="{269BC4A2-7115-4BFC-8EB3-798CEA45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6021" y="37990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3" name="s2-229-node-414">
            <a:extLst xmlns:a="http://schemas.openxmlformats.org/drawingml/2006/main">
              <a:ext uri="{FF2B5EF4-FFF2-40B4-BE49-F238E27FC236}">
                <a16:creationId xmlns:a16="http://schemas.microsoft.com/office/drawing/2014/main" id="{742E87F4-CD40-4431-B7F5-FD0E932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4571" y="374189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4" name="s2-229-node-415">
            <a:extLst xmlns:a="http://schemas.openxmlformats.org/drawingml/2006/main">
              <a:ext uri="{FF2B5EF4-FFF2-40B4-BE49-F238E27FC236}">
                <a16:creationId xmlns:a16="http://schemas.microsoft.com/office/drawing/2014/main" id="{8A234B70-7548-43F9-BA31-AFE4402B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1696" y="366569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5" name="s2-229-node-416">
            <a:extLst xmlns:a="http://schemas.openxmlformats.org/drawingml/2006/main">
              <a:ext uri="{FF2B5EF4-FFF2-40B4-BE49-F238E27FC236}">
                <a16:creationId xmlns:a16="http://schemas.microsoft.com/office/drawing/2014/main" id="{82A4CE31-CA25-48CF-91F8-23DB679E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5971" y="386572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6" name="s2-229-node-417">
            <a:extLst xmlns:a="http://schemas.openxmlformats.org/drawingml/2006/main">
              <a:ext uri="{FF2B5EF4-FFF2-40B4-BE49-F238E27FC236}">
                <a16:creationId xmlns:a16="http://schemas.microsoft.com/office/drawing/2014/main" id="{21E58B87-F9F9-4B3E-BAB7-416EE654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5521" y="394192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7" name="s2-229-node-418">
            <a:extLst xmlns:a="http://schemas.openxmlformats.org/drawingml/2006/main">
              <a:ext uri="{FF2B5EF4-FFF2-40B4-BE49-F238E27FC236}">
                <a16:creationId xmlns:a16="http://schemas.microsoft.com/office/drawing/2014/main" id="{0BE8CF71-D9DF-4A37-A5DB-8B05B36E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6496" y="398002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8" name="s2-229-node-419">
            <a:extLst xmlns:a="http://schemas.openxmlformats.org/drawingml/2006/main">
              <a:ext uri="{FF2B5EF4-FFF2-40B4-BE49-F238E27FC236}">
                <a16:creationId xmlns:a16="http://schemas.microsoft.com/office/drawing/2014/main" id="{72FEE1C2-B26C-411B-96AC-F8D631D1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5096" y="392287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39" name="s2-229-node-420">
            <a:extLst xmlns:a="http://schemas.openxmlformats.org/drawingml/2006/main">
              <a:ext uri="{FF2B5EF4-FFF2-40B4-BE49-F238E27FC236}">
                <a16:creationId xmlns:a16="http://schemas.microsoft.com/office/drawing/2014/main" id="{51E325E3-F220-4E36-AE87-DC57827D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446" y="370379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40" name="s2-229-node-421">
            <a:extLst xmlns:a="http://schemas.openxmlformats.org/drawingml/2006/main">
              <a:ext uri="{FF2B5EF4-FFF2-40B4-BE49-F238E27FC236}">
                <a16:creationId xmlns:a16="http://schemas.microsoft.com/office/drawing/2014/main" id="{9FA54858-56FC-4EEC-B27B-574C335E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996" y="4027646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41" name="s2-229-node-422">
            <a:extLst xmlns:a="http://schemas.openxmlformats.org/drawingml/2006/main">
              <a:ext uri="{FF2B5EF4-FFF2-40B4-BE49-F238E27FC236}">
                <a16:creationId xmlns:a16="http://schemas.microsoft.com/office/drawing/2014/main" id="{9DC33895-FED8-41E7-94D7-7E5AC535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5521" y="3827621"/>
            <a:ext cx="40958" cy="4095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A6E4"/>
          </a:solidFill>
          <a:ln xmlns:a="http://schemas.openxmlformats.org/drawingml/2006/main" w="6191">
            <a:solidFill>
              <a:srgbClr val="144B99"/>
            </a:solidFill>
            <a:prstDash val="solid"/>
          </a:ln>
        </p:spPr>
      </p:sp>
      <p:sp>
        <p:nvSpPr>
          <p:cNvPr id="442" name="s2-scale229-text-423">
            <a:extLst xmlns:a="http://schemas.openxmlformats.org/drawingml/2006/main">
              <a:ext uri="{FF2B5EF4-FFF2-40B4-BE49-F238E27FC236}">
                <a16:creationId xmlns:a16="http://schemas.microsoft.com/office/drawing/2014/main" id="{07BB9B99-CE6F-4B43-9B9C-342EE8CA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352800"/>
            <a:ext cx="10191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229 个节点</a:t>
            </a:r>
          </a:p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354 条线路</a:t>
            </a:r>
          </a:p>
          <a:p xmlns:a="http://schemas.openxmlformats.org/drawingml/2006/main">
            <a:pPr algn="l">
              <a:def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• 5 个情景</a:t>
            </a:r>
          </a:p>
        </p:txBody>
      </p:sp>
      <p:sp>
        <p:nvSpPr>
          <p:cNvPr id="443" name="s2-table-frame-424">
            <a:extLst xmlns:a="http://schemas.openxmlformats.org/drawingml/2006/main">
              <a:ext uri="{FF2B5EF4-FFF2-40B4-BE49-F238E27FC236}">
                <a16:creationId xmlns:a16="http://schemas.microsoft.com/office/drawing/2014/main" id="{55F11790-2C19-480B-83E2-9B973FC3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00550"/>
            <a:ext cx="4972050" cy="1781175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444" name="s2-table-heading-425">
            <a:extLst xmlns:a="http://schemas.openxmlformats.org/drawingml/2006/main">
              <a:ext uri="{FF2B5EF4-FFF2-40B4-BE49-F238E27FC236}">
                <a16:creationId xmlns:a16="http://schemas.microsoft.com/office/drawing/2014/main" id="{0FC8854C-26C2-4ECB-9437-3B4F2C7E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00550"/>
            <a:ext cx="4972050" cy="304800"/>
          </a:xfrm>
          <a:prstGeom xmlns:a="http://schemas.openxmlformats.org/drawingml/2006/main" prst="roundRect">
            <a:avLst>
              <a:gd name="adj" fmla="val 18750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7F3FD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445" name="s2-table-headingt-426">
            <a:extLst xmlns:a="http://schemas.openxmlformats.org/drawingml/2006/main">
              <a:ext uri="{FF2B5EF4-FFF2-40B4-BE49-F238E27FC236}">
                <a16:creationId xmlns:a16="http://schemas.microsoft.com/office/drawing/2014/main" id="{E8758A54-AFEC-4E0A-B326-9352BD46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00550"/>
            <a:ext cx="497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求解结果对比</a:t>
            </a:r>
          </a:p>
        </p:txBody>
      </p:sp>
      <p:graphicFrame>
        <p:nvGraphicFramePr>
          <p:cNvPr id="955" name=""/>
          <p:cNvGraphicFramePr/>
          <p:nvPr/>
        </p:nvGraphicFramePr>
        <p:xfrm>
          <a:off xmlns:a="http://schemas.openxmlformats.org/drawingml/2006/main" x="10734675" y="4733925"/>
          <a:ext xmlns:a="http://schemas.openxmlformats.org/drawingml/2006/main" cx="4905375" cy="1447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62075"/>
                <a:gridCol w="1066800"/>
                <a:gridCol w="1219200"/>
                <a:gridCol w="1257300"/>
              </a:tblGrid>
              <a:tr h="295275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算例</a:t>
                      </a:r>
                    </a:p>
                  </a:txBody>
                  <a:tcPr marL="28575" marR="28575" marT="9525" marB="9525" anchor="ctr" horzOverflow="clip">
                    <a:solidFill>
                      <a:srgbClr val="E0F0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迭代次数 (次)</a:t>
                      </a:r>
                    </a:p>
                  </a:txBody>
                  <a:tcPr marL="28575" marR="28575" marT="9525" marB="9525" anchor="ctr" horzOverflow="clip">
                    <a:solidFill>
                      <a:srgbClr val="E0F0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求解时间 (小时)</a:t>
                      </a:r>
                    </a:p>
                  </a:txBody>
                  <a:tcPr marL="28575" marR="28575" marT="9525" marB="9525" anchor="ctr" horzOverflow="clip">
                    <a:solidFill>
                      <a:srgbClr val="E0F0FC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最优间隙 (%)</a:t>
                      </a:r>
                    </a:p>
                  </a:txBody>
                  <a:tcPr marL="28575" marR="28575" marT="9525" marB="9525" anchor="ctr" horzOverflow="clip">
                    <a:solidFill>
                      <a:srgbClr val="E0F0FC"/>
                    </a:solidFill>
                  </a:tcPr>
                </a:tc>
              </a:tr>
              <a:tr h="288131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76节点 (Multicut)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1,243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</a:tr>
              <a:tr h="288131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76节点 (MLMBD)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356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</a:tr>
              <a:tr h="288131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229节点 (Multicut)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5,862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614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</a:t>
                      </a:r>
                    </a:p>
                  </a:txBody>
                  <a:tcPr marL="28575" marR="28575" marT="9525" marB="9525" anchor="ctr" horzOverflow="clip">
                    <a:solidFill>
                      <a:srgbClr val="F8FCFF"/>
                    </a:solidFill>
                  </a:tcPr>
                </a:tc>
              </a:tr>
              <a:tr h="288131"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088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229节点 (MLMBD)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1,204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</a:t>
                      </a:r>
                    </a:p>
                  </a:txBody>
                  <a:tcPr marL="28575" marR="28575" marT="9525" marB="9525" anchor="ctr" horzOverflow="clip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7" name="s2-algorithm-frame-427">
            <a:extLst xmlns:a="http://schemas.openxmlformats.org/drawingml/2006/main">
              <a:ext uri="{FF2B5EF4-FFF2-40B4-BE49-F238E27FC236}">
                <a16:creationId xmlns:a16="http://schemas.microsoft.com/office/drawing/2014/main" id="{E64B0154-AE8E-4C84-B549-FA70D04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49720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448" name="s2-algorithm-heading-428">
            <a:extLst xmlns:a="http://schemas.openxmlformats.org/drawingml/2006/main">
              <a:ext uri="{FF2B5EF4-FFF2-40B4-BE49-F238E27FC236}">
                <a16:creationId xmlns:a16="http://schemas.microsoft.com/office/drawing/2014/main" id="{3878E714-A269-4A86-9CAC-FA689760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4972050" cy="314325"/>
          </a:xfrm>
          <a:prstGeom xmlns:a="http://schemas.openxmlformats.org/drawingml/2006/main" prst="roundRect">
            <a:avLst>
              <a:gd name="adj" fmla="val 18182"/>
            </a:avLst>
          </a:prstGeom>
          <a:gradFill xmlns:a="http://schemas.openxmlformats.org/drawingml/2006/main">
            <a:gsLst>
              <a:gs pos="0">
                <a:srgbClr val="F2FAFF"/>
              </a:gs>
              <a:gs pos="100000">
                <a:srgbClr val="E7F3FD"/>
              </a:gs>
            </a:gsLst>
            <a:lin ang="5400000"/>
          </a:gra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449" name="s2-algorithm-headingt-429">
            <a:extLst xmlns:a="http://schemas.openxmlformats.org/drawingml/2006/main">
              <a:ext uri="{FF2B5EF4-FFF2-40B4-BE49-F238E27FC236}">
                <a16:creationId xmlns:a16="http://schemas.microsoft.com/office/drawing/2014/main" id="{89306A39-6FFC-406C-96D8-E56ABE06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497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算法思路对比</a:t>
            </a:r>
          </a:p>
        </p:txBody>
      </p:sp>
      <p:sp>
        <p:nvSpPr>
          <p:cNvPr id="450" name="s2-traditional-card-430">
            <a:extLst xmlns:a="http://schemas.openxmlformats.org/drawingml/2006/main">
              <a:ext uri="{FF2B5EF4-FFF2-40B4-BE49-F238E27FC236}">
                <a16:creationId xmlns:a16="http://schemas.microsoft.com/office/drawing/2014/main" id="{443ACD38-6E93-4EE2-9007-03D67794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610350"/>
            <a:ext cx="1847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5E9FB"/>
            </a:solidFill>
            <a:prstDash val="solid"/>
          </a:ln>
        </p:spPr>
      </p:sp>
      <p:sp>
        <p:nvSpPr>
          <p:cNvPr id="451" name="s2-ml-card-431">
            <a:extLst xmlns:a="http://schemas.openxmlformats.org/drawingml/2006/main">
              <a:ext uri="{FF2B5EF4-FFF2-40B4-BE49-F238E27FC236}">
                <a16:creationId xmlns:a16="http://schemas.microsoft.com/office/drawing/2014/main" id="{1A357CE6-B5D9-47D8-BD9D-6C3B930C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610350"/>
            <a:ext cx="1809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5E9FB"/>
            </a:solidFill>
            <a:prstDash val="solid"/>
          </a:ln>
        </p:spPr>
      </p:sp>
      <p:sp>
        <p:nvSpPr>
          <p:cNvPr id="452" name="s2-traditional-card-head-432">
            <a:extLst xmlns:a="http://schemas.openxmlformats.org/drawingml/2006/main">
              <a:ext uri="{FF2B5EF4-FFF2-40B4-BE49-F238E27FC236}">
                <a16:creationId xmlns:a16="http://schemas.microsoft.com/office/drawing/2014/main" id="{1043FC33-8A4D-47B7-838D-4BE51CF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6103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s2-ml-card-head-433">
            <a:extLst xmlns:a="http://schemas.openxmlformats.org/drawingml/2006/main">
              <a:ext uri="{FF2B5EF4-FFF2-40B4-BE49-F238E27FC236}">
                <a16:creationId xmlns:a16="http://schemas.microsoft.com/office/drawing/2014/main" id="{7E7B9A31-CF6D-4B88-89BB-523C524F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6103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s2-traditional-heading-434">
            <a:extLst xmlns:a="http://schemas.openxmlformats.org/drawingml/2006/main">
              <a:ext uri="{FF2B5EF4-FFF2-40B4-BE49-F238E27FC236}">
                <a16:creationId xmlns:a16="http://schemas.microsoft.com/office/drawing/2014/main" id="{D61F845D-F0C9-44A5-B6C1-33E74D6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638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传统 Multicut Benders</a:t>
            </a:r>
          </a:p>
        </p:txBody>
      </p:sp>
      <p:sp>
        <p:nvSpPr>
          <p:cNvPr id="455" name="s2-ml-heading-435">
            <a:extLst xmlns:a="http://schemas.openxmlformats.org/drawingml/2006/main">
              <a:ext uri="{FF2B5EF4-FFF2-40B4-BE49-F238E27FC236}">
                <a16:creationId xmlns:a16="http://schemas.microsoft.com/office/drawing/2014/main" id="{8A31624B-AC90-443E-9425-C14BB2F7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638925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MLMBD</a:t>
            </a:r>
          </a:p>
        </p:txBody>
      </p:sp>
      <p:sp>
        <p:nvSpPr>
          <p:cNvPr id="456" name="s2-document-436">
            <a:extLst xmlns:a="http://schemas.openxmlformats.org/drawingml/2006/main">
              <a:ext uri="{FF2B5EF4-FFF2-40B4-BE49-F238E27FC236}">
                <a16:creationId xmlns:a16="http://schemas.microsoft.com/office/drawing/2014/main" id="{36388CFA-6A1C-421B-8158-0ED2C1EA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962775"/>
            <a:ext cx="200025" cy="3619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57" name="s2-document-fold-437">
            <a:extLst xmlns:a="http://schemas.openxmlformats.org/drawingml/2006/main">
              <a:ext uri="{FF2B5EF4-FFF2-40B4-BE49-F238E27FC236}">
                <a16:creationId xmlns:a16="http://schemas.microsoft.com/office/drawing/2014/main" id="{40470AF6-38A3-4D64-B746-D860E1F1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9627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58" name="s2-document-fold-438">
            <a:extLst xmlns:a="http://schemas.openxmlformats.org/drawingml/2006/main">
              <a:ext uri="{FF2B5EF4-FFF2-40B4-BE49-F238E27FC236}">
                <a16:creationId xmlns:a16="http://schemas.microsoft.com/office/drawing/2014/main" id="{8A8B7B1E-54F9-4677-8578-2D9AFABB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03897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59" name="s2-document-lines-439">
            <a:extLst xmlns:a="http://schemas.openxmlformats.org/drawingml/2006/main">
              <a:ext uri="{FF2B5EF4-FFF2-40B4-BE49-F238E27FC236}">
                <a16:creationId xmlns:a16="http://schemas.microsoft.com/office/drawing/2014/main" id="{14331A8D-4B11-4BE3-920F-1FE781C9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0866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60" name="s2-document-lines-440">
            <a:extLst xmlns:a="http://schemas.openxmlformats.org/drawingml/2006/main">
              <a:ext uri="{FF2B5EF4-FFF2-40B4-BE49-F238E27FC236}">
                <a16:creationId xmlns:a16="http://schemas.microsoft.com/office/drawing/2014/main" id="{FB6B40A4-E0FA-46B5-AE7C-BCEEAFCC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13422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61" name="s2-document-lines-441">
            <a:extLst xmlns:a="http://schemas.openxmlformats.org/drawingml/2006/main">
              <a:ext uri="{FF2B5EF4-FFF2-40B4-BE49-F238E27FC236}">
                <a16:creationId xmlns:a16="http://schemas.microsoft.com/office/drawing/2014/main" id="{5E309C09-68BA-40D6-B395-8FBEC8B9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1818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62" name="s2-document-lines-442">
            <a:extLst xmlns:a="http://schemas.openxmlformats.org/drawingml/2006/main">
              <a:ext uri="{FF2B5EF4-FFF2-40B4-BE49-F238E27FC236}">
                <a16:creationId xmlns:a16="http://schemas.microsoft.com/office/drawing/2014/main" id="{DA566F79-3ACB-454B-AB1C-185B15BF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22947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63" name="s2-document-443">
            <a:extLst xmlns:a="http://schemas.openxmlformats.org/drawingml/2006/main">
              <a:ext uri="{FF2B5EF4-FFF2-40B4-BE49-F238E27FC236}">
                <a16:creationId xmlns:a16="http://schemas.microsoft.com/office/drawing/2014/main" id="{693A0A86-8388-402E-BE92-95C1A2A4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962775"/>
            <a:ext cx="200025" cy="3619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64" name="s2-document-fold-444">
            <a:extLst xmlns:a="http://schemas.openxmlformats.org/drawingml/2006/main">
              <a:ext uri="{FF2B5EF4-FFF2-40B4-BE49-F238E27FC236}">
                <a16:creationId xmlns:a16="http://schemas.microsoft.com/office/drawing/2014/main" id="{1C04AE8A-679D-4CB1-BD58-2B87B7F4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9627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65" name="s2-document-fold-445">
            <a:extLst xmlns:a="http://schemas.openxmlformats.org/drawingml/2006/main">
              <a:ext uri="{FF2B5EF4-FFF2-40B4-BE49-F238E27FC236}">
                <a16:creationId xmlns:a16="http://schemas.microsoft.com/office/drawing/2014/main" id="{6554EDFC-3678-46ED-8AC3-23C2574C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03897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66" name="s2-document-lines-446">
            <a:extLst xmlns:a="http://schemas.openxmlformats.org/drawingml/2006/main">
              <a:ext uri="{FF2B5EF4-FFF2-40B4-BE49-F238E27FC236}">
                <a16:creationId xmlns:a16="http://schemas.microsoft.com/office/drawing/2014/main" id="{00EDCD72-97EE-4D1E-A1E1-969681E1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866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67" name="s2-document-lines-447">
            <a:extLst xmlns:a="http://schemas.openxmlformats.org/drawingml/2006/main">
              <a:ext uri="{FF2B5EF4-FFF2-40B4-BE49-F238E27FC236}">
                <a16:creationId xmlns:a16="http://schemas.microsoft.com/office/drawing/2014/main" id="{FBB8C850-720B-4B29-979C-E494A243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13422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68" name="s2-document-lines-448">
            <a:extLst xmlns:a="http://schemas.openxmlformats.org/drawingml/2006/main">
              <a:ext uri="{FF2B5EF4-FFF2-40B4-BE49-F238E27FC236}">
                <a16:creationId xmlns:a16="http://schemas.microsoft.com/office/drawing/2014/main" id="{432DD522-EF2C-4854-9419-85A6E7A6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1818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69" name="s2-document-lines-449">
            <a:extLst xmlns:a="http://schemas.openxmlformats.org/drawingml/2006/main">
              <a:ext uri="{FF2B5EF4-FFF2-40B4-BE49-F238E27FC236}">
                <a16:creationId xmlns:a16="http://schemas.microsoft.com/office/drawing/2014/main" id="{581421B8-DB5C-4330-8A4D-00F4F83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22947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70" name="s2-document-450">
            <a:extLst xmlns:a="http://schemas.openxmlformats.org/drawingml/2006/main">
              <a:ext uri="{FF2B5EF4-FFF2-40B4-BE49-F238E27FC236}">
                <a16:creationId xmlns:a16="http://schemas.microsoft.com/office/drawing/2014/main" id="{AFF46921-8489-416A-8E5E-5D694046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962775"/>
            <a:ext cx="200025" cy="3619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71" name="s2-document-fold-451">
            <a:extLst xmlns:a="http://schemas.openxmlformats.org/drawingml/2006/main">
              <a:ext uri="{FF2B5EF4-FFF2-40B4-BE49-F238E27FC236}">
                <a16:creationId xmlns:a16="http://schemas.microsoft.com/office/drawing/2014/main" id="{20094A77-7126-4484-9EC4-F2790CB0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9627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72" name="s2-document-fold-452">
            <a:extLst xmlns:a="http://schemas.openxmlformats.org/drawingml/2006/main">
              <a:ext uri="{FF2B5EF4-FFF2-40B4-BE49-F238E27FC236}">
                <a16:creationId xmlns:a16="http://schemas.microsoft.com/office/drawing/2014/main" id="{3E8F07BD-23DD-4FB9-86DF-622FB39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703897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8B3C0"/>
            </a:solidFill>
            <a:prstDash val="solid"/>
          </a:ln>
        </p:spPr>
      </p:sp>
      <p:sp>
        <p:nvSpPr>
          <p:cNvPr id="473" name="s2-document-lines-453">
            <a:extLst xmlns:a="http://schemas.openxmlformats.org/drawingml/2006/main">
              <a:ext uri="{FF2B5EF4-FFF2-40B4-BE49-F238E27FC236}">
                <a16:creationId xmlns:a16="http://schemas.microsoft.com/office/drawing/2014/main" id="{9461CC51-9AB3-4E9E-A70B-C95079B4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708660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74" name="s2-document-lines-454">
            <a:extLst xmlns:a="http://schemas.openxmlformats.org/drawingml/2006/main">
              <a:ext uri="{FF2B5EF4-FFF2-40B4-BE49-F238E27FC236}">
                <a16:creationId xmlns:a16="http://schemas.microsoft.com/office/drawing/2014/main" id="{8A812786-FEC4-4CFE-B406-F2738AEF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713422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75" name="s2-document-lines-455">
            <a:extLst xmlns:a="http://schemas.openxmlformats.org/drawingml/2006/main">
              <a:ext uri="{FF2B5EF4-FFF2-40B4-BE49-F238E27FC236}">
                <a16:creationId xmlns:a16="http://schemas.microsoft.com/office/drawing/2014/main" id="{B4AFFEC5-AB16-4608-94D5-8144D0BC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7181850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76" name="s2-document-lines-456">
            <a:extLst xmlns:a="http://schemas.openxmlformats.org/drawingml/2006/main">
              <a:ext uri="{FF2B5EF4-FFF2-40B4-BE49-F238E27FC236}">
                <a16:creationId xmlns:a16="http://schemas.microsoft.com/office/drawing/2014/main" id="{6C281DC0-296D-4EFC-B3E6-DA9EE5BE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7229475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A8B3C0"/>
            </a:solidFill>
            <a:prstDash val="solid"/>
          </a:ln>
        </p:spPr>
      </p:sp>
      <p:sp>
        <p:nvSpPr>
          <p:cNvPr id="477" name="s2-many-cuts-457">
            <a:extLst xmlns:a="http://schemas.openxmlformats.org/drawingml/2006/main">
              <a:ext uri="{FF2B5EF4-FFF2-40B4-BE49-F238E27FC236}">
                <a16:creationId xmlns:a16="http://schemas.microsoft.com/office/drawing/2014/main" id="{1D8C30CD-CDCA-455D-9404-28405C3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972300"/>
            <a:ext cx="847725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7A8BB"/>
            </a:solidFill>
            <a:prstDash val="solid"/>
          </a:ln>
        </p:spPr>
      </p:sp>
      <p:sp>
        <p:nvSpPr>
          <p:cNvPr id="478" name="s2-many-cuts-t-458">
            <a:extLst xmlns:a="http://schemas.openxmlformats.org/drawingml/2006/main">
              <a:ext uri="{FF2B5EF4-FFF2-40B4-BE49-F238E27FC236}">
                <a16:creationId xmlns:a16="http://schemas.microsoft.com/office/drawing/2014/main" id="{5D964C58-364F-463F-9482-F62A83A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981825"/>
            <a:ext cx="819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产生大量割</a:t>
            </a:r>
          </a:p>
        </p:txBody>
      </p:sp>
      <p:sp>
        <p:nvSpPr>
          <p:cNvPr id="479" name="s2-traditional-down-459-route">
            <a:extLst xmlns:a="http://schemas.openxmlformats.org/drawingml/2006/main">
              <a:ext uri="{FF2B5EF4-FFF2-40B4-BE49-F238E27FC236}">
                <a16:creationId xmlns:a16="http://schemas.microsoft.com/office/drawing/2014/main" id="{006D5C03-5AC5-4460-96EE-51A2B8A4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7400925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6AD1"/>
            </a:solidFill>
            <a:prstDash val="solid"/>
          </a:ln>
        </p:spPr>
      </p:sp>
      <p:sp>
        <p:nvSpPr>
          <p:cNvPr id="480" name="s2-traditional-down-459-head">
            <a:extLst xmlns:a="http://schemas.openxmlformats.org/drawingml/2006/main">
              <a:ext uri="{FF2B5EF4-FFF2-40B4-BE49-F238E27FC236}">
                <a16:creationId xmlns:a16="http://schemas.microsoft.com/office/drawing/2014/main" id="{B2F2ED32-B669-4E06-9F7E-1AD35AD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124" y="7515225"/>
            <a:ext cx="73152" cy="76200"/>
          </a:xfrm>
          <a:custGeom xmlns:a="http://schemas.openxmlformats.org/drawingml/2006/main">
            <a:pathLst>
              <a:path w="73152" h="76200">
                <a:moveTo>
                  <a:pt x="36576" y="76200"/>
                </a:move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 xmlns:a="http://schemas.openxmlformats.org/drawingml/2006/main">
            <a:srgbClr val="1A6AD1"/>
          </a:solidFill>
          <a:ln xmlns:a="http://schemas.openxmlformats.org/drawingml/2006/main" w="0">
            <a:solidFill>
              <a:srgbClr val="1A6AD1"/>
            </a:solidFill>
            <a:prstDash val="solid"/>
          </a:ln>
        </p:spPr>
      </p:sp>
      <p:sp>
        <p:nvSpPr>
          <p:cNvPr id="481" name="s2-master-large-460">
            <a:extLst xmlns:a="http://schemas.openxmlformats.org/drawingml/2006/main">
              <a:ext uri="{FF2B5EF4-FFF2-40B4-BE49-F238E27FC236}">
                <a16:creationId xmlns:a16="http://schemas.microsoft.com/office/drawing/2014/main" id="{CC5B4FC3-BC5C-42B2-A01E-5F5A1AE0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7620000"/>
            <a:ext cx="1676400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2F0FD"/>
          </a:solidFill>
          <a:ln xmlns:a="http://schemas.openxmlformats.org/drawingml/2006/main" w="5715">
            <a:solidFill>
              <a:srgbClr val="C4E3FA"/>
            </a:solidFill>
            <a:prstDash val="solid"/>
          </a:ln>
        </p:spPr>
      </p:sp>
      <p:sp>
        <p:nvSpPr>
          <p:cNvPr id="482" name="s2-master-large-t-461">
            <a:extLst xmlns:a="http://schemas.openxmlformats.org/drawingml/2006/main">
              <a:ext uri="{FF2B5EF4-FFF2-40B4-BE49-F238E27FC236}">
                <a16:creationId xmlns:a16="http://schemas.microsoft.com/office/drawing/2014/main" id="{6B0EA2DF-B279-4223-AE50-BBAD6EA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62952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主问题规模快速膨胀</a:t>
            </a:r>
          </a:p>
        </p:txBody>
      </p:sp>
      <p:sp>
        <p:nvSpPr>
          <p:cNvPr id="483" name="s2-ml-cut-caption-462">
            <a:extLst xmlns:a="http://schemas.openxmlformats.org/drawingml/2006/main">
              <a:ext uri="{FF2B5EF4-FFF2-40B4-BE49-F238E27FC236}">
                <a16:creationId xmlns:a16="http://schemas.microsoft.com/office/drawing/2014/main" id="{3E431BCB-0438-4C77-B349-A190CFAF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896100"/>
            <a:ext cx="1038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基于机器学习的</a:t>
            </a:r>
          </a:p>
          <a:p xmlns:a="http://schemas.openxmlformats.org/drawingml/2006/main">
            <a:pPr algn="ctr">
              <a:defRPr sz="1238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F00000"/>
                </a:solidFill>
                <a:latin typeface="Microsoft YaHei"/>
                <a:ea typeface="Microsoft YaHei"/>
                <a:cs typeface="Microsoft YaHei"/>
              </a:rPr>
              <a:t>割筛选</a:t>
            </a:r>
          </a:p>
        </p:txBody>
      </p:sp>
      <p:sp>
        <p:nvSpPr>
          <p:cNvPr id="484" name="s2-compare-arrow-463">
            <a:extLst xmlns:a="http://schemas.openxmlformats.org/drawingml/2006/main">
              <a:ext uri="{FF2B5EF4-FFF2-40B4-BE49-F238E27FC236}">
                <a16:creationId xmlns:a16="http://schemas.microsoft.com/office/drawing/2014/main" id="{3860BF80-9820-4790-9E53-71E6ED15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7372350"/>
            <a:ext cx="781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8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s2-document-464">
            <a:extLst xmlns:a="http://schemas.openxmlformats.org/drawingml/2006/main">
              <a:ext uri="{FF2B5EF4-FFF2-40B4-BE49-F238E27FC236}">
                <a16:creationId xmlns:a16="http://schemas.microsoft.com/office/drawing/2014/main" id="{A26DC769-40DB-46F8-B7CC-3C023BFA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6962775"/>
            <a:ext cx="209550" cy="352425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8596"/>
            </a:solidFill>
            <a:prstDash val="solid"/>
          </a:ln>
        </p:spPr>
      </p:sp>
      <p:sp>
        <p:nvSpPr>
          <p:cNvPr id="486" name="s2-document-fold-465">
            <a:extLst xmlns:a="http://schemas.openxmlformats.org/drawingml/2006/main">
              <a:ext uri="{FF2B5EF4-FFF2-40B4-BE49-F238E27FC236}">
                <a16:creationId xmlns:a16="http://schemas.microsoft.com/office/drawing/2014/main" id="{D0F7CB84-5D5A-4D4C-AA6F-FF63846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69627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68596"/>
            </a:solidFill>
            <a:prstDash val="solid"/>
          </a:ln>
        </p:spPr>
      </p:sp>
      <p:sp>
        <p:nvSpPr>
          <p:cNvPr id="487" name="s2-document-fold-466">
            <a:extLst xmlns:a="http://schemas.openxmlformats.org/drawingml/2006/main">
              <a:ext uri="{FF2B5EF4-FFF2-40B4-BE49-F238E27FC236}">
                <a16:creationId xmlns:a16="http://schemas.microsoft.com/office/drawing/2014/main" id="{B53AAB54-5F68-4EE6-878C-FDC3F639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703897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68596"/>
            </a:solidFill>
            <a:prstDash val="solid"/>
          </a:ln>
        </p:spPr>
      </p:sp>
      <p:sp>
        <p:nvSpPr>
          <p:cNvPr id="488" name="s2-document-lines-467">
            <a:extLst xmlns:a="http://schemas.openxmlformats.org/drawingml/2006/main">
              <a:ext uri="{FF2B5EF4-FFF2-40B4-BE49-F238E27FC236}">
                <a16:creationId xmlns:a16="http://schemas.microsoft.com/office/drawing/2014/main" id="{EB742923-BFDE-4EFC-9E1E-153F0F88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7086600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68596"/>
            </a:solidFill>
            <a:prstDash val="solid"/>
          </a:ln>
        </p:spPr>
      </p:sp>
      <p:sp>
        <p:nvSpPr>
          <p:cNvPr id="489" name="s2-document-lines-468">
            <a:extLst xmlns:a="http://schemas.openxmlformats.org/drawingml/2006/main">
              <a:ext uri="{FF2B5EF4-FFF2-40B4-BE49-F238E27FC236}">
                <a16:creationId xmlns:a16="http://schemas.microsoft.com/office/drawing/2014/main" id="{956D5470-E5CE-473B-BA41-48C445E1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713422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68596"/>
            </a:solidFill>
            <a:prstDash val="solid"/>
          </a:ln>
        </p:spPr>
      </p:sp>
      <p:sp>
        <p:nvSpPr>
          <p:cNvPr id="490" name="s2-document-lines-469">
            <a:extLst xmlns:a="http://schemas.openxmlformats.org/drawingml/2006/main">
              <a:ext uri="{FF2B5EF4-FFF2-40B4-BE49-F238E27FC236}">
                <a16:creationId xmlns:a16="http://schemas.microsoft.com/office/drawing/2014/main" id="{E0BDB694-4902-432C-AC5E-21F18A46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7181850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68596"/>
            </a:solidFill>
            <a:prstDash val="solid"/>
          </a:ln>
        </p:spPr>
      </p:sp>
      <p:sp>
        <p:nvSpPr>
          <p:cNvPr id="491" name="s2-document-lines-470">
            <a:extLst xmlns:a="http://schemas.openxmlformats.org/drawingml/2006/main">
              <a:ext uri="{FF2B5EF4-FFF2-40B4-BE49-F238E27FC236}">
                <a16:creationId xmlns:a16="http://schemas.microsoft.com/office/drawing/2014/main" id="{7E262E79-FC8C-4F9E-AA57-BB3EDE35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722947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68596"/>
            </a:solidFill>
            <a:prstDash val="solid"/>
          </a:ln>
        </p:spPr>
      </p:sp>
      <p:sp>
        <p:nvSpPr>
          <p:cNvPr id="492" name="s2-document-471">
            <a:extLst xmlns:a="http://schemas.openxmlformats.org/drawingml/2006/main">
              <a:ext uri="{FF2B5EF4-FFF2-40B4-BE49-F238E27FC236}">
                <a16:creationId xmlns:a16="http://schemas.microsoft.com/office/drawing/2014/main" id="{EE392A64-5765-4E61-B91C-88E5988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6962775"/>
            <a:ext cx="209550" cy="352425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1465EA"/>
            </a:solidFill>
            <a:prstDash val="solid"/>
          </a:ln>
        </p:spPr>
      </p:sp>
      <p:sp>
        <p:nvSpPr>
          <p:cNvPr id="493" name="s2-document-fold-472">
            <a:extLst xmlns:a="http://schemas.openxmlformats.org/drawingml/2006/main">
              <a:ext uri="{FF2B5EF4-FFF2-40B4-BE49-F238E27FC236}">
                <a16:creationId xmlns:a16="http://schemas.microsoft.com/office/drawing/2014/main" id="{74AE00B9-E658-45FA-9751-9FDECE52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6962775"/>
            <a:ext cx="95" cy="76200"/>
          </a:xfrm>
          <a:custGeom xmlns:a="http://schemas.openxmlformats.org/drawingml/2006/main">
            <a:pathLst>
              <a:path w="9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465EA"/>
            </a:solidFill>
            <a:prstDash val="solid"/>
          </a:ln>
        </p:spPr>
      </p:sp>
      <p:sp>
        <p:nvSpPr>
          <p:cNvPr id="494" name="s2-document-fold-473">
            <a:extLst xmlns:a="http://schemas.openxmlformats.org/drawingml/2006/main">
              <a:ext uri="{FF2B5EF4-FFF2-40B4-BE49-F238E27FC236}">
                <a16:creationId xmlns:a16="http://schemas.microsoft.com/office/drawing/2014/main" id="{76C479F5-4695-4031-8B0A-FFFB41A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7038975"/>
            <a:ext cx="66675" cy="95"/>
          </a:xfrm>
          <a:custGeom xmlns:a="http://schemas.openxmlformats.org/drawingml/2006/main"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465EA"/>
            </a:solidFill>
            <a:prstDash val="solid"/>
          </a:ln>
        </p:spPr>
      </p:sp>
      <p:sp>
        <p:nvSpPr>
          <p:cNvPr id="495" name="s2-document-lines-474">
            <a:extLst xmlns:a="http://schemas.openxmlformats.org/drawingml/2006/main">
              <a:ext uri="{FF2B5EF4-FFF2-40B4-BE49-F238E27FC236}">
                <a16:creationId xmlns:a16="http://schemas.microsoft.com/office/drawing/2014/main" id="{D87424D6-28FD-4DEF-85FE-8DCCDE54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086600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1465EA"/>
            </a:solidFill>
            <a:prstDash val="solid"/>
          </a:ln>
        </p:spPr>
      </p:sp>
      <p:sp>
        <p:nvSpPr>
          <p:cNvPr id="496" name="s2-document-lines-475">
            <a:extLst xmlns:a="http://schemas.openxmlformats.org/drawingml/2006/main">
              <a:ext uri="{FF2B5EF4-FFF2-40B4-BE49-F238E27FC236}">
                <a16:creationId xmlns:a16="http://schemas.microsoft.com/office/drawing/2014/main" id="{B6D7B85B-BDF3-47D1-81F9-727012AB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13422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1465EA"/>
            </a:solidFill>
            <a:prstDash val="solid"/>
          </a:ln>
        </p:spPr>
      </p:sp>
      <p:sp>
        <p:nvSpPr>
          <p:cNvPr id="497" name="s2-document-lines-476">
            <a:extLst xmlns:a="http://schemas.openxmlformats.org/drawingml/2006/main">
              <a:ext uri="{FF2B5EF4-FFF2-40B4-BE49-F238E27FC236}">
                <a16:creationId xmlns:a16="http://schemas.microsoft.com/office/drawing/2014/main" id="{D1CC8B6B-2884-4905-8D2D-75FABDC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181850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1465EA"/>
            </a:solidFill>
            <a:prstDash val="solid"/>
          </a:ln>
        </p:spPr>
      </p:sp>
      <p:sp>
        <p:nvSpPr>
          <p:cNvPr id="498" name="s2-document-lines-477">
            <a:extLst xmlns:a="http://schemas.openxmlformats.org/drawingml/2006/main">
              <a:ext uri="{FF2B5EF4-FFF2-40B4-BE49-F238E27FC236}">
                <a16:creationId xmlns:a16="http://schemas.microsoft.com/office/drawing/2014/main" id="{31AAE24C-7D6A-43C7-AB1E-4E23D784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229475"/>
            <a:ext cx="133350" cy="95"/>
          </a:xfrm>
          <a:custGeom xmlns:a="http://schemas.openxmlformats.org/drawingml/2006/main"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1465EA"/>
            </a:solidFill>
            <a:prstDash val="solid"/>
          </a:ln>
        </p:spPr>
      </p:sp>
      <p:sp>
        <p:nvSpPr>
          <p:cNvPr id="499" name="s2-cut-filter-478">
            <a:extLst xmlns:a="http://schemas.openxmlformats.org/drawingml/2006/main">
              <a:ext uri="{FF2B5EF4-FFF2-40B4-BE49-F238E27FC236}">
                <a16:creationId xmlns:a16="http://schemas.microsoft.com/office/drawing/2014/main" id="{3508F8C5-E0D2-451F-9BB6-3EAEB940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6943725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过滤低效割</a:t>
            </a:r>
          </a:p>
          <a:p xmlns:a="http://schemas.openxmlformats.org/drawingml/2006/main">
            <a:pPr algn="ctr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保留关键割</a:t>
            </a:r>
          </a:p>
        </p:txBody>
      </p:sp>
      <p:sp>
        <p:nvSpPr>
          <p:cNvPr id="500" name="s2-ml-down-479-route">
            <a:extLst xmlns:a="http://schemas.openxmlformats.org/drawingml/2006/main">
              <a:ext uri="{FF2B5EF4-FFF2-40B4-BE49-F238E27FC236}">
                <a16:creationId xmlns:a16="http://schemas.microsoft.com/office/drawing/2014/main" id="{6ECE6070-00DC-465D-B422-329D8A9C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7400925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A6AD1"/>
            </a:solidFill>
            <a:prstDash val="solid"/>
          </a:ln>
        </p:spPr>
      </p:sp>
      <p:sp>
        <p:nvSpPr>
          <p:cNvPr id="501" name="s2-ml-down-479-head">
            <a:extLst xmlns:a="http://schemas.openxmlformats.org/drawingml/2006/main">
              <a:ext uri="{FF2B5EF4-FFF2-40B4-BE49-F238E27FC236}">
                <a16:creationId xmlns:a16="http://schemas.microsoft.com/office/drawing/2014/main" id="{6AA0F390-FF92-4EE9-B658-F02B330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0499" y="7515225"/>
            <a:ext cx="73152" cy="76200"/>
          </a:xfrm>
          <a:custGeom xmlns:a="http://schemas.openxmlformats.org/drawingml/2006/main">
            <a:pathLst>
              <a:path w="73152" h="76200">
                <a:moveTo>
                  <a:pt x="36576" y="76200"/>
                </a:move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 xmlns:a="http://schemas.openxmlformats.org/drawingml/2006/main">
            <a:srgbClr val="1A6AD1"/>
          </a:solidFill>
          <a:ln xmlns:a="http://schemas.openxmlformats.org/drawingml/2006/main" w="0">
            <a:solidFill>
              <a:srgbClr val="1A6AD1"/>
            </a:solidFill>
            <a:prstDash val="solid"/>
          </a:ln>
        </p:spPr>
      </p:sp>
      <p:sp>
        <p:nvSpPr>
          <p:cNvPr id="502" name="s2-master-control-480">
            <a:extLst xmlns:a="http://schemas.openxmlformats.org/drawingml/2006/main">
              <a:ext uri="{FF2B5EF4-FFF2-40B4-BE49-F238E27FC236}">
                <a16:creationId xmlns:a16="http://schemas.microsoft.com/office/drawing/2014/main" id="{83A8B961-F5F9-4ECE-A4B8-055553B0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7620000"/>
            <a:ext cx="164782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2F0FD"/>
          </a:solidFill>
          <a:ln xmlns:a="http://schemas.openxmlformats.org/drawingml/2006/main" w="5715">
            <a:solidFill>
              <a:srgbClr val="C4E3FA"/>
            </a:solidFill>
            <a:prstDash val="solid"/>
          </a:ln>
        </p:spPr>
      </p:sp>
      <p:sp>
        <p:nvSpPr>
          <p:cNvPr id="503" name="s2-master-control-t-481">
            <a:extLst xmlns:a="http://schemas.openxmlformats.org/drawingml/2006/main">
              <a:ext uri="{FF2B5EF4-FFF2-40B4-BE49-F238E27FC236}">
                <a16:creationId xmlns:a16="http://schemas.microsoft.com/office/drawing/2014/main" id="{1810E766-6A63-4CFB-A38D-ED26C4AF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62952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06142C"/>
                </a:solidFill>
                <a:latin typeface="Microsoft YaHei"/>
                <a:ea typeface="Microsoft YaHei"/>
                <a:cs typeface="Microsoft YaHei"/>
              </a:rPr>
              <a:t>保持主问题规模可控</a:t>
            </a:r>
          </a:p>
        </p:txBody>
      </p:sp>
      <p:sp>
        <p:nvSpPr>
          <p:cNvPr id="504" name="s2-left-conclusion-482">
            <a:extLst xmlns:a="http://schemas.openxmlformats.org/drawingml/2006/main">
              <a:ext uri="{FF2B5EF4-FFF2-40B4-BE49-F238E27FC236}">
                <a16:creationId xmlns:a16="http://schemas.microsoft.com/office/drawing/2014/main" id="{803A48AF-8F17-4E83-8FC4-E3C64C9B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72450"/>
            <a:ext cx="49911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F2FD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505" name="s2-left-conclusion-t-483">
            <a:extLst xmlns:a="http://schemas.openxmlformats.org/drawingml/2006/main">
              <a:ext uri="{FF2B5EF4-FFF2-40B4-BE49-F238E27FC236}">
                <a16:creationId xmlns:a16="http://schemas.microsoft.com/office/drawing/2014/main" id="{E038AEE6-E0B9-4BF8-8A5B-778C9FF7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10550"/>
            <a:ext cx="4838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多阶段规划根据实际场景逐步投资，减少低增长场景下的</a:t>
            </a:r>
          </a:p>
          <a:p xmlns:a="http://schemas.openxmlformats.org/drawingml/2006/main">
            <a:pPr algn="ctr">
              <a:def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资产搁浅风险。</a:t>
            </a:r>
          </a:p>
        </p:txBody>
      </p:sp>
      <p:sp>
        <p:nvSpPr>
          <p:cNvPr id="506" name="s2-center-conclusion-484">
            <a:extLst xmlns:a="http://schemas.openxmlformats.org/drawingml/2006/main">
              <a:ext uri="{FF2B5EF4-FFF2-40B4-BE49-F238E27FC236}">
                <a16:creationId xmlns:a16="http://schemas.microsoft.com/office/drawing/2014/main" id="{763B3739-044A-41A8-8E87-4CF0BDF2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172450"/>
            <a:ext cx="4962525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F2FD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507" name="s2-center-conclusion-t-485">
            <a:extLst xmlns:a="http://schemas.openxmlformats.org/drawingml/2006/main">
              <a:ext uri="{FF2B5EF4-FFF2-40B4-BE49-F238E27FC236}">
                <a16:creationId xmlns:a16="http://schemas.microsoft.com/office/drawing/2014/main" id="{3F4BB6AC-CF90-429A-96BA-08C740FB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210550"/>
            <a:ext cx="481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智能资源通过潮流重分配、储能调节和负荷柔性，推迟或</a:t>
            </a:r>
          </a:p>
          <a:p xmlns:a="http://schemas.openxmlformats.org/drawingml/2006/main">
            <a:pPr algn="ctr">
              <a:def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替代不可逆网络强化。</a:t>
            </a:r>
          </a:p>
        </p:txBody>
      </p:sp>
      <p:sp>
        <p:nvSpPr>
          <p:cNvPr id="508" name="s2-right-conclusion-486">
            <a:extLst xmlns:a="http://schemas.openxmlformats.org/drawingml/2006/main">
              <a:ext uri="{FF2B5EF4-FFF2-40B4-BE49-F238E27FC236}">
                <a16:creationId xmlns:a16="http://schemas.microsoft.com/office/drawing/2014/main" id="{872F0B55-D579-4AC8-B961-D15E089C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172450"/>
            <a:ext cx="497205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F2FD"/>
          </a:solidFill>
          <a:ln xmlns:a="http://schemas.openxmlformats.org/drawingml/2006/main" w="7620">
            <a:solidFill>
              <a:srgbClr val="66B7FA"/>
            </a:solidFill>
            <a:prstDash val="solid"/>
          </a:ln>
        </p:spPr>
      </p:sp>
      <p:sp>
        <p:nvSpPr>
          <p:cNvPr id="509" name="s2-right-conclusion-t-487">
            <a:extLst xmlns:a="http://schemas.openxmlformats.org/drawingml/2006/main">
              <a:ext uri="{FF2B5EF4-FFF2-40B4-BE49-F238E27FC236}">
                <a16:creationId xmlns:a16="http://schemas.microsoft.com/office/drawing/2014/main" id="{0E7FD4E7-5A33-4256-AF90-9ED6CD7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210550"/>
            <a:ext cx="4819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ML割筛选降低主问题规模膨胀，使大规模多场景联合规划</a:t>
            </a:r>
          </a:p>
          <a:p xmlns:a="http://schemas.openxmlformats.org/drawingml/2006/main">
            <a:pPr algn="ctr">
              <a:def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保持可计算性。</a:t>
            </a:r>
          </a:p>
        </p:txBody>
      </p:sp>
    </p:spTree>
    <p:extLst>
      <p:ext uri="{BB962C8B-B14F-4D97-AF65-F5344CB8AC3E}">
        <p14:creationId xmlns:p14="http://schemas.microsoft.com/office/powerpoint/2010/main" val="885033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2026-09-17T07:56:02.9730000Z</dcterms:created>
  <dcterms:modified xsi:type="dcterms:W3CDTF">2026-09-17T07:56:02.9730000Z</dcterms:modified>
</coreProperties>
</file>