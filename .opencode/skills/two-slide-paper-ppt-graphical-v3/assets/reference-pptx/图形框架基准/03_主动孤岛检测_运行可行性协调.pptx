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检测时间（s）</c:v>
          </c:tx>
          <c:spPr>
            <a:solidFill>
              <a:srgbClr val="1673CE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A1B4CA"/>
              </a:solidFill>
              <a:ln w="9525">
                <a:solidFill>
                  <a:srgbClr val="A1B4CA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D979-467F-9440-4594256B5B32}"/>
              </c:ext>
            </c:extLst>
          </c:dPt>
          <c:dPt>
            <c:idx val="1"/>
            <c:invertIfNegative val="0"/>
            <c:bubble3D val="0"/>
            <c:spPr>
              <a:solidFill>
                <a:srgbClr val="278CAD"/>
              </a:solidFill>
              <a:ln w="9525">
                <a:solidFill>
                  <a:srgbClr val="278CAD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D979-467F-9440-4594256B5B32}"/>
              </c:ext>
            </c:extLst>
          </c:dPt>
          <c:dPt>
            <c:idx val="2"/>
            <c:invertIfNegative val="0"/>
            <c:bubble3D val="0"/>
            <c:spPr>
              <a:solidFill>
                <a:srgbClr val="A1B4CA"/>
              </a:solidFill>
              <a:ln w="9525">
                <a:solidFill>
                  <a:srgbClr val="A1B4CA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D979-467F-9440-4594256B5B32}"/>
              </c:ext>
            </c:extLst>
          </c:dPt>
          <c:dPt>
            <c:idx val="3"/>
            <c:invertIfNegative val="0"/>
            <c:bubble3D val="0"/>
            <c:spPr>
              <a:solidFill>
                <a:srgbClr val="278CAD"/>
              </a:solidFill>
              <a:ln w="9525">
                <a:solidFill>
                  <a:srgbClr val="278CAD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D979-467F-9440-4594256B5B32}"/>
              </c:ext>
            </c:extLst>
          </c:dPt>
          <c:dPt>
            <c:idx val="4"/>
            <c:invertIfNegative val="0"/>
            <c:bubble3D val="0"/>
            <c:spPr>
              <a:solidFill>
                <a:srgbClr val="07368C"/>
              </a:solidFill>
              <a:ln w="9525">
                <a:solidFill>
                  <a:srgbClr val="07368C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D979-467F-9440-4594256B5B3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1">
                <a:spAutoFit/>
              </a:bodyPr>
              <a:lstStyle/>
              <a:p>
                <a:pPr>
                  <a:defRPr sz="1400">
                    <a:solidFill>
                      <a:srgbClr val="101D3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被动</c:v>
                </c:pt>
                <c:pt idx="1">
                  <c:v>固定扰动</c:v>
                </c:pt>
                <c:pt idx="2">
                  <c:v>双层</c:v>
                </c:pt>
                <c:pt idx="3">
                  <c:v>分散</c:v>
                </c:pt>
                <c:pt idx="4">
                  <c:v>所提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1.85</c:v>
                </c:pt>
                <c:pt idx="1">
                  <c:v>1.12</c:v>
                </c:pt>
                <c:pt idx="2">
                  <c:v>0.88</c:v>
                </c:pt>
                <c:pt idx="3">
                  <c:v>1.34</c:v>
                </c:pt>
                <c:pt idx="4">
                  <c:v>0.79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D979-467F-9440-4594256B5B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10477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altLang="en-US" sz="1400">
                    <a:latin typeface="Microsoft YaHei"/>
                    <a:ea typeface="Microsoft YaHei"/>
                    <a:cs typeface="Microsoft YaHei"/>
                  </a:defRPr>
                </a:pPr>
                <a:r>
                  <a:rPr lang="zh-CN" altLang="en-US" sz="1400">
                    <a:latin typeface="Microsoft YaHei"/>
                    <a:ea typeface="Microsoft YaHei"/>
                    <a:cs typeface="Microsoft YaHei"/>
                  </a:rPr>
                  <a:t>方案</a:t>
                </a:r>
              </a:p>
            </c:rich>
          </c:tx>
          <c:overlay val="0"/>
        </c:title>
        <c:numFmt formatCode="General" sourceLinked="1"/>
        <c:majorTickMark val="in"/>
        <c:minorTickMark val="none"/>
        <c:tickLblPos val="nextTo"/>
        <c:spPr>
          <a:ln w="14288">
            <a:solidFill>
              <a:srgbClr val="595959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w="10477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400">
                    <a:latin typeface="Microsoft YaHei"/>
                    <a:ea typeface="Microsoft YaHei"/>
                    <a:cs typeface="Microsoft YaHei"/>
                  </a:rPr>
                  <a:t>检测时间（</a:t>
                </a:r>
                <a:r>
                  <a:rPr lang="en-US" altLang="zh-CN" sz="1400">
                    <a:latin typeface="Microsoft YaHei"/>
                    <a:ea typeface="Microsoft YaHei"/>
                    <a:cs typeface="Microsoft YaHei"/>
                  </a:rPr>
                  <a:t>s</a:t>
                </a:r>
                <a:r>
                  <a:rPr lang="zh-CN" altLang="en-US" sz="1400">
                    <a:latin typeface="Microsoft YaHei"/>
                    <a:ea typeface="Microsoft YaHei"/>
                    <a:cs typeface="Microsoft YaHei"/>
                  </a:rPr>
                  <a:t>）</a:t>
                </a:r>
              </a:p>
            </c:rich>
          </c:tx>
          <c:overlay val="0"/>
        </c:title>
        <c:numFmt formatCode="0.0" sourceLinked="0"/>
        <c:majorTickMark val="in"/>
        <c:minorTickMark val="none"/>
        <c:tickLblPos val="nextTo"/>
        <c:spPr>
          <a:ln w="14288">
            <a:solidFill>
              <a:srgbClr val="595959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4"/>
      </c:valAx>
      <c:spPr>
        <a:solidFill>
          <a:srgbClr val="FFFFFF"/>
        </a:solidFill>
        <a:ln w="14288">
          <a:solidFill>
            <a:srgbClr val="595959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Feasibility-Aware Active Islanding Detection with Coordinated Resource Scheduling and Network Reconfiguration</a:t>
            </a:r>
          </a:p>
          <a:p xmlns:a="http://schemas.openxmlformats.org/drawingml/2006/main">
            <a:r>
              <a:t>原文：E:\application\xwechat_files\wxid_xyihcy7u0jkj21_d246\msg\file\2026-10\TSG-02411-2026_Proof_hi.pdf</a:t>
            </a:r>
          </a:p>
          <a:p xmlns:a="http://schemas.openxmlformats.org/drawingml/2006/main">
            <a:r>
              <a:t>联合决策结构：PDF pp.5–7，图1，式(1)–(3)</a:t>
            </a:r>
          </a:p>
          <a:p xmlns:a="http://schemas.openxmlformats.org/drawingml/2006/main">
            <a:r>
              <a:t>总目标与四类核心耦合：PDF pp.5–7，式(1)、(21)–(25)</a:t>
            </a:r>
          </a:p>
          <a:p xmlns:a="http://schemas.openxmlformats.org/drawingml/2006/main">
            <a:r>
              <a:t>序贯锥近似与 Benders：PDF pp.8–9，Algorithm 1</a:t>
            </a:r>
          </a:p>
          <a:p xmlns:a="http://schemas.openxmlformats.org/drawingml/2006/main">
            <a:r>
              <a:t>检测与运行联合目标：PDF p.5 式(1)；各权重负责尺度转换，成本结果USD/day</a:t>
            </a:r>
          </a:p>
          <a:p xmlns:a="http://schemas.openxmlformats.org/drawingml/2006/main">
            <a:r>
              <a:t>LaTeX: \min J=J_{det}+J_{op}+J_{top}</a:t>
            </a:r>
          </a:p>
          <a:p xmlns:a="http://schemas.openxmlformats.org/drawingml/2006/main">
            <a:r>
              <a:t>扰动幅值受出力裕度约束：PDF p.7 式(21)</a:t>
            </a:r>
          </a:p>
          <a:p xmlns:a="http://schemas.openxmlformats.org/drawingml/2006/main">
            <a:r>
              <a:t>LaTeX: \sum\nolimits_{p\in P_z}A_{p,t}\le\eta_z^H\sum\nolimits_{g\in U_z}H_{g,t}</a:t>
            </a:r>
          </a:p>
          <a:p xmlns:a="http://schemas.openxmlformats.org/drawingml/2006/main">
            <a:r>
              <a:t>检测窗口内备用必须可送达：PDF p.7 式(22)、(25)，孤岛激活σ=1时</a:t>
            </a:r>
          </a:p>
          <a:p xmlns:a="http://schemas.openxmlformats.org/drawingml/2006/main">
            <a:r>
              <a:t>LaTeX: \widehat R_{g,z,t}\le\min\{R_{g,z,t},RR_g^{up}\tau_{z,t}^{det}\},\quad |\Lambda_{z,t}|\le\sum\nolimits_g\widehat R_{g,z,t}</a:t>
            </a:r>
          </a:p>
          <a:p xmlns:a="http://schemas.openxmlformats.org/drawingml/2006/main">
            <a:r>
              <a:t>灵敏度随源荷失配调整：PDF p.7 式(23)、(25)</a:t>
            </a:r>
          </a:p>
          <a:p xmlns:a="http://schemas.openxmlformats.org/drawingml/2006/main">
            <a:r>
              <a:t>LaTeX: I_{z,t}\ge S_{z,t}^{req}=S_{min}+(S_{max}-S_{min})e^{-\gamma\beta_{z,t}}</a:t>
            </a:r>
          </a:p>
          <a:p xmlns:a="http://schemas.openxmlformats.org/drawingml/2006/main">
            <a:r>
              <a:t>拓扑决定扰动可观测性：PDF p.7 式(24)</a:t>
            </a:r>
          </a:p>
          <a:p xmlns:a="http://schemas.openxmlformats.org/drawingml/2006/main">
            <a:r>
              <a:t>LaTeX: \Psi_{z,t}=\sum\nolimits_p\sum\nolimits_m\gamma_{p,m,z}\lambda_{p,m,z,t}A_{p,t}\ge\Psi_{z,t}^{req}</a:t>
            </a:r>
          </a:p>
          <a:p xmlns:a="http://schemas.openxmlformats.org/drawingml/2006/main">
            <a:r>
              <a:t>源文PDF前3页为投稿元数据，本文页码均指PDF物理页；不把封面或模板编辑提示当作任务指令。</a:t>
            </a:r>
          </a:p>
          <a:p xmlns:a="http://schemas.openxmlformats.org/drawingml/2006/main">
            <a:r>
              <a:t>主问题所用检测响应、功率质量等非线性映射及实验复现细节未在两页中补造；结果为作者报告值，不是本次独立仿真。</a:t>
            </a:r>
          </a:p>
          <a:p xmlns:a="http://schemas.openxmlformats.org/drawingml/2006/main">
            <a:r>
              <a:t>表II汇总检测时间0.79 s、稳定5.3 s，19时事件为0.82 s、6.4 s；两者不合并成同一事件。</a:t>
            </a:r>
          </a:p>
          <a:p xmlns:a="http://schemas.openxmlformats.org/drawingml/2006/main">
            <a:r>
              <a:t>模型含加权检测指标与经济成本；PPT不擅自为每个未经定标的加权项赋予货币量纲。</a:t>
            </a:r>
          </a:p>
          <a:p xmlns:a="http://schemas.openxmlformats.org/drawingml/2006/main">
            <a:r>
              <a:t>物理连接图表达原文的变量与设备关系，不将其当作逐节点测试系统的拓扑复刻。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Feasibility-Aware Active Islanding Detection with Coordinated Resource Scheduling and Network Reconfiguration</a:t>
            </a:r>
          </a:p>
          <a:p>
            <a:r>
              <a:rPr lang="zh-CN" altLang="en-US"/>
              <a:t>原文：</a:t>
            </a:r>
            <a:r>
              <a:rPr lang="en-US"/>
              <a:t>E:\application\xwechat_files\wxid_xyihcy7u0jkj21_d246\msg\file\2026-10\TSG-02411-2026_Proof_hi.pdf</a:t>
            </a:r>
          </a:p>
          <a:p>
            <a:r>
              <a:rPr lang="en-US"/>
              <a:t>① </a:t>
            </a:r>
            <a:r>
              <a:rPr lang="zh-CN" altLang="en-US"/>
              <a:t>低扰动与检测性能：</a:t>
            </a:r>
            <a:r>
              <a:rPr lang="en-US"/>
              <a:t>PDF p.11 </a:t>
            </a:r>
            <a:r>
              <a:rPr lang="zh-CN" altLang="en-US"/>
              <a:t>表</a:t>
            </a:r>
            <a:r>
              <a:rPr lang="en-US"/>
              <a:t>II、§IV.E</a:t>
            </a:r>
          </a:p>
          <a:p>
            <a:r>
              <a:rPr lang="zh-CN" altLang="en-US"/>
              <a:t>各方法检测时间：</a:t>
            </a:r>
            <a:r>
              <a:rPr lang="en-US"/>
              <a:t>PDF p.11 </a:t>
            </a:r>
            <a:r>
              <a:rPr lang="zh-CN" altLang="en-US"/>
              <a:t>表</a:t>
            </a:r>
            <a:r>
              <a:rPr lang="en-US"/>
              <a:t>II</a:t>
            </a:r>
          </a:p>
          <a:p>
            <a:r>
              <a:rPr lang="en-US"/>
              <a:t>{"type":"chart","title":"</a:t>
            </a:r>
            <a:r>
              <a:rPr lang="zh-CN" altLang="en-US"/>
              <a:t>各方法检测时间</a:t>
            </a:r>
            <a:r>
              <a:rPr lang="en-US" altLang="zh-CN"/>
              <a:t>","</a:t>
            </a:r>
            <a:r>
              <a:rPr lang="en-US"/>
              <a:t>categories":["</a:t>
            </a:r>
            <a:r>
              <a:rPr lang="zh-CN" altLang="en-US"/>
              <a:t>被动</a:t>
            </a:r>
            <a:r>
              <a:rPr lang="en-US" altLang="zh-CN"/>
              <a:t>","</a:t>
            </a:r>
            <a:r>
              <a:rPr lang="zh-CN" altLang="en-US"/>
              <a:t>固定扰动</a:t>
            </a:r>
            <a:r>
              <a:rPr lang="en-US" altLang="zh-CN"/>
              <a:t>","</a:t>
            </a:r>
            <a:r>
              <a:rPr lang="zh-CN" altLang="en-US"/>
              <a:t>双层</a:t>
            </a:r>
            <a:r>
              <a:rPr lang="en-US" altLang="zh-CN"/>
              <a:t>","</a:t>
            </a:r>
            <a:r>
              <a:rPr lang="zh-CN" altLang="en-US"/>
              <a:t>分散</a:t>
            </a:r>
            <a:r>
              <a:rPr lang="en-US" altLang="zh-CN"/>
              <a:t>","</a:t>
            </a:r>
            <a:r>
              <a:rPr lang="zh-CN" altLang="en-US"/>
              <a:t>所提</a:t>
            </a:r>
            <a:r>
              <a:rPr lang="en-US" altLang="zh-CN"/>
              <a:t>"],"</a:t>
            </a:r>
            <a:r>
              <a:rPr lang="en-US"/>
              <a:t>series":[{"name":"</a:t>
            </a:r>
            <a:r>
              <a:rPr lang="zh-CN" altLang="en-US"/>
              <a:t>检测时间（</a:t>
            </a:r>
            <a:r>
              <a:rPr lang="en-US"/>
              <a:t>s）","values":[1.85,1.12,0.88,1.34,0.79]}],"xTitle":"</a:t>
            </a:r>
            <a:r>
              <a:rPr lang="zh-CN" altLang="en-US"/>
              <a:t>比较方案</a:t>
            </a:r>
            <a:r>
              <a:rPr lang="en-US" altLang="zh-CN"/>
              <a:t>","</a:t>
            </a:r>
            <a:r>
              <a:rPr lang="en-US"/>
              <a:t>yTitle":"</a:t>
            </a:r>
            <a:r>
              <a:rPr lang="zh-CN" altLang="en-US"/>
              <a:t>检测时间（</a:t>
            </a:r>
            <a:r>
              <a:rPr lang="en-US"/>
              <a:t>s）","yMin":0,"yMax":2,"yMajorUnit":0.4,"evidenceRef":"PDF p.11 </a:t>
            </a:r>
            <a:r>
              <a:rPr lang="zh-CN" altLang="en-US"/>
              <a:t>表</a:t>
            </a:r>
            <a:r>
              <a:rPr lang="en-US"/>
              <a:t>II","format":"0.00"}</a:t>
            </a:r>
          </a:p>
          <a:p>
            <a:r>
              <a:rPr lang="zh-CN" altLang="en-US"/>
              <a:t>固定扰动与所提方法：</a:t>
            </a:r>
            <a:r>
              <a:rPr lang="en-US"/>
              <a:t>PDF p.11 </a:t>
            </a:r>
            <a:r>
              <a:rPr lang="zh-CN" altLang="en-US"/>
              <a:t>表</a:t>
            </a:r>
            <a:r>
              <a:rPr lang="en-US"/>
              <a:t>II、§IV.E</a:t>
            </a:r>
          </a:p>
          <a:p>
            <a:r>
              <a:rPr lang="en-US"/>
              <a:t>{"type":"table","title":"</a:t>
            </a:r>
            <a:r>
              <a:rPr lang="zh-CN" altLang="en-US"/>
              <a:t>固定扰动与所提方法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指标</a:t>
            </a:r>
            <a:r>
              <a:rPr lang="en-US" altLang="zh-CN"/>
              <a:t>","</a:t>
            </a:r>
            <a:r>
              <a:rPr lang="zh-CN" altLang="en-US"/>
              <a:t>固定扰动</a:t>
            </a:r>
            <a:r>
              <a:rPr lang="en-US" altLang="zh-CN"/>
              <a:t>","</a:t>
            </a:r>
            <a:r>
              <a:rPr lang="zh-CN" altLang="en-US"/>
              <a:t>所提</a:t>
            </a:r>
            <a:r>
              <a:rPr lang="en-US" altLang="zh-CN"/>
              <a:t>"],"</a:t>
            </a:r>
            <a:r>
              <a:rPr lang="en-US"/>
              <a:t>rows":[["</a:t>
            </a:r>
            <a:r>
              <a:rPr lang="zh-CN" altLang="en-US"/>
              <a:t>误报概率</a:t>
            </a:r>
            <a:r>
              <a:rPr lang="en-US" altLang="zh-CN"/>
              <a:t>","0.023","0.008"],["</a:t>
            </a:r>
            <a:r>
              <a:rPr lang="en-US"/>
              <a:t>THD / %","4.1","3.2"],["</a:t>
            </a:r>
            <a:r>
              <a:rPr lang="zh-CN" altLang="en-US"/>
              <a:t>归一化扰动量</a:t>
            </a:r>
            <a:r>
              <a:rPr lang="en-US" altLang="zh-CN"/>
              <a:t>","0.524","0.390"]],"</a:t>
            </a:r>
            <a:r>
              <a:rPr lang="en-US"/>
              <a:t>evidenceRef":"PDF p.11 </a:t>
            </a:r>
            <a:r>
              <a:rPr lang="zh-CN" altLang="en-US"/>
              <a:t>表</a:t>
            </a:r>
            <a:r>
              <a:rPr lang="en-US"/>
              <a:t>II、§IV.E"}</a:t>
            </a:r>
          </a:p>
          <a:p>
            <a:r>
              <a:rPr lang="en-US"/>
              <a:t>② </a:t>
            </a:r>
            <a:r>
              <a:rPr lang="zh-CN" altLang="en-US"/>
              <a:t>认证区分“检出”与“可行”：</a:t>
            </a:r>
            <a:r>
              <a:rPr lang="en-US"/>
              <a:t>PDF pp.10、12 </a:t>
            </a:r>
            <a:r>
              <a:rPr lang="zh-CN" altLang="en-US"/>
              <a:t>表</a:t>
            </a:r>
            <a:r>
              <a:rPr lang="en-US"/>
              <a:t>I/IV</a:t>
            </a:r>
          </a:p>
          <a:p>
            <a:r>
              <a:rPr lang="zh-CN" altLang="en-US"/>
              <a:t>代表时段的认证结果：</a:t>
            </a:r>
            <a:r>
              <a:rPr lang="en-US"/>
              <a:t>PDF p.10 </a:t>
            </a:r>
            <a:r>
              <a:rPr lang="zh-CN" altLang="en-US"/>
              <a:t>表</a:t>
            </a:r>
            <a:r>
              <a:rPr lang="en-US"/>
              <a:t>I</a:t>
            </a:r>
          </a:p>
          <a:p>
            <a:r>
              <a:rPr lang="en-US"/>
              <a:t>{"type":"table","title":"</a:t>
            </a:r>
            <a:r>
              <a:rPr lang="zh-CN" altLang="en-US"/>
              <a:t>代表时段的认证结果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指标</a:t>
            </a:r>
            <a:r>
              <a:rPr lang="en-US" altLang="zh-CN"/>
              <a:t>","3</a:t>
            </a:r>
            <a:r>
              <a:rPr lang="zh-CN" altLang="en-US"/>
              <a:t>时</a:t>
            </a:r>
            <a:r>
              <a:rPr lang="en-US" altLang="zh-CN"/>
              <a:t>","19</a:t>
            </a:r>
            <a:r>
              <a:rPr lang="zh-CN" altLang="en-US"/>
              <a:t>时</a:t>
            </a:r>
            <a:r>
              <a:rPr lang="en-US" altLang="zh-CN"/>
              <a:t>","23</a:t>
            </a:r>
            <a:r>
              <a:rPr lang="zh-CN" altLang="en-US"/>
              <a:t>时</a:t>
            </a:r>
            <a:r>
              <a:rPr lang="en-US" altLang="zh-CN"/>
              <a:t>"],"</a:t>
            </a:r>
            <a:r>
              <a:rPr lang="en-US"/>
              <a:t>rows":[["</a:t>
            </a:r>
            <a:r>
              <a:rPr lang="zh-CN" altLang="en-US"/>
              <a:t>灵敏度余量</a:t>
            </a:r>
            <a:r>
              <a:rPr lang="en-US" altLang="zh-CN"/>
              <a:t>","+0.055","+0.048","−0.053"],["</a:t>
            </a:r>
            <a:r>
              <a:rPr lang="zh-CN" altLang="en-US"/>
              <a:t>爬坡余量</a:t>
            </a:r>
            <a:r>
              <a:rPr lang="en-US" altLang="zh-CN"/>
              <a:t>/</a:t>
            </a:r>
            <a:r>
              <a:rPr lang="en-US"/>
              <a:t>kW","−845","−655","+200"],["</a:t>
            </a:r>
            <a:r>
              <a:rPr lang="zh-CN" altLang="en-US"/>
              <a:t>可行性认证</a:t>
            </a:r>
            <a:r>
              <a:rPr lang="en-US" altLang="zh-CN"/>
              <a:t>","0","0","0"]],"</a:t>
            </a:r>
            <a:r>
              <a:rPr lang="en-US"/>
              <a:t>evidenceRef":"PDF p.10 </a:t>
            </a:r>
            <a:r>
              <a:rPr lang="zh-CN" altLang="en-US"/>
              <a:t>表</a:t>
            </a:r>
            <a:r>
              <a:rPr lang="en-US"/>
              <a:t>I"}</a:t>
            </a:r>
          </a:p>
          <a:p>
            <a:r>
              <a:rPr lang="zh-CN" altLang="en-US"/>
              <a:t>重构后三个孤岛：</a:t>
            </a:r>
            <a:r>
              <a:rPr lang="en-US"/>
              <a:t>PDF p.12 </a:t>
            </a:r>
            <a:r>
              <a:rPr lang="zh-CN" altLang="en-US"/>
              <a:t>表</a:t>
            </a:r>
            <a:r>
              <a:rPr lang="en-US"/>
              <a:t>IV</a:t>
            </a:r>
          </a:p>
          <a:p>
            <a:r>
              <a:rPr lang="en-US"/>
              <a:t>{"type":"table","title":"</a:t>
            </a:r>
            <a:r>
              <a:rPr lang="zh-CN" altLang="en-US"/>
              <a:t>重构后三个孤岛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指标</a:t>
            </a:r>
            <a:r>
              <a:rPr lang="en-US" altLang="zh-CN"/>
              <a:t>","</a:t>
            </a:r>
            <a:r>
              <a:rPr lang="zh-CN" altLang="en-US"/>
              <a:t>岛</a:t>
            </a:r>
            <a:r>
              <a:rPr lang="en-US" altLang="zh-CN"/>
              <a:t>1","</a:t>
            </a:r>
            <a:r>
              <a:rPr lang="zh-CN" altLang="en-US"/>
              <a:t>岛</a:t>
            </a:r>
            <a:r>
              <a:rPr lang="en-US" altLang="zh-CN"/>
              <a:t>2","</a:t>
            </a:r>
            <a:r>
              <a:rPr lang="zh-CN" altLang="en-US"/>
              <a:t>岛</a:t>
            </a:r>
            <a:r>
              <a:rPr lang="en-US" altLang="zh-CN"/>
              <a:t>3"],"</a:t>
            </a:r>
            <a:r>
              <a:rPr lang="en-US"/>
              <a:t>rows":[["</a:t>
            </a:r>
            <a:r>
              <a:rPr lang="zh-CN" altLang="en-US"/>
              <a:t>最低频率</a:t>
            </a:r>
            <a:r>
              <a:rPr lang="en-US" altLang="zh-CN"/>
              <a:t>/</a:t>
            </a:r>
            <a:r>
              <a:rPr lang="en-US"/>
              <a:t>Hz","49.55","49.58","49.52"],["</a:t>
            </a:r>
            <a:r>
              <a:rPr lang="zh-CN" altLang="en-US"/>
              <a:t>稳定时间</a:t>
            </a:r>
            <a:r>
              <a:rPr lang="en-US" altLang="zh-CN"/>
              <a:t>/</a:t>
            </a:r>
            <a:r>
              <a:rPr lang="en-US"/>
              <a:t>s","3.62","3.31","5.90"],["</a:t>
            </a:r>
            <a:r>
              <a:rPr lang="zh-CN" altLang="en-US"/>
              <a:t>可行性认证</a:t>
            </a:r>
            <a:r>
              <a:rPr lang="en-US" altLang="zh-CN"/>
              <a:t>","1","1","1"]],"</a:t>
            </a:r>
            <a:r>
              <a:rPr lang="en-US"/>
              <a:t>evidenceRef":"PDF p.12 </a:t>
            </a:r>
            <a:r>
              <a:rPr lang="zh-CN" altLang="en-US"/>
              <a:t>表</a:t>
            </a:r>
            <a:r>
              <a:rPr lang="en-US"/>
              <a:t>IV"}</a:t>
            </a:r>
          </a:p>
          <a:p>
            <a:r>
              <a:rPr lang="en-US"/>
              <a:t>③ </a:t>
            </a:r>
            <a:r>
              <a:rPr lang="zh-CN" altLang="en-US"/>
              <a:t>规模与扰动条件：</a:t>
            </a:r>
            <a:r>
              <a:rPr lang="en-US"/>
              <a:t>PDF p.12 </a:t>
            </a:r>
            <a:r>
              <a:rPr lang="zh-CN" altLang="en-US"/>
              <a:t>表</a:t>
            </a:r>
            <a:r>
              <a:rPr lang="en-US"/>
              <a:t>III</a:t>
            </a:r>
            <a:r>
              <a:rPr lang="zh-CN" altLang="en-US"/>
              <a:t>及正文</a:t>
            </a:r>
          </a:p>
          <a:p>
            <a:r>
              <a:rPr lang="zh-CN" altLang="en-US"/>
              <a:t>不同网络规模：</a:t>
            </a:r>
            <a:r>
              <a:rPr lang="en-US"/>
              <a:t>PDF p.12 </a:t>
            </a:r>
            <a:r>
              <a:rPr lang="zh-CN" altLang="en-US"/>
              <a:t>表</a:t>
            </a:r>
            <a:r>
              <a:rPr lang="en-US"/>
              <a:t>III</a:t>
            </a:r>
          </a:p>
          <a:p>
            <a:r>
              <a:rPr lang="en-US"/>
              <a:t>{"type":"table","title":"</a:t>
            </a:r>
            <a:r>
              <a:rPr lang="zh-CN" altLang="en-US"/>
              <a:t>不同网络规模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节点数</a:t>
            </a:r>
            <a:r>
              <a:rPr lang="en-US" altLang="zh-CN"/>
              <a:t>","</a:t>
            </a:r>
            <a:r>
              <a:rPr lang="zh-CN" altLang="en-US"/>
              <a:t>求解时间</a:t>
            </a:r>
            <a:r>
              <a:rPr lang="en-US" altLang="zh-CN"/>
              <a:t>/</a:t>
            </a:r>
            <a:r>
              <a:rPr lang="en-US"/>
              <a:t>s","</a:t>
            </a:r>
            <a:r>
              <a:rPr lang="zh-CN" altLang="en-US"/>
              <a:t>稳定时间</a:t>
            </a:r>
            <a:r>
              <a:rPr lang="en-US" altLang="zh-CN"/>
              <a:t>/</a:t>
            </a:r>
            <a:r>
              <a:rPr lang="en-US"/>
              <a:t>s"],"rows":[["33","342","5.3"],["123","3862","7.1"],["237","14580","7.8"]],"evidenceRef":"PDF p.12 </a:t>
            </a:r>
            <a:r>
              <a:rPr lang="zh-CN" altLang="en-US"/>
              <a:t>表</a:t>
            </a:r>
            <a:r>
              <a:rPr lang="en-US"/>
              <a:t>III"}</a:t>
            </a:r>
          </a:p>
          <a:p>
            <a:r>
              <a:rPr lang="zh-CN" altLang="en-US"/>
              <a:t>通信与测量扰动：</a:t>
            </a:r>
            <a:r>
              <a:rPr lang="en-US"/>
              <a:t>PDF p.12 </a:t>
            </a:r>
            <a:r>
              <a:rPr lang="zh-CN" altLang="en-US"/>
              <a:t>表</a:t>
            </a:r>
            <a:r>
              <a:rPr lang="en-US"/>
              <a:t>III</a:t>
            </a:r>
          </a:p>
          <a:p>
            <a:r>
              <a:rPr lang="en-US"/>
              <a:t>{"type":"table","title":"</a:t>
            </a:r>
            <a:r>
              <a:rPr lang="zh-CN" altLang="en-US"/>
              <a:t>通信与测量扰动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条件</a:t>
            </a:r>
            <a:r>
              <a:rPr lang="en-US" altLang="zh-CN"/>
              <a:t>","</a:t>
            </a:r>
            <a:r>
              <a:rPr lang="zh-CN" altLang="en-US"/>
              <a:t>结果范围</a:t>
            </a:r>
            <a:r>
              <a:rPr lang="en-US" altLang="zh-CN"/>
              <a:t>"],"</a:t>
            </a:r>
            <a:r>
              <a:rPr lang="en-US"/>
              <a:t>rows":[["</a:t>
            </a:r>
            <a:r>
              <a:rPr lang="zh-CN" altLang="en-US"/>
              <a:t>时延 </a:t>
            </a:r>
            <a:r>
              <a:rPr lang="en-US" altLang="zh-CN"/>
              <a:t>10–100 </a:t>
            </a:r>
            <a:r>
              <a:rPr lang="en-US"/>
              <a:t>ms","</a:t>
            </a:r>
            <a:r>
              <a:rPr lang="zh-CN" altLang="en-US"/>
              <a:t>检测</a:t>
            </a:r>
            <a:r>
              <a:rPr lang="en-US" altLang="zh-CN"/>
              <a:t>0.82–1.21 </a:t>
            </a:r>
            <a:r>
              <a:rPr lang="en-US"/>
              <a:t>s"],["</a:t>
            </a:r>
            <a:r>
              <a:rPr lang="zh-CN" altLang="en-US"/>
              <a:t>噪声 </a:t>
            </a:r>
            <a:r>
              <a:rPr lang="en-US" altLang="zh-CN"/>
              <a:t>1–10 </a:t>
            </a:r>
            <a:r>
              <a:rPr lang="en-US"/>
              <a:t>mpu","</a:t>
            </a:r>
            <a:r>
              <a:rPr lang="zh-CN" altLang="en-US"/>
              <a:t>灵敏度</a:t>
            </a:r>
            <a:r>
              <a:rPr lang="en-US" altLang="zh-CN"/>
              <a:t>0.882–0.931"],["</a:t>
            </a:r>
            <a:r>
              <a:rPr lang="zh-CN" altLang="en-US"/>
              <a:t>同一噪声范围</a:t>
            </a:r>
            <a:r>
              <a:rPr lang="en-US" altLang="zh-CN"/>
              <a:t>","</a:t>
            </a:r>
            <a:r>
              <a:rPr lang="zh-CN" altLang="en-US"/>
              <a:t>误报</a:t>
            </a:r>
            <a:r>
              <a:rPr lang="en-US" altLang="zh-CN"/>
              <a:t>0.008–0.024"]],"</a:t>
            </a:r>
            <a:r>
              <a:rPr lang="en-US"/>
              <a:t>evidenceRef":"PDF p.12 </a:t>
            </a:r>
            <a:r>
              <a:rPr lang="zh-CN" altLang="en-US"/>
              <a:t>表</a:t>
            </a:r>
            <a:r>
              <a:rPr lang="en-US"/>
              <a:t>III"}</a:t>
            </a:r>
          </a:p>
          <a:p>
            <a:r>
              <a:rPr lang="zh-CN" altLang="en-US"/>
              <a:t>引用边界：源文</a:t>
            </a:r>
            <a:r>
              <a:rPr lang="en-US"/>
              <a:t>PDF</a:t>
            </a:r>
            <a:r>
              <a:rPr lang="zh-CN" altLang="en-US"/>
              <a:t>前</a:t>
            </a:r>
            <a:r>
              <a:rPr lang="en-US" altLang="zh-CN"/>
              <a:t>3</a:t>
            </a:r>
            <a:r>
              <a:rPr lang="zh-CN" altLang="en-US"/>
              <a:t>页为投稿元数据，本文页码均指</a:t>
            </a:r>
            <a:r>
              <a:rPr lang="en-US"/>
              <a:t>PDF</a:t>
            </a:r>
            <a:r>
              <a:rPr lang="zh-CN" altLang="en-US"/>
              <a:t>物理页；不把封面或模板编辑提示当作任务指令。</a:t>
            </a:r>
          </a:p>
          <a:p>
            <a:r>
              <a:rPr lang="zh-CN" altLang="en-US"/>
              <a:t>主问题所用检测响应、功率质量等非线性映射及实验复现细节未在两页中补造；结果为作者报告值，不是本次独立仿真。</a:t>
            </a:r>
          </a:p>
          <a:p>
            <a:r>
              <a:rPr lang="zh-CN" altLang="en-US"/>
              <a:t>表</a:t>
            </a:r>
            <a:r>
              <a:rPr lang="en-US"/>
              <a:t>II</a:t>
            </a:r>
            <a:r>
              <a:rPr lang="zh-CN" altLang="en-US"/>
              <a:t>汇总检测时间</a:t>
            </a:r>
            <a:r>
              <a:rPr lang="en-US" altLang="zh-CN"/>
              <a:t>0.79 </a:t>
            </a:r>
            <a:r>
              <a:rPr lang="en-US"/>
              <a:t>s、</a:t>
            </a:r>
            <a:r>
              <a:rPr lang="zh-CN" altLang="en-US"/>
              <a:t>稳定</a:t>
            </a:r>
            <a:r>
              <a:rPr lang="en-US" altLang="zh-CN"/>
              <a:t>5.3 </a:t>
            </a:r>
            <a:r>
              <a:rPr lang="en-US"/>
              <a:t>s，19</a:t>
            </a:r>
            <a:r>
              <a:rPr lang="zh-CN" altLang="en-US"/>
              <a:t>时事件为</a:t>
            </a:r>
            <a:r>
              <a:rPr lang="en-US" altLang="zh-CN"/>
              <a:t>0.82 </a:t>
            </a:r>
            <a:r>
              <a:rPr lang="en-US"/>
              <a:t>s、6.4 s；</a:t>
            </a:r>
            <a:r>
              <a:rPr lang="zh-CN" altLang="en-US"/>
              <a:t>两者不合并成同一事件。</a:t>
            </a:r>
          </a:p>
          <a:p>
            <a:r>
              <a:rPr lang="zh-CN" altLang="en-US"/>
              <a:t>模型含加权检测指标与经济成本；</a:t>
            </a:r>
            <a:r>
              <a:rPr lang="en-US"/>
              <a:t>PPT</a:t>
            </a:r>
            <a:r>
              <a:rPr lang="zh-CN" altLang="en-US"/>
              <a:t>不擅自为每个未经定标的加权项赋予货币量纲。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00" Type="http://schemas.openxmlformats.org/officeDocument/2006/relationships/image" Target="../media/graphical-image.png"/><Relationship Id="rId501" Type="http://schemas.openxmlformats.org/officeDocument/2006/relationships/image" Target="../media/graphical-image.svg"/><Relationship Id="rId502" Type="http://schemas.openxmlformats.org/officeDocument/2006/relationships/image" Target="../media/graphical-image2.png"/><Relationship Id="rId503" Type="http://schemas.openxmlformats.org/officeDocument/2006/relationships/image" Target="../media/graphical-image2.svg"/><Relationship Id="rId504" Type="http://schemas.openxmlformats.org/officeDocument/2006/relationships/image" Target="../media/graphical-image3.png"/><Relationship Id="rId505" Type="http://schemas.openxmlformats.org/officeDocument/2006/relationships/image" Target="../media/graphical-image3.svg"/><Relationship Id="rId506" Type="http://schemas.openxmlformats.org/officeDocument/2006/relationships/image" Target="../media/graphical-image4.png"/><Relationship Id="rId507" Type="http://schemas.openxmlformats.org/officeDocument/2006/relationships/image" Target="../media/graphical-image4.svg"/><Relationship Id="rId508" Type="http://schemas.openxmlformats.org/officeDocument/2006/relationships/image" Target="../media/graphical-image5.png"/><Relationship Id="rId509" Type="http://schemas.openxmlformats.org/officeDocument/2006/relationships/image" Target="../media/graphical-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rule">
            <a:extLst>
              <a:ext uri="{FF2B5EF4-FFF2-40B4-BE49-F238E27FC236}">
                <a16:creationId xmlns:a16="http://schemas.microsoft.com/office/drawing/2014/main" id="{BF49A0EE-59FF-4EA9-BEA3-B70BA80A40C3}"/>
              </a:ext>
            </a:extLst>
          </p:cNvPr>
          <p:cNvSpPr>
            <a:spLocks noGrp="1"/>
          </p:cNvSpPr>
          <p:nvPr/>
        </p:nvSpPr>
        <p:spPr>
          <a:xfrm>
            <a:off x="161925" y="619125"/>
            <a:ext cx="15601950" cy="95"/>
          </a:xfrm>
          <a:custGeom>
            <a:avLst/>
            <a:gdLst/>
            <a:ahLst/>
            <a:cxnLst/>
            <a:rect l="0" t="0" r="0" b="0"/>
            <a:pathLst>
              <a:path w="15601950" h="95">
                <a:moveTo>
                  <a:pt x="0" y="0"/>
                </a:moveTo>
                <a:lnTo>
                  <a:pt x="15601950" y="0"/>
                </a:lnTo>
              </a:path>
            </a:pathLst>
          </a:custGeom>
          <a:noFill/>
          <a:ln w="28575">
            <a:solidFill>
              <a:srgbClr val="0867D4"/>
            </a:solidFill>
            <a:prstDash val="solid"/>
          </a:ln>
        </p:spPr>
      </p:sp>
      <p:sp>
        <p:nvSpPr>
          <p:cNvPr id="3" name="summary">
            <a:extLst>
              <a:ext uri="{FF2B5EF4-FFF2-40B4-BE49-F238E27FC236}">
                <a16:creationId xmlns:a16="http://schemas.microsoft.com/office/drawing/2014/main" id="{CDD305B3-9FFE-4B7D-9ADC-FE6BF356FD84}"/>
              </a:ext>
            </a:extLst>
          </p:cNvPr>
          <p:cNvSpPr>
            <a:spLocks noGrp="1"/>
          </p:cNvSpPr>
          <p:nvPr/>
        </p:nvSpPr>
        <p:spPr>
          <a:xfrm>
            <a:off x="171450" y="742951"/>
            <a:ext cx="15582900" cy="1343025"/>
          </a:xfrm>
          <a:prstGeom prst="roundRect">
            <a:avLst>
              <a:gd name="adj" fmla="val 10274"/>
            </a:avLst>
          </a:prstGeom>
          <a:gradFill>
            <a:gsLst>
              <a:gs pos="0">
                <a:srgbClr val="F3FBFF"/>
              </a:gs>
              <a:gs pos="100000">
                <a:srgbClr val="DEEFFC"/>
              </a:gs>
            </a:gsLst>
            <a:lin ang="5400000"/>
          </a:gradFill>
          <a:ln w="9525">
            <a:solidFill>
              <a:srgbClr val="63B4FA"/>
            </a:solidFill>
            <a:prstDash val="solid"/>
          </a:ln>
        </p:spPr>
      </p:sp>
      <p:sp>
        <p:nvSpPr>
          <p:cNvPr id="358" name="conclusion">
            <a:extLst>
              <a:ext uri="{FF2B5EF4-FFF2-40B4-BE49-F238E27FC236}">
                <a16:creationId xmlns:a16="http://schemas.microsoft.com/office/drawing/2014/main" id="{C7BDA826-D73C-4DDB-A50C-DD6D71D74422}"/>
              </a:ext>
            </a:extLst>
          </p:cNvPr>
          <p:cNvSpPr>
            <a:spLocks noGrp="1"/>
          </p:cNvSpPr>
          <p:nvPr/>
        </p:nvSpPr>
        <p:spPr>
          <a:xfrm>
            <a:off x="171450" y="8410574"/>
            <a:ext cx="15582900" cy="438150"/>
          </a:xfrm>
          <a:prstGeom prst="roundRect">
            <a:avLst>
              <a:gd name="adj" fmla="val 27027"/>
            </a:avLst>
          </a:prstGeom>
          <a:gradFill>
            <a:gsLst>
              <a:gs pos="0">
                <a:srgbClr val="E5F5FF"/>
              </a:gs>
              <a:gs pos="100000">
                <a:srgbClr val="D8EDFA"/>
              </a:gs>
            </a:gsLst>
            <a:lin ang="5400000"/>
          </a:gradFill>
          <a:ln w="9525">
            <a:solidFill>
              <a:srgbClr val="63B4FA"/>
            </a:solidFill>
            <a:prstDash val="solid"/>
          </a:ln>
        </p:spPr>
      </p:sp>
      <p:sp>
        <p:nvSpPr>
          <p:cNvPr id="1000" name="object-1">
            <a:extLst>
              <a:ext uri="{FF2B5EF4-FFF2-40B4-BE49-F238E27FC236}">
                <a16:creationId xmlns:a16="http://schemas.microsoft.com/office/drawing/2014/main" id="{323D2342-CE27-4196-8FBF-ECF656215499}"/>
              </a:ext>
            </a:extLst>
          </p:cNvPr>
          <p:cNvSpPr>
            <a:spLocks noGrp="1"/>
          </p:cNvSpPr>
          <p:nvPr/>
        </p:nvSpPr>
        <p:spPr>
          <a:xfrm>
            <a:off x="190500" y="9525"/>
            <a:ext cx="155257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1. 主动孤岛检测：扰动、资源与拓扑协同</a:t>
            </a:r>
          </a:p>
        </p:txBody>
      </p:sp>
      <p:sp>
        <p:nvSpPr>
          <p:cNvPr id="1001" name="object-2">
            <a:extLst>
              <a:ext uri="{FF2B5EF4-FFF2-40B4-BE49-F238E27FC236}">
                <a16:creationId xmlns:a16="http://schemas.microsoft.com/office/drawing/2014/main" id="{606CF60E-DEBD-41AE-9C4B-6613EA5642CD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联合优化检测扰动、分布式电源调度和开关状态，把出力裕度、爬坡备用与拓扑可观测性纳入检测；</a:t>
            </a:r>
          </a:p>
          <a:p>
            <a:pPr algn="l">
              <a:def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仅当检测要求和运行约束同时通过时，才授予可行性认证。</a:t>
            </a:r>
          </a:p>
        </p:txBody>
      </p:sp>
      <p:sp>
        <p:nvSpPr>
          <p:cNvPr id="1002" name="object-3">
            <a:extLst>
              <a:ext uri="{FF2B5EF4-FFF2-40B4-BE49-F238E27FC236}">
                <a16:creationId xmlns:a16="http://schemas.microsoft.com/office/drawing/2014/main" id="{3EFE2A60-584E-4054-952C-45CDBF4B13DE}"/>
              </a:ext>
            </a:extLst>
          </p:cNvPr>
          <p:cNvSpPr>
            <a:spLocks noGrp="1"/>
          </p:cNvSpPr>
          <p:nvPr/>
        </p:nvSpPr>
        <p:spPr>
          <a:xfrm>
            <a:off x="171450" y="2190750"/>
            <a:ext cx="10715625" cy="6115050"/>
          </a:xfrm>
          <a:prstGeom prst="roundRect">
            <a:avLst>
              <a:gd name="adj" fmla="val 1246"/>
            </a:avLst>
          </a:prstGeom>
          <a:solidFill>
            <a:srgbClr val="FFFFFF"/>
          </a:solidFill>
          <a:ln w="9525">
            <a:solidFill>
              <a:srgbClr val="66B7FA"/>
            </a:solidFill>
            <a:prstDash val="solid"/>
          </a:ln>
        </p:spPr>
      </p:sp>
      <p:sp>
        <p:nvSpPr>
          <p:cNvPr id="1003" name="object-4">
            <a:extLst>
              <a:ext uri="{FF2B5EF4-FFF2-40B4-BE49-F238E27FC236}">
                <a16:creationId xmlns:a16="http://schemas.microsoft.com/office/drawing/2014/main" id="{DA084736-F03B-4236-9453-B0996964B8E5}"/>
              </a:ext>
            </a:extLst>
          </p:cNvPr>
          <p:cNvSpPr>
            <a:spLocks noGrp="1"/>
          </p:cNvSpPr>
          <p:nvPr/>
        </p:nvSpPr>
        <p:spPr>
          <a:xfrm>
            <a:off x="285750" y="2238375"/>
            <a:ext cx="10487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扰动传播、资源支撑与网络重构</a:t>
            </a:r>
          </a:p>
        </p:txBody>
      </p:sp>
      <p:sp>
        <p:nvSpPr>
          <p:cNvPr id="1004" name="object-5">
            <a:extLst>
              <a:ext uri="{FF2B5EF4-FFF2-40B4-BE49-F238E27FC236}">
                <a16:creationId xmlns:a16="http://schemas.microsoft.com/office/drawing/2014/main" id="{A4775FB4-98DA-4619-9887-631C41DFC524}"/>
              </a:ext>
            </a:extLst>
          </p:cNvPr>
          <p:cNvSpPr>
            <a:spLocks noGrp="1"/>
          </p:cNvSpPr>
          <p:nvPr/>
        </p:nvSpPr>
        <p:spPr>
          <a:xfrm>
            <a:off x="11001375" y="2190750"/>
            <a:ext cx="4752975" cy="6115050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9525">
            <a:solidFill>
              <a:srgbClr val="66B7FA"/>
            </a:solidFill>
            <a:prstDash val="solid"/>
          </a:ln>
        </p:spPr>
      </p:sp>
      <p:sp>
        <p:nvSpPr>
          <p:cNvPr id="1005" name="object-6">
            <a:extLst>
              <a:ext uri="{FF2B5EF4-FFF2-40B4-BE49-F238E27FC236}">
                <a16:creationId xmlns:a16="http://schemas.microsoft.com/office/drawing/2014/main" id="{63A545AC-4D93-4FD1-B100-BD3AE9084B13}"/>
              </a:ext>
            </a:extLst>
          </p:cNvPr>
          <p:cNvSpPr>
            <a:spLocks noGrp="1"/>
          </p:cNvSpPr>
          <p:nvPr/>
        </p:nvSpPr>
        <p:spPr>
          <a:xfrm>
            <a:off x="11115675" y="2238375"/>
            <a:ext cx="4524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Benders 内循环与非线性校验</a:t>
            </a:r>
          </a:p>
        </p:txBody>
      </p:sp>
      <p:sp>
        <p:nvSpPr>
          <p:cNvPr id="1006" name="object-7">
            <a:extLst>
              <a:ext uri="{FF2B5EF4-FFF2-40B4-BE49-F238E27FC236}">
                <a16:creationId xmlns:a16="http://schemas.microsoft.com/office/drawing/2014/main" id="{B2FC65DB-FBAB-4C84-B284-6043772EC794}"/>
              </a:ext>
            </a:extLst>
          </p:cNvPr>
          <p:cNvSpPr>
            <a:spLocks noGrp="1"/>
          </p:cNvSpPr>
          <p:nvPr/>
        </p:nvSpPr>
        <p:spPr>
          <a:xfrm>
            <a:off x="457200" y="2743200"/>
            <a:ext cx="23145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80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rPr>
              <a:t>扰动注入点 p</a:t>
            </a:r>
          </a:p>
        </p:txBody>
      </p:sp>
      <p:sp>
        <p:nvSpPr>
          <p:cNvPr id="1007" name="object-8">
            <a:extLst>
              <a:ext uri="{FF2B5EF4-FFF2-40B4-BE49-F238E27FC236}">
                <a16:creationId xmlns:a16="http://schemas.microsoft.com/office/drawing/2014/main" id="{8F8A0459-AE9D-48AB-8FFB-A554F1B07BDE}"/>
              </a:ext>
            </a:extLst>
          </p:cNvPr>
          <p:cNvSpPr>
            <a:spLocks noGrp="1"/>
          </p:cNvSpPr>
          <p:nvPr/>
        </p:nvSpPr>
        <p:spPr>
          <a:xfrm>
            <a:off x="590550" y="3209925"/>
            <a:ext cx="1666875" cy="552450"/>
          </a:xfrm>
          <a:prstGeom prst="roundRect">
            <a:avLst>
              <a:gd name="adj" fmla="val 13793"/>
            </a:avLst>
          </a:prstGeom>
          <a:solidFill>
            <a:srgbClr val="F1EAF8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95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95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rPr>
              <a:t>A、ω、φ</a:t>
            </a:r>
          </a:p>
        </p:txBody>
      </p:sp>
      <p:sp>
        <p:nvSpPr>
          <p:cNvPr id="1008" name="object-9">
            <a:extLst>
              <a:ext uri="{FF2B5EF4-FFF2-40B4-BE49-F238E27FC236}">
                <a16:creationId xmlns:a16="http://schemas.microsoft.com/office/drawing/2014/main" id="{218BA907-271E-4FBB-BE3D-4ECB44F859D8}"/>
              </a:ext>
            </a:extLst>
          </p:cNvPr>
          <p:cNvSpPr>
            <a:spLocks noGrp="1"/>
          </p:cNvSpPr>
          <p:nvPr/>
        </p:nvSpPr>
        <p:spPr>
          <a:xfrm>
            <a:off x="2257425" y="3486150"/>
            <a:ext cx="790575" cy="953"/>
          </a:xfrm>
          <a:prstGeom prst="line">
            <a:avLst/>
          </a:prstGeom>
          <a:noFill/>
          <a:ln w="22860">
            <a:solidFill>
              <a:srgbClr val="7751A8"/>
            </a:solidFill>
            <a:prstDash val="solid"/>
          </a:ln>
        </p:spPr>
      </p:sp>
      <p:sp>
        <p:nvSpPr>
          <p:cNvPr id="1009" name="object-10">
            <a:extLst>
              <a:ext uri="{FF2B5EF4-FFF2-40B4-BE49-F238E27FC236}">
                <a16:creationId xmlns:a16="http://schemas.microsoft.com/office/drawing/2014/main" id="{4341ED65-6850-44BC-9D20-30B11B8633A4}"/>
              </a:ext>
            </a:extLst>
          </p:cNvPr>
          <p:cNvSpPr>
            <a:spLocks noGrp="1"/>
          </p:cNvSpPr>
          <p:nvPr/>
        </p:nvSpPr>
        <p:spPr>
          <a:xfrm>
            <a:off x="3048000" y="3486150"/>
            <a:ext cx="953" cy="628650"/>
          </a:xfrm>
          <a:prstGeom prst="line">
            <a:avLst/>
          </a:prstGeom>
          <a:noFill/>
          <a:ln w="22860">
            <a:solidFill>
              <a:srgbClr val="7751A8"/>
            </a:solidFill>
            <a:prstDash val="solid"/>
          </a:ln>
        </p:spPr>
      </p:sp>
      <p:sp>
        <p:nvSpPr>
          <p:cNvPr id="1010" name="object-11">
            <a:extLst>
              <a:ext uri="{FF2B5EF4-FFF2-40B4-BE49-F238E27FC236}">
                <a16:creationId xmlns:a16="http://schemas.microsoft.com/office/drawing/2014/main" id="{0B93D957-AAAC-47C1-910B-C6FA44827EF7}"/>
              </a:ext>
            </a:extLst>
          </p:cNvPr>
          <p:cNvSpPr>
            <a:spLocks noGrp="1"/>
          </p:cNvSpPr>
          <p:nvPr/>
        </p:nvSpPr>
        <p:spPr>
          <a:xfrm>
            <a:off x="3048000" y="4114800"/>
            <a:ext cx="809625" cy="953"/>
          </a:xfrm>
          <a:prstGeom prst="line">
            <a:avLst/>
          </a:prstGeom>
          <a:noFill/>
          <a:ln w="22860">
            <a:solidFill>
              <a:srgbClr val="7751A8"/>
            </a:solidFill>
            <a:prstDash val="solid"/>
          </a:ln>
        </p:spPr>
      </p:sp>
      <p:sp>
        <p:nvSpPr>
          <p:cNvPr id="1011" name="object-12">
            <a:extLst>
              <a:ext uri="{FF2B5EF4-FFF2-40B4-BE49-F238E27FC236}">
                <a16:creationId xmlns:a16="http://schemas.microsoft.com/office/drawing/2014/main" id="{24D7C933-84FC-4272-9109-6A6705EF2CB9}"/>
              </a:ext>
            </a:extLst>
          </p:cNvPr>
          <p:cNvSpPr>
            <a:spLocks noGrp="1"/>
          </p:cNvSpPr>
          <p:nvPr/>
        </p:nvSpPr>
        <p:spPr>
          <a:xfrm>
            <a:off x="3724275" y="4057650"/>
            <a:ext cx="133350" cy="114300"/>
          </a:xfrm>
          <a:prstGeom prst="rightArrow">
            <a:avLst/>
          </a:prstGeom>
          <a:solidFill>
            <a:srgbClr val="7751A8"/>
          </a:solidFill>
          <a:ln w="0">
            <a:noFill/>
            <a:prstDash val="solid"/>
          </a:ln>
        </p:spPr>
      </p:sp>
      <p:sp>
        <p:nvSpPr>
          <p:cNvPr id="1012" name="object-13">
            <a:extLst>
              <a:ext uri="{FF2B5EF4-FFF2-40B4-BE49-F238E27FC236}">
                <a16:creationId xmlns:a16="http://schemas.microsoft.com/office/drawing/2014/main" id="{58783451-4DE7-4077-AA62-BB6012499291}"/>
              </a:ext>
            </a:extLst>
          </p:cNvPr>
          <p:cNvSpPr>
            <a:spLocks noGrp="1"/>
          </p:cNvSpPr>
          <p:nvPr/>
        </p:nvSpPr>
        <p:spPr>
          <a:xfrm>
            <a:off x="2438400" y="3600450"/>
            <a:ext cx="1409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500" b="0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rPr>
              <a:t>注入信号</a:t>
            </a:r>
          </a:p>
        </p:txBody>
      </p:sp>
      <p:sp>
        <p:nvSpPr>
          <p:cNvPr id="1013" name="object-14">
            <a:extLst>
              <a:ext uri="{FF2B5EF4-FFF2-40B4-BE49-F238E27FC236}">
                <a16:creationId xmlns:a16="http://schemas.microsoft.com/office/drawing/2014/main" id="{BFECC70B-2CFB-4C18-83BE-88BFEF33DDEB}"/>
              </a:ext>
            </a:extLst>
          </p:cNvPr>
          <p:cNvSpPr>
            <a:spLocks noGrp="1"/>
          </p:cNvSpPr>
          <p:nvPr/>
        </p:nvSpPr>
        <p:spPr>
          <a:xfrm>
            <a:off x="3857625" y="4114800"/>
            <a:ext cx="5581650" cy="953"/>
          </a:xfrm>
          <a:prstGeom prst="line">
            <a:avLst/>
          </a:prstGeom>
          <a:noFill/>
          <a:ln w="38100">
            <a:solidFill>
              <a:srgbClr val="087F8C"/>
            </a:solidFill>
            <a:prstDash val="solid"/>
          </a:ln>
        </p:spPr>
      </p:sp>
      <p:sp>
        <p:nvSpPr>
          <p:cNvPr id="1014" name="object-15">
            <a:extLst>
              <a:ext uri="{FF2B5EF4-FFF2-40B4-BE49-F238E27FC236}">
                <a16:creationId xmlns:a16="http://schemas.microsoft.com/office/drawing/2014/main" id="{50703E44-415A-440A-81DB-6A3F5EFEA32F}"/>
              </a:ext>
            </a:extLst>
          </p:cNvPr>
          <p:cNvSpPr>
            <a:spLocks noGrp="1"/>
          </p:cNvSpPr>
          <p:nvPr/>
        </p:nvSpPr>
        <p:spPr>
          <a:xfrm>
            <a:off x="3790950" y="4048125"/>
            <a:ext cx="133350" cy="133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F8C"/>
            </a:solidFill>
            <a:prstDash val="solid"/>
          </a:ln>
        </p:spPr>
      </p:sp>
      <p:sp>
        <p:nvSpPr>
          <p:cNvPr id="1015" name="object-16">
            <a:extLst>
              <a:ext uri="{FF2B5EF4-FFF2-40B4-BE49-F238E27FC236}">
                <a16:creationId xmlns:a16="http://schemas.microsoft.com/office/drawing/2014/main" id="{7C8FDC2D-5F65-4D77-A1DB-11CDDA077CE4}"/>
              </a:ext>
            </a:extLst>
          </p:cNvPr>
          <p:cNvSpPr>
            <a:spLocks noGrp="1"/>
          </p:cNvSpPr>
          <p:nvPr/>
        </p:nvSpPr>
        <p:spPr>
          <a:xfrm>
            <a:off x="5553075" y="4048125"/>
            <a:ext cx="133350" cy="133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F8C"/>
            </a:solidFill>
            <a:prstDash val="solid"/>
          </a:ln>
        </p:spPr>
      </p:sp>
      <p:sp>
        <p:nvSpPr>
          <p:cNvPr id="1016" name="object-17">
            <a:extLst>
              <a:ext uri="{FF2B5EF4-FFF2-40B4-BE49-F238E27FC236}">
                <a16:creationId xmlns:a16="http://schemas.microsoft.com/office/drawing/2014/main" id="{F78C3149-3C0C-4499-939B-E67BD1AB5349}"/>
              </a:ext>
            </a:extLst>
          </p:cNvPr>
          <p:cNvSpPr>
            <a:spLocks noGrp="1"/>
          </p:cNvSpPr>
          <p:nvPr/>
        </p:nvSpPr>
        <p:spPr>
          <a:xfrm>
            <a:off x="7458075" y="4048125"/>
            <a:ext cx="133350" cy="133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F8C"/>
            </a:solidFill>
            <a:prstDash val="solid"/>
          </a:ln>
        </p:spPr>
      </p:sp>
      <p:sp>
        <p:nvSpPr>
          <p:cNvPr id="1017" name="object-18">
            <a:extLst>
              <a:ext uri="{FF2B5EF4-FFF2-40B4-BE49-F238E27FC236}">
                <a16:creationId xmlns:a16="http://schemas.microsoft.com/office/drawing/2014/main" id="{00EC3BAF-1CA5-481F-9CC0-5DDF05FB4D5B}"/>
              </a:ext>
            </a:extLst>
          </p:cNvPr>
          <p:cNvSpPr>
            <a:spLocks noGrp="1"/>
          </p:cNvSpPr>
          <p:nvPr/>
        </p:nvSpPr>
        <p:spPr>
          <a:xfrm>
            <a:off x="9372600" y="4048125"/>
            <a:ext cx="133350" cy="133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F8C"/>
            </a:solidFill>
            <a:prstDash val="solid"/>
          </a:ln>
        </p:spPr>
      </p:sp>
      <p:sp>
        <p:nvSpPr>
          <p:cNvPr id="1018" name="object-19">
            <a:extLst>
              <a:ext uri="{FF2B5EF4-FFF2-40B4-BE49-F238E27FC236}">
                <a16:creationId xmlns:a16="http://schemas.microsoft.com/office/drawing/2014/main" id="{C6B419EC-55A4-49D1-B6E3-49A59A2EF7B2}"/>
              </a:ext>
            </a:extLst>
          </p:cNvPr>
          <p:cNvSpPr>
            <a:spLocks noGrp="1"/>
          </p:cNvSpPr>
          <p:nvPr/>
        </p:nvSpPr>
        <p:spPr>
          <a:xfrm>
            <a:off x="5619750" y="3314700"/>
            <a:ext cx="953" cy="800100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19" name="object-20">
            <a:extLst>
              <a:ext uri="{FF2B5EF4-FFF2-40B4-BE49-F238E27FC236}">
                <a16:creationId xmlns:a16="http://schemas.microsoft.com/office/drawing/2014/main" id="{7EBDE761-93C0-4954-9343-35BDDBAE0F09}"/>
              </a:ext>
            </a:extLst>
          </p:cNvPr>
          <p:cNvSpPr>
            <a:spLocks noGrp="1"/>
          </p:cNvSpPr>
          <p:nvPr/>
        </p:nvSpPr>
        <p:spPr>
          <a:xfrm>
            <a:off x="5391150" y="2657475"/>
            <a:ext cx="457200" cy="581025"/>
          </a:xfrm>
          <a:prstGeom prst="rect">
            <a:avLst/>
          </a:prstGeom>
          <a:solidFill>
            <a:srgbClr val="E4F1EA"/>
          </a:solidFill>
          <a:ln w="22860">
            <a:solidFill>
              <a:srgbClr val="087F8C"/>
            </a:solidFill>
            <a:prstDash val="solid"/>
          </a:ln>
        </p:spPr>
      </p:sp>
      <p:sp>
        <p:nvSpPr>
          <p:cNvPr id="1020" name="object-21">
            <a:extLst>
              <a:ext uri="{FF2B5EF4-FFF2-40B4-BE49-F238E27FC236}">
                <a16:creationId xmlns:a16="http://schemas.microsoft.com/office/drawing/2014/main" id="{3DA2CFA1-4538-44F4-921C-21B80678A4A7}"/>
              </a:ext>
            </a:extLst>
          </p:cNvPr>
          <p:cNvSpPr>
            <a:spLocks noGrp="1"/>
          </p:cNvSpPr>
          <p:nvPr/>
        </p:nvSpPr>
        <p:spPr>
          <a:xfrm>
            <a:off x="5551170" y="2590800"/>
            <a:ext cx="137160" cy="66675"/>
          </a:xfrm>
          <a:prstGeom prst="rect">
            <a:avLst/>
          </a:prstGeom>
          <a:solidFill>
            <a:srgbClr val="087F8C"/>
          </a:solidFill>
          <a:ln w="9525">
            <a:solidFill>
              <a:srgbClr val="087F8C"/>
            </a:solidFill>
            <a:prstDash val="solid"/>
          </a:ln>
        </p:spPr>
      </p:sp>
      <p:sp>
        <p:nvSpPr>
          <p:cNvPr id="1021" name="object-22">
            <a:extLst>
              <a:ext uri="{FF2B5EF4-FFF2-40B4-BE49-F238E27FC236}">
                <a16:creationId xmlns:a16="http://schemas.microsoft.com/office/drawing/2014/main" id="{675B89FF-4EFE-4C95-95F1-171BE764ACC8}"/>
              </a:ext>
            </a:extLst>
          </p:cNvPr>
          <p:cNvSpPr>
            <a:spLocks noGrp="1"/>
          </p:cNvSpPr>
          <p:nvPr/>
        </p:nvSpPr>
        <p:spPr>
          <a:xfrm>
            <a:off x="5467350" y="2752725"/>
            <a:ext cx="304800" cy="114300"/>
          </a:xfrm>
          <a:prstGeom prst="rect">
            <a:avLst/>
          </a:prstGeom>
          <a:solidFill>
            <a:srgbClr val="8AC4A8"/>
          </a:solidFill>
          <a:ln w="9525">
            <a:noFill/>
            <a:prstDash val="solid"/>
          </a:ln>
        </p:spPr>
      </p:sp>
      <p:sp>
        <p:nvSpPr>
          <p:cNvPr id="1022" name="object-23">
            <a:extLst>
              <a:ext uri="{FF2B5EF4-FFF2-40B4-BE49-F238E27FC236}">
                <a16:creationId xmlns:a16="http://schemas.microsoft.com/office/drawing/2014/main" id="{1F90C16E-495E-469B-B50B-9510AC92DAC3}"/>
              </a:ext>
            </a:extLst>
          </p:cNvPr>
          <p:cNvSpPr>
            <a:spLocks noGrp="1"/>
          </p:cNvSpPr>
          <p:nvPr/>
        </p:nvSpPr>
        <p:spPr>
          <a:xfrm>
            <a:off x="5467350" y="2933700"/>
            <a:ext cx="304800" cy="114300"/>
          </a:xfrm>
          <a:prstGeom prst="rect">
            <a:avLst/>
          </a:prstGeom>
          <a:solidFill>
            <a:srgbClr val="8AC4A8"/>
          </a:solidFill>
          <a:ln w="9525">
            <a:noFill/>
            <a:prstDash val="solid"/>
          </a:ln>
        </p:spPr>
      </p:sp>
      <p:sp>
        <p:nvSpPr>
          <p:cNvPr id="1023" name="object-24">
            <a:extLst>
              <a:ext uri="{FF2B5EF4-FFF2-40B4-BE49-F238E27FC236}">
                <a16:creationId xmlns:a16="http://schemas.microsoft.com/office/drawing/2014/main" id="{9715C959-7A09-4C75-ACBC-23854A8A5C8C}"/>
              </a:ext>
            </a:extLst>
          </p:cNvPr>
          <p:cNvSpPr>
            <a:spLocks noGrp="1"/>
          </p:cNvSpPr>
          <p:nvPr/>
        </p:nvSpPr>
        <p:spPr>
          <a:xfrm>
            <a:off x="5467350" y="3114675"/>
            <a:ext cx="304800" cy="114300"/>
          </a:xfrm>
          <a:prstGeom prst="rect">
            <a:avLst/>
          </a:prstGeom>
          <a:solidFill>
            <a:srgbClr val="8AC4A8"/>
          </a:solidFill>
          <a:ln w="9525">
            <a:noFill/>
            <a:prstDash val="solid"/>
          </a:ln>
        </p:spPr>
      </p:sp>
      <p:sp>
        <p:nvSpPr>
          <p:cNvPr id="1024" name="object-25">
            <a:extLst>
              <a:ext uri="{FF2B5EF4-FFF2-40B4-BE49-F238E27FC236}">
                <a16:creationId xmlns:a16="http://schemas.microsoft.com/office/drawing/2014/main" id="{FA03A78E-8E97-4E03-A9EE-0FAFD745442A}"/>
              </a:ext>
            </a:extLst>
          </p:cNvPr>
          <p:cNvSpPr>
            <a:spLocks noGrp="1"/>
          </p:cNvSpPr>
          <p:nvPr/>
        </p:nvSpPr>
        <p:spPr>
          <a:xfrm>
            <a:off x="5619750" y="2647950"/>
            <a:ext cx="238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025" name="object-26">
            <a:extLst>
              <a:ext uri="{FF2B5EF4-FFF2-40B4-BE49-F238E27FC236}">
                <a16:creationId xmlns:a16="http://schemas.microsoft.com/office/drawing/2014/main" id="{0E4C1166-164F-454E-81A6-592A4FB4411E}"/>
              </a:ext>
            </a:extLst>
          </p:cNvPr>
          <p:cNvSpPr>
            <a:spLocks noGrp="1"/>
          </p:cNvSpPr>
          <p:nvPr/>
        </p:nvSpPr>
        <p:spPr>
          <a:xfrm>
            <a:off x="4295775" y="2343150"/>
            <a:ext cx="2647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DER 裕度 H / 备用 R</a:t>
            </a:r>
          </a:p>
        </p:txBody>
      </p:sp>
      <p:sp>
        <p:nvSpPr>
          <p:cNvPr id="1026" name="object-27">
            <a:extLst>
              <a:ext uri="{FF2B5EF4-FFF2-40B4-BE49-F238E27FC236}">
                <a16:creationId xmlns:a16="http://schemas.microsoft.com/office/drawing/2014/main" id="{CBD2C26F-64FD-43A3-9F40-4ABC7C82E402}"/>
              </a:ext>
            </a:extLst>
          </p:cNvPr>
          <p:cNvSpPr>
            <a:spLocks noGrp="1"/>
          </p:cNvSpPr>
          <p:nvPr/>
        </p:nvSpPr>
        <p:spPr>
          <a:xfrm>
            <a:off x="7524750" y="4114800"/>
            <a:ext cx="953" cy="523875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27" name="object-28">
            <a:extLst>
              <a:ext uri="{FF2B5EF4-FFF2-40B4-BE49-F238E27FC236}">
                <a16:creationId xmlns:a16="http://schemas.microsoft.com/office/drawing/2014/main" id="{9B2462D4-CE1F-4044-9D7D-2B256B8EEF87}"/>
              </a:ext>
            </a:extLst>
          </p:cNvPr>
          <p:cNvSpPr>
            <a:spLocks noGrp="1"/>
          </p:cNvSpPr>
          <p:nvPr/>
        </p:nvSpPr>
        <p:spPr>
          <a:xfrm>
            <a:off x="7239000" y="4695825"/>
            <a:ext cx="600075" cy="495300"/>
          </a:xfrm>
          <a:prstGeom prst="rect">
            <a:avLst/>
          </a:prstGeom>
          <a:solidFill>
            <a:srgbClr val="FFF3DA"/>
          </a:solidFill>
          <a:ln w="19050">
            <a:solidFill>
              <a:srgbClr val="D16A25"/>
            </a:solidFill>
            <a:prstDash val="solid"/>
          </a:ln>
        </p:spPr>
      </p:sp>
      <p:sp>
        <p:nvSpPr>
          <p:cNvPr id="1028" name="object-29">
            <a:extLst>
              <a:ext uri="{FF2B5EF4-FFF2-40B4-BE49-F238E27FC236}">
                <a16:creationId xmlns:a16="http://schemas.microsoft.com/office/drawing/2014/main" id="{FB1A91B0-C516-40E6-9739-D19E904F776F}"/>
              </a:ext>
            </a:extLst>
          </p:cNvPr>
          <p:cNvSpPr>
            <a:spLocks noGrp="1"/>
          </p:cNvSpPr>
          <p:nvPr/>
        </p:nvSpPr>
        <p:spPr>
          <a:xfrm>
            <a:off x="7334250" y="478155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29" name="object-30">
            <a:extLst>
              <a:ext uri="{FF2B5EF4-FFF2-40B4-BE49-F238E27FC236}">
                <a16:creationId xmlns:a16="http://schemas.microsoft.com/office/drawing/2014/main" id="{5450240F-9486-4D5D-B0E5-54BDF6704F10}"/>
              </a:ext>
            </a:extLst>
          </p:cNvPr>
          <p:cNvSpPr>
            <a:spLocks noGrp="1"/>
          </p:cNvSpPr>
          <p:nvPr/>
        </p:nvSpPr>
        <p:spPr>
          <a:xfrm>
            <a:off x="7515225" y="478155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30" name="object-31">
            <a:extLst>
              <a:ext uri="{FF2B5EF4-FFF2-40B4-BE49-F238E27FC236}">
                <a16:creationId xmlns:a16="http://schemas.microsoft.com/office/drawing/2014/main" id="{1504B750-274D-4FFA-B25F-A1118FDD2A2A}"/>
              </a:ext>
            </a:extLst>
          </p:cNvPr>
          <p:cNvSpPr>
            <a:spLocks noGrp="1"/>
          </p:cNvSpPr>
          <p:nvPr/>
        </p:nvSpPr>
        <p:spPr>
          <a:xfrm>
            <a:off x="7696200" y="478155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31" name="object-32">
            <a:extLst>
              <a:ext uri="{FF2B5EF4-FFF2-40B4-BE49-F238E27FC236}">
                <a16:creationId xmlns:a16="http://schemas.microsoft.com/office/drawing/2014/main" id="{601647A0-45B8-49C7-A71C-40BEEF8E4C14}"/>
              </a:ext>
            </a:extLst>
          </p:cNvPr>
          <p:cNvSpPr>
            <a:spLocks noGrp="1"/>
          </p:cNvSpPr>
          <p:nvPr/>
        </p:nvSpPr>
        <p:spPr>
          <a:xfrm>
            <a:off x="7334250" y="497205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32" name="object-33">
            <a:extLst>
              <a:ext uri="{FF2B5EF4-FFF2-40B4-BE49-F238E27FC236}">
                <a16:creationId xmlns:a16="http://schemas.microsoft.com/office/drawing/2014/main" id="{096BF725-2D2E-4254-A2EB-9CB433AEB08D}"/>
              </a:ext>
            </a:extLst>
          </p:cNvPr>
          <p:cNvSpPr>
            <a:spLocks noGrp="1"/>
          </p:cNvSpPr>
          <p:nvPr/>
        </p:nvSpPr>
        <p:spPr>
          <a:xfrm>
            <a:off x="7515225" y="497205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33" name="object-34">
            <a:extLst>
              <a:ext uri="{FF2B5EF4-FFF2-40B4-BE49-F238E27FC236}">
                <a16:creationId xmlns:a16="http://schemas.microsoft.com/office/drawing/2014/main" id="{5628A516-3451-4DDC-97A4-33854D5D8D40}"/>
              </a:ext>
            </a:extLst>
          </p:cNvPr>
          <p:cNvSpPr>
            <a:spLocks noGrp="1"/>
          </p:cNvSpPr>
          <p:nvPr/>
        </p:nvSpPr>
        <p:spPr>
          <a:xfrm>
            <a:off x="7696200" y="497205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34" name="object-35">
            <a:extLst>
              <a:ext uri="{FF2B5EF4-FFF2-40B4-BE49-F238E27FC236}">
                <a16:creationId xmlns:a16="http://schemas.microsoft.com/office/drawing/2014/main" id="{39EF810D-5A5E-42E8-B323-D1C7952B313B}"/>
              </a:ext>
            </a:extLst>
          </p:cNvPr>
          <p:cNvSpPr>
            <a:spLocks noGrp="1"/>
          </p:cNvSpPr>
          <p:nvPr/>
        </p:nvSpPr>
        <p:spPr>
          <a:xfrm>
            <a:off x="7496175" y="5086350"/>
            <a:ext cx="152400" cy="104775"/>
          </a:xfrm>
          <a:prstGeom prst="rect">
            <a:avLst/>
          </a:prstGeom>
          <a:solidFill>
            <a:srgbClr val="D16A25"/>
          </a:solidFill>
          <a:ln w="9525">
            <a:noFill/>
            <a:prstDash val="solid"/>
          </a:ln>
        </p:spPr>
      </p:sp>
      <p:sp>
        <p:nvSpPr>
          <p:cNvPr id="1035" name="object-36">
            <a:extLst>
              <a:ext uri="{FF2B5EF4-FFF2-40B4-BE49-F238E27FC236}">
                <a16:creationId xmlns:a16="http://schemas.microsoft.com/office/drawing/2014/main" id="{ADFE2263-5D2C-407E-ADAE-9FD208A8A8EA}"/>
              </a:ext>
            </a:extLst>
          </p:cNvPr>
          <p:cNvSpPr>
            <a:spLocks noGrp="1"/>
          </p:cNvSpPr>
          <p:nvPr/>
        </p:nvSpPr>
        <p:spPr>
          <a:xfrm>
            <a:off x="7048500" y="5210175"/>
            <a:ext cx="1000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负荷</a:t>
            </a:r>
          </a:p>
        </p:txBody>
      </p:sp>
      <p:sp>
        <p:nvSpPr>
          <p:cNvPr id="1036" name="object-37">
            <a:extLst>
              <a:ext uri="{FF2B5EF4-FFF2-40B4-BE49-F238E27FC236}">
                <a16:creationId xmlns:a16="http://schemas.microsoft.com/office/drawing/2014/main" id="{534D4E3A-AA96-4F9A-82A6-1EE8598E2A7C}"/>
              </a:ext>
            </a:extLst>
          </p:cNvPr>
          <p:cNvSpPr>
            <a:spLocks noGrp="1"/>
          </p:cNvSpPr>
          <p:nvPr/>
        </p:nvSpPr>
        <p:spPr>
          <a:xfrm>
            <a:off x="8382000" y="3095625"/>
            <a:ext cx="2200275" cy="2495550"/>
          </a:xfrm>
          <a:prstGeom prst="rect">
            <a:avLst/>
          </a:prstGeom>
          <a:solidFill>
            <a:srgbClr val="F4FAF7"/>
          </a:solidFill>
          <a:ln w="9525">
            <a:solidFill>
              <a:srgbClr val="66B7FA"/>
            </a:solidFill>
            <a:prstDash val="solid"/>
          </a:ln>
        </p:spPr>
      </p:sp>
      <p:sp>
        <p:nvSpPr>
          <p:cNvPr id="1037" name="object-38">
            <a:extLst>
              <a:ext uri="{FF2B5EF4-FFF2-40B4-BE49-F238E27FC236}">
                <a16:creationId xmlns:a16="http://schemas.microsoft.com/office/drawing/2014/main" id="{4A28304C-2307-462D-B193-6145728A8447}"/>
              </a:ext>
            </a:extLst>
          </p:cNvPr>
          <p:cNvSpPr>
            <a:spLocks noGrp="1"/>
          </p:cNvSpPr>
          <p:nvPr/>
        </p:nvSpPr>
        <p:spPr>
          <a:xfrm>
            <a:off x="8486775" y="3162300"/>
            <a:ext cx="19907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7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候选孤岛 z</a:t>
            </a:r>
          </a:p>
        </p:txBody>
      </p:sp>
      <p:sp>
        <p:nvSpPr>
          <p:cNvPr id="1038" name="object-39">
            <a:extLst>
              <a:ext uri="{FF2B5EF4-FFF2-40B4-BE49-F238E27FC236}">
                <a16:creationId xmlns:a16="http://schemas.microsoft.com/office/drawing/2014/main" id="{9AB00661-4765-47A6-B857-DA0082ED493A}"/>
              </a:ext>
            </a:extLst>
          </p:cNvPr>
          <p:cNvSpPr>
            <a:spLocks noGrp="1"/>
          </p:cNvSpPr>
          <p:nvPr/>
        </p:nvSpPr>
        <p:spPr>
          <a:xfrm>
            <a:off x="8372475" y="4114800"/>
            <a:ext cx="1066800" cy="953"/>
          </a:xfrm>
          <a:prstGeom prst="line">
            <a:avLst/>
          </a:prstGeom>
          <a:noFill/>
          <a:ln w="38100">
            <a:solidFill>
              <a:srgbClr val="087F8C"/>
            </a:solidFill>
            <a:prstDash val="solid"/>
          </a:ln>
        </p:spPr>
      </p:sp>
      <p:sp>
        <p:nvSpPr>
          <p:cNvPr id="1039" name="object-40">
            <a:extLst>
              <a:ext uri="{FF2B5EF4-FFF2-40B4-BE49-F238E27FC236}">
                <a16:creationId xmlns:a16="http://schemas.microsoft.com/office/drawing/2014/main" id="{9FF1BC09-FCAC-45D1-B642-A3535B29513B}"/>
              </a:ext>
            </a:extLst>
          </p:cNvPr>
          <p:cNvSpPr>
            <a:spLocks noGrp="1"/>
          </p:cNvSpPr>
          <p:nvPr/>
        </p:nvSpPr>
        <p:spPr>
          <a:xfrm>
            <a:off x="9372600" y="4048125"/>
            <a:ext cx="133350" cy="1333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F8C"/>
            </a:solidFill>
            <a:prstDash val="solid"/>
          </a:ln>
        </p:spPr>
      </p:sp>
      <p:sp>
        <p:nvSpPr>
          <p:cNvPr id="1040" name="object-41">
            <a:extLst>
              <a:ext uri="{FF2B5EF4-FFF2-40B4-BE49-F238E27FC236}">
                <a16:creationId xmlns:a16="http://schemas.microsoft.com/office/drawing/2014/main" id="{85579377-ED3E-4314-8ECF-6E64D874E192}"/>
              </a:ext>
            </a:extLst>
          </p:cNvPr>
          <p:cNvSpPr>
            <a:spLocks noGrp="1"/>
          </p:cNvSpPr>
          <p:nvPr/>
        </p:nvSpPr>
        <p:spPr>
          <a:xfrm>
            <a:off x="9439275" y="4114800"/>
            <a:ext cx="953" cy="495300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41" name="object-42">
            <a:extLst>
              <a:ext uri="{FF2B5EF4-FFF2-40B4-BE49-F238E27FC236}">
                <a16:creationId xmlns:a16="http://schemas.microsoft.com/office/drawing/2014/main" id="{B3817BC0-2489-4EFC-BEA0-3DF0344F0734}"/>
              </a:ext>
            </a:extLst>
          </p:cNvPr>
          <p:cNvSpPr>
            <a:spLocks noGrp="1"/>
          </p:cNvSpPr>
          <p:nvPr/>
        </p:nvSpPr>
        <p:spPr>
          <a:xfrm>
            <a:off x="9144000" y="4676775"/>
            <a:ext cx="600075" cy="504825"/>
          </a:xfrm>
          <a:prstGeom prst="rect">
            <a:avLst/>
          </a:prstGeom>
          <a:solidFill>
            <a:srgbClr val="FFF3DA"/>
          </a:solidFill>
          <a:ln w="19050">
            <a:solidFill>
              <a:srgbClr val="D16A25"/>
            </a:solidFill>
            <a:prstDash val="solid"/>
          </a:ln>
        </p:spPr>
      </p:sp>
      <p:sp>
        <p:nvSpPr>
          <p:cNvPr id="1042" name="object-43">
            <a:extLst>
              <a:ext uri="{FF2B5EF4-FFF2-40B4-BE49-F238E27FC236}">
                <a16:creationId xmlns:a16="http://schemas.microsoft.com/office/drawing/2014/main" id="{647CDE08-F9C1-40A2-8E3A-DD6234C4FE6F}"/>
              </a:ext>
            </a:extLst>
          </p:cNvPr>
          <p:cNvSpPr>
            <a:spLocks noGrp="1"/>
          </p:cNvSpPr>
          <p:nvPr/>
        </p:nvSpPr>
        <p:spPr>
          <a:xfrm>
            <a:off x="9239250" y="476250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43" name="object-44">
            <a:extLst>
              <a:ext uri="{FF2B5EF4-FFF2-40B4-BE49-F238E27FC236}">
                <a16:creationId xmlns:a16="http://schemas.microsoft.com/office/drawing/2014/main" id="{36678985-ECB0-49A3-BA20-4CFB8EE87FA2}"/>
              </a:ext>
            </a:extLst>
          </p:cNvPr>
          <p:cNvSpPr>
            <a:spLocks noGrp="1"/>
          </p:cNvSpPr>
          <p:nvPr/>
        </p:nvSpPr>
        <p:spPr>
          <a:xfrm>
            <a:off x="9420225" y="476250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44" name="object-45">
            <a:extLst>
              <a:ext uri="{FF2B5EF4-FFF2-40B4-BE49-F238E27FC236}">
                <a16:creationId xmlns:a16="http://schemas.microsoft.com/office/drawing/2014/main" id="{ADCC6BD0-4174-4FCE-8BF1-05C2A5B2A36B}"/>
              </a:ext>
            </a:extLst>
          </p:cNvPr>
          <p:cNvSpPr>
            <a:spLocks noGrp="1"/>
          </p:cNvSpPr>
          <p:nvPr/>
        </p:nvSpPr>
        <p:spPr>
          <a:xfrm>
            <a:off x="9601200" y="476250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45" name="object-46">
            <a:extLst>
              <a:ext uri="{FF2B5EF4-FFF2-40B4-BE49-F238E27FC236}">
                <a16:creationId xmlns:a16="http://schemas.microsoft.com/office/drawing/2014/main" id="{5B3B80ED-515B-4CA9-A161-61D1F4C72D0B}"/>
              </a:ext>
            </a:extLst>
          </p:cNvPr>
          <p:cNvSpPr>
            <a:spLocks noGrp="1"/>
          </p:cNvSpPr>
          <p:nvPr/>
        </p:nvSpPr>
        <p:spPr>
          <a:xfrm>
            <a:off x="9239250" y="495300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46" name="object-47">
            <a:extLst>
              <a:ext uri="{FF2B5EF4-FFF2-40B4-BE49-F238E27FC236}">
                <a16:creationId xmlns:a16="http://schemas.microsoft.com/office/drawing/2014/main" id="{95FF00EF-A36E-428E-B65B-6F93B2654620}"/>
              </a:ext>
            </a:extLst>
          </p:cNvPr>
          <p:cNvSpPr>
            <a:spLocks noGrp="1"/>
          </p:cNvSpPr>
          <p:nvPr/>
        </p:nvSpPr>
        <p:spPr>
          <a:xfrm>
            <a:off x="9420225" y="495300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47" name="object-48">
            <a:extLst>
              <a:ext uri="{FF2B5EF4-FFF2-40B4-BE49-F238E27FC236}">
                <a16:creationId xmlns:a16="http://schemas.microsoft.com/office/drawing/2014/main" id="{DFCDE502-8C27-4F28-BD40-D6F2C3E1BA53}"/>
              </a:ext>
            </a:extLst>
          </p:cNvPr>
          <p:cNvSpPr>
            <a:spLocks noGrp="1"/>
          </p:cNvSpPr>
          <p:nvPr/>
        </p:nvSpPr>
        <p:spPr>
          <a:xfrm>
            <a:off x="9601200" y="4953000"/>
            <a:ext cx="95250" cy="104775"/>
          </a:xfrm>
          <a:prstGeom prst="rect">
            <a:avLst/>
          </a:prstGeom>
          <a:solidFill>
            <a:srgbClr val="F3BA79"/>
          </a:solidFill>
          <a:ln w="9525">
            <a:noFill/>
            <a:prstDash val="solid"/>
          </a:ln>
        </p:spPr>
      </p:sp>
      <p:sp>
        <p:nvSpPr>
          <p:cNvPr id="1048" name="object-49">
            <a:extLst>
              <a:ext uri="{FF2B5EF4-FFF2-40B4-BE49-F238E27FC236}">
                <a16:creationId xmlns:a16="http://schemas.microsoft.com/office/drawing/2014/main" id="{EB078342-3DA1-4AA8-9E4B-D98399596FB3}"/>
              </a:ext>
            </a:extLst>
          </p:cNvPr>
          <p:cNvSpPr>
            <a:spLocks noGrp="1"/>
          </p:cNvSpPr>
          <p:nvPr/>
        </p:nvSpPr>
        <p:spPr>
          <a:xfrm>
            <a:off x="9401175" y="5076825"/>
            <a:ext cx="152400" cy="104775"/>
          </a:xfrm>
          <a:prstGeom prst="rect">
            <a:avLst/>
          </a:prstGeom>
          <a:solidFill>
            <a:srgbClr val="D16A25"/>
          </a:solidFill>
          <a:ln w="9525">
            <a:noFill/>
            <a:prstDash val="solid"/>
          </a:ln>
        </p:spPr>
      </p:sp>
      <p:sp>
        <p:nvSpPr>
          <p:cNvPr id="1049" name="object-50">
            <a:extLst>
              <a:ext uri="{FF2B5EF4-FFF2-40B4-BE49-F238E27FC236}">
                <a16:creationId xmlns:a16="http://schemas.microsoft.com/office/drawing/2014/main" id="{019BE9EF-A4D4-4D65-9C42-188BB01C1E91}"/>
              </a:ext>
            </a:extLst>
          </p:cNvPr>
          <p:cNvSpPr>
            <a:spLocks noGrp="1"/>
          </p:cNvSpPr>
          <p:nvPr/>
        </p:nvSpPr>
        <p:spPr>
          <a:xfrm>
            <a:off x="8677275" y="521970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供需失配 Λ</a:t>
            </a:r>
          </a:p>
        </p:txBody>
      </p:sp>
      <p:sp>
        <p:nvSpPr>
          <p:cNvPr id="1050" name="object-51">
            <a:extLst>
              <a:ext uri="{FF2B5EF4-FFF2-40B4-BE49-F238E27FC236}">
                <a16:creationId xmlns:a16="http://schemas.microsoft.com/office/drawing/2014/main" id="{4AB0E9B1-9C7B-4DAC-8798-29A94E0A4E42}"/>
              </a:ext>
            </a:extLst>
          </p:cNvPr>
          <p:cNvSpPr>
            <a:spLocks noGrp="1"/>
          </p:cNvSpPr>
          <p:nvPr/>
        </p:nvSpPr>
        <p:spPr>
          <a:xfrm>
            <a:off x="6429375" y="3990975"/>
            <a:ext cx="542925" cy="257175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1051" name="object-52">
            <a:extLst>
              <a:ext uri="{FF2B5EF4-FFF2-40B4-BE49-F238E27FC236}">
                <a16:creationId xmlns:a16="http://schemas.microsoft.com/office/drawing/2014/main" id="{B8782C3F-DEE1-4BDC-AFCA-F1D890E57802}"/>
              </a:ext>
            </a:extLst>
          </p:cNvPr>
          <p:cNvSpPr>
            <a:spLocks noGrp="1"/>
          </p:cNvSpPr>
          <p:nvPr/>
        </p:nvSpPr>
        <p:spPr>
          <a:xfrm>
            <a:off x="6419850" y="4076700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7F8C"/>
            </a:solidFill>
            <a:prstDash val="solid"/>
          </a:ln>
        </p:spPr>
      </p:sp>
      <p:sp>
        <p:nvSpPr>
          <p:cNvPr id="1052" name="object-53">
            <a:extLst>
              <a:ext uri="{FF2B5EF4-FFF2-40B4-BE49-F238E27FC236}">
                <a16:creationId xmlns:a16="http://schemas.microsoft.com/office/drawing/2014/main" id="{7D36C676-104D-4500-AE5C-44CD619F3D9D}"/>
              </a:ext>
            </a:extLst>
          </p:cNvPr>
          <p:cNvSpPr>
            <a:spLocks noGrp="1"/>
          </p:cNvSpPr>
          <p:nvPr/>
        </p:nvSpPr>
        <p:spPr>
          <a:xfrm>
            <a:off x="6905625" y="4076700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7F8C"/>
            </a:solidFill>
            <a:prstDash val="solid"/>
          </a:ln>
        </p:spPr>
      </p:sp>
      <p:sp>
        <p:nvSpPr>
          <p:cNvPr id="1053" name="object-54">
            <a:extLst>
              <a:ext uri="{FF2B5EF4-FFF2-40B4-BE49-F238E27FC236}">
                <a16:creationId xmlns:a16="http://schemas.microsoft.com/office/drawing/2014/main" id="{914E4417-D5AF-4838-B56E-29E201F22D55}"/>
              </a:ext>
            </a:extLst>
          </p:cNvPr>
          <p:cNvSpPr>
            <a:spLocks noGrp="1"/>
          </p:cNvSpPr>
          <p:nvPr/>
        </p:nvSpPr>
        <p:spPr>
          <a:xfrm>
            <a:off x="6457950" y="3990975"/>
            <a:ext cx="390525" cy="953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54" name="object-55">
            <a:extLst>
              <a:ext uri="{FF2B5EF4-FFF2-40B4-BE49-F238E27FC236}">
                <a16:creationId xmlns:a16="http://schemas.microsoft.com/office/drawing/2014/main" id="{F18AED8F-708D-4B0E-A204-EB5F289B2894}"/>
              </a:ext>
            </a:extLst>
          </p:cNvPr>
          <p:cNvSpPr>
            <a:spLocks noGrp="1"/>
          </p:cNvSpPr>
          <p:nvPr/>
        </p:nvSpPr>
        <p:spPr>
          <a:xfrm>
            <a:off x="6457950" y="3990975"/>
            <a:ext cx="953" cy="123825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55" name="object-56">
            <a:extLst>
              <a:ext uri="{FF2B5EF4-FFF2-40B4-BE49-F238E27FC236}">
                <a16:creationId xmlns:a16="http://schemas.microsoft.com/office/drawing/2014/main" id="{389BFB8A-99E9-4234-97FC-DD94CC2750CB}"/>
              </a:ext>
            </a:extLst>
          </p:cNvPr>
          <p:cNvSpPr>
            <a:spLocks noGrp="1"/>
          </p:cNvSpPr>
          <p:nvPr/>
        </p:nvSpPr>
        <p:spPr>
          <a:xfrm>
            <a:off x="6143625" y="4295775"/>
            <a:ext cx="12477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拓扑路径 λ</a:t>
            </a:r>
          </a:p>
        </p:txBody>
      </p:sp>
      <p:sp>
        <p:nvSpPr>
          <p:cNvPr id="1056" name="object-57">
            <a:extLst>
              <a:ext uri="{FF2B5EF4-FFF2-40B4-BE49-F238E27FC236}">
                <a16:creationId xmlns:a16="http://schemas.microsoft.com/office/drawing/2014/main" id="{1153598D-236C-4D60-B512-3AA39EFE2B17}"/>
              </a:ext>
            </a:extLst>
          </p:cNvPr>
          <p:cNvSpPr>
            <a:spLocks noGrp="1"/>
          </p:cNvSpPr>
          <p:nvPr/>
        </p:nvSpPr>
        <p:spPr>
          <a:xfrm>
            <a:off x="9220200" y="2514600"/>
            <a:ext cx="438150" cy="438150"/>
          </a:xfrm>
          <a:prstGeom prst="ellipse">
            <a:avLst/>
          </a:prstGeom>
          <a:solidFill>
            <a:srgbClr val="EAF5FF"/>
          </a:solidFill>
          <a:ln w="19050">
            <a:solidFill>
              <a:srgbClr val="D16A25"/>
            </a:solidFill>
            <a:prstDash val="solid"/>
          </a:ln>
        </p:spPr>
      </p:sp>
      <p:sp>
        <p:nvSpPr>
          <p:cNvPr id="1057" name="object-58">
            <a:extLst>
              <a:ext uri="{FF2B5EF4-FFF2-40B4-BE49-F238E27FC236}">
                <a16:creationId xmlns:a16="http://schemas.microsoft.com/office/drawing/2014/main" id="{52153089-8288-4E2F-8F9F-408F04B9BE7E}"/>
              </a:ext>
            </a:extLst>
          </p:cNvPr>
          <p:cNvSpPr>
            <a:spLocks noGrp="1"/>
          </p:cNvSpPr>
          <p:nvPr/>
        </p:nvSpPr>
        <p:spPr>
          <a:xfrm>
            <a:off x="9220200" y="2543175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725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rPr>
              <a:t>m</a:t>
            </a:r>
          </a:p>
        </p:txBody>
      </p:sp>
      <p:sp>
        <p:nvSpPr>
          <p:cNvPr id="1058" name="object-59">
            <a:extLst>
              <a:ext uri="{FF2B5EF4-FFF2-40B4-BE49-F238E27FC236}">
                <a16:creationId xmlns:a16="http://schemas.microsoft.com/office/drawing/2014/main" id="{9130CB36-2EAB-4FEC-BBA8-0217A488B255}"/>
              </a:ext>
            </a:extLst>
          </p:cNvPr>
          <p:cNvSpPr>
            <a:spLocks noGrp="1"/>
          </p:cNvSpPr>
          <p:nvPr/>
        </p:nvSpPr>
        <p:spPr>
          <a:xfrm>
            <a:off x="9439275" y="2952750"/>
            <a:ext cx="953" cy="942975"/>
          </a:xfrm>
          <a:prstGeom prst="line">
            <a:avLst/>
          </a:prstGeom>
          <a:noFill/>
          <a:ln w="22860">
            <a:solidFill>
              <a:srgbClr val="D16A25"/>
            </a:solidFill>
            <a:prstDash val="dash"/>
          </a:ln>
        </p:spPr>
      </p:sp>
      <p:sp>
        <p:nvSpPr>
          <p:cNvPr id="1059" name="object-60">
            <a:extLst>
              <a:ext uri="{FF2B5EF4-FFF2-40B4-BE49-F238E27FC236}">
                <a16:creationId xmlns:a16="http://schemas.microsoft.com/office/drawing/2014/main" id="{E649A518-0E71-43CF-AD5C-9B376C16001C}"/>
              </a:ext>
            </a:extLst>
          </p:cNvPr>
          <p:cNvSpPr>
            <a:spLocks noGrp="1"/>
          </p:cNvSpPr>
          <p:nvPr/>
        </p:nvSpPr>
        <p:spPr>
          <a:xfrm>
            <a:off x="9382125" y="2952750"/>
            <a:ext cx="114300" cy="133350"/>
          </a:xfrm>
          <a:prstGeom prst="upArrow">
            <a:avLst/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060" name="object-61">
            <a:extLst>
              <a:ext uri="{FF2B5EF4-FFF2-40B4-BE49-F238E27FC236}">
                <a16:creationId xmlns:a16="http://schemas.microsoft.com/office/drawing/2014/main" id="{D9965EDD-4698-4A43-9816-2E113D5558DA}"/>
              </a:ext>
            </a:extLst>
          </p:cNvPr>
          <p:cNvSpPr>
            <a:spLocks noGrp="1"/>
          </p:cNvSpPr>
          <p:nvPr/>
        </p:nvSpPr>
        <p:spPr>
          <a:xfrm>
            <a:off x="7686675" y="2733675"/>
            <a:ext cx="1533525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061" name="object-62">
            <a:extLst>
              <a:ext uri="{FF2B5EF4-FFF2-40B4-BE49-F238E27FC236}">
                <a16:creationId xmlns:a16="http://schemas.microsoft.com/office/drawing/2014/main" id="{0941110A-3248-45EB-8BDA-63E2CD7D5400}"/>
              </a:ext>
            </a:extLst>
          </p:cNvPr>
          <p:cNvSpPr>
            <a:spLocks noGrp="1"/>
          </p:cNvSpPr>
          <p:nvPr/>
        </p:nvSpPr>
        <p:spPr>
          <a:xfrm>
            <a:off x="7686675" y="2733675"/>
            <a:ext cx="953" cy="304800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062" name="object-63">
            <a:extLst>
              <a:ext uri="{FF2B5EF4-FFF2-40B4-BE49-F238E27FC236}">
                <a16:creationId xmlns:a16="http://schemas.microsoft.com/office/drawing/2014/main" id="{6269CD27-853D-49D7-ACE5-D4F92CDD9BCD}"/>
              </a:ext>
            </a:extLst>
          </p:cNvPr>
          <p:cNvSpPr>
            <a:spLocks noGrp="1"/>
          </p:cNvSpPr>
          <p:nvPr/>
        </p:nvSpPr>
        <p:spPr>
          <a:xfrm>
            <a:off x="7629525" y="2905125"/>
            <a:ext cx="114300" cy="133350"/>
          </a:xfrm>
          <a:prstGeom prst="downArrow">
            <a:avLst/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063" name="object-64">
            <a:extLst>
              <a:ext uri="{FF2B5EF4-FFF2-40B4-BE49-F238E27FC236}">
                <a16:creationId xmlns:a16="http://schemas.microsoft.com/office/drawing/2014/main" id="{C8EF108E-A827-4502-8727-FB3294211D6B}"/>
              </a:ext>
            </a:extLst>
          </p:cNvPr>
          <p:cNvSpPr>
            <a:spLocks noGrp="1"/>
          </p:cNvSpPr>
          <p:nvPr/>
        </p:nvSpPr>
        <p:spPr>
          <a:xfrm>
            <a:off x="6591300" y="3067050"/>
            <a:ext cx="1590675" cy="514350"/>
          </a:xfrm>
          <a:prstGeom prst="roundRect">
            <a:avLst>
              <a:gd name="adj" fmla="val 14815"/>
            </a:avLst>
          </a:prstGeom>
          <a:solidFill>
            <a:srgbClr val="FFF1DC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rPr>
              <a:t>f、V、θ 响应</a:t>
            </a:r>
          </a:p>
        </p:txBody>
      </p:sp>
      <p:sp>
        <p:nvSpPr>
          <p:cNvPr id="1064" name="object-65">
            <a:extLst>
              <a:ext uri="{FF2B5EF4-FFF2-40B4-BE49-F238E27FC236}">
                <a16:creationId xmlns:a16="http://schemas.microsoft.com/office/drawing/2014/main" id="{EDA7CF7D-379C-457A-A55C-49E3256C05C6}"/>
              </a:ext>
            </a:extLst>
          </p:cNvPr>
          <p:cNvSpPr>
            <a:spLocks noGrp="1"/>
          </p:cNvSpPr>
          <p:nvPr/>
        </p:nvSpPr>
        <p:spPr>
          <a:xfrm>
            <a:off x="6953250" y="35814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rPr>
              <a:t>测量与检测指标 I</a:t>
            </a:r>
          </a:p>
        </p:txBody>
      </p:sp>
      <p:sp>
        <p:nvSpPr>
          <p:cNvPr id="1065" name="object-66">
            <a:extLst>
              <a:ext uri="{FF2B5EF4-FFF2-40B4-BE49-F238E27FC236}">
                <a16:creationId xmlns:a16="http://schemas.microsoft.com/office/drawing/2014/main" id="{0D0D40AE-F525-4009-9110-D691E2FA1612}"/>
              </a:ext>
            </a:extLst>
          </p:cNvPr>
          <p:cNvSpPr>
            <a:spLocks noGrp="1"/>
          </p:cNvSpPr>
          <p:nvPr/>
        </p:nvSpPr>
        <p:spPr>
          <a:xfrm>
            <a:off x="419100" y="5286375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725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rPr>
              <a:t>拓扑改变扰动传播路径与可观测性 Ψ</a:t>
            </a:r>
          </a:p>
        </p:txBody>
      </p:sp>
      <p:sp>
        <p:nvSpPr>
          <p:cNvPr id="1066" name="object-67">
            <a:extLst>
              <a:ext uri="{FF2B5EF4-FFF2-40B4-BE49-F238E27FC236}">
                <a16:creationId xmlns:a16="http://schemas.microsoft.com/office/drawing/2014/main" id="{7098445E-62C5-4CE9-97DB-1035045ED549}"/>
              </a:ext>
            </a:extLst>
          </p:cNvPr>
          <p:cNvSpPr>
            <a:spLocks noGrp="1"/>
          </p:cNvSpPr>
          <p:nvPr/>
        </p:nvSpPr>
        <p:spPr>
          <a:xfrm>
            <a:off x="361950" y="5657850"/>
            <a:ext cx="10315575" cy="953"/>
          </a:xfrm>
          <a:prstGeom prst="line">
            <a:avLst/>
          </a:prstGeom>
          <a:noFill/>
          <a:ln w="9525">
            <a:solidFill>
              <a:srgbClr val="66B7FA"/>
            </a:solidFill>
            <a:prstDash val="solid"/>
          </a:ln>
        </p:spPr>
      </p:sp>
      <p:sp>
        <p:nvSpPr>
          <p:cNvPr id="1067" name="object-68">
            <a:extLst>
              <a:ext uri="{FF2B5EF4-FFF2-40B4-BE49-F238E27FC236}">
                <a16:creationId xmlns:a16="http://schemas.microsoft.com/office/drawing/2014/main" id="{DC6D5604-6824-4AA1-A9E9-8CC527B4417D}"/>
              </a:ext>
            </a:extLst>
          </p:cNvPr>
          <p:cNvSpPr>
            <a:spLocks noGrp="1"/>
          </p:cNvSpPr>
          <p:nvPr/>
        </p:nvSpPr>
        <p:spPr>
          <a:xfrm>
            <a:off x="371475" y="5695950"/>
            <a:ext cx="10287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运行约束直接进入检测设计</a:t>
            </a:r>
          </a:p>
        </p:txBody>
      </p:sp>
      <p:sp>
        <p:nvSpPr>
          <p:cNvPr id="1068" name="object-69">
            <a:extLst>
              <a:ext uri="{FF2B5EF4-FFF2-40B4-BE49-F238E27FC236}">
                <a16:creationId xmlns:a16="http://schemas.microsoft.com/office/drawing/2014/main" id="{2C5E79E5-0463-4920-A131-49095F914761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4610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出力裕度限制扰动幅值</a:t>
            </a:r>
          </a:p>
        </p:txBody>
      </p:sp>
      <p:pic>
        <p:nvPicPr>
          <p:cNvPr id="1069" name="">
            <a:extLst>
              <a:ext uri="{FF2B5EF4-FFF2-40B4-BE49-F238E27FC236}">
                <a16:creationId xmlns:a16="http://schemas.microsoft.com/office/drawing/2014/main" id="{052B0021-F8D6-4CE9-AED9-955B8B4F6F90}"/>
              </a:ext>
            </a:extLst>
          </p:cNvPr>
          <p:cNvPicPr>
            <a:picLocks noChangeAspect="1"/>
          </p:cNvPicPr>
          <p:nvPr/>
        </p:nvPicPr>
        <p:blipFill>
          <a:blip r:embed="rId500">
            <a:extLst>
              <a:ext uri="{96DAC541-7B7A-43D3-8B79-37D633B846F1}">
                <asvg:svgBlip xmlns:asvg="http://schemas.microsoft.com/office/drawing/2016/SVG/main" r:embed="rId501"/>
              </a:ext>
            </a:extLst>
          </a:blip>
          <a:stretch/>
        </p:blipFill>
        <p:spPr>
          <a:xfrm>
            <a:off x="1016263" y="6524625"/>
            <a:ext cx="3491975" cy="438150"/>
          </a:xfrm>
          <a:prstGeom prst="rect">
            <a:avLst/>
          </a:prstGeom>
        </p:spPr>
      </p:pic>
      <p:sp>
        <p:nvSpPr>
          <p:cNvPr id="1070" name="object-70">
            <a:extLst>
              <a:ext uri="{FF2B5EF4-FFF2-40B4-BE49-F238E27FC236}">
                <a16:creationId xmlns:a16="http://schemas.microsoft.com/office/drawing/2014/main" id="{FA7A5C27-2E5D-4D71-8534-15CEB6D1CA67}"/>
              </a:ext>
            </a:extLst>
          </p:cNvPr>
          <p:cNvSpPr>
            <a:spLocks noGrp="1"/>
          </p:cNvSpPr>
          <p:nvPr/>
        </p:nvSpPr>
        <p:spPr>
          <a:xfrm>
            <a:off x="5553075" y="6153150"/>
            <a:ext cx="50768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检测时限决定可送达备用</a:t>
            </a:r>
          </a:p>
        </p:txBody>
      </p:sp>
      <p:pic>
        <p:nvPicPr>
          <p:cNvPr id="1071" name="">
            <a:extLst>
              <a:ext uri="{FF2B5EF4-FFF2-40B4-BE49-F238E27FC236}">
                <a16:creationId xmlns:a16="http://schemas.microsoft.com/office/drawing/2014/main" id="{C69026FF-AC12-4C57-9D2F-D5F6EFE44609}"/>
              </a:ext>
            </a:extLst>
          </p:cNvPr>
          <p:cNvPicPr>
            <a:picLocks noChangeAspect="1"/>
          </p:cNvPicPr>
          <p:nvPr/>
        </p:nvPicPr>
        <p:blipFill>
          <a:blip r:embed="rId502">
            <a:extLst>
              <a:ext uri="{96DAC541-7B7A-43D3-8B79-37D633B846F1}">
                <asvg:svgBlip xmlns:asvg="http://schemas.microsoft.com/office/drawing/2016/SVG/main" r:embed="rId503"/>
              </a:ext>
            </a:extLst>
          </a:blip>
          <a:stretch/>
        </p:blipFill>
        <p:spPr>
          <a:xfrm>
            <a:off x="5553075" y="6554007"/>
            <a:ext cx="5076825" cy="398436"/>
          </a:xfrm>
          <a:prstGeom prst="rect">
            <a:avLst/>
          </a:prstGeom>
        </p:spPr>
      </p:pic>
      <p:sp>
        <p:nvSpPr>
          <p:cNvPr id="1072" name="object-71">
            <a:extLst>
              <a:ext uri="{FF2B5EF4-FFF2-40B4-BE49-F238E27FC236}">
                <a16:creationId xmlns:a16="http://schemas.microsoft.com/office/drawing/2014/main" id="{E0B6068C-CECB-4868-99A1-B786733866CA}"/>
              </a:ext>
            </a:extLst>
          </p:cNvPr>
          <p:cNvSpPr>
            <a:spLocks noGrp="1"/>
          </p:cNvSpPr>
          <p:nvPr/>
        </p:nvSpPr>
        <p:spPr>
          <a:xfrm>
            <a:off x="400050" y="7267575"/>
            <a:ext cx="4648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接近平衡时提高灵敏度要求</a:t>
            </a:r>
          </a:p>
        </p:txBody>
      </p:sp>
      <p:pic>
        <p:nvPicPr>
          <p:cNvPr id="1073" name="">
            <a:extLst>
              <a:ext uri="{FF2B5EF4-FFF2-40B4-BE49-F238E27FC236}">
                <a16:creationId xmlns:a16="http://schemas.microsoft.com/office/drawing/2014/main" id="{7A92216E-07FF-4DAD-A490-04BDAA6DE4B4}"/>
              </a:ext>
            </a:extLst>
          </p:cNvPr>
          <p:cNvPicPr>
            <a:picLocks noChangeAspect="1"/>
          </p:cNvPicPr>
          <p:nvPr/>
        </p:nvPicPr>
        <p:blipFill>
          <a:blip r:embed="rId504">
            <a:extLst>
              <a:ext uri="{96DAC541-7B7A-43D3-8B79-37D633B846F1}">
                <asvg:svgBlip xmlns:asvg="http://schemas.microsoft.com/office/drawing/2016/SVG/main" r:embed="rId505"/>
              </a:ext>
            </a:extLst>
          </a:blip>
          <a:stretch/>
        </p:blipFill>
        <p:spPr>
          <a:xfrm>
            <a:off x="419100" y="7730816"/>
            <a:ext cx="4648200" cy="349868"/>
          </a:xfrm>
          <a:prstGeom prst="rect">
            <a:avLst/>
          </a:prstGeom>
        </p:spPr>
      </p:pic>
      <p:sp>
        <p:nvSpPr>
          <p:cNvPr id="1074" name="object-72">
            <a:extLst>
              <a:ext uri="{FF2B5EF4-FFF2-40B4-BE49-F238E27FC236}">
                <a16:creationId xmlns:a16="http://schemas.microsoft.com/office/drawing/2014/main" id="{12DFD511-44DC-4622-8C1A-012F8DF6FEB6}"/>
              </a:ext>
            </a:extLst>
          </p:cNvPr>
          <p:cNvSpPr>
            <a:spLocks noGrp="1"/>
          </p:cNvSpPr>
          <p:nvPr/>
        </p:nvSpPr>
        <p:spPr>
          <a:xfrm>
            <a:off x="5553075" y="7267575"/>
            <a:ext cx="50768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开关路径必须使扰动可观测</a:t>
            </a:r>
          </a:p>
        </p:txBody>
      </p:sp>
      <p:pic>
        <p:nvPicPr>
          <p:cNvPr id="1075" name="">
            <a:extLst>
              <a:ext uri="{FF2B5EF4-FFF2-40B4-BE49-F238E27FC236}">
                <a16:creationId xmlns:a16="http://schemas.microsoft.com/office/drawing/2014/main" id="{99DD34D2-DFD3-4233-9EDB-852337254F95}"/>
              </a:ext>
            </a:extLst>
          </p:cNvPr>
          <p:cNvPicPr>
            <a:picLocks noChangeAspect="1"/>
          </p:cNvPicPr>
          <p:nvPr/>
        </p:nvPicPr>
        <p:blipFill>
          <a:blip r:embed="rId506">
            <a:extLst>
              <a:ext uri="{96DAC541-7B7A-43D3-8B79-37D633B846F1}">
                <asvg:svgBlip xmlns:asvg="http://schemas.microsoft.com/office/drawing/2016/SVG/main" r:embed="rId507"/>
              </a:ext>
            </a:extLst>
          </a:blip>
          <a:stretch/>
        </p:blipFill>
        <p:spPr>
          <a:xfrm>
            <a:off x="5790955" y="7696200"/>
            <a:ext cx="4601065" cy="419100"/>
          </a:xfrm>
          <a:prstGeom prst="rect">
            <a:avLst/>
          </a:prstGeom>
        </p:spPr>
      </p:pic>
      <p:sp>
        <p:nvSpPr>
          <p:cNvPr id="1076" name="object-73">
            <a:extLst>
              <a:ext uri="{FF2B5EF4-FFF2-40B4-BE49-F238E27FC236}">
                <a16:creationId xmlns:a16="http://schemas.microsoft.com/office/drawing/2014/main" id="{FE9955CF-7881-48B4-B500-9E66AB770A76}"/>
              </a:ext>
            </a:extLst>
          </p:cNvPr>
          <p:cNvSpPr>
            <a:spLocks noGrp="1"/>
          </p:cNvSpPr>
          <p:nvPr/>
        </p:nvSpPr>
        <p:spPr>
          <a:xfrm>
            <a:off x="11220450" y="2667000"/>
            <a:ext cx="4257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联合目标</a:t>
            </a:r>
          </a:p>
        </p:txBody>
      </p:sp>
      <p:pic>
        <p:nvPicPr>
          <p:cNvPr id="1077" name="">
            <a:extLst>
              <a:ext uri="{FF2B5EF4-FFF2-40B4-BE49-F238E27FC236}">
                <a16:creationId xmlns:a16="http://schemas.microsoft.com/office/drawing/2014/main" id="{D64E7E06-0B8B-4BBF-AC36-C4ECFEBF06A0}"/>
              </a:ext>
            </a:extLst>
          </p:cNvPr>
          <p:cNvPicPr>
            <a:picLocks noChangeAspect="1"/>
          </p:cNvPicPr>
          <p:nvPr/>
        </p:nvPicPr>
        <p:blipFill>
          <a:blip r:embed="rId508">
            <a:extLst>
              <a:ext uri="{96DAC541-7B7A-43D3-8B79-37D633B846F1}">
                <asvg:svgBlip xmlns:asvg="http://schemas.microsoft.com/office/drawing/2016/SVG/main" r:embed="rId509"/>
              </a:ext>
            </a:extLst>
          </a:blip>
          <a:stretch/>
        </p:blipFill>
        <p:spPr>
          <a:xfrm>
            <a:off x="11334750" y="3085070"/>
            <a:ext cx="4038600" cy="364011"/>
          </a:xfrm>
          <a:prstGeom prst="rect">
            <a:avLst/>
          </a:prstGeom>
        </p:spPr>
      </p:pic>
      <p:sp>
        <p:nvSpPr>
          <p:cNvPr id="1078" name="object-74">
            <a:extLst>
              <a:ext uri="{FF2B5EF4-FFF2-40B4-BE49-F238E27FC236}">
                <a16:creationId xmlns:a16="http://schemas.microsoft.com/office/drawing/2014/main" id="{6CAA980F-7E60-49DC-8257-72AA5524A064}"/>
              </a:ext>
            </a:extLst>
          </p:cNvPr>
          <p:cNvSpPr>
            <a:spLocks noGrp="1"/>
          </p:cNvSpPr>
          <p:nvPr/>
        </p:nvSpPr>
        <p:spPr>
          <a:xfrm>
            <a:off x="11353800" y="3714750"/>
            <a:ext cx="4048125" cy="523875"/>
          </a:xfrm>
          <a:prstGeom prst="roundRect">
            <a:avLst>
              <a:gd name="adj" fmla="val 14545"/>
            </a:avLst>
          </a:prstGeom>
          <a:solidFill>
            <a:srgbClr val="EAF3E5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主问题：扰动、启停、开关</a:t>
            </a:r>
          </a:p>
        </p:txBody>
      </p:sp>
      <p:sp>
        <p:nvSpPr>
          <p:cNvPr id="1079" name="object-75">
            <a:extLst>
              <a:ext uri="{FF2B5EF4-FFF2-40B4-BE49-F238E27FC236}">
                <a16:creationId xmlns:a16="http://schemas.microsoft.com/office/drawing/2014/main" id="{3360FAC0-C89A-4532-B00D-60486EFE1BB5}"/>
              </a:ext>
            </a:extLst>
          </p:cNvPr>
          <p:cNvSpPr>
            <a:spLocks noGrp="1"/>
          </p:cNvSpPr>
          <p:nvPr/>
        </p:nvSpPr>
        <p:spPr>
          <a:xfrm>
            <a:off x="13382625" y="4238625"/>
            <a:ext cx="953" cy="190500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80" name="object-76">
            <a:extLst>
              <a:ext uri="{FF2B5EF4-FFF2-40B4-BE49-F238E27FC236}">
                <a16:creationId xmlns:a16="http://schemas.microsoft.com/office/drawing/2014/main" id="{8770F68D-7969-47A6-BE7A-A7EAC0A140A3}"/>
              </a:ext>
            </a:extLst>
          </p:cNvPr>
          <p:cNvSpPr>
            <a:spLocks noGrp="1"/>
          </p:cNvSpPr>
          <p:nvPr/>
        </p:nvSpPr>
        <p:spPr>
          <a:xfrm>
            <a:off x="13325475" y="4295775"/>
            <a:ext cx="114300" cy="133350"/>
          </a:xfrm>
          <a:prstGeom prst="down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081" name="object-77">
            <a:extLst>
              <a:ext uri="{FF2B5EF4-FFF2-40B4-BE49-F238E27FC236}">
                <a16:creationId xmlns:a16="http://schemas.microsoft.com/office/drawing/2014/main" id="{DCEB680F-9FB5-4EC1-8B3E-0297C58B9BCD}"/>
              </a:ext>
            </a:extLst>
          </p:cNvPr>
          <p:cNvSpPr>
            <a:spLocks noGrp="1"/>
          </p:cNvSpPr>
          <p:nvPr/>
        </p:nvSpPr>
        <p:spPr>
          <a:xfrm>
            <a:off x="11353800" y="4448175"/>
            <a:ext cx="4048125" cy="571500"/>
          </a:xfrm>
          <a:prstGeom prst="roundRect">
            <a:avLst>
              <a:gd name="adj" fmla="val 1333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连续运行子问题</a:t>
            </a:r>
          </a:p>
          <a:p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调度、备用、潮流</a:t>
            </a:r>
          </a:p>
        </p:txBody>
      </p:sp>
      <p:sp>
        <p:nvSpPr>
          <p:cNvPr id="1082" name="object-78">
            <a:extLst>
              <a:ext uri="{FF2B5EF4-FFF2-40B4-BE49-F238E27FC236}">
                <a16:creationId xmlns:a16="http://schemas.microsoft.com/office/drawing/2014/main" id="{11D7CB8F-A8DF-4A9A-96B1-BC782EE37DFC}"/>
              </a:ext>
            </a:extLst>
          </p:cNvPr>
          <p:cNvSpPr>
            <a:spLocks noGrp="1"/>
          </p:cNvSpPr>
          <p:nvPr/>
        </p:nvSpPr>
        <p:spPr>
          <a:xfrm>
            <a:off x="13382625" y="5019675"/>
            <a:ext cx="953" cy="171450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083" name="object-79">
            <a:extLst>
              <a:ext uri="{FF2B5EF4-FFF2-40B4-BE49-F238E27FC236}">
                <a16:creationId xmlns:a16="http://schemas.microsoft.com/office/drawing/2014/main" id="{43C88520-AD38-47C1-A98E-5B4B7BE75A0E}"/>
              </a:ext>
            </a:extLst>
          </p:cNvPr>
          <p:cNvSpPr>
            <a:spLocks noGrp="1"/>
          </p:cNvSpPr>
          <p:nvPr/>
        </p:nvSpPr>
        <p:spPr>
          <a:xfrm>
            <a:off x="13325475" y="5057775"/>
            <a:ext cx="114300" cy="133350"/>
          </a:xfrm>
          <a:prstGeom prst="down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084" name="object-80">
            <a:extLst>
              <a:ext uri="{FF2B5EF4-FFF2-40B4-BE49-F238E27FC236}">
                <a16:creationId xmlns:a16="http://schemas.microsoft.com/office/drawing/2014/main" id="{98E003C4-20FE-4B9F-8552-B897E86CD193}"/>
              </a:ext>
            </a:extLst>
          </p:cNvPr>
          <p:cNvSpPr>
            <a:spLocks noGrp="1"/>
          </p:cNvSpPr>
          <p:nvPr/>
        </p:nvSpPr>
        <p:spPr>
          <a:xfrm>
            <a:off x="12268200" y="5191125"/>
            <a:ext cx="2181225" cy="619125"/>
          </a:xfrm>
          <a:prstGeom prst="diamond">
            <a:avLst/>
          </a:prstGeom>
          <a:solidFill>
            <a:srgbClr val="EAF5FF"/>
          </a:solidFill>
          <a:ln w="13335">
            <a:solidFill>
              <a:srgbClr val="1673CE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子问题</a:t>
            </a:r>
          </a:p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可行？</a:t>
            </a:r>
          </a:p>
        </p:txBody>
      </p:sp>
      <p:sp>
        <p:nvSpPr>
          <p:cNvPr id="1085" name="object-81">
            <a:extLst>
              <a:ext uri="{FF2B5EF4-FFF2-40B4-BE49-F238E27FC236}">
                <a16:creationId xmlns:a16="http://schemas.microsoft.com/office/drawing/2014/main" id="{EF4AFC1F-3F00-4985-9F4C-260017DC720F}"/>
              </a:ext>
            </a:extLst>
          </p:cNvPr>
          <p:cNvSpPr>
            <a:spLocks noGrp="1"/>
          </p:cNvSpPr>
          <p:nvPr/>
        </p:nvSpPr>
        <p:spPr>
          <a:xfrm>
            <a:off x="11468100" y="5495925"/>
            <a:ext cx="800100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086" name="object-82">
            <a:extLst>
              <a:ext uri="{FF2B5EF4-FFF2-40B4-BE49-F238E27FC236}">
                <a16:creationId xmlns:a16="http://schemas.microsoft.com/office/drawing/2014/main" id="{A1DEBD91-5E72-4755-945A-115A04343307}"/>
              </a:ext>
            </a:extLst>
          </p:cNvPr>
          <p:cNvSpPr>
            <a:spLocks noGrp="1"/>
          </p:cNvSpPr>
          <p:nvPr/>
        </p:nvSpPr>
        <p:spPr>
          <a:xfrm>
            <a:off x="11468100" y="5495925"/>
            <a:ext cx="953" cy="485775"/>
          </a:xfrm>
          <a:prstGeom prst="line">
            <a:avLst/>
          </a:prstGeom>
          <a:noFill/>
          <a:ln w="22860">
            <a:solidFill>
              <a:srgbClr val="D16A25"/>
            </a:solidFill>
            <a:prstDash val="solid"/>
          </a:ln>
        </p:spPr>
      </p:sp>
      <p:sp>
        <p:nvSpPr>
          <p:cNvPr id="1087" name="object-83">
            <a:extLst>
              <a:ext uri="{FF2B5EF4-FFF2-40B4-BE49-F238E27FC236}">
                <a16:creationId xmlns:a16="http://schemas.microsoft.com/office/drawing/2014/main" id="{6DAFFCE2-057E-4E02-9DF7-BEBD8137B4F7}"/>
              </a:ext>
            </a:extLst>
          </p:cNvPr>
          <p:cNvSpPr>
            <a:spLocks noGrp="1"/>
          </p:cNvSpPr>
          <p:nvPr/>
        </p:nvSpPr>
        <p:spPr>
          <a:xfrm>
            <a:off x="11410950" y="5848350"/>
            <a:ext cx="114300" cy="133350"/>
          </a:xfrm>
          <a:prstGeom prst="downArrow">
            <a:avLst/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088" name="object-84">
            <a:extLst>
              <a:ext uri="{FF2B5EF4-FFF2-40B4-BE49-F238E27FC236}">
                <a16:creationId xmlns:a16="http://schemas.microsoft.com/office/drawing/2014/main" id="{1A3C90C7-66AB-4143-9D97-BC58210FE02F}"/>
              </a:ext>
            </a:extLst>
          </p:cNvPr>
          <p:cNvSpPr>
            <a:spLocks noGrp="1"/>
          </p:cNvSpPr>
          <p:nvPr/>
        </p:nvSpPr>
        <p:spPr>
          <a:xfrm>
            <a:off x="14449425" y="5495925"/>
            <a:ext cx="885825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89" name="object-85">
            <a:extLst>
              <a:ext uri="{FF2B5EF4-FFF2-40B4-BE49-F238E27FC236}">
                <a16:creationId xmlns:a16="http://schemas.microsoft.com/office/drawing/2014/main" id="{A7128F81-D6CA-43D2-8E30-1B284B539598}"/>
              </a:ext>
            </a:extLst>
          </p:cNvPr>
          <p:cNvSpPr>
            <a:spLocks noGrp="1"/>
          </p:cNvSpPr>
          <p:nvPr/>
        </p:nvSpPr>
        <p:spPr>
          <a:xfrm>
            <a:off x="15335250" y="5495925"/>
            <a:ext cx="953" cy="485775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90" name="object-86">
            <a:extLst>
              <a:ext uri="{FF2B5EF4-FFF2-40B4-BE49-F238E27FC236}">
                <a16:creationId xmlns:a16="http://schemas.microsoft.com/office/drawing/2014/main" id="{0475C17D-936E-4D4C-9921-7899D3139E90}"/>
              </a:ext>
            </a:extLst>
          </p:cNvPr>
          <p:cNvSpPr>
            <a:spLocks noGrp="1"/>
          </p:cNvSpPr>
          <p:nvPr/>
        </p:nvSpPr>
        <p:spPr>
          <a:xfrm>
            <a:off x="15278100" y="5848350"/>
            <a:ext cx="114300" cy="133350"/>
          </a:xfrm>
          <a:prstGeom prst="downArrow">
            <a:avLst/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091" name="object-87">
            <a:extLst>
              <a:ext uri="{FF2B5EF4-FFF2-40B4-BE49-F238E27FC236}">
                <a16:creationId xmlns:a16="http://schemas.microsoft.com/office/drawing/2014/main" id="{48AC8BD9-BC9D-4CC2-8B3B-631DF6ED7455}"/>
              </a:ext>
            </a:extLst>
          </p:cNvPr>
          <p:cNvSpPr>
            <a:spLocks noGrp="1"/>
          </p:cNvSpPr>
          <p:nvPr/>
        </p:nvSpPr>
        <p:spPr>
          <a:xfrm>
            <a:off x="11649075" y="54864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5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1092" name="object-88">
            <a:extLst>
              <a:ext uri="{FF2B5EF4-FFF2-40B4-BE49-F238E27FC236}">
                <a16:creationId xmlns:a16="http://schemas.microsoft.com/office/drawing/2014/main" id="{1D01C986-D925-4E5C-BAE0-D2F54E8D473C}"/>
              </a:ext>
            </a:extLst>
          </p:cNvPr>
          <p:cNvSpPr>
            <a:spLocks noGrp="1"/>
          </p:cNvSpPr>
          <p:nvPr/>
        </p:nvSpPr>
        <p:spPr>
          <a:xfrm>
            <a:off x="14697075" y="54864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093" name="object-89">
            <a:extLst>
              <a:ext uri="{FF2B5EF4-FFF2-40B4-BE49-F238E27FC236}">
                <a16:creationId xmlns:a16="http://schemas.microsoft.com/office/drawing/2014/main" id="{7865C24B-DEE1-4474-B343-C1EB7AF53EA1}"/>
              </a:ext>
            </a:extLst>
          </p:cNvPr>
          <p:cNvSpPr>
            <a:spLocks noGrp="1"/>
          </p:cNvSpPr>
          <p:nvPr/>
        </p:nvSpPr>
        <p:spPr>
          <a:xfrm>
            <a:off x="11287125" y="6010275"/>
            <a:ext cx="1943100" cy="542925"/>
          </a:xfrm>
          <a:prstGeom prst="roundRect">
            <a:avLst>
              <a:gd name="adj" fmla="val 14035"/>
            </a:avLst>
          </a:prstGeom>
          <a:solidFill>
            <a:srgbClr val="FFEDE2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恢复问题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可行性割</a:t>
            </a:r>
          </a:p>
        </p:txBody>
      </p:sp>
      <p:sp>
        <p:nvSpPr>
          <p:cNvPr id="1094" name="object-90">
            <a:extLst>
              <a:ext uri="{FF2B5EF4-FFF2-40B4-BE49-F238E27FC236}">
                <a16:creationId xmlns:a16="http://schemas.microsoft.com/office/drawing/2014/main" id="{A0971B20-792E-4CBF-A5AA-93E75267BCD8}"/>
              </a:ext>
            </a:extLst>
          </p:cNvPr>
          <p:cNvSpPr>
            <a:spLocks noGrp="1"/>
          </p:cNvSpPr>
          <p:nvPr/>
        </p:nvSpPr>
        <p:spPr>
          <a:xfrm>
            <a:off x="13487400" y="6010275"/>
            <a:ext cx="2057400" cy="542925"/>
          </a:xfrm>
          <a:prstGeom prst="roundRect">
            <a:avLst>
              <a:gd name="adj" fmla="val 14035"/>
            </a:avLst>
          </a:prstGeom>
          <a:solidFill>
            <a:srgbClr val="EAF3E5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最优性割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更新上下界</a:t>
            </a:r>
          </a:p>
        </p:txBody>
      </p:sp>
      <p:sp>
        <p:nvSpPr>
          <p:cNvPr id="1095" name="object-91">
            <a:extLst>
              <a:ext uri="{FF2B5EF4-FFF2-40B4-BE49-F238E27FC236}">
                <a16:creationId xmlns:a16="http://schemas.microsoft.com/office/drawing/2014/main" id="{61FCDFE6-5AB5-4967-A44C-B4B3A27A676C}"/>
              </a:ext>
            </a:extLst>
          </p:cNvPr>
          <p:cNvSpPr>
            <a:spLocks noGrp="1"/>
          </p:cNvSpPr>
          <p:nvPr/>
        </p:nvSpPr>
        <p:spPr>
          <a:xfrm>
            <a:off x="12258675" y="6553200"/>
            <a:ext cx="953" cy="171450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096" name="object-92">
            <a:extLst>
              <a:ext uri="{FF2B5EF4-FFF2-40B4-BE49-F238E27FC236}">
                <a16:creationId xmlns:a16="http://schemas.microsoft.com/office/drawing/2014/main" id="{ADAEF133-51E3-46CC-994E-48E4445A54FE}"/>
              </a:ext>
            </a:extLst>
          </p:cNvPr>
          <p:cNvSpPr>
            <a:spLocks noGrp="1"/>
          </p:cNvSpPr>
          <p:nvPr/>
        </p:nvSpPr>
        <p:spPr>
          <a:xfrm>
            <a:off x="12258675" y="6724650"/>
            <a:ext cx="1123950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097" name="object-93">
            <a:extLst>
              <a:ext uri="{FF2B5EF4-FFF2-40B4-BE49-F238E27FC236}">
                <a16:creationId xmlns:a16="http://schemas.microsoft.com/office/drawing/2014/main" id="{B113589B-6BF6-4F20-B105-A4813DE0966F}"/>
              </a:ext>
            </a:extLst>
          </p:cNvPr>
          <p:cNvSpPr>
            <a:spLocks noGrp="1"/>
          </p:cNvSpPr>
          <p:nvPr/>
        </p:nvSpPr>
        <p:spPr>
          <a:xfrm>
            <a:off x="13382625" y="6724650"/>
            <a:ext cx="953" cy="133350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098" name="object-94">
            <a:extLst>
              <a:ext uri="{FF2B5EF4-FFF2-40B4-BE49-F238E27FC236}">
                <a16:creationId xmlns:a16="http://schemas.microsoft.com/office/drawing/2014/main" id="{9A8363EE-D7E7-4BAB-A803-48D0D789237A}"/>
              </a:ext>
            </a:extLst>
          </p:cNvPr>
          <p:cNvSpPr>
            <a:spLocks noGrp="1"/>
          </p:cNvSpPr>
          <p:nvPr/>
        </p:nvSpPr>
        <p:spPr>
          <a:xfrm>
            <a:off x="13325475" y="6724650"/>
            <a:ext cx="114300" cy="133350"/>
          </a:xfrm>
          <a:prstGeom prst="downArrow">
            <a:avLst/>
          </a:prstGeom>
          <a:solidFill>
            <a:srgbClr val="1673CE"/>
          </a:solidFill>
          <a:ln w="0">
            <a:noFill/>
            <a:prstDash val="solid"/>
          </a:ln>
        </p:spPr>
      </p:sp>
      <p:sp>
        <p:nvSpPr>
          <p:cNvPr id="1099" name="object-95">
            <a:extLst>
              <a:ext uri="{FF2B5EF4-FFF2-40B4-BE49-F238E27FC236}">
                <a16:creationId xmlns:a16="http://schemas.microsoft.com/office/drawing/2014/main" id="{C51B754A-D98D-445C-A335-F53E854B646F}"/>
              </a:ext>
            </a:extLst>
          </p:cNvPr>
          <p:cNvSpPr>
            <a:spLocks noGrp="1"/>
          </p:cNvSpPr>
          <p:nvPr/>
        </p:nvSpPr>
        <p:spPr>
          <a:xfrm>
            <a:off x="14516100" y="6553200"/>
            <a:ext cx="953" cy="171450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100" name="object-96">
            <a:extLst>
              <a:ext uri="{FF2B5EF4-FFF2-40B4-BE49-F238E27FC236}">
                <a16:creationId xmlns:a16="http://schemas.microsoft.com/office/drawing/2014/main" id="{E26674F8-88AD-4087-93A6-BF2A2BA0C5F4}"/>
              </a:ext>
            </a:extLst>
          </p:cNvPr>
          <p:cNvSpPr>
            <a:spLocks noGrp="1"/>
          </p:cNvSpPr>
          <p:nvPr/>
        </p:nvSpPr>
        <p:spPr>
          <a:xfrm>
            <a:off x="13382625" y="6724650"/>
            <a:ext cx="1133475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101" name="object-97">
            <a:extLst>
              <a:ext uri="{FF2B5EF4-FFF2-40B4-BE49-F238E27FC236}">
                <a16:creationId xmlns:a16="http://schemas.microsoft.com/office/drawing/2014/main" id="{E276B30C-CC9D-4A51-905D-E4F03FDD1036}"/>
              </a:ext>
            </a:extLst>
          </p:cNvPr>
          <p:cNvSpPr>
            <a:spLocks noGrp="1"/>
          </p:cNvSpPr>
          <p:nvPr/>
        </p:nvSpPr>
        <p:spPr>
          <a:xfrm>
            <a:off x="12344400" y="6858000"/>
            <a:ext cx="2076450" cy="581025"/>
          </a:xfrm>
          <a:prstGeom prst="diamond">
            <a:avLst/>
          </a:prstGeom>
          <a:solidFill>
            <a:srgbClr val="EAF5FF"/>
          </a:solidFill>
          <a:ln w="13335">
            <a:solidFill>
              <a:srgbClr val="1673CE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间隙</a:t>
            </a:r>
          </a:p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收敛？</a:t>
            </a:r>
          </a:p>
        </p:txBody>
      </p:sp>
      <p:sp>
        <p:nvSpPr>
          <p:cNvPr id="1102" name="object-98">
            <a:extLst>
              <a:ext uri="{FF2B5EF4-FFF2-40B4-BE49-F238E27FC236}">
                <a16:creationId xmlns:a16="http://schemas.microsoft.com/office/drawing/2014/main" id="{4347B7EE-12B0-4C5A-A46E-5C02F7E355F1}"/>
              </a:ext>
            </a:extLst>
          </p:cNvPr>
          <p:cNvSpPr>
            <a:spLocks noGrp="1"/>
          </p:cNvSpPr>
          <p:nvPr/>
        </p:nvSpPr>
        <p:spPr>
          <a:xfrm>
            <a:off x="11144250" y="7143750"/>
            <a:ext cx="1200150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103" name="object-99">
            <a:extLst>
              <a:ext uri="{FF2B5EF4-FFF2-40B4-BE49-F238E27FC236}">
                <a16:creationId xmlns:a16="http://schemas.microsoft.com/office/drawing/2014/main" id="{D2974E89-C8D1-4534-BBB0-32C68508EA4E}"/>
              </a:ext>
            </a:extLst>
          </p:cNvPr>
          <p:cNvSpPr>
            <a:spLocks noGrp="1"/>
          </p:cNvSpPr>
          <p:nvPr/>
        </p:nvSpPr>
        <p:spPr>
          <a:xfrm>
            <a:off x="11144250" y="3962400"/>
            <a:ext cx="953" cy="3181350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104" name="object-100">
            <a:extLst>
              <a:ext uri="{FF2B5EF4-FFF2-40B4-BE49-F238E27FC236}">
                <a16:creationId xmlns:a16="http://schemas.microsoft.com/office/drawing/2014/main" id="{E484445E-1E3C-4D97-AA70-AEACBF519D3B}"/>
              </a:ext>
            </a:extLst>
          </p:cNvPr>
          <p:cNvSpPr>
            <a:spLocks noGrp="1"/>
          </p:cNvSpPr>
          <p:nvPr/>
        </p:nvSpPr>
        <p:spPr>
          <a:xfrm>
            <a:off x="11144250" y="3962400"/>
            <a:ext cx="209550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105" name="object-101">
            <a:extLst>
              <a:ext uri="{FF2B5EF4-FFF2-40B4-BE49-F238E27FC236}">
                <a16:creationId xmlns:a16="http://schemas.microsoft.com/office/drawing/2014/main" id="{AA2321BA-BFB0-4766-B67E-2A871782D60A}"/>
              </a:ext>
            </a:extLst>
          </p:cNvPr>
          <p:cNvSpPr>
            <a:spLocks noGrp="1"/>
          </p:cNvSpPr>
          <p:nvPr/>
        </p:nvSpPr>
        <p:spPr>
          <a:xfrm>
            <a:off x="11220450" y="3905250"/>
            <a:ext cx="133350" cy="114300"/>
          </a:xfrm>
          <a:prstGeom prst="rightArrow">
            <a:avLst/>
          </a:prstGeom>
          <a:solidFill>
            <a:srgbClr val="1673CE"/>
          </a:solidFill>
          <a:ln w="0">
            <a:noFill/>
            <a:prstDash val="solid"/>
          </a:ln>
        </p:spPr>
      </p:sp>
      <p:sp>
        <p:nvSpPr>
          <p:cNvPr id="1106" name="object-102">
            <a:extLst>
              <a:ext uri="{FF2B5EF4-FFF2-40B4-BE49-F238E27FC236}">
                <a16:creationId xmlns:a16="http://schemas.microsoft.com/office/drawing/2014/main" id="{7D7572D6-D7C3-440E-A44E-CD9B11F94787}"/>
              </a:ext>
            </a:extLst>
          </p:cNvPr>
          <p:cNvSpPr>
            <a:spLocks noGrp="1"/>
          </p:cNvSpPr>
          <p:nvPr/>
        </p:nvSpPr>
        <p:spPr>
          <a:xfrm>
            <a:off x="11401425" y="712470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350" b="1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1107" name="object-103">
            <a:extLst>
              <a:ext uri="{FF2B5EF4-FFF2-40B4-BE49-F238E27FC236}">
                <a16:creationId xmlns:a16="http://schemas.microsoft.com/office/drawing/2014/main" id="{2E58B567-08C0-4D36-A7AD-CA177BF680EF}"/>
              </a:ext>
            </a:extLst>
          </p:cNvPr>
          <p:cNvSpPr>
            <a:spLocks noGrp="1"/>
          </p:cNvSpPr>
          <p:nvPr/>
        </p:nvSpPr>
        <p:spPr>
          <a:xfrm>
            <a:off x="13382625" y="7439025"/>
            <a:ext cx="953" cy="247650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108" name="object-104">
            <a:extLst>
              <a:ext uri="{FF2B5EF4-FFF2-40B4-BE49-F238E27FC236}">
                <a16:creationId xmlns:a16="http://schemas.microsoft.com/office/drawing/2014/main" id="{1E4D6A86-8B5E-46D3-ACE5-B40872B1C5B3}"/>
              </a:ext>
            </a:extLst>
          </p:cNvPr>
          <p:cNvSpPr>
            <a:spLocks noGrp="1"/>
          </p:cNvSpPr>
          <p:nvPr/>
        </p:nvSpPr>
        <p:spPr>
          <a:xfrm>
            <a:off x="13325475" y="7553325"/>
            <a:ext cx="114300" cy="133350"/>
          </a:xfrm>
          <a:prstGeom prst="down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109" name="object-105">
            <a:extLst>
              <a:ext uri="{FF2B5EF4-FFF2-40B4-BE49-F238E27FC236}">
                <a16:creationId xmlns:a16="http://schemas.microsoft.com/office/drawing/2014/main" id="{4C99C5C0-9AF1-4867-81CD-135F58347412}"/>
              </a:ext>
            </a:extLst>
          </p:cNvPr>
          <p:cNvSpPr>
            <a:spLocks noGrp="1"/>
          </p:cNvSpPr>
          <p:nvPr/>
        </p:nvSpPr>
        <p:spPr>
          <a:xfrm>
            <a:off x="13496925" y="7419975"/>
            <a:ext cx="571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110" name="object-106">
            <a:extLst>
              <a:ext uri="{FF2B5EF4-FFF2-40B4-BE49-F238E27FC236}">
                <a16:creationId xmlns:a16="http://schemas.microsoft.com/office/drawing/2014/main" id="{869E7D70-A728-49E4-9A79-93FB50285629}"/>
              </a:ext>
            </a:extLst>
          </p:cNvPr>
          <p:cNvSpPr>
            <a:spLocks noGrp="1"/>
          </p:cNvSpPr>
          <p:nvPr/>
        </p:nvSpPr>
        <p:spPr>
          <a:xfrm>
            <a:off x="11791950" y="7724775"/>
            <a:ext cx="3076575" cy="409575"/>
          </a:xfrm>
          <a:prstGeom prst="roundRect">
            <a:avLst>
              <a:gd name="adj" fmla="val 18605"/>
            </a:avLst>
          </a:prstGeom>
          <a:solidFill>
            <a:srgbClr val="EEE8FA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非线性时域校验</a:t>
            </a:r>
          </a:p>
        </p:txBody>
      </p:sp>
      <p:sp>
        <p:nvSpPr>
          <p:cNvPr id="1111" name="object-107">
            <a:extLst>
              <a:ext uri="{FF2B5EF4-FFF2-40B4-BE49-F238E27FC236}">
                <a16:creationId xmlns:a16="http://schemas.microsoft.com/office/drawing/2014/main" id="{20869192-DBB5-4E00-9460-97BFEA9322BF}"/>
              </a:ext>
            </a:extLst>
          </p:cNvPr>
          <p:cNvSpPr>
            <a:spLocks noGrp="1"/>
          </p:cNvSpPr>
          <p:nvPr/>
        </p:nvSpPr>
        <p:spPr>
          <a:xfrm>
            <a:off x="14868525" y="7934325"/>
            <a:ext cx="762000" cy="953"/>
          </a:xfrm>
          <a:prstGeom prst="line">
            <a:avLst/>
          </a:prstGeom>
          <a:noFill/>
          <a:ln w="22860">
            <a:solidFill>
              <a:srgbClr val="7751A8"/>
            </a:solidFill>
            <a:prstDash val="solid"/>
          </a:ln>
        </p:spPr>
      </p:sp>
      <p:sp>
        <p:nvSpPr>
          <p:cNvPr id="1112" name="object-108">
            <a:extLst>
              <a:ext uri="{FF2B5EF4-FFF2-40B4-BE49-F238E27FC236}">
                <a16:creationId xmlns:a16="http://schemas.microsoft.com/office/drawing/2014/main" id="{1940452B-52A6-44E3-862F-23B5A8FD2E7F}"/>
              </a:ext>
            </a:extLst>
          </p:cNvPr>
          <p:cNvSpPr>
            <a:spLocks noGrp="1"/>
          </p:cNvSpPr>
          <p:nvPr/>
        </p:nvSpPr>
        <p:spPr>
          <a:xfrm>
            <a:off x="15630525" y="3562350"/>
            <a:ext cx="953" cy="4371975"/>
          </a:xfrm>
          <a:prstGeom prst="line">
            <a:avLst/>
          </a:prstGeom>
          <a:noFill/>
          <a:ln w="22860">
            <a:solidFill>
              <a:srgbClr val="7751A8"/>
            </a:solidFill>
            <a:prstDash val="solid"/>
          </a:ln>
        </p:spPr>
      </p:sp>
      <p:sp>
        <p:nvSpPr>
          <p:cNvPr id="1113" name="object-109">
            <a:extLst>
              <a:ext uri="{FF2B5EF4-FFF2-40B4-BE49-F238E27FC236}">
                <a16:creationId xmlns:a16="http://schemas.microsoft.com/office/drawing/2014/main" id="{7B490AF7-4040-4139-B326-DCFB0EFD42C4}"/>
              </a:ext>
            </a:extLst>
          </p:cNvPr>
          <p:cNvSpPr>
            <a:spLocks noGrp="1"/>
          </p:cNvSpPr>
          <p:nvPr/>
        </p:nvSpPr>
        <p:spPr>
          <a:xfrm>
            <a:off x="13382625" y="3562350"/>
            <a:ext cx="2247900" cy="953"/>
          </a:xfrm>
          <a:prstGeom prst="line">
            <a:avLst/>
          </a:prstGeom>
          <a:noFill/>
          <a:ln w="22860">
            <a:solidFill>
              <a:srgbClr val="7751A8"/>
            </a:solidFill>
            <a:prstDash val="solid"/>
          </a:ln>
        </p:spPr>
      </p:sp>
      <p:sp>
        <p:nvSpPr>
          <p:cNvPr id="1114" name="object-110">
            <a:extLst>
              <a:ext uri="{FF2B5EF4-FFF2-40B4-BE49-F238E27FC236}">
                <a16:creationId xmlns:a16="http://schemas.microsoft.com/office/drawing/2014/main" id="{D8B7D721-2329-4306-950A-F39977BECA8F}"/>
              </a:ext>
            </a:extLst>
          </p:cNvPr>
          <p:cNvSpPr>
            <a:spLocks noGrp="1"/>
          </p:cNvSpPr>
          <p:nvPr/>
        </p:nvSpPr>
        <p:spPr>
          <a:xfrm>
            <a:off x="13382625" y="3562350"/>
            <a:ext cx="953" cy="152400"/>
          </a:xfrm>
          <a:prstGeom prst="line">
            <a:avLst/>
          </a:prstGeom>
          <a:noFill/>
          <a:ln w="22860">
            <a:solidFill>
              <a:srgbClr val="7751A8"/>
            </a:solidFill>
            <a:prstDash val="solid"/>
          </a:ln>
        </p:spPr>
      </p:sp>
      <p:sp>
        <p:nvSpPr>
          <p:cNvPr id="1115" name="object-111">
            <a:extLst>
              <a:ext uri="{FF2B5EF4-FFF2-40B4-BE49-F238E27FC236}">
                <a16:creationId xmlns:a16="http://schemas.microsoft.com/office/drawing/2014/main" id="{B982610B-7FD7-4A8C-8775-785716434743}"/>
              </a:ext>
            </a:extLst>
          </p:cNvPr>
          <p:cNvSpPr>
            <a:spLocks noGrp="1"/>
          </p:cNvSpPr>
          <p:nvPr/>
        </p:nvSpPr>
        <p:spPr>
          <a:xfrm>
            <a:off x="13325475" y="3581400"/>
            <a:ext cx="114300" cy="133350"/>
          </a:xfrm>
          <a:prstGeom prst="downArrow">
            <a:avLst/>
          </a:prstGeom>
          <a:solidFill>
            <a:srgbClr val="7751A8"/>
          </a:solidFill>
          <a:ln w="0">
            <a:noFill/>
            <a:prstDash val="solid"/>
          </a:ln>
        </p:spPr>
      </p:sp>
      <p:sp>
        <p:nvSpPr>
          <p:cNvPr id="1116" name="object-112">
            <a:extLst>
              <a:ext uri="{FF2B5EF4-FFF2-40B4-BE49-F238E27FC236}">
                <a16:creationId xmlns:a16="http://schemas.microsoft.com/office/drawing/2014/main" id="{35F399A1-D18E-4092-93D1-06F0555A93ED}"/>
              </a:ext>
            </a:extLst>
          </p:cNvPr>
          <p:cNvSpPr>
            <a:spLocks noGrp="1"/>
          </p:cNvSpPr>
          <p:nvPr/>
        </p:nvSpPr>
        <p:spPr>
          <a:xfrm>
            <a:off x="13201650" y="3400425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200" b="0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rPr>
              <a:t>失败则更新近似 / 信赖域</a:t>
            </a:r>
          </a:p>
        </p:txBody>
      </p:sp>
      <p:sp>
        <p:nvSpPr>
          <p:cNvPr id="1117" name="object-113">
            <a:extLst>
              <a:ext uri="{FF2B5EF4-FFF2-40B4-BE49-F238E27FC236}">
                <a16:creationId xmlns:a16="http://schemas.microsoft.com/office/drawing/2014/main" id="{BB008432-952D-4793-A568-E485620D15E2}"/>
              </a:ext>
            </a:extLst>
          </p:cNvPr>
          <p:cNvSpPr>
            <a:spLocks noGrp="1"/>
          </p:cNvSpPr>
          <p:nvPr/>
        </p:nvSpPr>
        <p:spPr>
          <a:xfrm>
            <a:off x="171450" y="8410575"/>
            <a:ext cx="1558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检测时间内可送达的备用决定失配能否支撑；非线性时域验证失败时更新线性化点与信赖域</a:t>
            </a:r>
          </a:p>
        </p:txBody>
      </p:sp>
    </p:spTree>
    <p:extLst>
      <p:ext uri="{BB962C8B-B14F-4D97-AF65-F5344CB8AC3E}">
        <p14:creationId xmlns:p14="http://schemas.microsoft.com/office/powerpoint/2010/main" val="1975367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-title-rule-2">
            <a:extLst>
              <a:ext uri="{FF2B5EF4-FFF2-40B4-BE49-F238E27FC236}">
                <a16:creationId xmlns:a16="http://schemas.microsoft.com/office/drawing/2014/main" id="{475000D9-DDF8-4F89-A8C5-C49E649D8ED4}"/>
              </a:ext>
            </a:extLst>
          </p:cNvPr>
          <p:cNvSpPr>
            <a:spLocks noGrp="1"/>
          </p:cNvSpPr>
          <p:nvPr/>
        </p:nvSpPr>
        <p:spPr>
          <a:xfrm>
            <a:off x="152400" y="619125"/>
            <a:ext cx="15621000" cy="95"/>
          </a:xfrm>
          <a:custGeom>
            <a:avLst/>
            <a:gdLst/>
            <a:ahLst/>
            <a:cxnLst/>
            <a:rect l="0" t="0" r="0" b="0"/>
            <a:pathLst>
              <a:path w="15621000" h="95">
                <a:moveTo>
                  <a:pt x="0" y="0"/>
                </a:moveTo>
                <a:lnTo>
                  <a:pt x="15621000" y="0"/>
                </a:lnTo>
              </a:path>
            </a:pathLst>
          </a:custGeom>
          <a:noFill/>
          <a:ln w="30480">
            <a:solidFill>
              <a:srgbClr val="0753C6"/>
            </a:solidFill>
            <a:prstDash val="solid"/>
          </a:ln>
        </p:spPr>
      </p:sp>
      <p:sp>
        <p:nvSpPr>
          <p:cNvPr id="3" name="s2-summary-3">
            <a:extLst>
              <a:ext uri="{FF2B5EF4-FFF2-40B4-BE49-F238E27FC236}">
                <a16:creationId xmlns:a16="http://schemas.microsoft.com/office/drawing/2014/main" id="{C615AB92-2650-4DB0-883F-91B80A9D94CB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oundRect">
            <a:avLst>
              <a:gd name="adj" fmla="val 11200"/>
            </a:avLst>
          </a:prstGeom>
          <a:gradFill>
            <a:gsLst>
              <a:gs pos="0">
                <a:srgbClr val="F0F8FF"/>
              </a:gs>
              <a:gs pos="100000">
                <a:srgbClr val="E2F1FF"/>
              </a:gs>
            </a:gsLst>
            <a:lin ang="5400000"/>
          </a:gradFill>
          <a:ln w="7620">
            <a:solidFill>
              <a:srgbClr val="66B7FA"/>
            </a:solidFill>
            <a:prstDash val="solid"/>
          </a:ln>
        </p:spPr>
      </p:sp>
      <p:sp>
        <p:nvSpPr>
          <p:cNvPr id="9" name="s2-left-panel-9">
            <a:extLst>
              <a:ext uri="{FF2B5EF4-FFF2-40B4-BE49-F238E27FC236}">
                <a16:creationId xmlns:a16="http://schemas.microsoft.com/office/drawing/2014/main" id="{F5116257-7643-42C0-9C92-758C9FA5CBC9}"/>
              </a:ext>
            </a:extLst>
          </p:cNvPr>
          <p:cNvSpPr>
            <a:spLocks noGrp="1"/>
          </p:cNvSpPr>
          <p:nvPr/>
        </p:nvSpPr>
        <p:spPr>
          <a:xfrm>
            <a:off x="171450" y="2190750"/>
            <a:ext cx="5105400" cy="6115050"/>
          </a:xfrm>
          <a:prstGeom prst="roundRect">
            <a:avLst>
              <a:gd name="adj" fmla="val 2218"/>
            </a:avLst>
          </a:prstGeom>
          <a:solidFill>
            <a:srgbClr val="FFFFFF"/>
          </a:solidFill>
          <a:ln w="9525">
            <a:solidFill>
              <a:srgbClr val="258CF6"/>
            </a:solidFill>
            <a:prstDash val="solid"/>
          </a:ln>
        </p:spPr>
      </p:sp>
      <p:sp>
        <p:nvSpPr>
          <p:cNvPr id="10" name="s2-center-panel-10">
            <a:extLst>
              <a:ext uri="{FF2B5EF4-FFF2-40B4-BE49-F238E27FC236}">
                <a16:creationId xmlns:a16="http://schemas.microsoft.com/office/drawing/2014/main" id="{9C57CAD0-940B-4BCC-8185-2251A58D0164}"/>
              </a:ext>
            </a:extLst>
          </p:cNvPr>
          <p:cNvSpPr>
            <a:spLocks noGrp="1"/>
          </p:cNvSpPr>
          <p:nvPr/>
        </p:nvSpPr>
        <p:spPr>
          <a:xfrm>
            <a:off x="5391150" y="2190750"/>
            <a:ext cx="5105400" cy="611505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258CF6"/>
            </a:solidFill>
            <a:prstDash val="solid"/>
          </a:ln>
        </p:spPr>
      </p:sp>
      <p:sp>
        <p:nvSpPr>
          <p:cNvPr id="11" name="s2-right-panel-11">
            <a:extLst>
              <a:ext uri="{FF2B5EF4-FFF2-40B4-BE49-F238E27FC236}">
                <a16:creationId xmlns:a16="http://schemas.microsoft.com/office/drawing/2014/main" id="{91B44ECF-F76A-4D0B-9FE9-33AE35449DAD}"/>
              </a:ext>
            </a:extLst>
          </p:cNvPr>
          <p:cNvSpPr>
            <a:spLocks noGrp="1"/>
          </p:cNvSpPr>
          <p:nvPr/>
        </p:nvSpPr>
        <p:spPr>
          <a:xfrm>
            <a:off x="10610850" y="2190750"/>
            <a:ext cx="5105400" cy="6115050"/>
          </a:xfrm>
          <a:prstGeom prst="roundRect">
            <a:avLst>
              <a:gd name="adj" fmla="val 2226"/>
            </a:avLst>
          </a:prstGeom>
          <a:solidFill>
            <a:srgbClr val="FFFFFF"/>
          </a:solidFill>
          <a:ln w="9525">
            <a:solidFill>
              <a:srgbClr val="258CF6"/>
            </a:solidFill>
            <a:prstDash val="solid"/>
          </a:ln>
        </p:spPr>
      </p:sp>
      <p:sp>
        <p:nvSpPr>
          <p:cNvPr id="896" name="object-42">
            <a:extLst>
              <a:ext uri="{FF2B5EF4-FFF2-40B4-BE49-F238E27FC236}">
                <a16:creationId xmlns:a16="http://schemas.microsoft.com/office/drawing/2014/main" id="{143C4E9E-4CB3-3E3F-65AB-7D771108383F}"/>
              </a:ext>
            </a:extLst>
          </p:cNvPr>
          <p:cNvSpPr>
            <a:spLocks noGrp="1"/>
          </p:cNvSpPr>
          <p:nvPr/>
        </p:nvSpPr>
        <p:spPr>
          <a:xfrm>
            <a:off x="190500" y="9525"/>
            <a:ext cx="155257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36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6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2. 检测合规与运行可行性：对比、认证和扩展性</a:t>
            </a:r>
          </a:p>
        </p:txBody>
      </p:sp>
      <p:sp>
        <p:nvSpPr>
          <p:cNvPr id="897" name="object-43">
            <a:extLst>
              <a:ext uri="{FF2B5EF4-FFF2-40B4-BE49-F238E27FC236}">
                <a16:creationId xmlns:a16="http://schemas.microsoft.com/office/drawing/2014/main" id="{93618312-DDA0-D008-34D0-DD80040B5480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相对固定扰动，对比表中的平均检测时间由1.12 s降至0.79 s，误报概率由0.023降至0.008；</a:t>
            </a:r>
          </a:p>
          <a:p>
            <a: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典型时段仍会因备用或灵敏度不足被拒绝认证，重构后的三个孤岛再分别检查可行性。</a:t>
            </a:r>
          </a:p>
        </p:txBody>
      </p:sp>
      <p:sp>
        <p:nvSpPr>
          <p:cNvPr id="898" name="object-44">
            <a:extLst>
              <a:ext uri="{FF2B5EF4-FFF2-40B4-BE49-F238E27FC236}">
                <a16:creationId xmlns:a16="http://schemas.microsoft.com/office/drawing/2014/main" id="{DBC00AE0-E43D-F075-76E7-B709015884E6}"/>
              </a:ext>
            </a:extLst>
          </p:cNvPr>
          <p:cNvSpPr>
            <a:spLocks noGrp="1"/>
          </p:cNvSpPr>
          <p:nvPr/>
        </p:nvSpPr>
        <p:spPr>
          <a:xfrm>
            <a:off x="257175" y="2247900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① 低扰动与检测性能</a:t>
            </a:r>
          </a:p>
        </p:txBody>
      </p:sp>
      <p:sp>
        <p:nvSpPr>
          <p:cNvPr id="899" name="object-45">
            <a:extLst>
              <a:ext uri="{FF2B5EF4-FFF2-40B4-BE49-F238E27FC236}">
                <a16:creationId xmlns:a16="http://schemas.microsoft.com/office/drawing/2014/main" id="{BC3115DE-EC41-BE6C-7483-F7B71F906325}"/>
              </a:ext>
            </a:extLst>
          </p:cNvPr>
          <p:cNvSpPr>
            <a:spLocks noGrp="1"/>
          </p:cNvSpPr>
          <p:nvPr/>
        </p:nvSpPr>
        <p:spPr>
          <a:xfrm>
            <a:off x="266700" y="26955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对比采用相同算例条件</a:t>
            </a:r>
          </a:p>
        </p:txBody>
      </p:sp>
      <p:sp>
        <p:nvSpPr>
          <p:cNvPr id="900" name="object-46">
            <a:extLst>
              <a:ext uri="{FF2B5EF4-FFF2-40B4-BE49-F238E27FC236}">
                <a16:creationId xmlns:a16="http://schemas.microsoft.com/office/drawing/2014/main" id="{CEEDAE12-CE2A-94EF-89A3-FE02C6B4E403}"/>
              </a:ext>
            </a:extLst>
          </p:cNvPr>
          <p:cNvSpPr>
            <a:spLocks noGrp="1"/>
          </p:cNvSpPr>
          <p:nvPr/>
        </p:nvSpPr>
        <p:spPr>
          <a:xfrm>
            <a:off x="285750" y="3152775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各方法检测时间</a:t>
            </a:r>
          </a:p>
        </p:txBody>
      </p:sp>
      <p:graphicFrame>
        <p:nvGraphicFramePr>
          <p:cNvPr id="901" name="Chart">
            <a:extLst>
              <a:ext uri="{FF2B5EF4-FFF2-40B4-BE49-F238E27FC236}">
                <a16:creationId xmlns:a16="http://schemas.microsoft.com/office/drawing/2014/main" id="{6D627B38-BA22-B659-5E17-81D8DB7167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5820712"/>
              </p:ext>
            </p:extLst>
          </p:nvPr>
        </p:nvGraphicFramePr>
        <p:xfrm>
          <a:off x="266700" y="3505200"/>
          <a:ext cx="491490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" name="object-47">
            <a:extLst>
              <a:ext uri="{FF2B5EF4-FFF2-40B4-BE49-F238E27FC236}">
                <a16:creationId xmlns:a16="http://schemas.microsoft.com/office/drawing/2014/main" id="{4A354385-D318-773A-12BD-27B693929507}"/>
              </a:ext>
            </a:extLst>
          </p:cNvPr>
          <p:cNvSpPr>
            <a:spLocks noGrp="1"/>
          </p:cNvSpPr>
          <p:nvPr/>
        </p:nvSpPr>
        <p:spPr>
          <a:xfrm>
            <a:off x="285750" y="5638800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固定扰动与所提方法</a:t>
            </a:r>
          </a:p>
        </p:txBody>
      </p:sp>
      <p:graphicFrame>
        <p:nvGraphicFramePr>
          <p:cNvPr id="903" name="表格 902">
            <a:extLst>
              <a:ext uri="{FF2B5EF4-FFF2-40B4-BE49-F238E27FC236}">
                <a16:creationId xmlns:a16="http://schemas.microsoft.com/office/drawing/2014/main" id="{5832F13C-84F1-5FDE-B428-7252716DD8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34600"/>
              </p:ext>
            </p:extLst>
          </p:nvPr>
        </p:nvGraphicFramePr>
        <p:xfrm>
          <a:off x="285750" y="5972175"/>
          <a:ext cx="4876800" cy="171450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固定扰动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所提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误报概率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THD / %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归一化扰动量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4" name="object-48">
            <a:extLst>
              <a:ext uri="{FF2B5EF4-FFF2-40B4-BE49-F238E27FC236}">
                <a16:creationId xmlns:a16="http://schemas.microsoft.com/office/drawing/2014/main" id="{78151B07-BFA2-B0F3-9CBD-27E0F8E8BD72}"/>
              </a:ext>
            </a:extLst>
          </p:cNvPr>
          <p:cNvSpPr>
            <a:spLocks noGrp="1"/>
          </p:cNvSpPr>
          <p:nvPr/>
        </p:nvSpPr>
        <p:spPr>
          <a:xfrm>
            <a:off x="285750" y="777240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归一化扰动量降低25.6%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检测时间和THD同时降低</a:t>
            </a:r>
          </a:p>
        </p:txBody>
      </p:sp>
      <p:sp>
        <p:nvSpPr>
          <p:cNvPr id="905" name="object-49">
            <a:extLst>
              <a:ext uri="{FF2B5EF4-FFF2-40B4-BE49-F238E27FC236}">
                <a16:creationId xmlns:a16="http://schemas.microsoft.com/office/drawing/2014/main" id="{415EE2FA-397F-E70F-9128-56662651EF33}"/>
              </a:ext>
            </a:extLst>
          </p:cNvPr>
          <p:cNvSpPr>
            <a:spLocks noGrp="1"/>
          </p:cNvSpPr>
          <p:nvPr/>
        </p:nvSpPr>
        <p:spPr>
          <a:xfrm>
            <a:off x="5476875" y="2247900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② 认证区分“检出”与“可行”</a:t>
            </a:r>
          </a:p>
        </p:txBody>
      </p:sp>
      <p:sp>
        <p:nvSpPr>
          <p:cNvPr id="906" name="object-50">
            <a:extLst>
              <a:ext uri="{FF2B5EF4-FFF2-40B4-BE49-F238E27FC236}">
                <a16:creationId xmlns:a16="http://schemas.microsoft.com/office/drawing/2014/main" id="{7A4265F4-CE6E-D359-757A-1DE2B511DF02}"/>
              </a:ext>
            </a:extLst>
          </p:cNvPr>
          <p:cNvSpPr>
            <a:spLocks noGrp="1"/>
          </p:cNvSpPr>
          <p:nvPr/>
        </p:nvSpPr>
        <p:spPr>
          <a:xfrm>
            <a:off x="5486400" y="26955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源荷失配、备用与电能质量联合检查</a:t>
            </a:r>
          </a:p>
        </p:txBody>
      </p:sp>
      <p:sp>
        <p:nvSpPr>
          <p:cNvPr id="907" name="object-51">
            <a:extLst>
              <a:ext uri="{FF2B5EF4-FFF2-40B4-BE49-F238E27FC236}">
                <a16:creationId xmlns:a16="http://schemas.microsoft.com/office/drawing/2014/main" id="{18AC81A0-FD29-5E03-AA88-420C6C8AB3AC}"/>
              </a:ext>
            </a:extLst>
          </p:cNvPr>
          <p:cNvSpPr>
            <a:spLocks noGrp="1"/>
          </p:cNvSpPr>
          <p:nvPr/>
        </p:nvSpPr>
        <p:spPr>
          <a:xfrm>
            <a:off x="5505450" y="3152775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代表时段的认证结果</a:t>
            </a:r>
          </a:p>
        </p:txBody>
      </p:sp>
      <p:graphicFrame>
        <p:nvGraphicFramePr>
          <p:cNvPr id="908" name="表格 907">
            <a:extLst>
              <a:ext uri="{FF2B5EF4-FFF2-40B4-BE49-F238E27FC236}">
                <a16:creationId xmlns:a16="http://schemas.microsoft.com/office/drawing/2014/main" id="{F719A65F-A998-ECD7-ACA0-FD3E35108E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364621"/>
              </p:ext>
            </p:extLst>
          </p:nvPr>
        </p:nvGraphicFramePr>
        <p:xfrm>
          <a:off x="5505450" y="3486150"/>
          <a:ext cx="4876800" cy="2038350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463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3时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19时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23时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灵敏度余量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爬坡余量/kW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−845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−655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+200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可行性认证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9" name="object-52">
            <a:extLst>
              <a:ext uri="{FF2B5EF4-FFF2-40B4-BE49-F238E27FC236}">
                <a16:creationId xmlns:a16="http://schemas.microsoft.com/office/drawing/2014/main" id="{D7198DF6-0E9A-76AE-85EB-BC144880C27A}"/>
              </a:ext>
            </a:extLst>
          </p:cNvPr>
          <p:cNvSpPr>
            <a:spLocks noGrp="1"/>
          </p:cNvSpPr>
          <p:nvPr/>
        </p:nvSpPr>
        <p:spPr>
          <a:xfrm>
            <a:off x="5505450" y="5638800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重构后三个孤岛</a:t>
            </a:r>
          </a:p>
        </p:txBody>
      </p:sp>
      <p:graphicFrame>
        <p:nvGraphicFramePr>
          <p:cNvPr id="910" name="表格 909">
            <a:extLst>
              <a:ext uri="{FF2B5EF4-FFF2-40B4-BE49-F238E27FC236}">
                <a16:creationId xmlns:a16="http://schemas.microsoft.com/office/drawing/2014/main" id="{2C0E1302-0739-1A8D-8776-74F5A2D62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2887651"/>
              </p:ext>
            </p:extLst>
          </p:nvPr>
        </p:nvGraphicFramePr>
        <p:xfrm>
          <a:off x="5505450" y="5972175"/>
          <a:ext cx="4876800" cy="1714500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463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岛1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岛2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岛3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最低频率/Hz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稳定时间/s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3.62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3.31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5.90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可行性认证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1" name="object-53">
            <a:extLst>
              <a:ext uri="{FF2B5EF4-FFF2-40B4-BE49-F238E27FC236}">
                <a16:creationId xmlns:a16="http://schemas.microsoft.com/office/drawing/2014/main" id="{84004F1C-4948-ABB2-D540-38411AECB1CC}"/>
              </a:ext>
            </a:extLst>
          </p:cNvPr>
          <p:cNvSpPr>
            <a:spLocks noGrp="1"/>
          </p:cNvSpPr>
          <p:nvPr/>
        </p:nvSpPr>
        <p:spPr>
          <a:xfrm>
            <a:off x="5505450" y="777240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19时检测合规但备用不足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重构与纠正控制后逐岛重新认证</a:t>
            </a:r>
          </a:p>
        </p:txBody>
      </p:sp>
      <p:sp>
        <p:nvSpPr>
          <p:cNvPr id="912" name="object-54">
            <a:extLst>
              <a:ext uri="{FF2B5EF4-FFF2-40B4-BE49-F238E27FC236}">
                <a16:creationId xmlns:a16="http://schemas.microsoft.com/office/drawing/2014/main" id="{78139530-5F75-E8CC-19DB-B7E40B392B42}"/>
              </a:ext>
            </a:extLst>
          </p:cNvPr>
          <p:cNvSpPr>
            <a:spLocks noGrp="1"/>
          </p:cNvSpPr>
          <p:nvPr/>
        </p:nvSpPr>
        <p:spPr>
          <a:xfrm>
            <a:off x="10696575" y="2247900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③ 规模与扰动条件</a:t>
            </a:r>
          </a:p>
        </p:txBody>
      </p:sp>
      <p:sp>
        <p:nvSpPr>
          <p:cNvPr id="913" name="object-55">
            <a:extLst>
              <a:ext uri="{FF2B5EF4-FFF2-40B4-BE49-F238E27FC236}">
                <a16:creationId xmlns:a16="http://schemas.microsoft.com/office/drawing/2014/main" id="{3BE82B1F-7CA0-7334-B16B-E07100642C5E}"/>
              </a:ext>
            </a:extLst>
          </p:cNvPr>
          <p:cNvSpPr>
            <a:spLocks noGrp="1"/>
          </p:cNvSpPr>
          <p:nvPr/>
        </p:nvSpPr>
        <p:spPr>
          <a:xfrm>
            <a:off x="10706100" y="26955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离线求解规模增加，噪声影响检测裕度</a:t>
            </a:r>
          </a:p>
        </p:txBody>
      </p:sp>
      <p:sp>
        <p:nvSpPr>
          <p:cNvPr id="914" name="object-56">
            <a:extLst>
              <a:ext uri="{FF2B5EF4-FFF2-40B4-BE49-F238E27FC236}">
                <a16:creationId xmlns:a16="http://schemas.microsoft.com/office/drawing/2014/main" id="{81FB89D5-8250-B816-91E5-2870ACAF87D8}"/>
              </a:ext>
            </a:extLst>
          </p:cNvPr>
          <p:cNvSpPr>
            <a:spLocks noGrp="1"/>
          </p:cNvSpPr>
          <p:nvPr/>
        </p:nvSpPr>
        <p:spPr>
          <a:xfrm>
            <a:off x="10725150" y="3152775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不同网络规模</a:t>
            </a:r>
          </a:p>
        </p:txBody>
      </p:sp>
      <p:graphicFrame>
        <p:nvGraphicFramePr>
          <p:cNvPr id="915" name="表格 914">
            <a:extLst>
              <a:ext uri="{FF2B5EF4-FFF2-40B4-BE49-F238E27FC236}">
                <a16:creationId xmlns:a16="http://schemas.microsoft.com/office/drawing/2014/main" id="{EB4E889C-53AC-50D1-F94F-C74EC996F8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8388131"/>
              </p:ext>
            </p:extLst>
          </p:nvPr>
        </p:nvGraphicFramePr>
        <p:xfrm>
          <a:off x="10725150" y="3486150"/>
          <a:ext cx="4876800" cy="203835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节点数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求解时间/s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稳定时间/s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123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3862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7.1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14580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6" name="object-57">
            <a:extLst>
              <a:ext uri="{FF2B5EF4-FFF2-40B4-BE49-F238E27FC236}">
                <a16:creationId xmlns:a16="http://schemas.microsoft.com/office/drawing/2014/main" id="{8A777F15-30AD-7573-3B0E-B9B0C3A4C7DC}"/>
              </a:ext>
            </a:extLst>
          </p:cNvPr>
          <p:cNvSpPr>
            <a:spLocks noGrp="1"/>
          </p:cNvSpPr>
          <p:nvPr/>
        </p:nvSpPr>
        <p:spPr>
          <a:xfrm>
            <a:off x="10725150" y="5638800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通信与测量扰动</a:t>
            </a:r>
          </a:p>
        </p:txBody>
      </p:sp>
      <p:graphicFrame>
        <p:nvGraphicFramePr>
          <p:cNvPr id="917" name="表格 916">
            <a:extLst>
              <a:ext uri="{FF2B5EF4-FFF2-40B4-BE49-F238E27FC236}">
                <a16:creationId xmlns:a16="http://schemas.microsoft.com/office/drawing/2014/main" id="{FE2A7FAC-FAA2-23FC-686A-D0FCDADD05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8686417"/>
              </p:ext>
            </p:extLst>
          </p:nvPr>
        </p:nvGraphicFramePr>
        <p:xfrm>
          <a:off x="10725150" y="5972175"/>
          <a:ext cx="4876800" cy="1714500"/>
        </p:xfrm>
        <a:graphic>
          <a:graphicData uri="http://schemas.openxmlformats.org/drawingml/2006/table">
            <a:tbl>
              <a:tblPr/>
              <a:tblGrid>
                <a:gridCol w="224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结果范围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时延 10–100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检测0.82–1.21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噪声 1–10 mpu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灵敏度0.882–0.931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同一噪声范围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误报0.008–0.024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8" name="object-58">
            <a:extLst>
              <a:ext uri="{FF2B5EF4-FFF2-40B4-BE49-F238E27FC236}">
                <a16:creationId xmlns:a16="http://schemas.microsoft.com/office/drawing/2014/main" id="{FAF8D961-30A0-F021-F943-B5F3AD93BE90}"/>
              </a:ext>
            </a:extLst>
          </p:cNvPr>
          <p:cNvSpPr>
            <a:spLocks noGrp="1"/>
          </p:cNvSpPr>
          <p:nvPr/>
        </p:nvSpPr>
        <p:spPr>
          <a:xfrm>
            <a:off x="10725150" y="777240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大系统计算时间显著增加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高噪声下仍可能违反检测要求</a:t>
            </a:r>
          </a:p>
        </p:txBody>
      </p:sp>
      <p:sp>
        <p:nvSpPr>
          <p:cNvPr id="919" name="object-59">
            <a:extLst>
              <a:ext uri="{FF2B5EF4-FFF2-40B4-BE49-F238E27FC236}">
                <a16:creationId xmlns:a16="http://schemas.microsoft.com/office/drawing/2014/main" id="{5913C350-C77E-B65D-AFA2-D6BD59630D49}"/>
              </a:ext>
            </a:extLst>
          </p:cNvPr>
          <p:cNvSpPr>
            <a:spLocks noGrp="1"/>
          </p:cNvSpPr>
          <p:nvPr/>
        </p:nvSpPr>
        <p:spPr>
          <a:xfrm>
            <a:off x="171450" y="8410575"/>
            <a:ext cx="15582900" cy="438150"/>
          </a:xfrm>
          <a:prstGeom prst="roundRect">
            <a:avLst>
              <a:gd name="adj" fmla="val 17391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代表时段、汇总对比与重构后孤岛是不同统计对象；可行性认证不能仅由“检测到孤岛”推断</a:t>
            </a:r>
          </a:p>
        </p:txBody>
      </p:sp>
    </p:spTree>
    <p:extLst>
      <p:ext uri="{BB962C8B-B14F-4D97-AF65-F5344CB8AC3E}">
        <p14:creationId xmlns:p14="http://schemas.microsoft.com/office/powerpoint/2010/main" val="8850338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1844</Words>
  <Application>Microsoft Office PowerPoint</Application>
  <DocSecurity>0</DocSecurity>
  <PresentationFormat>自定义</PresentationFormat>
  <Paragraphs>180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lenovo</cp:lastModifiedBy>
  <cp:revision>2</cp:revision>
  <dcterms:created xsi:type="dcterms:W3CDTF">2026-09-17T07:56:02Z</dcterms:created>
  <dcterms:modified xsi:type="dcterms:W3CDTF">2026-10-10T06:10:34Z</dcterms:modified>
</cp:coreProperties>
</file>