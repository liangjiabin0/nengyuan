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Default Extension="xlsx" ContentType="application/vnd.openxmlformats-officedocument.spreadsheetml.sheet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净收益（万元）</c:v>
          </c:tx>
          <c:spPr>
            <a:solidFill>
              <a:srgbClr val="1673CE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A1B4CA"/>
              </a:solidFill>
              <a:ln w="9525">
                <a:solidFill>
                  <a:srgbClr val="A1B4CA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AA4B-4C8A-A4ED-4E6F235A08FF}"/>
              </c:ext>
            </c:extLst>
          </c:dPt>
          <c:dPt>
            <c:idx val="1"/>
            <c:invertIfNegative val="0"/>
            <c:bubble3D val="0"/>
            <c:spPr>
              <a:solidFill>
                <a:srgbClr val="07368C"/>
              </a:solidFill>
              <a:ln w="9525">
                <a:solidFill>
                  <a:srgbClr val="07368C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AA4B-4C8A-A4ED-4E6F235A08F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1">
                <a:spAutoFit/>
              </a:bodyPr>
              <a:lstStyle/>
              <a:p>
                <a:pPr>
                  <a:defRPr sz="1400">
                    <a:solidFill>
                      <a:srgbClr val="101D30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ABR</c:v>
                </c:pt>
                <c:pt idx="1">
                  <c:v>Nash-Q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15.253537</c:v>
                </c:pt>
                <c:pt idx="1">
                  <c:v>17.243948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AA4B-4C8A-A4ED-4E6F235A08F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w="10477">
              <a:solidFill>
                <a:srgbClr val="A6A6A6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 altLang="en-US" sz="1400">
                    <a:latin typeface="Microsoft YaHei"/>
                    <a:ea typeface="Microsoft YaHei"/>
                    <a:cs typeface="Microsoft YaHei"/>
                  </a:defRPr>
                </a:pPr>
                <a:r>
                  <a:rPr lang="zh-CN" altLang="en-US" sz="1400">
                    <a:latin typeface="Microsoft YaHei"/>
                    <a:ea typeface="Microsoft YaHei"/>
                    <a:cs typeface="Microsoft YaHei"/>
                  </a:rPr>
                  <a:t>方案</a:t>
                </a:r>
              </a:p>
            </c:rich>
          </c:tx>
          <c:overlay val="0"/>
        </c:title>
        <c:numFmt formatCode="General" sourceLinked="1"/>
        <c:majorTickMark val="in"/>
        <c:minorTickMark val="none"/>
        <c:tickLblPos val="nextTo"/>
        <c:spPr>
          <a:ln w="14288">
            <a:solidFill>
              <a:srgbClr val="595959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w="10477">
              <a:solidFill>
                <a:srgbClr val="A6A6A6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r>
                  <a:rPr lang="zh-CN" altLang="en-US" sz="1400">
                    <a:latin typeface="Microsoft YaHei"/>
                    <a:ea typeface="Microsoft YaHei"/>
                    <a:cs typeface="Microsoft YaHei"/>
                  </a:rPr>
                  <a:t>净收益（万元）</a:t>
                </a:r>
              </a:p>
            </c:rich>
          </c:tx>
          <c:overlay val="0"/>
        </c:title>
        <c:numFmt formatCode="0" sourceLinked="0"/>
        <c:majorTickMark val="in"/>
        <c:minorTickMark val="none"/>
        <c:tickLblPos val="nextTo"/>
        <c:spPr>
          <a:ln w="14288">
            <a:solidFill>
              <a:srgbClr val="595959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4"/>
      </c:valAx>
      <c:spPr>
        <a:solidFill>
          <a:srgbClr val="FFFFFF"/>
        </a:solidFill>
        <a:ln w="14288">
          <a:solidFill>
            <a:srgbClr val="595959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bi-level operational optimization model of charging-discharging-swapping station cluster with multiple service packages considering heterogeneous user behaviors</a:t>
            </a:r>
          </a:p>
          <a:p xmlns:a="http://schemas.openxmlformats.org/drawingml/2006/main">
            <a:r>
              <a:t>原文：E:\application\xwechat_files\wxid_xyihcy7u0jkj21_d246\msg\file\2026-10\APEN-D-26-18679_reviewer.pdf</a:t>
            </a:r>
          </a:p>
          <a:p xmlns:a="http://schemas.openxmlformats.org/drawingml/2006/main">
            <a:r>
              <a:t>用户行为与价格响应：PDF pp.12–23；图1–2</a:t>
            </a:r>
          </a:p>
          <a:p xmlns:a="http://schemas.openxmlformats.org/drawingml/2006/main">
            <a:r>
              <a:t>上下层目标与决策边界：PDF pp.23–27；式(37)–(70)</a:t>
            </a:r>
          </a:p>
          <a:p xmlns:a="http://schemas.openxmlformats.org/drawingml/2006/main">
            <a:r>
              <a:t>Nash-Q 多智能体迭代：PDF pp.28–29；图3；式(71)–(73)</a:t>
            </a:r>
          </a:p>
          <a:p xmlns:a="http://schemas.openxmlformats.org/drawingml/2006/main">
            <a:r>
              <a:t>上层：运营商净收益最大：PDF p.23 式(37)，合并五项的等价紧凑写法</a:t>
            </a:r>
          </a:p>
          <a:p xmlns:a="http://schemas.openxmlformats.org/drawingml/2006/main">
            <a:r>
              <a:t>LaTeX: \max R=\sum\nolimits_i\sum\nolimits_{n=1}^{5}\beta_{n,i}I_{n,i}</a:t>
            </a:r>
          </a:p>
          <a:p xmlns:a="http://schemas.openxmlformats.org/drawingml/2006/main">
            <a:r>
              <a:t>上层：绿电曲线匹配：PDF p.24 式(40)，保留原式L而不静默改写为Lnet</a:t>
            </a:r>
          </a:p>
          <a:p xmlns:a="http://schemas.openxmlformats.org/drawingml/2006/main">
            <a:r>
              <a:t>LaTeX: \max M=\sum\nolimits_{j=1}^{J}\frac{1}{1+DTW(L_{j,t},G_{re,t})}</a:t>
            </a:r>
          </a:p>
          <a:p xmlns:a="http://schemas.openxmlformats.org/drawingml/2006/main">
            <a:r>
              <a:t>下层：用户综合效用：PDF pp.25–27 式(53)、(60)–(65)</a:t>
            </a:r>
          </a:p>
          <a:p xmlns:a="http://schemas.openxmlformats.org/drawingml/2006/main">
            <a:r>
              <a:t>LaTeX: \max U_{n,k}=\sum\nolimits_{m=1}^{2}U_{n,k}^{m}</a:t>
            </a:r>
          </a:p>
          <a:p xmlns:a="http://schemas.openxmlformats.org/drawingml/2006/main">
            <a:r>
              <a:t>套餐唯一选择与价格边界：PDF pp.24–25 式(45)、(47)–(52)，价格边界为同类约束缩写</a:t>
            </a:r>
          </a:p>
          <a:p xmlns:a="http://schemas.openxmlformats.org/drawingml/2006/main">
            <a:r>
              <a:t>LaTeX: \sum\nolimits_{n=1}^{5}\beta_{n,i}=1,\qquad P_{min}\le P\le P_{max}</a:t>
            </a:r>
          </a:p>
          <a:p xmlns:a="http://schemas.openxmlformats.org/drawingml/2006/main">
            <a:r>
              <a:t>用户费用与总需求约束：PDF p.27 式(66)–(70)</a:t>
            </a:r>
          </a:p>
          <a:p xmlns:a="http://schemas.openxmlformats.org/drawingml/2006/main">
            <a:r>
              <a:t>LaTeX: \sum\nolimits_tL_{n,k}(t)P_n(t)\le\sum\nolimits_tL_{0,k}(t)P_0(t)</a:t>
            </a:r>
          </a:p>
          <a:p xmlns:a="http://schemas.openxmlformats.org/drawingml/2006/main">
            <a:r>
              <a:t>摘要声称收益提高8.83%、绿电匹配提高26.86%，未明确对应表11基准。PPT采用表11精确值重新计算：收益(172439.48/152535.37−1)=13.0489%，时间(1−2373.5/3782.7)=37.2538%。</a:t>
            </a:r>
          </a:p>
          <a:p xmlns:a="http://schemas.openxmlformats.org/drawingml/2006/main">
            <a:r>
              <a:t>结论给出匹配效用0.1216→0.1311，与表11的0.1136→0.1294不一致；PPT主图明确采用表11。</a:t>
            </a:r>
          </a:p>
          <a:p xmlns:a="http://schemas.openxmlformats.org/drawingml/2006/main">
            <a:r>
              <a:t>§4.2文字对S5/S6所去除目标的顺序与表8/§4.2.3相反，PPT按表8及数值结果对应：S5保留收益，S6保留匹配。</a:t>
            </a:r>
          </a:p>
          <a:p xmlns:a="http://schemas.openxmlformats.org/drawingml/2006/main">
            <a:r>
              <a:t>式(40)写L而正文强调净负荷，式(41)另定义Lnet；PPT保留原式，记录该符号差异。Nash-Q收敛曲线不自动证明Stackelberg全局最优。</a:t>
            </a:r>
          </a:p>
          <a:p xmlns:a="http://schemas.openxmlformats.org/drawingml/2006/main">
            <a:r>
              <a:t>绿电匹配为DTW映射效用，不能当作物理消纳率；成本满意度与舒适性归一化和聚合细节须以原文为准。</a:t>
            </a:r>
          </a:p>
          <a:p xmlns:a="http://schemas.openxmlformats.org/drawingml/2006/main">
            <a:r>
              <a:t>物理连接图表达原文的变量与设备关系，不将其当作逐节点测试系统的拓扑复刻。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bi-level operational optimization model of charging-discharging-swapping station cluster with multiple service packages considering heterogeneous user behaviors</a:t>
            </a:r>
          </a:p>
          <a:p>
            <a:r>
              <a:rPr lang="zh-CN" altLang="en-US"/>
              <a:t>原文：</a:t>
            </a:r>
            <a:r>
              <a:rPr lang="en-US"/>
              <a:t>E:\application\xwechat_files\wxid_xyihcy7u0jkj21_d246\msg\file\2026-10\APEN-D-26-18679_reviewer.pdf</a:t>
            </a:r>
          </a:p>
          <a:p>
            <a:r>
              <a:rPr lang="en-US"/>
              <a:t>① </a:t>
            </a:r>
            <a:r>
              <a:rPr lang="zh-CN" altLang="en-US"/>
              <a:t>用户聚类与可解释性：</a:t>
            </a:r>
            <a:r>
              <a:rPr lang="en-US"/>
              <a:t>PDF pp.33、36</a:t>
            </a:r>
          </a:p>
          <a:p>
            <a:r>
              <a:rPr lang="zh-CN" altLang="en-US"/>
              <a:t>聚类质量（</a:t>
            </a:r>
            <a:r>
              <a:rPr lang="en-US"/>
              <a:t>SC</a:t>
            </a:r>
            <a:r>
              <a:rPr lang="zh-CN" altLang="en-US"/>
              <a:t>为轮廓系数）：</a:t>
            </a:r>
            <a:r>
              <a:rPr lang="en-US"/>
              <a:t>PDF p.33 </a:t>
            </a:r>
            <a:r>
              <a:rPr lang="zh-CN" altLang="en-US"/>
              <a:t>表</a:t>
            </a:r>
            <a:r>
              <a:rPr lang="en-US" altLang="zh-CN"/>
              <a:t>9</a:t>
            </a:r>
          </a:p>
          <a:p>
            <a:r>
              <a:rPr lang="en-US" altLang="zh-CN"/>
              <a:t>{"</a:t>
            </a:r>
            <a:r>
              <a:rPr lang="en-US"/>
              <a:t>type":"table","title":"</a:t>
            </a:r>
            <a:r>
              <a:rPr lang="zh-CN" altLang="en-US"/>
              <a:t>聚类质量（</a:t>
            </a:r>
            <a:r>
              <a:rPr lang="en-US"/>
              <a:t>SC</a:t>
            </a:r>
            <a:r>
              <a:rPr lang="zh-CN" altLang="en-US"/>
              <a:t>为轮廓系数）</a:t>
            </a:r>
            <a:r>
              <a:rPr lang="en-US" altLang="zh-CN"/>
              <a:t>","</a:t>
            </a:r>
            <a:r>
              <a:rPr lang="en-US"/>
              <a:t>headers":["</a:t>
            </a:r>
            <a:r>
              <a:rPr lang="zh-CN" altLang="en-US"/>
              <a:t>算法</a:t>
            </a:r>
            <a:r>
              <a:rPr lang="en-US" altLang="zh-CN"/>
              <a:t>","</a:t>
            </a:r>
            <a:r>
              <a:rPr lang="en-US"/>
              <a:t>SC↑","DBI↓","</a:t>
            </a:r>
            <a:r>
              <a:rPr lang="zh-CN" altLang="en-US"/>
              <a:t>时间</a:t>
            </a:r>
            <a:r>
              <a:rPr lang="en-US" altLang="zh-CN"/>
              <a:t>/</a:t>
            </a:r>
            <a:r>
              <a:rPr lang="en-US"/>
              <a:t>s↓"],"rows":[["BIRCH","0.3528","2.4652","0.346"],["K-means","0.3501","2.6860","0.411"],["GMM","0.0647","4.9549","0.494"]],"evidenceRef":"PDF p.33 </a:t>
            </a:r>
            <a:r>
              <a:rPr lang="zh-CN" altLang="en-US"/>
              <a:t>表</a:t>
            </a:r>
            <a:r>
              <a:rPr lang="en-US" altLang="zh-CN"/>
              <a:t>9"}</a:t>
            </a:r>
          </a:p>
          <a:p>
            <a:r>
              <a:rPr lang="zh-CN" altLang="en-US"/>
              <a:t>群体特征与粒度选择：</a:t>
            </a:r>
            <a:r>
              <a:rPr lang="en-US"/>
              <a:t>PDF pp.33、36；§4.2.1/4.3</a:t>
            </a:r>
          </a:p>
          <a:p>
            <a:r>
              <a:rPr lang="en-US"/>
              <a:t>{"type":"table","title":"</a:t>
            </a:r>
            <a:r>
              <a:rPr lang="zh-CN" altLang="en-US"/>
              <a:t>群体特征与粒度选择</a:t>
            </a:r>
            <a:r>
              <a:rPr lang="en-US" altLang="zh-CN"/>
              <a:t>","</a:t>
            </a:r>
            <a:r>
              <a:rPr lang="en-US"/>
              <a:t>headers":["</a:t>
            </a:r>
            <a:r>
              <a:rPr lang="zh-CN" altLang="en-US"/>
              <a:t>用户群</a:t>
            </a:r>
            <a:r>
              <a:rPr lang="en-US" altLang="zh-CN"/>
              <a:t>","</a:t>
            </a:r>
            <a:r>
              <a:rPr lang="zh-CN" altLang="en-US"/>
              <a:t>主要特征</a:t>
            </a:r>
            <a:r>
              <a:rPr lang="en-US" altLang="zh-CN"/>
              <a:t>"],"</a:t>
            </a:r>
            <a:r>
              <a:rPr lang="en-US"/>
              <a:t>rows":[["</a:t>
            </a:r>
            <a:r>
              <a:rPr lang="zh-CN" altLang="en-US"/>
              <a:t>群</a:t>
            </a:r>
            <a:r>
              <a:rPr lang="en-US" altLang="zh-CN"/>
              <a:t>0","</a:t>
            </a:r>
            <a:r>
              <a:rPr lang="zh-CN" altLang="en-US"/>
              <a:t>价格与环保偏好较强</a:t>
            </a:r>
            <a:r>
              <a:rPr lang="en-US" altLang="zh-CN"/>
              <a:t>"],["</a:t>
            </a:r>
            <a:r>
              <a:rPr lang="zh-CN" altLang="en-US"/>
              <a:t>群</a:t>
            </a:r>
            <a:r>
              <a:rPr lang="en-US" altLang="zh-CN"/>
              <a:t>1 / </a:t>
            </a:r>
            <a:r>
              <a:rPr lang="zh-CN" altLang="en-US"/>
              <a:t>群</a:t>
            </a:r>
            <a:r>
              <a:rPr lang="en-US" altLang="zh-CN"/>
              <a:t>3","</a:t>
            </a:r>
            <a:r>
              <a:rPr lang="zh-CN" altLang="en-US"/>
              <a:t>价格敏感、</a:t>
            </a:r>
            <a:r>
              <a:rPr lang="en-US"/>
              <a:t>SOC</a:t>
            </a:r>
            <a:r>
              <a:rPr lang="zh-CN" altLang="en-US"/>
              <a:t>焦虑</a:t>
            </a:r>
            <a:r>
              <a:rPr lang="en-US" altLang="zh-CN"/>
              <a:t>"],["</a:t>
            </a:r>
            <a:r>
              <a:rPr lang="zh-CN" altLang="en-US"/>
              <a:t>群</a:t>
            </a:r>
            <a:r>
              <a:rPr lang="en-US" altLang="zh-CN"/>
              <a:t>2","</a:t>
            </a:r>
            <a:r>
              <a:rPr lang="zh-CN" altLang="en-US"/>
              <a:t>属性组合更均衡</a:t>
            </a:r>
            <a:r>
              <a:rPr lang="en-US" altLang="zh-CN"/>
              <a:t>"],["</a:t>
            </a:r>
            <a:r>
              <a:rPr lang="zh-CN" altLang="en-US"/>
              <a:t>选取四群</a:t>
            </a:r>
            <a:r>
              <a:rPr lang="en-US" altLang="zh-CN"/>
              <a:t>","</a:t>
            </a:r>
            <a:r>
              <a:rPr lang="zh-CN" altLang="en-US"/>
              <a:t>兼顾解释性与计算量</a:t>
            </a:r>
            <a:r>
              <a:rPr lang="en-US" altLang="zh-CN"/>
              <a:t>"]],"</a:t>
            </a:r>
            <a:r>
              <a:rPr lang="en-US"/>
              <a:t>evidenceRef":"PDF pp.33、36；§4.2.1/4.3"}</a:t>
            </a:r>
          </a:p>
          <a:p>
            <a:r>
              <a:rPr lang="en-US"/>
              <a:t>② Nash-Q </a:t>
            </a:r>
            <a:r>
              <a:rPr lang="zh-CN" altLang="en-US"/>
              <a:t>与 </a:t>
            </a:r>
            <a:r>
              <a:rPr lang="en-US"/>
              <a:t>ABR </a:t>
            </a:r>
            <a:r>
              <a:rPr lang="zh-CN" altLang="en-US"/>
              <a:t>对比：</a:t>
            </a:r>
            <a:r>
              <a:rPr lang="en-US"/>
              <a:t>PDF p.34 </a:t>
            </a:r>
            <a:r>
              <a:rPr lang="zh-CN" altLang="en-US"/>
              <a:t>表</a:t>
            </a:r>
            <a:r>
              <a:rPr lang="en-US" altLang="zh-CN"/>
              <a:t>11</a:t>
            </a:r>
            <a:r>
              <a:rPr lang="zh-CN" altLang="en-US"/>
              <a:t>及正文；比例由精确值计算</a:t>
            </a:r>
          </a:p>
          <a:p>
            <a:r>
              <a:rPr lang="zh-CN" altLang="en-US"/>
              <a:t>运营商净收益：</a:t>
            </a:r>
            <a:r>
              <a:rPr lang="en-US"/>
              <a:t>PDF p.34 </a:t>
            </a:r>
            <a:r>
              <a:rPr lang="zh-CN" altLang="en-US"/>
              <a:t>表</a:t>
            </a:r>
            <a:r>
              <a:rPr lang="en-US" altLang="zh-CN"/>
              <a:t>11</a:t>
            </a:r>
            <a:r>
              <a:rPr lang="zh-CN" altLang="en-US"/>
              <a:t>，元换算万元</a:t>
            </a:r>
          </a:p>
          <a:p>
            <a:r>
              <a:rPr lang="en-US" altLang="zh-CN"/>
              <a:t>{"</a:t>
            </a:r>
            <a:r>
              <a:rPr lang="en-US"/>
              <a:t>type":"chart","title":"</a:t>
            </a:r>
            <a:r>
              <a:rPr lang="zh-CN" altLang="en-US"/>
              <a:t>运营商净收益</a:t>
            </a:r>
            <a:r>
              <a:rPr lang="en-US" altLang="zh-CN"/>
              <a:t>","</a:t>
            </a:r>
            <a:r>
              <a:rPr lang="en-US"/>
              <a:t>categories":["ABR","Nash-Q"],"series":[{"name":"</a:t>
            </a:r>
            <a:r>
              <a:rPr lang="zh-CN" altLang="en-US"/>
              <a:t>净收益（万元）</a:t>
            </a:r>
            <a:r>
              <a:rPr lang="en-US" altLang="zh-CN"/>
              <a:t>","</a:t>
            </a:r>
            <a:r>
              <a:rPr lang="en-US"/>
              <a:t>values":[15.253537,17.243948]}],"xTitle":"</a:t>
            </a:r>
            <a:r>
              <a:rPr lang="zh-CN" altLang="en-US"/>
              <a:t>比较方案</a:t>
            </a:r>
            <a:r>
              <a:rPr lang="en-US" altLang="zh-CN"/>
              <a:t>","</a:t>
            </a:r>
            <a:r>
              <a:rPr lang="en-US"/>
              <a:t>yTitle":"</a:t>
            </a:r>
            <a:r>
              <a:rPr lang="zh-CN" altLang="en-US"/>
              <a:t>净收益（万元）</a:t>
            </a:r>
            <a:r>
              <a:rPr lang="en-US" altLang="zh-CN"/>
              <a:t>","</a:t>
            </a:r>
            <a:r>
              <a:rPr lang="en-US"/>
              <a:t>yMin":0,"yMax":20,"yMajorUnit":4,"evidenceRef":"PDF p.34 </a:t>
            </a:r>
            <a:r>
              <a:rPr lang="zh-CN" altLang="en-US"/>
              <a:t>表</a:t>
            </a:r>
            <a:r>
              <a:rPr lang="en-US" altLang="zh-CN"/>
              <a:t>11</a:t>
            </a:r>
            <a:r>
              <a:rPr lang="zh-CN" altLang="en-US"/>
              <a:t>，元换算万元</a:t>
            </a:r>
            <a:r>
              <a:rPr lang="en-US" altLang="zh-CN"/>
              <a:t>","</a:t>
            </a:r>
            <a:r>
              <a:rPr lang="en-US"/>
              <a:t>format":"0.00"}</a:t>
            </a:r>
          </a:p>
          <a:p>
            <a:r>
              <a:rPr lang="zh-CN" altLang="en-US"/>
              <a:t>协调效果与计算开销：</a:t>
            </a:r>
            <a:r>
              <a:rPr lang="en-US"/>
              <a:t>PDF p.34 </a:t>
            </a:r>
            <a:r>
              <a:rPr lang="zh-CN" altLang="en-US"/>
              <a:t>表</a:t>
            </a:r>
            <a:r>
              <a:rPr lang="en-US" altLang="zh-CN"/>
              <a:t>11</a:t>
            </a:r>
          </a:p>
          <a:p>
            <a:r>
              <a:rPr lang="en-US" altLang="zh-CN"/>
              <a:t>{"</a:t>
            </a:r>
            <a:r>
              <a:rPr lang="en-US"/>
              <a:t>type":"table","title":"</a:t>
            </a:r>
            <a:r>
              <a:rPr lang="zh-CN" altLang="en-US"/>
              <a:t>协调效果与计算开销</a:t>
            </a:r>
            <a:r>
              <a:rPr lang="en-US" altLang="zh-CN"/>
              <a:t>","</a:t>
            </a:r>
            <a:r>
              <a:rPr lang="en-US"/>
              <a:t>headers":["</a:t>
            </a:r>
            <a:r>
              <a:rPr lang="zh-CN" altLang="en-US"/>
              <a:t>指标</a:t>
            </a:r>
            <a:r>
              <a:rPr lang="en-US" altLang="zh-CN"/>
              <a:t>","</a:t>
            </a:r>
            <a:r>
              <a:rPr lang="en-US"/>
              <a:t>ABR","Nash-Q"],"rows":[["</a:t>
            </a:r>
            <a:r>
              <a:rPr lang="zh-CN" altLang="en-US"/>
              <a:t>绿电匹配效用</a:t>
            </a:r>
            <a:r>
              <a:rPr lang="en-US" altLang="zh-CN"/>
              <a:t>","0.1136","0.1294"],["</a:t>
            </a:r>
            <a:r>
              <a:rPr lang="zh-CN" altLang="en-US"/>
              <a:t>运行时间</a:t>
            </a:r>
            <a:r>
              <a:rPr lang="en-US" altLang="zh-CN"/>
              <a:t>/</a:t>
            </a:r>
            <a:r>
              <a:rPr lang="en-US"/>
              <a:t>s","3782.7","2373.5"],["</a:t>
            </a:r>
            <a:r>
              <a:rPr lang="zh-CN" altLang="en-US"/>
              <a:t>群</a:t>
            </a:r>
            <a:r>
              <a:rPr lang="en-US" altLang="zh-CN"/>
              <a:t>2</a:t>
            </a:r>
            <a:r>
              <a:rPr lang="zh-CN" altLang="en-US"/>
              <a:t>用户效用</a:t>
            </a:r>
            <a:r>
              <a:rPr lang="en-US" altLang="zh-CN"/>
              <a:t>","0.5116","0.5916"]],"</a:t>
            </a:r>
            <a:r>
              <a:rPr lang="en-US"/>
              <a:t>evidenceRef":"PDF p.34 </a:t>
            </a:r>
            <a:r>
              <a:rPr lang="zh-CN" altLang="en-US"/>
              <a:t>表</a:t>
            </a:r>
            <a:r>
              <a:rPr lang="en-US" altLang="zh-CN"/>
              <a:t>11"}</a:t>
            </a:r>
          </a:p>
          <a:p>
            <a:r>
              <a:rPr lang="en-US" altLang="zh-CN"/>
              <a:t>③ </a:t>
            </a:r>
            <a:r>
              <a:rPr lang="zh-CN" altLang="en-US"/>
              <a:t>单目标与综合方案权衡：</a:t>
            </a:r>
            <a:r>
              <a:rPr lang="en-US"/>
              <a:t>PDF pp.35–44</a:t>
            </a:r>
          </a:p>
          <a:p>
            <a:r>
              <a:rPr lang="zh-CN" altLang="en-US"/>
              <a:t>收益与匹配的取舍：</a:t>
            </a:r>
            <a:r>
              <a:rPr lang="en-US"/>
              <a:t>PDF pp.34–35 </a:t>
            </a:r>
            <a:r>
              <a:rPr lang="zh-CN" altLang="en-US"/>
              <a:t>表</a:t>
            </a:r>
            <a:r>
              <a:rPr lang="en-US" altLang="zh-CN"/>
              <a:t>11</a:t>
            </a:r>
            <a:r>
              <a:rPr lang="zh-CN" altLang="en-US"/>
              <a:t>、</a:t>
            </a:r>
            <a:r>
              <a:rPr lang="en-US" altLang="zh-CN"/>
              <a:t>§4.2.3</a:t>
            </a:r>
            <a:r>
              <a:rPr lang="zh-CN" altLang="en-US"/>
              <a:t>；</a:t>
            </a:r>
            <a:r>
              <a:rPr lang="en-US"/>
              <a:t>S5/S6</a:t>
            </a:r>
            <a:r>
              <a:rPr lang="zh-CN" altLang="en-US"/>
              <a:t>依表</a:t>
            </a:r>
            <a:r>
              <a:rPr lang="en-US" altLang="zh-CN"/>
              <a:t>8</a:t>
            </a:r>
            <a:r>
              <a:rPr lang="zh-CN" altLang="en-US"/>
              <a:t>和结果段</a:t>
            </a:r>
          </a:p>
          <a:p>
            <a:r>
              <a:rPr lang="en-US" altLang="zh-CN"/>
              <a:t>{"</a:t>
            </a:r>
            <a:r>
              <a:rPr lang="en-US"/>
              <a:t>type":"table","title":"</a:t>
            </a:r>
            <a:r>
              <a:rPr lang="zh-CN" altLang="en-US"/>
              <a:t>收益与匹配的取舍</a:t>
            </a:r>
            <a:r>
              <a:rPr lang="en-US" altLang="zh-CN"/>
              <a:t>","</a:t>
            </a:r>
            <a:r>
              <a:rPr lang="en-US"/>
              <a:t>headers":["</a:t>
            </a:r>
            <a:r>
              <a:rPr lang="zh-CN" altLang="en-US"/>
              <a:t>方案</a:t>
            </a:r>
            <a:r>
              <a:rPr lang="en-US" altLang="zh-CN"/>
              <a:t>","</a:t>
            </a:r>
            <a:r>
              <a:rPr lang="zh-CN" altLang="en-US"/>
              <a:t>收益</a:t>
            </a:r>
            <a:r>
              <a:rPr lang="en-US" altLang="zh-CN"/>
              <a:t>/</a:t>
            </a:r>
            <a:r>
              <a:rPr lang="zh-CN" altLang="en-US"/>
              <a:t>万元</a:t>
            </a:r>
            <a:r>
              <a:rPr lang="en-US" altLang="zh-CN"/>
              <a:t>","</a:t>
            </a:r>
            <a:r>
              <a:rPr lang="zh-CN" altLang="en-US"/>
              <a:t>匹配效用</a:t>
            </a:r>
            <a:r>
              <a:rPr lang="en-US" altLang="zh-CN"/>
              <a:t>"],"</a:t>
            </a:r>
            <a:r>
              <a:rPr lang="en-US"/>
              <a:t>rows":[["</a:t>
            </a:r>
            <a:r>
              <a:rPr lang="zh-CN" altLang="en-US"/>
              <a:t>完整 </a:t>
            </a:r>
            <a:r>
              <a:rPr lang="en-US"/>
              <a:t>S1","17.243948","0.1294"],["</a:t>
            </a:r>
            <a:r>
              <a:rPr lang="zh-CN" altLang="en-US"/>
              <a:t>仅收益 </a:t>
            </a:r>
            <a:r>
              <a:rPr lang="en-US"/>
              <a:t>S5","23.859453","0.0825"],["</a:t>
            </a:r>
            <a:r>
              <a:rPr lang="zh-CN" altLang="en-US"/>
              <a:t>仅匹配 </a:t>
            </a:r>
            <a:r>
              <a:rPr lang="en-US"/>
              <a:t>S6","12.845000","0.2950"]],"evidenceRef":"PDF pp.34–35 </a:t>
            </a:r>
            <a:r>
              <a:rPr lang="zh-CN" altLang="en-US"/>
              <a:t>表</a:t>
            </a:r>
            <a:r>
              <a:rPr lang="en-US" altLang="zh-CN"/>
              <a:t>11</a:t>
            </a:r>
            <a:r>
              <a:rPr lang="zh-CN" altLang="en-US"/>
              <a:t>、</a:t>
            </a:r>
            <a:r>
              <a:rPr lang="en-US" altLang="zh-CN"/>
              <a:t>§4.2.3</a:t>
            </a:r>
            <a:r>
              <a:rPr lang="zh-CN" altLang="en-US"/>
              <a:t>；</a:t>
            </a:r>
            <a:r>
              <a:rPr lang="en-US"/>
              <a:t>S5/S6</a:t>
            </a:r>
            <a:r>
              <a:rPr lang="zh-CN" altLang="en-US"/>
              <a:t>依表</a:t>
            </a:r>
            <a:r>
              <a:rPr lang="en-US" altLang="zh-CN"/>
              <a:t>8</a:t>
            </a:r>
            <a:r>
              <a:rPr lang="zh-CN" altLang="en-US"/>
              <a:t>和结果段</a:t>
            </a:r>
            <a:r>
              <a:rPr lang="en-US" altLang="zh-CN"/>
              <a:t>"}</a:t>
            </a:r>
          </a:p>
          <a:p>
            <a:r>
              <a:rPr lang="zh-CN" altLang="en-US"/>
              <a:t>敏感性结论：</a:t>
            </a:r>
            <a:r>
              <a:rPr lang="en-US"/>
              <a:t>PDF pp.40–44 §4.4</a:t>
            </a:r>
          </a:p>
          <a:p>
            <a:r>
              <a:rPr lang="en-US"/>
              <a:t>{"type":"table","title":"</a:t>
            </a:r>
            <a:r>
              <a:rPr lang="zh-CN" altLang="en-US"/>
              <a:t>敏感性结论</a:t>
            </a:r>
            <a:r>
              <a:rPr lang="en-US" altLang="zh-CN"/>
              <a:t>","</a:t>
            </a:r>
            <a:r>
              <a:rPr lang="en-US"/>
              <a:t>headers":["</a:t>
            </a:r>
            <a:r>
              <a:rPr lang="zh-CN" altLang="en-US"/>
              <a:t>条件变化</a:t>
            </a:r>
            <a:r>
              <a:rPr lang="en-US" altLang="zh-CN"/>
              <a:t>","</a:t>
            </a:r>
            <a:r>
              <a:rPr lang="zh-CN" altLang="en-US"/>
              <a:t>算例中的方向</a:t>
            </a:r>
            <a:r>
              <a:rPr lang="en-US" altLang="zh-CN"/>
              <a:t>"],"</a:t>
            </a:r>
            <a:r>
              <a:rPr lang="en-US"/>
              <a:t>rows":[["</a:t>
            </a:r>
            <a:r>
              <a:rPr lang="zh-CN" altLang="en-US"/>
              <a:t>用户规模增加</a:t>
            </a:r>
            <a:r>
              <a:rPr lang="en-US" altLang="zh-CN"/>
              <a:t>","</a:t>
            </a:r>
            <a:r>
              <a:rPr lang="zh-CN" altLang="en-US"/>
              <a:t>收益↑，匹配及效用↓</a:t>
            </a:r>
            <a:r>
              <a:rPr lang="en-US" altLang="zh-CN"/>
              <a:t>"],["</a:t>
            </a:r>
            <a:r>
              <a:rPr lang="zh-CN" altLang="en-US"/>
              <a:t>套餐基价提高</a:t>
            </a:r>
            <a:r>
              <a:rPr lang="en-US" altLang="zh-CN"/>
              <a:t>","</a:t>
            </a:r>
            <a:r>
              <a:rPr lang="zh-CN" altLang="en-US"/>
              <a:t>收益↑，匹配及效用↓</a:t>
            </a:r>
            <a:r>
              <a:rPr lang="en-US" altLang="zh-CN"/>
              <a:t>"],["</a:t>
            </a:r>
            <a:r>
              <a:rPr lang="zh-CN" altLang="en-US"/>
              <a:t>更重距离</a:t>
            </a:r>
            <a:r>
              <a:rPr lang="en-US" altLang="zh-CN"/>
              <a:t>/</a:t>
            </a:r>
            <a:r>
              <a:rPr lang="zh-CN" altLang="en-US"/>
              <a:t>排队</a:t>
            </a:r>
            <a:r>
              <a:rPr lang="en-US" altLang="zh-CN"/>
              <a:t>","</a:t>
            </a:r>
            <a:r>
              <a:rPr lang="zh-CN" altLang="en-US"/>
              <a:t>响应与匹配效果减弱</a:t>
            </a:r>
            <a:r>
              <a:rPr lang="en-US" altLang="zh-CN"/>
              <a:t>"]],"</a:t>
            </a:r>
            <a:r>
              <a:rPr lang="en-US"/>
              <a:t>evidenceRef":"PDF pp.40–44 §4.4"}</a:t>
            </a:r>
          </a:p>
          <a:p>
            <a:r>
              <a:rPr lang="zh-CN" altLang="en-US"/>
              <a:t>引用边界：摘要声称收益提高</a:t>
            </a:r>
            <a:r>
              <a:rPr lang="en-US" altLang="zh-CN"/>
              <a:t>8.83%</a:t>
            </a:r>
            <a:r>
              <a:rPr lang="zh-CN" altLang="en-US"/>
              <a:t>、绿电匹配提高</a:t>
            </a:r>
            <a:r>
              <a:rPr lang="en-US" altLang="zh-CN"/>
              <a:t>26.86%</a:t>
            </a:r>
            <a:r>
              <a:rPr lang="zh-CN" altLang="en-US"/>
              <a:t>，未明确对应表</a:t>
            </a:r>
            <a:r>
              <a:rPr lang="en-US" altLang="zh-CN"/>
              <a:t>11</a:t>
            </a:r>
            <a:r>
              <a:rPr lang="zh-CN" altLang="en-US"/>
              <a:t>基准。</a:t>
            </a:r>
            <a:r>
              <a:rPr lang="en-US"/>
              <a:t>PPT</a:t>
            </a:r>
            <a:r>
              <a:rPr lang="zh-CN" altLang="en-US"/>
              <a:t>采用表</a:t>
            </a:r>
            <a:r>
              <a:rPr lang="en-US" altLang="zh-CN"/>
              <a:t>11</a:t>
            </a:r>
            <a:r>
              <a:rPr lang="zh-CN" altLang="en-US"/>
              <a:t>精确值重新计算：收益</a:t>
            </a:r>
            <a:r>
              <a:rPr lang="en-US" altLang="zh-CN"/>
              <a:t>(172439.48/152535.37−1)=13.0489%</a:t>
            </a:r>
            <a:r>
              <a:rPr lang="zh-CN" altLang="en-US"/>
              <a:t>，时间</a:t>
            </a:r>
            <a:r>
              <a:rPr lang="en-US" altLang="zh-CN"/>
              <a:t>(1−2373.5/3782.7)=37.2538%</a:t>
            </a:r>
            <a:r>
              <a:rPr lang="zh-CN" altLang="en-US"/>
              <a:t>。</a:t>
            </a:r>
          </a:p>
          <a:p>
            <a:r>
              <a:rPr lang="zh-CN" altLang="en-US"/>
              <a:t>结论给出匹配效用</a:t>
            </a:r>
            <a:r>
              <a:rPr lang="en-US" altLang="zh-CN"/>
              <a:t>0.1216→0.1311</a:t>
            </a:r>
            <a:r>
              <a:rPr lang="zh-CN" altLang="en-US"/>
              <a:t>，与表</a:t>
            </a:r>
            <a:r>
              <a:rPr lang="en-US" altLang="zh-CN"/>
              <a:t>11</a:t>
            </a:r>
            <a:r>
              <a:rPr lang="zh-CN" altLang="en-US"/>
              <a:t>的</a:t>
            </a:r>
            <a:r>
              <a:rPr lang="en-US" altLang="zh-CN"/>
              <a:t>0.1136→0.1294</a:t>
            </a:r>
            <a:r>
              <a:rPr lang="zh-CN" altLang="en-US"/>
              <a:t>不一致；</a:t>
            </a:r>
            <a:r>
              <a:rPr lang="en-US"/>
              <a:t>PPT</a:t>
            </a:r>
            <a:r>
              <a:rPr lang="zh-CN" altLang="en-US"/>
              <a:t>主图明确采用表</a:t>
            </a:r>
            <a:r>
              <a:rPr lang="en-US" altLang="zh-CN"/>
              <a:t>11</a:t>
            </a:r>
            <a:r>
              <a:rPr lang="zh-CN" altLang="en-US"/>
              <a:t>。</a:t>
            </a:r>
          </a:p>
          <a:p>
            <a:r>
              <a:rPr lang="en-US" altLang="zh-CN"/>
              <a:t>§4.2</a:t>
            </a:r>
            <a:r>
              <a:rPr lang="zh-CN" altLang="en-US"/>
              <a:t>文字对</a:t>
            </a:r>
            <a:r>
              <a:rPr lang="en-US"/>
              <a:t>S5/S6</a:t>
            </a:r>
            <a:r>
              <a:rPr lang="zh-CN" altLang="en-US"/>
              <a:t>所去除目标的顺序与表</a:t>
            </a:r>
            <a:r>
              <a:rPr lang="en-US" altLang="zh-CN"/>
              <a:t>8/§4.2.3</a:t>
            </a:r>
            <a:r>
              <a:rPr lang="zh-CN" altLang="en-US"/>
              <a:t>相反，</a:t>
            </a:r>
            <a:r>
              <a:rPr lang="en-US"/>
              <a:t>PPT</a:t>
            </a:r>
            <a:r>
              <a:rPr lang="zh-CN" altLang="en-US"/>
              <a:t>按表</a:t>
            </a:r>
            <a:r>
              <a:rPr lang="en-US" altLang="zh-CN"/>
              <a:t>8</a:t>
            </a:r>
            <a:r>
              <a:rPr lang="zh-CN" altLang="en-US"/>
              <a:t>及数值结果对应：</a:t>
            </a:r>
            <a:r>
              <a:rPr lang="en-US"/>
              <a:t>S5</a:t>
            </a:r>
            <a:r>
              <a:rPr lang="zh-CN" altLang="en-US"/>
              <a:t>保留收益，</a:t>
            </a:r>
            <a:r>
              <a:rPr lang="en-US"/>
              <a:t>S6</a:t>
            </a:r>
            <a:r>
              <a:rPr lang="zh-CN" altLang="en-US"/>
              <a:t>保留匹配。</a:t>
            </a:r>
          </a:p>
          <a:p>
            <a:r>
              <a:rPr lang="zh-CN" altLang="en-US"/>
              <a:t>式</a:t>
            </a:r>
            <a:r>
              <a:rPr lang="en-US" altLang="zh-CN"/>
              <a:t>(40)</a:t>
            </a:r>
            <a:r>
              <a:rPr lang="zh-CN" altLang="en-US"/>
              <a:t>写</a:t>
            </a:r>
            <a:r>
              <a:rPr lang="en-US"/>
              <a:t>L</a:t>
            </a:r>
            <a:r>
              <a:rPr lang="zh-CN" altLang="en-US"/>
              <a:t>而正文强调净负荷，式</a:t>
            </a:r>
            <a:r>
              <a:rPr lang="en-US" altLang="zh-CN"/>
              <a:t>(41)</a:t>
            </a:r>
            <a:r>
              <a:rPr lang="zh-CN" altLang="en-US"/>
              <a:t>另定义</a:t>
            </a:r>
            <a:r>
              <a:rPr lang="en-US"/>
              <a:t>Lnet；PPT</a:t>
            </a:r>
            <a:r>
              <a:rPr lang="zh-CN" altLang="en-US"/>
              <a:t>保留原式，记录该符号差异。</a:t>
            </a:r>
            <a:r>
              <a:rPr lang="en-US"/>
              <a:t>Nash-Q</a:t>
            </a:r>
            <a:r>
              <a:rPr lang="zh-CN" altLang="en-US"/>
              <a:t>收敛曲线不自动证明</a:t>
            </a:r>
            <a:r>
              <a:rPr lang="en-US"/>
              <a:t>Stackelberg</a:t>
            </a:r>
            <a:r>
              <a:rPr lang="zh-CN" altLang="en-US"/>
              <a:t>全局最优。</a:t>
            </a:r>
          </a:p>
          <a:p>
            <a:r>
              <a:rPr lang="zh-CN" altLang="en-US"/>
              <a:t>绿电匹配为</a:t>
            </a:r>
            <a:r>
              <a:rPr lang="en-US"/>
              <a:t>DTW</a:t>
            </a:r>
            <a:r>
              <a:rPr lang="zh-CN" altLang="en-US"/>
              <a:t>映射效用，不能当作物理消纳率；成本满意度与舒适性归一化和聚合细节须以原文为准。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00" Type="http://schemas.openxmlformats.org/officeDocument/2006/relationships/image" Target="../media/graphical-image.png"/><Relationship Id="rId501" Type="http://schemas.openxmlformats.org/officeDocument/2006/relationships/image" Target="../media/graphical-image.svg"/><Relationship Id="rId502" Type="http://schemas.openxmlformats.org/officeDocument/2006/relationships/image" Target="../media/graphical-image2.png"/><Relationship Id="rId503" Type="http://schemas.openxmlformats.org/officeDocument/2006/relationships/image" Target="../media/graphical-image2.svg"/><Relationship Id="rId504" Type="http://schemas.openxmlformats.org/officeDocument/2006/relationships/image" Target="../media/graphical-image3.png"/><Relationship Id="rId505" Type="http://schemas.openxmlformats.org/officeDocument/2006/relationships/image" Target="../media/graphical-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rule">
            <a:extLst>
              <a:ext uri="{FF2B5EF4-FFF2-40B4-BE49-F238E27FC236}">
                <a16:creationId xmlns:a16="http://schemas.microsoft.com/office/drawing/2014/main" id="{4A55B9EB-935D-4C98-9717-E563F8E762F8}"/>
              </a:ext>
            </a:extLst>
          </p:cNvPr>
          <p:cNvSpPr>
            <a:spLocks noGrp="1"/>
          </p:cNvSpPr>
          <p:nvPr/>
        </p:nvSpPr>
        <p:spPr>
          <a:xfrm>
            <a:off x="161925" y="619125"/>
            <a:ext cx="15601950" cy="95"/>
          </a:xfrm>
          <a:custGeom>
            <a:avLst/>
            <a:gdLst/>
            <a:ahLst/>
            <a:cxnLst/>
            <a:rect l="0" t="0" r="0" b="0"/>
            <a:pathLst>
              <a:path w="15601950" h="95">
                <a:moveTo>
                  <a:pt x="0" y="0"/>
                </a:moveTo>
                <a:lnTo>
                  <a:pt x="15601950" y="0"/>
                </a:lnTo>
              </a:path>
            </a:pathLst>
          </a:custGeom>
          <a:noFill/>
          <a:ln w="30480">
            <a:solidFill>
              <a:srgbClr val="0753C6"/>
            </a:solidFill>
            <a:prstDash val="solid"/>
          </a:ln>
        </p:spPr>
      </p:sp>
      <p:sp>
        <p:nvSpPr>
          <p:cNvPr id="3" name="summary">
            <a:extLst>
              <a:ext uri="{FF2B5EF4-FFF2-40B4-BE49-F238E27FC236}">
                <a16:creationId xmlns:a16="http://schemas.microsoft.com/office/drawing/2014/main" id="{DF2EF721-98A1-43A5-9E21-D2653C5DB181}"/>
              </a:ext>
            </a:extLst>
          </p:cNvPr>
          <p:cNvSpPr>
            <a:spLocks noGrp="1"/>
          </p:cNvSpPr>
          <p:nvPr/>
        </p:nvSpPr>
        <p:spPr>
          <a:xfrm>
            <a:off x="171450" y="742950"/>
            <a:ext cx="15582900" cy="1343025"/>
          </a:xfrm>
          <a:prstGeom prst="roundRect">
            <a:avLst>
              <a:gd name="adj" fmla="val 10638"/>
            </a:avLst>
          </a:prstGeom>
          <a:gradFill>
            <a:gsLst>
              <a:gs pos="0">
                <a:srgbClr val="F4FBFF"/>
              </a:gs>
              <a:gs pos="100000">
                <a:srgbClr val="E4F2FE"/>
              </a:gs>
            </a:gsLst>
            <a:lin ang="5400000"/>
          </a:gradFill>
          <a:ln w="8573">
            <a:solidFill>
              <a:srgbClr val="68B8FA"/>
            </a:solidFill>
            <a:prstDash val="solid"/>
          </a:ln>
        </p:spPr>
      </p:sp>
      <p:sp>
        <p:nvSpPr>
          <p:cNvPr id="152" name="conclusion">
            <a:extLst>
              <a:ext uri="{FF2B5EF4-FFF2-40B4-BE49-F238E27FC236}">
                <a16:creationId xmlns:a16="http://schemas.microsoft.com/office/drawing/2014/main" id="{4A123D2A-D35A-4E14-BCC3-BBC29BF50A5C}"/>
              </a:ext>
            </a:extLst>
          </p:cNvPr>
          <p:cNvSpPr>
            <a:spLocks noGrp="1"/>
          </p:cNvSpPr>
          <p:nvPr/>
        </p:nvSpPr>
        <p:spPr>
          <a:xfrm>
            <a:off x="171450" y="8410575"/>
            <a:ext cx="15582900" cy="438150"/>
          </a:xfrm>
          <a:prstGeom prst="roundRect">
            <a:avLst>
              <a:gd name="adj" fmla="val 23913"/>
            </a:avLst>
          </a:prstGeom>
          <a:gradFill>
            <a:gsLst>
              <a:gs pos="0">
                <a:srgbClr val="E9F6FF"/>
              </a:gs>
              <a:gs pos="100000">
                <a:srgbClr val="DCEEFF"/>
              </a:gs>
            </a:gsLst>
            <a:lin ang="5400000"/>
          </a:gradFill>
          <a:ln w="8573">
            <a:solidFill>
              <a:srgbClr val="68B8FA"/>
            </a:solidFill>
            <a:prstDash val="solid"/>
          </a:ln>
        </p:spPr>
      </p:sp>
      <p:sp>
        <p:nvSpPr>
          <p:cNvPr id="1000" name="object-1">
            <a:extLst>
              <a:ext uri="{FF2B5EF4-FFF2-40B4-BE49-F238E27FC236}">
                <a16:creationId xmlns:a16="http://schemas.microsoft.com/office/drawing/2014/main" id="{487ACC48-B0DA-4335-BF01-CA88027D596E}"/>
              </a:ext>
            </a:extLst>
          </p:cNvPr>
          <p:cNvSpPr>
            <a:spLocks noGrp="1"/>
          </p:cNvSpPr>
          <p:nvPr/>
        </p:nvSpPr>
        <p:spPr>
          <a:xfrm>
            <a:off x="190500" y="9525"/>
            <a:ext cx="155257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34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4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1. 充放换电站群：套餐定价与异质用户响应</a:t>
            </a:r>
          </a:p>
        </p:txBody>
      </p:sp>
      <p:sp>
        <p:nvSpPr>
          <p:cNvPr id="1001" name="object-2">
            <a:extLst>
              <a:ext uri="{FF2B5EF4-FFF2-40B4-BE49-F238E27FC236}">
                <a16:creationId xmlns:a16="http://schemas.microsoft.com/office/drawing/2014/main" id="{55B9F920-DC46-4D0B-B71F-F3E450FF3F66}"/>
              </a:ext>
            </a:extLst>
          </p:cNvPr>
          <p:cNvSpPr>
            <a:spLocks noGrp="1"/>
          </p:cNvSpPr>
          <p:nvPr/>
        </p:nvSpPr>
        <p:spPr>
          <a:xfrm>
            <a:off x="171450" y="742950"/>
            <a:ext cx="15582900" cy="1343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875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BIRCH识别用户差异，五类套餐引导充电、换电与V2G行为；</a:t>
            </a:r>
          </a:p>
          <a:p>
            <a:pPr algn="l">
              <a:defRPr sz="1875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运营商优化净收益和绿电曲线匹配，用户选择效用更高的套餐，并通过Nash-Q迭代协调。</a:t>
            </a:r>
          </a:p>
        </p:txBody>
      </p:sp>
      <p:sp>
        <p:nvSpPr>
          <p:cNvPr id="1002" name="object-3">
            <a:extLst>
              <a:ext uri="{FF2B5EF4-FFF2-40B4-BE49-F238E27FC236}">
                <a16:creationId xmlns:a16="http://schemas.microsoft.com/office/drawing/2014/main" id="{02B67A95-2F70-403B-9529-A323A60B50AA}"/>
              </a:ext>
            </a:extLst>
          </p:cNvPr>
          <p:cNvSpPr>
            <a:spLocks noGrp="1"/>
          </p:cNvSpPr>
          <p:nvPr/>
        </p:nvSpPr>
        <p:spPr>
          <a:xfrm>
            <a:off x="171450" y="2190750"/>
            <a:ext cx="10715625" cy="6115050"/>
          </a:xfrm>
          <a:prstGeom prst="roundRect">
            <a:avLst>
              <a:gd name="adj" fmla="val 1246"/>
            </a:avLst>
          </a:prstGeom>
          <a:solidFill>
            <a:srgbClr val="FFFFFF"/>
          </a:solidFill>
          <a:ln w="9525">
            <a:solidFill>
              <a:srgbClr val="66B7FA"/>
            </a:solidFill>
            <a:prstDash val="solid"/>
          </a:ln>
        </p:spPr>
      </p:sp>
      <p:sp>
        <p:nvSpPr>
          <p:cNvPr id="1003" name="object-4">
            <a:extLst>
              <a:ext uri="{FF2B5EF4-FFF2-40B4-BE49-F238E27FC236}">
                <a16:creationId xmlns:a16="http://schemas.microsoft.com/office/drawing/2014/main" id="{C6444E95-B8C2-4151-8CEC-5FEC9CC40EDA}"/>
              </a:ext>
            </a:extLst>
          </p:cNvPr>
          <p:cNvSpPr>
            <a:spLocks noGrp="1"/>
          </p:cNvSpPr>
          <p:nvPr/>
        </p:nvSpPr>
        <p:spPr>
          <a:xfrm>
            <a:off x="285750" y="2238375"/>
            <a:ext cx="104870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运营商、物理站群与用户的双向交互</a:t>
            </a:r>
          </a:p>
        </p:txBody>
      </p:sp>
      <p:sp>
        <p:nvSpPr>
          <p:cNvPr id="1004" name="object-5">
            <a:extLst>
              <a:ext uri="{FF2B5EF4-FFF2-40B4-BE49-F238E27FC236}">
                <a16:creationId xmlns:a16="http://schemas.microsoft.com/office/drawing/2014/main" id="{01D0504B-1FD9-4199-BF7D-0D100AB3A4FE}"/>
              </a:ext>
            </a:extLst>
          </p:cNvPr>
          <p:cNvSpPr>
            <a:spLocks noGrp="1"/>
          </p:cNvSpPr>
          <p:nvPr/>
        </p:nvSpPr>
        <p:spPr>
          <a:xfrm>
            <a:off x="11001375" y="2190750"/>
            <a:ext cx="4752975" cy="6115050"/>
          </a:xfrm>
          <a:prstGeom prst="roundRect">
            <a:avLst>
              <a:gd name="adj" fmla="val 1603"/>
            </a:avLst>
          </a:prstGeom>
          <a:solidFill>
            <a:srgbClr val="FFFFFF"/>
          </a:solidFill>
          <a:ln w="9525">
            <a:solidFill>
              <a:srgbClr val="66B7FA"/>
            </a:solidFill>
            <a:prstDash val="solid"/>
          </a:ln>
        </p:spPr>
      </p:sp>
      <p:sp>
        <p:nvSpPr>
          <p:cNvPr id="1005" name="object-6">
            <a:extLst>
              <a:ext uri="{FF2B5EF4-FFF2-40B4-BE49-F238E27FC236}">
                <a16:creationId xmlns:a16="http://schemas.microsoft.com/office/drawing/2014/main" id="{2E43066C-C6D0-4076-BC65-7B92E2ADDF79}"/>
              </a:ext>
            </a:extLst>
          </p:cNvPr>
          <p:cNvSpPr>
            <a:spLocks noGrp="1"/>
          </p:cNvSpPr>
          <p:nvPr/>
        </p:nvSpPr>
        <p:spPr>
          <a:xfrm>
            <a:off x="11115675" y="2238375"/>
            <a:ext cx="4524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双层目标与 Nash-Q 协调</a:t>
            </a:r>
          </a:p>
        </p:txBody>
      </p:sp>
      <p:sp>
        <p:nvSpPr>
          <p:cNvPr id="1006" name="object-7">
            <a:extLst>
              <a:ext uri="{FF2B5EF4-FFF2-40B4-BE49-F238E27FC236}">
                <a16:creationId xmlns:a16="http://schemas.microsoft.com/office/drawing/2014/main" id="{7A7A315E-2224-43FE-8C99-C4A9D79786FC}"/>
              </a:ext>
            </a:extLst>
          </p:cNvPr>
          <p:cNvSpPr>
            <a:spLocks noGrp="1"/>
          </p:cNvSpPr>
          <p:nvPr/>
        </p:nvSpPr>
        <p:spPr>
          <a:xfrm>
            <a:off x="371475" y="2676525"/>
            <a:ext cx="21050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8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物理能量流</a:t>
            </a:r>
          </a:p>
        </p:txBody>
      </p:sp>
      <p:sp>
        <p:nvSpPr>
          <p:cNvPr id="1007" name="object-8">
            <a:extLst>
              <a:ext uri="{FF2B5EF4-FFF2-40B4-BE49-F238E27FC236}">
                <a16:creationId xmlns:a16="http://schemas.microsoft.com/office/drawing/2014/main" id="{6F89FA55-84E6-4E7A-9082-AF8A4FB211BA}"/>
              </a:ext>
            </a:extLst>
          </p:cNvPr>
          <p:cNvSpPr>
            <a:spLocks noGrp="1"/>
          </p:cNvSpPr>
          <p:nvPr/>
        </p:nvSpPr>
        <p:spPr>
          <a:xfrm>
            <a:off x="857250" y="3438525"/>
            <a:ext cx="953" cy="742950"/>
          </a:xfrm>
          <a:prstGeom prst="line">
            <a:avLst/>
          </a:prstGeom>
          <a:noFill/>
          <a:ln w="28575">
            <a:solidFill>
              <a:srgbClr val="087F8C"/>
            </a:solidFill>
            <a:prstDash val="solid"/>
          </a:ln>
        </p:spPr>
      </p:sp>
      <p:sp>
        <p:nvSpPr>
          <p:cNvPr id="1008" name="object-9">
            <a:extLst>
              <a:ext uri="{FF2B5EF4-FFF2-40B4-BE49-F238E27FC236}">
                <a16:creationId xmlns:a16="http://schemas.microsoft.com/office/drawing/2014/main" id="{4DEF55D5-6860-4DEC-B104-2F59A81E8968}"/>
              </a:ext>
            </a:extLst>
          </p:cNvPr>
          <p:cNvSpPr>
            <a:spLocks noGrp="1"/>
          </p:cNvSpPr>
          <p:nvPr/>
        </p:nvSpPr>
        <p:spPr>
          <a:xfrm>
            <a:off x="809625" y="3390900"/>
            <a:ext cx="95250" cy="95250"/>
          </a:xfrm>
          <a:prstGeom prst="ellipse">
            <a:avLst/>
          </a:prstGeom>
          <a:solidFill>
            <a:srgbClr val="087F8C"/>
          </a:solidFill>
          <a:ln w="19050">
            <a:solidFill>
              <a:srgbClr val="087F8C"/>
            </a:solidFill>
            <a:prstDash val="solid"/>
          </a:ln>
        </p:spPr>
      </p:sp>
      <p:sp>
        <p:nvSpPr>
          <p:cNvPr id="1009" name="object-10">
            <a:extLst>
              <a:ext uri="{FF2B5EF4-FFF2-40B4-BE49-F238E27FC236}">
                <a16:creationId xmlns:a16="http://schemas.microsoft.com/office/drawing/2014/main" id="{93E31F38-C0D9-488E-BAB9-E41C82F76B46}"/>
              </a:ext>
            </a:extLst>
          </p:cNvPr>
          <p:cNvSpPr>
            <a:spLocks noGrp="1"/>
          </p:cNvSpPr>
          <p:nvPr/>
        </p:nvSpPr>
        <p:spPr>
          <a:xfrm>
            <a:off x="857250" y="3105150"/>
            <a:ext cx="953" cy="333375"/>
          </a:xfrm>
          <a:prstGeom prst="line">
            <a:avLst/>
          </a:prstGeom>
          <a:noFill/>
          <a:ln w="38100">
            <a:solidFill>
              <a:srgbClr val="087F8C"/>
            </a:solidFill>
            <a:prstDash val="solid"/>
          </a:ln>
        </p:spPr>
      </p:sp>
      <p:sp>
        <p:nvSpPr>
          <p:cNvPr id="1010" name="object-11">
            <a:extLst>
              <a:ext uri="{FF2B5EF4-FFF2-40B4-BE49-F238E27FC236}">
                <a16:creationId xmlns:a16="http://schemas.microsoft.com/office/drawing/2014/main" id="{957EEEA9-B6E3-4B1D-A82E-F1A58EE5DDEB}"/>
              </a:ext>
            </a:extLst>
          </p:cNvPr>
          <p:cNvSpPr>
            <a:spLocks noGrp="1"/>
          </p:cNvSpPr>
          <p:nvPr/>
        </p:nvSpPr>
        <p:spPr>
          <a:xfrm>
            <a:off x="533400" y="3600450"/>
            <a:ext cx="323850" cy="953"/>
          </a:xfrm>
          <a:prstGeom prst="line">
            <a:avLst/>
          </a:prstGeom>
          <a:noFill/>
          <a:ln w="28575">
            <a:solidFill>
              <a:srgbClr val="087F8C"/>
            </a:solidFill>
            <a:prstDash val="solid"/>
          </a:ln>
        </p:spPr>
      </p:sp>
      <p:sp>
        <p:nvSpPr>
          <p:cNvPr id="1011" name="object-12">
            <a:extLst>
              <a:ext uri="{FF2B5EF4-FFF2-40B4-BE49-F238E27FC236}">
                <a16:creationId xmlns:a16="http://schemas.microsoft.com/office/drawing/2014/main" id="{435ACB3E-D626-4F60-B87C-33D2D22733F1}"/>
              </a:ext>
            </a:extLst>
          </p:cNvPr>
          <p:cNvSpPr>
            <a:spLocks noGrp="1"/>
          </p:cNvSpPr>
          <p:nvPr/>
        </p:nvSpPr>
        <p:spPr>
          <a:xfrm>
            <a:off x="857250" y="3438525"/>
            <a:ext cx="953" cy="161925"/>
          </a:xfrm>
          <a:prstGeom prst="line">
            <a:avLst/>
          </a:prstGeom>
          <a:noFill/>
          <a:ln w="28575">
            <a:solidFill>
              <a:srgbClr val="087F8C"/>
            </a:solidFill>
            <a:prstDash val="solid"/>
          </a:ln>
        </p:spPr>
      </p:sp>
      <p:sp>
        <p:nvSpPr>
          <p:cNvPr id="1012" name="object-13">
            <a:extLst>
              <a:ext uri="{FF2B5EF4-FFF2-40B4-BE49-F238E27FC236}">
                <a16:creationId xmlns:a16="http://schemas.microsoft.com/office/drawing/2014/main" id="{061E5F33-A9D6-47FA-807B-D49162DEA5C5}"/>
              </a:ext>
            </a:extLst>
          </p:cNvPr>
          <p:cNvSpPr>
            <a:spLocks noGrp="1"/>
          </p:cNvSpPr>
          <p:nvPr/>
        </p:nvSpPr>
        <p:spPr>
          <a:xfrm>
            <a:off x="857250" y="3438525"/>
            <a:ext cx="323850" cy="953"/>
          </a:xfrm>
          <a:prstGeom prst="line">
            <a:avLst/>
          </a:prstGeom>
          <a:noFill/>
          <a:ln w="28575">
            <a:solidFill>
              <a:srgbClr val="087F8C"/>
            </a:solidFill>
            <a:prstDash val="solid"/>
          </a:ln>
        </p:spPr>
      </p:sp>
      <p:sp>
        <p:nvSpPr>
          <p:cNvPr id="1013" name="object-14">
            <a:extLst>
              <a:ext uri="{FF2B5EF4-FFF2-40B4-BE49-F238E27FC236}">
                <a16:creationId xmlns:a16="http://schemas.microsoft.com/office/drawing/2014/main" id="{A6DA855A-7CF7-4583-AFC3-D373B80F9F6A}"/>
              </a:ext>
            </a:extLst>
          </p:cNvPr>
          <p:cNvSpPr>
            <a:spLocks noGrp="1"/>
          </p:cNvSpPr>
          <p:nvPr/>
        </p:nvSpPr>
        <p:spPr>
          <a:xfrm>
            <a:off x="1181100" y="3438525"/>
            <a:ext cx="953" cy="161925"/>
          </a:xfrm>
          <a:prstGeom prst="line">
            <a:avLst/>
          </a:prstGeom>
          <a:noFill/>
          <a:ln w="28575">
            <a:solidFill>
              <a:srgbClr val="087F8C"/>
            </a:solidFill>
            <a:prstDash val="solid"/>
          </a:ln>
        </p:spPr>
      </p:sp>
      <p:sp>
        <p:nvSpPr>
          <p:cNvPr id="1014" name="object-15">
            <a:extLst>
              <a:ext uri="{FF2B5EF4-FFF2-40B4-BE49-F238E27FC236}">
                <a16:creationId xmlns:a16="http://schemas.microsoft.com/office/drawing/2014/main" id="{FA27FC3E-BD10-441C-A11D-141D8EE267D4}"/>
              </a:ext>
            </a:extLst>
          </p:cNvPr>
          <p:cNvSpPr>
            <a:spLocks noGrp="1"/>
          </p:cNvSpPr>
          <p:nvPr/>
        </p:nvSpPr>
        <p:spPr>
          <a:xfrm>
            <a:off x="504825" y="4143375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风电</a:t>
            </a:r>
          </a:p>
        </p:txBody>
      </p:sp>
      <p:sp>
        <p:nvSpPr>
          <p:cNvPr id="1015" name="object-16">
            <a:extLst>
              <a:ext uri="{FF2B5EF4-FFF2-40B4-BE49-F238E27FC236}">
                <a16:creationId xmlns:a16="http://schemas.microsoft.com/office/drawing/2014/main" id="{77BB5348-A936-466C-A3DF-4C3E30A3AFBB}"/>
              </a:ext>
            </a:extLst>
          </p:cNvPr>
          <p:cNvSpPr>
            <a:spLocks noGrp="1"/>
          </p:cNvSpPr>
          <p:nvPr/>
        </p:nvSpPr>
        <p:spPr>
          <a:xfrm>
            <a:off x="2619375" y="3019425"/>
            <a:ext cx="714375" cy="476250"/>
          </a:xfrm>
          <a:prstGeom prst="rect">
            <a:avLst/>
          </a:prstGeom>
          <a:solidFill>
            <a:srgbClr val="C9E8F8"/>
          </a:solidFill>
          <a:ln w="19050">
            <a:solidFill>
              <a:srgbClr val="1673CE"/>
            </a:solidFill>
            <a:prstDash val="solid"/>
          </a:ln>
        </p:spPr>
      </p:sp>
      <p:sp>
        <p:nvSpPr>
          <p:cNvPr id="1016" name="object-17">
            <a:extLst>
              <a:ext uri="{FF2B5EF4-FFF2-40B4-BE49-F238E27FC236}">
                <a16:creationId xmlns:a16="http://schemas.microsoft.com/office/drawing/2014/main" id="{BF38B1F8-8A17-4589-877E-0349CFA8E372}"/>
              </a:ext>
            </a:extLst>
          </p:cNvPr>
          <p:cNvSpPr>
            <a:spLocks noGrp="1"/>
          </p:cNvSpPr>
          <p:nvPr/>
        </p:nvSpPr>
        <p:spPr>
          <a:xfrm>
            <a:off x="2797969" y="3019425"/>
            <a:ext cx="953" cy="476250"/>
          </a:xfrm>
          <a:prstGeom prst="line">
            <a:avLst/>
          </a:prstGeom>
          <a:noFill/>
          <a:ln w="9525">
            <a:solidFill>
              <a:srgbClr val="1673CE"/>
            </a:solidFill>
            <a:prstDash val="solid"/>
          </a:ln>
        </p:spPr>
      </p:sp>
      <p:sp>
        <p:nvSpPr>
          <p:cNvPr id="1017" name="object-18">
            <a:extLst>
              <a:ext uri="{FF2B5EF4-FFF2-40B4-BE49-F238E27FC236}">
                <a16:creationId xmlns:a16="http://schemas.microsoft.com/office/drawing/2014/main" id="{C65D91E4-4D41-4146-A865-41F7982E6457}"/>
              </a:ext>
            </a:extLst>
          </p:cNvPr>
          <p:cNvSpPr>
            <a:spLocks noGrp="1"/>
          </p:cNvSpPr>
          <p:nvPr/>
        </p:nvSpPr>
        <p:spPr>
          <a:xfrm>
            <a:off x="2976563" y="3019425"/>
            <a:ext cx="953" cy="476250"/>
          </a:xfrm>
          <a:prstGeom prst="line">
            <a:avLst/>
          </a:prstGeom>
          <a:noFill/>
          <a:ln w="9525">
            <a:solidFill>
              <a:srgbClr val="1673CE"/>
            </a:solidFill>
            <a:prstDash val="solid"/>
          </a:ln>
        </p:spPr>
      </p:sp>
      <p:sp>
        <p:nvSpPr>
          <p:cNvPr id="1018" name="object-19">
            <a:extLst>
              <a:ext uri="{FF2B5EF4-FFF2-40B4-BE49-F238E27FC236}">
                <a16:creationId xmlns:a16="http://schemas.microsoft.com/office/drawing/2014/main" id="{C8CC85C0-6BA8-46C7-B954-9BB658953B4A}"/>
              </a:ext>
            </a:extLst>
          </p:cNvPr>
          <p:cNvSpPr>
            <a:spLocks noGrp="1"/>
          </p:cNvSpPr>
          <p:nvPr/>
        </p:nvSpPr>
        <p:spPr>
          <a:xfrm>
            <a:off x="3155156" y="3019425"/>
            <a:ext cx="953" cy="476250"/>
          </a:xfrm>
          <a:prstGeom prst="line">
            <a:avLst/>
          </a:prstGeom>
          <a:noFill/>
          <a:ln w="9525">
            <a:solidFill>
              <a:srgbClr val="1673CE"/>
            </a:solidFill>
            <a:prstDash val="solid"/>
          </a:ln>
        </p:spPr>
      </p:sp>
      <p:sp>
        <p:nvSpPr>
          <p:cNvPr id="1019" name="object-20">
            <a:extLst>
              <a:ext uri="{FF2B5EF4-FFF2-40B4-BE49-F238E27FC236}">
                <a16:creationId xmlns:a16="http://schemas.microsoft.com/office/drawing/2014/main" id="{68102254-B5D4-40CB-AD11-B59EC22E7BEE}"/>
              </a:ext>
            </a:extLst>
          </p:cNvPr>
          <p:cNvSpPr>
            <a:spLocks noGrp="1"/>
          </p:cNvSpPr>
          <p:nvPr/>
        </p:nvSpPr>
        <p:spPr>
          <a:xfrm>
            <a:off x="2619375" y="3257550"/>
            <a:ext cx="714375" cy="953"/>
          </a:xfrm>
          <a:prstGeom prst="line">
            <a:avLst/>
          </a:prstGeom>
          <a:noFill/>
          <a:ln w="9525">
            <a:solidFill>
              <a:srgbClr val="1673CE"/>
            </a:solidFill>
            <a:prstDash val="solid"/>
          </a:ln>
        </p:spPr>
      </p:sp>
      <p:sp>
        <p:nvSpPr>
          <p:cNvPr id="1020" name="object-21">
            <a:extLst>
              <a:ext uri="{FF2B5EF4-FFF2-40B4-BE49-F238E27FC236}">
                <a16:creationId xmlns:a16="http://schemas.microsoft.com/office/drawing/2014/main" id="{6A75B60F-A9DC-47A1-9F3F-26AE27673C11}"/>
              </a:ext>
            </a:extLst>
          </p:cNvPr>
          <p:cNvSpPr>
            <a:spLocks noGrp="1"/>
          </p:cNvSpPr>
          <p:nvPr/>
        </p:nvSpPr>
        <p:spPr>
          <a:xfrm>
            <a:off x="2976563" y="3495675"/>
            <a:ext cx="953" cy="114300"/>
          </a:xfrm>
          <a:prstGeom prst="line">
            <a:avLst/>
          </a:prstGeom>
          <a:noFill/>
          <a:ln w="19050">
            <a:solidFill>
              <a:srgbClr val="1673CE"/>
            </a:solidFill>
            <a:prstDash val="solid"/>
          </a:ln>
        </p:spPr>
      </p:sp>
      <p:sp>
        <p:nvSpPr>
          <p:cNvPr id="1021" name="object-22">
            <a:extLst>
              <a:ext uri="{FF2B5EF4-FFF2-40B4-BE49-F238E27FC236}">
                <a16:creationId xmlns:a16="http://schemas.microsoft.com/office/drawing/2014/main" id="{03B6E451-A878-45AE-BF51-0F28F7702797}"/>
              </a:ext>
            </a:extLst>
          </p:cNvPr>
          <p:cNvSpPr>
            <a:spLocks noGrp="1"/>
          </p:cNvSpPr>
          <p:nvPr/>
        </p:nvSpPr>
        <p:spPr>
          <a:xfrm>
            <a:off x="2797969" y="3609975"/>
            <a:ext cx="357188" cy="953"/>
          </a:xfrm>
          <a:prstGeom prst="line">
            <a:avLst/>
          </a:prstGeom>
          <a:noFill/>
          <a:ln w="19050">
            <a:solidFill>
              <a:srgbClr val="1673CE"/>
            </a:solidFill>
            <a:prstDash val="solid"/>
          </a:ln>
        </p:spPr>
      </p:sp>
      <p:sp>
        <p:nvSpPr>
          <p:cNvPr id="1022" name="object-23">
            <a:extLst>
              <a:ext uri="{FF2B5EF4-FFF2-40B4-BE49-F238E27FC236}">
                <a16:creationId xmlns:a16="http://schemas.microsoft.com/office/drawing/2014/main" id="{B57D7F35-9890-4C35-A018-7A839E2BA143}"/>
              </a:ext>
            </a:extLst>
          </p:cNvPr>
          <p:cNvSpPr>
            <a:spLocks noGrp="1"/>
          </p:cNvSpPr>
          <p:nvPr/>
        </p:nvSpPr>
        <p:spPr>
          <a:xfrm>
            <a:off x="2543175" y="3619500"/>
            <a:ext cx="8667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光伏</a:t>
            </a:r>
          </a:p>
        </p:txBody>
      </p:sp>
      <p:sp>
        <p:nvSpPr>
          <p:cNvPr id="1023" name="object-24">
            <a:extLst>
              <a:ext uri="{FF2B5EF4-FFF2-40B4-BE49-F238E27FC236}">
                <a16:creationId xmlns:a16="http://schemas.microsoft.com/office/drawing/2014/main" id="{0CD89FC6-B4C7-4A2E-8ADF-BBA4E7A9DF2F}"/>
              </a:ext>
            </a:extLst>
          </p:cNvPr>
          <p:cNvSpPr>
            <a:spLocks noGrp="1"/>
          </p:cNvSpPr>
          <p:nvPr/>
        </p:nvSpPr>
        <p:spPr>
          <a:xfrm>
            <a:off x="4000500" y="3133725"/>
            <a:ext cx="1647825" cy="609600"/>
          </a:xfrm>
          <a:prstGeom prst="roundRect">
            <a:avLst>
              <a:gd name="adj" fmla="val 12500"/>
            </a:avLst>
          </a:prstGeom>
          <a:solidFill>
            <a:srgbClr val="E8F3E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8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上游电网</a:t>
            </a:r>
          </a:p>
        </p:txBody>
      </p:sp>
      <p:sp>
        <p:nvSpPr>
          <p:cNvPr id="1024" name="object-25">
            <a:extLst>
              <a:ext uri="{FF2B5EF4-FFF2-40B4-BE49-F238E27FC236}">
                <a16:creationId xmlns:a16="http://schemas.microsoft.com/office/drawing/2014/main" id="{AF368439-7B3C-4BF4-86C4-0F910543DE64}"/>
              </a:ext>
            </a:extLst>
          </p:cNvPr>
          <p:cNvSpPr>
            <a:spLocks noGrp="1"/>
          </p:cNvSpPr>
          <p:nvPr/>
        </p:nvSpPr>
        <p:spPr>
          <a:xfrm>
            <a:off x="857250" y="4029075"/>
            <a:ext cx="953" cy="542925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25" name="object-26">
            <a:extLst>
              <a:ext uri="{FF2B5EF4-FFF2-40B4-BE49-F238E27FC236}">
                <a16:creationId xmlns:a16="http://schemas.microsoft.com/office/drawing/2014/main" id="{6A7A0053-198C-4C68-ABC0-E2711827E693}"/>
              </a:ext>
            </a:extLst>
          </p:cNvPr>
          <p:cNvSpPr>
            <a:spLocks noGrp="1"/>
          </p:cNvSpPr>
          <p:nvPr/>
        </p:nvSpPr>
        <p:spPr>
          <a:xfrm>
            <a:off x="857250" y="4572000"/>
            <a:ext cx="3971925" cy="953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26" name="object-27">
            <a:extLst>
              <a:ext uri="{FF2B5EF4-FFF2-40B4-BE49-F238E27FC236}">
                <a16:creationId xmlns:a16="http://schemas.microsoft.com/office/drawing/2014/main" id="{CDA93B73-DF02-4735-8473-40C1666DCA78}"/>
              </a:ext>
            </a:extLst>
          </p:cNvPr>
          <p:cNvSpPr>
            <a:spLocks noGrp="1"/>
          </p:cNvSpPr>
          <p:nvPr/>
        </p:nvSpPr>
        <p:spPr>
          <a:xfrm>
            <a:off x="4829175" y="3743325"/>
            <a:ext cx="953" cy="828675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27" name="object-28">
            <a:extLst>
              <a:ext uri="{FF2B5EF4-FFF2-40B4-BE49-F238E27FC236}">
                <a16:creationId xmlns:a16="http://schemas.microsoft.com/office/drawing/2014/main" id="{C44E8864-7B20-4059-ABF9-D34D75C410EA}"/>
              </a:ext>
            </a:extLst>
          </p:cNvPr>
          <p:cNvSpPr>
            <a:spLocks noGrp="1"/>
          </p:cNvSpPr>
          <p:nvPr/>
        </p:nvSpPr>
        <p:spPr>
          <a:xfrm>
            <a:off x="4772025" y="3743325"/>
            <a:ext cx="114300" cy="133350"/>
          </a:xfrm>
          <a:prstGeom prst="upArrow">
            <a:avLst/>
          </a:prstGeom>
          <a:solidFill>
            <a:srgbClr val="087F8C"/>
          </a:solidFill>
          <a:ln w="0">
            <a:noFill/>
            <a:prstDash val="solid"/>
          </a:ln>
        </p:spPr>
      </p:sp>
      <p:sp>
        <p:nvSpPr>
          <p:cNvPr id="1028" name="object-29">
            <a:extLst>
              <a:ext uri="{FF2B5EF4-FFF2-40B4-BE49-F238E27FC236}">
                <a16:creationId xmlns:a16="http://schemas.microsoft.com/office/drawing/2014/main" id="{ECF27FBA-83F2-4645-9950-87153D0C66D2}"/>
              </a:ext>
            </a:extLst>
          </p:cNvPr>
          <p:cNvSpPr>
            <a:spLocks noGrp="1"/>
          </p:cNvSpPr>
          <p:nvPr/>
        </p:nvSpPr>
        <p:spPr>
          <a:xfrm>
            <a:off x="2962275" y="3905250"/>
            <a:ext cx="953" cy="361950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29" name="object-30">
            <a:extLst>
              <a:ext uri="{FF2B5EF4-FFF2-40B4-BE49-F238E27FC236}">
                <a16:creationId xmlns:a16="http://schemas.microsoft.com/office/drawing/2014/main" id="{D48B3FE6-4108-49BE-A4AB-B3F5CFD67A2E}"/>
              </a:ext>
            </a:extLst>
          </p:cNvPr>
          <p:cNvSpPr>
            <a:spLocks noGrp="1"/>
          </p:cNvSpPr>
          <p:nvPr/>
        </p:nvSpPr>
        <p:spPr>
          <a:xfrm>
            <a:off x="2962275" y="4267200"/>
            <a:ext cx="1314450" cy="953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30" name="object-31">
            <a:extLst>
              <a:ext uri="{FF2B5EF4-FFF2-40B4-BE49-F238E27FC236}">
                <a16:creationId xmlns:a16="http://schemas.microsoft.com/office/drawing/2014/main" id="{4D1D8122-3ED5-4033-8E7D-A6DAECAE3510}"/>
              </a:ext>
            </a:extLst>
          </p:cNvPr>
          <p:cNvSpPr>
            <a:spLocks noGrp="1"/>
          </p:cNvSpPr>
          <p:nvPr/>
        </p:nvSpPr>
        <p:spPr>
          <a:xfrm>
            <a:off x="4276725" y="3743325"/>
            <a:ext cx="953" cy="523875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31" name="object-32">
            <a:extLst>
              <a:ext uri="{FF2B5EF4-FFF2-40B4-BE49-F238E27FC236}">
                <a16:creationId xmlns:a16="http://schemas.microsoft.com/office/drawing/2014/main" id="{7DB43009-1FD4-4767-8002-5CCBC406DB99}"/>
              </a:ext>
            </a:extLst>
          </p:cNvPr>
          <p:cNvSpPr>
            <a:spLocks noGrp="1"/>
          </p:cNvSpPr>
          <p:nvPr/>
        </p:nvSpPr>
        <p:spPr>
          <a:xfrm>
            <a:off x="4219575" y="3743325"/>
            <a:ext cx="114300" cy="133350"/>
          </a:xfrm>
          <a:prstGeom prst="upArrow">
            <a:avLst/>
          </a:prstGeom>
          <a:solidFill>
            <a:srgbClr val="087F8C"/>
          </a:solidFill>
          <a:ln w="0">
            <a:noFill/>
            <a:prstDash val="solid"/>
          </a:ln>
        </p:spPr>
      </p:sp>
      <p:sp>
        <p:nvSpPr>
          <p:cNvPr id="1032" name="object-33">
            <a:extLst>
              <a:ext uri="{FF2B5EF4-FFF2-40B4-BE49-F238E27FC236}">
                <a16:creationId xmlns:a16="http://schemas.microsoft.com/office/drawing/2014/main" id="{A618754D-167C-4C4A-AF9F-C297878D49EE}"/>
              </a:ext>
            </a:extLst>
          </p:cNvPr>
          <p:cNvSpPr>
            <a:spLocks noGrp="1"/>
          </p:cNvSpPr>
          <p:nvPr/>
        </p:nvSpPr>
        <p:spPr>
          <a:xfrm>
            <a:off x="5648325" y="3438525"/>
            <a:ext cx="4467225" cy="953"/>
          </a:xfrm>
          <a:prstGeom prst="line">
            <a:avLst/>
          </a:prstGeom>
          <a:noFill/>
          <a:ln w="28575">
            <a:solidFill>
              <a:srgbClr val="087F8C"/>
            </a:solidFill>
            <a:prstDash val="solid"/>
          </a:ln>
        </p:spPr>
      </p:sp>
      <p:sp>
        <p:nvSpPr>
          <p:cNvPr id="1033" name="object-34">
            <a:extLst>
              <a:ext uri="{FF2B5EF4-FFF2-40B4-BE49-F238E27FC236}">
                <a16:creationId xmlns:a16="http://schemas.microsoft.com/office/drawing/2014/main" id="{4C6B0DFC-400F-4110-B6C8-F3156EB4388C}"/>
              </a:ext>
            </a:extLst>
          </p:cNvPr>
          <p:cNvSpPr>
            <a:spLocks noGrp="1"/>
          </p:cNvSpPr>
          <p:nvPr/>
        </p:nvSpPr>
        <p:spPr>
          <a:xfrm>
            <a:off x="6296025" y="3857625"/>
            <a:ext cx="361950" cy="619125"/>
          </a:xfrm>
          <a:prstGeom prst="roundRect">
            <a:avLst>
              <a:gd name="adj" fmla="val 21053"/>
            </a:avLst>
          </a:prstGeom>
          <a:solidFill>
            <a:srgbClr val="DFF1F0"/>
          </a:solidFill>
          <a:ln w="19050">
            <a:solidFill>
              <a:srgbClr val="087F8C"/>
            </a:solidFill>
            <a:prstDash val="solid"/>
          </a:ln>
        </p:spPr>
      </p:sp>
      <p:sp>
        <p:nvSpPr>
          <p:cNvPr id="1034" name="object-35">
            <a:extLst>
              <a:ext uri="{FF2B5EF4-FFF2-40B4-BE49-F238E27FC236}">
                <a16:creationId xmlns:a16="http://schemas.microsoft.com/office/drawing/2014/main" id="{15E6CC3B-D270-4347-9558-0DA54230F15A}"/>
              </a:ext>
            </a:extLst>
          </p:cNvPr>
          <p:cNvSpPr>
            <a:spLocks noGrp="1"/>
          </p:cNvSpPr>
          <p:nvPr/>
        </p:nvSpPr>
        <p:spPr>
          <a:xfrm>
            <a:off x="6362700" y="3952875"/>
            <a:ext cx="2286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087F8C"/>
            </a:solidFill>
            <a:prstDash val="solid"/>
          </a:ln>
        </p:spPr>
      </p:sp>
      <p:sp>
        <p:nvSpPr>
          <p:cNvPr id="1035" name="object-36">
            <a:extLst>
              <a:ext uri="{FF2B5EF4-FFF2-40B4-BE49-F238E27FC236}">
                <a16:creationId xmlns:a16="http://schemas.microsoft.com/office/drawing/2014/main" id="{C84F2CFA-9CDB-430F-9F8A-0A9660650550}"/>
              </a:ext>
            </a:extLst>
          </p:cNvPr>
          <p:cNvSpPr>
            <a:spLocks noGrp="1"/>
          </p:cNvSpPr>
          <p:nvPr/>
        </p:nvSpPr>
        <p:spPr>
          <a:xfrm>
            <a:off x="6657975" y="4048125"/>
            <a:ext cx="133350" cy="953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36" name="object-37">
            <a:extLst>
              <a:ext uri="{FF2B5EF4-FFF2-40B4-BE49-F238E27FC236}">
                <a16:creationId xmlns:a16="http://schemas.microsoft.com/office/drawing/2014/main" id="{4153B796-7F47-4313-AD8E-922037D7A3ED}"/>
              </a:ext>
            </a:extLst>
          </p:cNvPr>
          <p:cNvSpPr>
            <a:spLocks noGrp="1"/>
          </p:cNvSpPr>
          <p:nvPr/>
        </p:nvSpPr>
        <p:spPr>
          <a:xfrm>
            <a:off x="6791325" y="4048125"/>
            <a:ext cx="953" cy="314325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37" name="object-38">
            <a:extLst>
              <a:ext uri="{FF2B5EF4-FFF2-40B4-BE49-F238E27FC236}">
                <a16:creationId xmlns:a16="http://schemas.microsoft.com/office/drawing/2014/main" id="{82299A43-BA16-4698-A53C-0AA5973F6753}"/>
              </a:ext>
            </a:extLst>
          </p:cNvPr>
          <p:cNvSpPr>
            <a:spLocks noGrp="1"/>
          </p:cNvSpPr>
          <p:nvPr/>
        </p:nvSpPr>
        <p:spPr>
          <a:xfrm>
            <a:off x="6743700" y="4314825"/>
            <a:ext cx="95250" cy="171450"/>
          </a:xfrm>
          <a:prstGeom prst="rect">
            <a:avLst/>
          </a:prstGeom>
          <a:solidFill>
            <a:srgbClr val="087F8C"/>
          </a:solidFill>
          <a:ln w="9525">
            <a:noFill/>
            <a:prstDash val="solid"/>
          </a:ln>
        </p:spPr>
      </p:sp>
      <p:sp>
        <p:nvSpPr>
          <p:cNvPr id="1038" name="object-39">
            <a:extLst>
              <a:ext uri="{FF2B5EF4-FFF2-40B4-BE49-F238E27FC236}">
                <a16:creationId xmlns:a16="http://schemas.microsoft.com/office/drawing/2014/main" id="{EAFBF0EC-4AE8-42EA-BBFB-183E4066BCDF}"/>
              </a:ext>
            </a:extLst>
          </p:cNvPr>
          <p:cNvSpPr>
            <a:spLocks noGrp="1"/>
          </p:cNvSpPr>
          <p:nvPr/>
        </p:nvSpPr>
        <p:spPr>
          <a:xfrm>
            <a:off x="6248400" y="4495800"/>
            <a:ext cx="523875" cy="953"/>
          </a:xfrm>
          <a:prstGeom prst="line">
            <a:avLst/>
          </a:prstGeom>
          <a:noFill/>
          <a:ln w="19050">
            <a:solidFill>
              <a:srgbClr val="087F8C"/>
            </a:solidFill>
            <a:prstDash val="solid"/>
          </a:ln>
        </p:spPr>
      </p:sp>
      <p:sp>
        <p:nvSpPr>
          <p:cNvPr id="1039" name="object-40">
            <a:extLst>
              <a:ext uri="{FF2B5EF4-FFF2-40B4-BE49-F238E27FC236}">
                <a16:creationId xmlns:a16="http://schemas.microsoft.com/office/drawing/2014/main" id="{318EC776-BC84-4616-91F8-0321212DBEE1}"/>
              </a:ext>
            </a:extLst>
          </p:cNvPr>
          <p:cNvSpPr>
            <a:spLocks noGrp="1"/>
          </p:cNvSpPr>
          <p:nvPr/>
        </p:nvSpPr>
        <p:spPr>
          <a:xfrm>
            <a:off x="7972425" y="3857625"/>
            <a:ext cx="361950" cy="619125"/>
          </a:xfrm>
          <a:prstGeom prst="roundRect">
            <a:avLst>
              <a:gd name="adj" fmla="val 21053"/>
            </a:avLst>
          </a:prstGeom>
          <a:solidFill>
            <a:srgbClr val="DFF1F0"/>
          </a:solidFill>
          <a:ln w="19050">
            <a:solidFill>
              <a:srgbClr val="087F8C"/>
            </a:solidFill>
            <a:prstDash val="solid"/>
          </a:ln>
        </p:spPr>
      </p:sp>
      <p:sp>
        <p:nvSpPr>
          <p:cNvPr id="1040" name="object-41">
            <a:extLst>
              <a:ext uri="{FF2B5EF4-FFF2-40B4-BE49-F238E27FC236}">
                <a16:creationId xmlns:a16="http://schemas.microsoft.com/office/drawing/2014/main" id="{29F1AF7F-BC8A-4307-BE36-1C20D93FFC03}"/>
              </a:ext>
            </a:extLst>
          </p:cNvPr>
          <p:cNvSpPr>
            <a:spLocks noGrp="1"/>
          </p:cNvSpPr>
          <p:nvPr/>
        </p:nvSpPr>
        <p:spPr>
          <a:xfrm>
            <a:off x="8039100" y="3952875"/>
            <a:ext cx="2286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087F8C"/>
            </a:solidFill>
            <a:prstDash val="solid"/>
          </a:ln>
        </p:spPr>
      </p:sp>
      <p:sp>
        <p:nvSpPr>
          <p:cNvPr id="1041" name="object-42">
            <a:extLst>
              <a:ext uri="{FF2B5EF4-FFF2-40B4-BE49-F238E27FC236}">
                <a16:creationId xmlns:a16="http://schemas.microsoft.com/office/drawing/2014/main" id="{9B8CBF92-C8F2-4BA6-BE74-193F94C53514}"/>
              </a:ext>
            </a:extLst>
          </p:cNvPr>
          <p:cNvSpPr>
            <a:spLocks noGrp="1"/>
          </p:cNvSpPr>
          <p:nvPr/>
        </p:nvSpPr>
        <p:spPr>
          <a:xfrm>
            <a:off x="8334375" y="4048125"/>
            <a:ext cx="133350" cy="953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42" name="object-43">
            <a:extLst>
              <a:ext uri="{FF2B5EF4-FFF2-40B4-BE49-F238E27FC236}">
                <a16:creationId xmlns:a16="http://schemas.microsoft.com/office/drawing/2014/main" id="{38EBF8E9-0C96-4550-8EAA-B423B6DF5C1E}"/>
              </a:ext>
            </a:extLst>
          </p:cNvPr>
          <p:cNvSpPr>
            <a:spLocks noGrp="1"/>
          </p:cNvSpPr>
          <p:nvPr/>
        </p:nvSpPr>
        <p:spPr>
          <a:xfrm>
            <a:off x="8467725" y="4048125"/>
            <a:ext cx="953" cy="314325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43" name="object-44">
            <a:extLst>
              <a:ext uri="{FF2B5EF4-FFF2-40B4-BE49-F238E27FC236}">
                <a16:creationId xmlns:a16="http://schemas.microsoft.com/office/drawing/2014/main" id="{C38CEF4E-40D3-4DFC-8BD6-21CD70C124F1}"/>
              </a:ext>
            </a:extLst>
          </p:cNvPr>
          <p:cNvSpPr>
            <a:spLocks noGrp="1"/>
          </p:cNvSpPr>
          <p:nvPr/>
        </p:nvSpPr>
        <p:spPr>
          <a:xfrm>
            <a:off x="8420100" y="4314825"/>
            <a:ext cx="95250" cy="171450"/>
          </a:xfrm>
          <a:prstGeom prst="rect">
            <a:avLst/>
          </a:prstGeom>
          <a:solidFill>
            <a:srgbClr val="087F8C"/>
          </a:solidFill>
          <a:ln w="9525">
            <a:noFill/>
            <a:prstDash val="solid"/>
          </a:ln>
        </p:spPr>
      </p:sp>
      <p:sp>
        <p:nvSpPr>
          <p:cNvPr id="1044" name="object-45">
            <a:extLst>
              <a:ext uri="{FF2B5EF4-FFF2-40B4-BE49-F238E27FC236}">
                <a16:creationId xmlns:a16="http://schemas.microsoft.com/office/drawing/2014/main" id="{6806C7AD-9CF5-4691-8E6B-482D5A96B521}"/>
              </a:ext>
            </a:extLst>
          </p:cNvPr>
          <p:cNvSpPr>
            <a:spLocks noGrp="1"/>
          </p:cNvSpPr>
          <p:nvPr/>
        </p:nvSpPr>
        <p:spPr>
          <a:xfrm>
            <a:off x="7924800" y="4495800"/>
            <a:ext cx="523875" cy="953"/>
          </a:xfrm>
          <a:prstGeom prst="line">
            <a:avLst/>
          </a:prstGeom>
          <a:noFill/>
          <a:ln w="19050">
            <a:solidFill>
              <a:srgbClr val="087F8C"/>
            </a:solidFill>
            <a:prstDash val="solid"/>
          </a:ln>
        </p:spPr>
      </p:sp>
      <p:sp>
        <p:nvSpPr>
          <p:cNvPr id="1045" name="object-46">
            <a:extLst>
              <a:ext uri="{FF2B5EF4-FFF2-40B4-BE49-F238E27FC236}">
                <a16:creationId xmlns:a16="http://schemas.microsoft.com/office/drawing/2014/main" id="{BD3C5566-09A9-44E3-AC31-2FAFF8224F1A}"/>
              </a:ext>
            </a:extLst>
          </p:cNvPr>
          <p:cNvSpPr>
            <a:spLocks noGrp="1"/>
          </p:cNvSpPr>
          <p:nvPr/>
        </p:nvSpPr>
        <p:spPr>
          <a:xfrm>
            <a:off x="9582150" y="3838575"/>
            <a:ext cx="419100" cy="628650"/>
          </a:xfrm>
          <a:prstGeom prst="rect">
            <a:avLst/>
          </a:prstGeom>
          <a:solidFill>
            <a:srgbClr val="E4F1EA"/>
          </a:solidFill>
          <a:ln w="22860">
            <a:solidFill>
              <a:srgbClr val="087F8C"/>
            </a:solidFill>
            <a:prstDash val="solid"/>
          </a:ln>
        </p:spPr>
      </p:sp>
      <p:sp>
        <p:nvSpPr>
          <p:cNvPr id="1046" name="object-47">
            <a:extLst>
              <a:ext uri="{FF2B5EF4-FFF2-40B4-BE49-F238E27FC236}">
                <a16:creationId xmlns:a16="http://schemas.microsoft.com/office/drawing/2014/main" id="{1F6FBA03-E1E0-4668-9077-1C43EEE4E2A7}"/>
              </a:ext>
            </a:extLst>
          </p:cNvPr>
          <p:cNvSpPr>
            <a:spLocks noGrp="1"/>
          </p:cNvSpPr>
          <p:nvPr/>
        </p:nvSpPr>
        <p:spPr>
          <a:xfrm>
            <a:off x="9728835" y="3771900"/>
            <a:ext cx="125730" cy="66675"/>
          </a:xfrm>
          <a:prstGeom prst="rect">
            <a:avLst/>
          </a:prstGeom>
          <a:solidFill>
            <a:srgbClr val="087F8C"/>
          </a:solidFill>
          <a:ln w="9525">
            <a:solidFill>
              <a:srgbClr val="087F8C"/>
            </a:solidFill>
            <a:prstDash val="solid"/>
          </a:ln>
        </p:spPr>
      </p:sp>
      <p:sp>
        <p:nvSpPr>
          <p:cNvPr id="1047" name="object-48">
            <a:extLst>
              <a:ext uri="{FF2B5EF4-FFF2-40B4-BE49-F238E27FC236}">
                <a16:creationId xmlns:a16="http://schemas.microsoft.com/office/drawing/2014/main" id="{A179E37F-A8B5-458C-BC52-A9BC2937D7D2}"/>
              </a:ext>
            </a:extLst>
          </p:cNvPr>
          <p:cNvSpPr>
            <a:spLocks noGrp="1"/>
          </p:cNvSpPr>
          <p:nvPr/>
        </p:nvSpPr>
        <p:spPr>
          <a:xfrm>
            <a:off x="9658350" y="3933825"/>
            <a:ext cx="266700" cy="114300"/>
          </a:xfrm>
          <a:prstGeom prst="rect">
            <a:avLst/>
          </a:prstGeom>
          <a:solidFill>
            <a:srgbClr val="8AC4A8"/>
          </a:solidFill>
          <a:ln w="9525">
            <a:noFill/>
            <a:prstDash val="solid"/>
          </a:ln>
        </p:spPr>
      </p:sp>
      <p:sp>
        <p:nvSpPr>
          <p:cNvPr id="1048" name="object-49">
            <a:extLst>
              <a:ext uri="{FF2B5EF4-FFF2-40B4-BE49-F238E27FC236}">
                <a16:creationId xmlns:a16="http://schemas.microsoft.com/office/drawing/2014/main" id="{DD587531-36CC-4441-8E27-B42CDE1FD359}"/>
              </a:ext>
            </a:extLst>
          </p:cNvPr>
          <p:cNvSpPr>
            <a:spLocks noGrp="1"/>
          </p:cNvSpPr>
          <p:nvPr/>
        </p:nvSpPr>
        <p:spPr>
          <a:xfrm>
            <a:off x="9658350" y="4114800"/>
            <a:ext cx="266700" cy="114300"/>
          </a:xfrm>
          <a:prstGeom prst="rect">
            <a:avLst/>
          </a:prstGeom>
          <a:solidFill>
            <a:srgbClr val="8AC4A8"/>
          </a:solidFill>
          <a:ln w="9525">
            <a:noFill/>
            <a:prstDash val="solid"/>
          </a:ln>
        </p:spPr>
      </p:sp>
      <p:sp>
        <p:nvSpPr>
          <p:cNvPr id="1049" name="object-50">
            <a:extLst>
              <a:ext uri="{FF2B5EF4-FFF2-40B4-BE49-F238E27FC236}">
                <a16:creationId xmlns:a16="http://schemas.microsoft.com/office/drawing/2014/main" id="{206B4327-0135-43D5-989C-A8EB96408B18}"/>
              </a:ext>
            </a:extLst>
          </p:cNvPr>
          <p:cNvSpPr>
            <a:spLocks noGrp="1"/>
          </p:cNvSpPr>
          <p:nvPr/>
        </p:nvSpPr>
        <p:spPr>
          <a:xfrm>
            <a:off x="9658350" y="4295775"/>
            <a:ext cx="266700" cy="114300"/>
          </a:xfrm>
          <a:prstGeom prst="rect">
            <a:avLst/>
          </a:prstGeom>
          <a:solidFill>
            <a:srgbClr val="8AC4A8"/>
          </a:solidFill>
          <a:ln w="9525">
            <a:noFill/>
            <a:prstDash val="solid"/>
          </a:ln>
        </p:spPr>
      </p:sp>
      <p:sp>
        <p:nvSpPr>
          <p:cNvPr id="1050" name="object-51">
            <a:extLst>
              <a:ext uri="{FF2B5EF4-FFF2-40B4-BE49-F238E27FC236}">
                <a16:creationId xmlns:a16="http://schemas.microsoft.com/office/drawing/2014/main" id="{797AE2F5-20E6-4C4D-A58B-261FE7188244}"/>
              </a:ext>
            </a:extLst>
          </p:cNvPr>
          <p:cNvSpPr>
            <a:spLocks noGrp="1"/>
          </p:cNvSpPr>
          <p:nvPr/>
        </p:nvSpPr>
        <p:spPr>
          <a:xfrm>
            <a:off x="9772650" y="3829050"/>
            <a:ext cx="238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051" name="object-52">
            <a:extLst>
              <a:ext uri="{FF2B5EF4-FFF2-40B4-BE49-F238E27FC236}">
                <a16:creationId xmlns:a16="http://schemas.microsoft.com/office/drawing/2014/main" id="{83269751-A3B0-43A8-8BE3-118EB88A37A0}"/>
              </a:ext>
            </a:extLst>
          </p:cNvPr>
          <p:cNvSpPr>
            <a:spLocks noGrp="1"/>
          </p:cNvSpPr>
          <p:nvPr/>
        </p:nvSpPr>
        <p:spPr>
          <a:xfrm>
            <a:off x="6477000" y="3438525"/>
            <a:ext cx="953" cy="419100"/>
          </a:xfrm>
          <a:prstGeom prst="line">
            <a:avLst/>
          </a:prstGeom>
          <a:noFill/>
          <a:ln w="28575">
            <a:solidFill>
              <a:srgbClr val="087F8C"/>
            </a:solidFill>
            <a:prstDash val="solid"/>
          </a:ln>
        </p:spPr>
      </p:sp>
      <p:sp>
        <p:nvSpPr>
          <p:cNvPr id="1052" name="object-53">
            <a:extLst>
              <a:ext uri="{FF2B5EF4-FFF2-40B4-BE49-F238E27FC236}">
                <a16:creationId xmlns:a16="http://schemas.microsoft.com/office/drawing/2014/main" id="{DFAEBB72-DED5-4245-9BAF-3AB10E1301BB}"/>
              </a:ext>
            </a:extLst>
          </p:cNvPr>
          <p:cNvSpPr>
            <a:spLocks noGrp="1"/>
          </p:cNvSpPr>
          <p:nvPr/>
        </p:nvSpPr>
        <p:spPr>
          <a:xfrm>
            <a:off x="8153400" y="3438525"/>
            <a:ext cx="953" cy="419100"/>
          </a:xfrm>
          <a:prstGeom prst="line">
            <a:avLst/>
          </a:prstGeom>
          <a:noFill/>
          <a:ln w="28575">
            <a:solidFill>
              <a:srgbClr val="087F8C"/>
            </a:solidFill>
            <a:prstDash val="solid"/>
          </a:ln>
        </p:spPr>
      </p:sp>
      <p:sp>
        <p:nvSpPr>
          <p:cNvPr id="1053" name="object-54">
            <a:extLst>
              <a:ext uri="{FF2B5EF4-FFF2-40B4-BE49-F238E27FC236}">
                <a16:creationId xmlns:a16="http://schemas.microsoft.com/office/drawing/2014/main" id="{474C6772-4F02-44E3-99B6-D6CE9A5B0298}"/>
              </a:ext>
            </a:extLst>
          </p:cNvPr>
          <p:cNvSpPr>
            <a:spLocks noGrp="1"/>
          </p:cNvSpPr>
          <p:nvPr/>
        </p:nvSpPr>
        <p:spPr>
          <a:xfrm>
            <a:off x="9791700" y="3438525"/>
            <a:ext cx="953" cy="400050"/>
          </a:xfrm>
          <a:prstGeom prst="line">
            <a:avLst/>
          </a:prstGeom>
          <a:noFill/>
          <a:ln w="28575">
            <a:solidFill>
              <a:srgbClr val="087F8C"/>
            </a:solidFill>
            <a:prstDash val="solid"/>
          </a:ln>
        </p:spPr>
      </p:sp>
      <p:sp>
        <p:nvSpPr>
          <p:cNvPr id="1054" name="object-55">
            <a:extLst>
              <a:ext uri="{FF2B5EF4-FFF2-40B4-BE49-F238E27FC236}">
                <a16:creationId xmlns:a16="http://schemas.microsoft.com/office/drawing/2014/main" id="{C54E1BCA-F92D-456C-9779-665FB35EDB88}"/>
              </a:ext>
            </a:extLst>
          </p:cNvPr>
          <p:cNvSpPr>
            <a:spLocks noGrp="1"/>
          </p:cNvSpPr>
          <p:nvPr/>
        </p:nvSpPr>
        <p:spPr>
          <a:xfrm>
            <a:off x="5953125" y="4581525"/>
            <a:ext cx="1057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充电</a:t>
            </a:r>
          </a:p>
        </p:txBody>
      </p:sp>
      <p:sp>
        <p:nvSpPr>
          <p:cNvPr id="1055" name="object-56">
            <a:extLst>
              <a:ext uri="{FF2B5EF4-FFF2-40B4-BE49-F238E27FC236}">
                <a16:creationId xmlns:a16="http://schemas.microsoft.com/office/drawing/2014/main" id="{1967A60C-C06A-4EB8-89A7-AA0781317E7A}"/>
              </a:ext>
            </a:extLst>
          </p:cNvPr>
          <p:cNvSpPr>
            <a:spLocks noGrp="1"/>
          </p:cNvSpPr>
          <p:nvPr/>
        </p:nvSpPr>
        <p:spPr>
          <a:xfrm>
            <a:off x="7610475" y="4581525"/>
            <a:ext cx="1095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V2G</a:t>
            </a:r>
          </a:p>
        </p:txBody>
      </p:sp>
      <p:sp>
        <p:nvSpPr>
          <p:cNvPr id="1056" name="object-57">
            <a:extLst>
              <a:ext uri="{FF2B5EF4-FFF2-40B4-BE49-F238E27FC236}">
                <a16:creationId xmlns:a16="http://schemas.microsoft.com/office/drawing/2014/main" id="{AA02FD52-9C42-4318-AF52-0EECBC74D51C}"/>
              </a:ext>
            </a:extLst>
          </p:cNvPr>
          <p:cNvSpPr>
            <a:spLocks noGrp="1"/>
          </p:cNvSpPr>
          <p:nvPr/>
        </p:nvSpPr>
        <p:spPr>
          <a:xfrm>
            <a:off x="9248775" y="4581525"/>
            <a:ext cx="115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换电</a:t>
            </a:r>
          </a:p>
        </p:txBody>
      </p:sp>
      <p:sp>
        <p:nvSpPr>
          <p:cNvPr id="1057" name="object-58">
            <a:extLst>
              <a:ext uri="{FF2B5EF4-FFF2-40B4-BE49-F238E27FC236}">
                <a16:creationId xmlns:a16="http://schemas.microsoft.com/office/drawing/2014/main" id="{FCBBF5FD-2BA2-467B-BB74-90062C685481}"/>
              </a:ext>
            </a:extLst>
          </p:cNvPr>
          <p:cNvSpPr>
            <a:spLocks noGrp="1"/>
          </p:cNvSpPr>
          <p:nvPr/>
        </p:nvSpPr>
        <p:spPr>
          <a:xfrm>
            <a:off x="8382000" y="3562350"/>
            <a:ext cx="953" cy="285750"/>
          </a:xfrm>
          <a:prstGeom prst="line">
            <a:avLst/>
          </a:prstGeom>
          <a:noFill/>
          <a:ln w="22860">
            <a:solidFill>
              <a:srgbClr val="087F8C"/>
            </a:solidFill>
            <a:prstDash val="solid"/>
          </a:ln>
        </p:spPr>
      </p:sp>
      <p:sp>
        <p:nvSpPr>
          <p:cNvPr id="1058" name="object-59">
            <a:extLst>
              <a:ext uri="{FF2B5EF4-FFF2-40B4-BE49-F238E27FC236}">
                <a16:creationId xmlns:a16="http://schemas.microsoft.com/office/drawing/2014/main" id="{C0E565EB-346C-4F6B-B71C-968B9E4D9730}"/>
              </a:ext>
            </a:extLst>
          </p:cNvPr>
          <p:cNvSpPr>
            <a:spLocks noGrp="1"/>
          </p:cNvSpPr>
          <p:nvPr/>
        </p:nvSpPr>
        <p:spPr>
          <a:xfrm>
            <a:off x="8324850" y="3562350"/>
            <a:ext cx="114300" cy="133350"/>
          </a:xfrm>
          <a:prstGeom prst="upArrow">
            <a:avLst/>
          </a:prstGeom>
          <a:solidFill>
            <a:srgbClr val="087F8C"/>
          </a:solidFill>
          <a:ln w="0">
            <a:noFill/>
            <a:prstDash val="solid"/>
          </a:ln>
        </p:spPr>
      </p:sp>
      <p:sp>
        <p:nvSpPr>
          <p:cNvPr id="1059" name="object-60">
            <a:extLst>
              <a:ext uri="{FF2B5EF4-FFF2-40B4-BE49-F238E27FC236}">
                <a16:creationId xmlns:a16="http://schemas.microsoft.com/office/drawing/2014/main" id="{06CEF99D-1CB7-4B73-B644-3395FB971B09}"/>
              </a:ext>
            </a:extLst>
          </p:cNvPr>
          <p:cNvSpPr>
            <a:spLocks noGrp="1"/>
          </p:cNvSpPr>
          <p:nvPr/>
        </p:nvSpPr>
        <p:spPr>
          <a:xfrm>
            <a:off x="6457950" y="2752725"/>
            <a:ext cx="3886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8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站群 CDSSC</a:t>
            </a:r>
          </a:p>
        </p:txBody>
      </p:sp>
      <p:sp>
        <p:nvSpPr>
          <p:cNvPr id="1060" name="object-61">
            <a:extLst>
              <a:ext uri="{FF2B5EF4-FFF2-40B4-BE49-F238E27FC236}">
                <a16:creationId xmlns:a16="http://schemas.microsoft.com/office/drawing/2014/main" id="{5D1100A6-437A-4F7F-934F-A3228623DF3F}"/>
              </a:ext>
            </a:extLst>
          </p:cNvPr>
          <p:cNvSpPr>
            <a:spLocks noGrp="1"/>
          </p:cNvSpPr>
          <p:nvPr/>
        </p:nvSpPr>
        <p:spPr>
          <a:xfrm>
            <a:off x="447675" y="5114925"/>
            <a:ext cx="3067050" cy="762000"/>
          </a:xfrm>
          <a:prstGeom prst="roundRect">
            <a:avLst>
              <a:gd name="adj" fmla="val 10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8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运营商</a:t>
            </a:r>
          </a:p>
          <a:p>
            <a:pPr algn="ctr">
              <a:defRPr sz="18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套餐定价与站群调度</a:t>
            </a:r>
          </a:p>
        </p:txBody>
      </p:sp>
      <p:sp>
        <p:nvSpPr>
          <p:cNvPr id="1061" name="object-62">
            <a:extLst>
              <a:ext uri="{FF2B5EF4-FFF2-40B4-BE49-F238E27FC236}">
                <a16:creationId xmlns:a16="http://schemas.microsoft.com/office/drawing/2014/main" id="{F119362F-0172-4137-B1DD-EEE89AD2B56C}"/>
              </a:ext>
            </a:extLst>
          </p:cNvPr>
          <p:cNvSpPr>
            <a:spLocks noGrp="1"/>
          </p:cNvSpPr>
          <p:nvPr/>
        </p:nvSpPr>
        <p:spPr>
          <a:xfrm>
            <a:off x="2000250" y="4905375"/>
            <a:ext cx="953" cy="200025"/>
          </a:xfrm>
          <a:prstGeom prst="line">
            <a:avLst/>
          </a:prstGeom>
          <a:noFill/>
          <a:ln w="22860">
            <a:solidFill>
              <a:srgbClr val="1673CE"/>
            </a:solidFill>
            <a:prstDash val="dash"/>
          </a:ln>
        </p:spPr>
      </p:sp>
      <p:sp>
        <p:nvSpPr>
          <p:cNvPr id="1062" name="object-63">
            <a:extLst>
              <a:ext uri="{FF2B5EF4-FFF2-40B4-BE49-F238E27FC236}">
                <a16:creationId xmlns:a16="http://schemas.microsoft.com/office/drawing/2014/main" id="{A965524D-9C3D-442E-9941-9A994406770B}"/>
              </a:ext>
            </a:extLst>
          </p:cNvPr>
          <p:cNvSpPr>
            <a:spLocks noGrp="1"/>
          </p:cNvSpPr>
          <p:nvPr/>
        </p:nvSpPr>
        <p:spPr>
          <a:xfrm>
            <a:off x="2000250" y="4905375"/>
            <a:ext cx="6162675" cy="953"/>
          </a:xfrm>
          <a:prstGeom prst="line">
            <a:avLst/>
          </a:prstGeom>
          <a:noFill/>
          <a:ln w="22860">
            <a:solidFill>
              <a:srgbClr val="1673CE"/>
            </a:solidFill>
            <a:prstDash val="dash"/>
          </a:ln>
        </p:spPr>
      </p:sp>
      <p:sp>
        <p:nvSpPr>
          <p:cNvPr id="1063" name="object-64">
            <a:extLst>
              <a:ext uri="{FF2B5EF4-FFF2-40B4-BE49-F238E27FC236}">
                <a16:creationId xmlns:a16="http://schemas.microsoft.com/office/drawing/2014/main" id="{295F848D-B058-4D17-8FCA-31DE9DDD29EB}"/>
              </a:ext>
            </a:extLst>
          </p:cNvPr>
          <p:cNvSpPr>
            <a:spLocks noGrp="1"/>
          </p:cNvSpPr>
          <p:nvPr/>
        </p:nvSpPr>
        <p:spPr>
          <a:xfrm>
            <a:off x="8162925" y="4848225"/>
            <a:ext cx="953" cy="57150"/>
          </a:xfrm>
          <a:prstGeom prst="line">
            <a:avLst/>
          </a:prstGeom>
          <a:noFill/>
          <a:ln w="22860">
            <a:solidFill>
              <a:srgbClr val="1673CE"/>
            </a:solidFill>
            <a:prstDash val="dash"/>
          </a:ln>
        </p:spPr>
      </p:sp>
      <p:sp>
        <p:nvSpPr>
          <p:cNvPr id="1064" name="object-65">
            <a:extLst>
              <a:ext uri="{FF2B5EF4-FFF2-40B4-BE49-F238E27FC236}">
                <a16:creationId xmlns:a16="http://schemas.microsoft.com/office/drawing/2014/main" id="{139C7D6A-006D-4D65-BA66-D57FD5987A17}"/>
              </a:ext>
            </a:extLst>
          </p:cNvPr>
          <p:cNvSpPr>
            <a:spLocks noGrp="1"/>
          </p:cNvSpPr>
          <p:nvPr/>
        </p:nvSpPr>
        <p:spPr>
          <a:xfrm>
            <a:off x="8105775" y="4848225"/>
            <a:ext cx="114300" cy="133350"/>
          </a:xfrm>
          <a:prstGeom prst="upArrow">
            <a:avLst/>
          </a:prstGeom>
          <a:solidFill>
            <a:srgbClr val="1673CE"/>
          </a:solidFill>
          <a:ln w="0">
            <a:noFill/>
            <a:prstDash val="solid"/>
          </a:ln>
        </p:spPr>
      </p:sp>
      <p:sp>
        <p:nvSpPr>
          <p:cNvPr id="1065" name="object-66">
            <a:extLst>
              <a:ext uri="{FF2B5EF4-FFF2-40B4-BE49-F238E27FC236}">
                <a16:creationId xmlns:a16="http://schemas.microsoft.com/office/drawing/2014/main" id="{E9DED175-625F-4E8B-8C03-75A319BCB889}"/>
              </a:ext>
            </a:extLst>
          </p:cNvPr>
          <p:cNvSpPr>
            <a:spLocks noGrp="1"/>
          </p:cNvSpPr>
          <p:nvPr/>
        </p:nvSpPr>
        <p:spPr>
          <a:xfrm>
            <a:off x="4067175" y="4857750"/>
            <a:ext cx="1562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500" b="0">
                <a:solidFill>
                  <a:srgbClr val="1673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167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73CE"/>
                </a:solidFill>
                <a:latin typeface="Microsoft YaHei"/>
                <a:ea typeface="Microsoft YaHei"/>
                <a:cs typeface="Microsoft YaHei"/>
              </a:rPr>
              <a:t>调度指令</a:t>
            </a:r>
          </a:p>
        </p:txBody>
      </p:sp>
      <p:sp>
        <p:nvSpPr>
          <p:cNvPr id="1066" name="object-67">
            <a:extLst>
              <a:ext uri="{FF2B5EF4-FFF2-40B4-BE49-F238E27FC236}">
                <a16:creationId xmlns:a16="http://schemas.microsoft.com/office/drawing/2014/main" id="{09B57FCC-32A3-483B-A933-60E454367EC6}"/>
              </a:ext>
            </a:extLst>
          </p:cNvPr>
          <p:cNvSpPr>
            <a:spLocks noGrp="1"/>
          </p:cNvSpPr>
          <p:nvPr/>
        </p:nvSpPr>
        <p:spPr>
          <a:xfrm>
            <a:off x="4210050" y="5229225"/>
            <a:ext cx="581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五类服务套餐</a:t>
            </a:r>
          </a:p>
        </p:txBody>
      </p:sp>
      <p:sp>
        <p:nvSpPr>
          <p:cNvPr id="1067" name="object-68">
            <a:extLst>
              <a:ext uri="{FF2B5EF4-FFF2-40B4-BE49-F238E27FC236}">
                <a16:creationId xmlns:a16="http://schemas.microsoft.com/office/drawing/2014/main" id="{7AB7F3D2-31A9-4FDD-8BEC-FA52A5573425}"/>
              </a:ext>
            </a:extLst>
          </p:cNvPr>
          <p:cNvSpPr>
            <a:spLocks noGrp="1"/>
          </p:cNvSpPr>
          <p:nvPr/>
        </p:nvSpPr>
        <p:spPr>
          <a:xfrm>
            <a:off x="4229100" y="5638800"/>
            <a:ext cx="1104900" cy="485775"/>
          </a:xfrm>
          <a:prstGeom prst="roundRect">
            <a:avLst>
              <a:gd name="adj" fmla="val 15686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阶梯</a:t>
            </a:r>
          </a:p>
        </p:txBody>
      </p:sp>
      <p:sp>
        <p:nvSpPr>
          <p:cNvPr id="1068" name="object-69">
            <a:extLst>
              <a:ext uri="{FF2B5EF4-FFF2-40B4-BE49-F238E27FC236}">
                <a16:creationId xmlns:a16="http://schemas.microsoft.com/office/drawing/2014/main" id="{ABAA7EE4-BB6B-4793-8C69-99D3C76581DC}"/>
              </a:ext>
            </a:extLst>
          </p:cNvPr>
          <p:cNvSpPr>
            <a:spLocks noGrp="1"/>
          </p:cNvSpPr>
          <p:nvPr/>
        </p:nvSpPr>
        <p:spPr>
          <a:xfrm>
            <a:off x="5495925" y="5638800"/>
            <a:ext cx="1104900" cy="485775"/>
          </a:xfrm>
          <a:prstGeom prst="roundRect">
            <a:avLst>
              <a:gd name="adj" fmla="val 15686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动态</a:t>
            </a:r>
          </a:p>
        </p:txBody>
      </p:sp>
      <p:sp>
        <p:nvSpPr>
          <p:cNvPr id="1069" name="object-70">
            <a:extLst>
              <a:ext uri="{FF2B5EF4-FFF2-40B4-BE49-F238E27FC236}">
                <a16:creationId xmlns:a16="http://schemas.microsoft.com/office/drawing/2014/main" id="{D12C2E19-9C2F-48DF-AA64-0B8EC458B387}"/>
              </a:ext>
            </a:extLst>
          </p:cNvPr>
          <p:cNvSpPr>
            <a:spLocks noGrp="1"/>
          </p:cNvSpPr>
          <p:nvPr/>
        </p:nvSpPr>
        <p:spPr>
          <a:xfrm>
            <a:off x="6762750" y="5638800"/>
            <a:ext cx="1104900" cy="485775"/>
          </a:xfrm>
          <a:prstGeom prst="roundRect">
            <a:avLst>
              <a:gd name="adj" fmla="val 15686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月租</a:t>
            </a:r>
          </a:p>
        </p:txBody>
      </p:sp>
      <p:sp>
        <p:nvSpPr>
          <p:cNvPr id="1070" name="object-71">
            <a:extLst>
              <a:ext uri="{FF2B5EF4-FFF2-40B4-BE49-F238E27FC236}">
                <a16:creationId xmlns:a16="http://schemas.microsoft.com/office/drawing/2014/main" id="{FF773033-9039-42B1-81BD-E3A9B47B2D2F}"/>
              </a:ext>
            </a:extLst>
          </p:cNvPr>
          <p:cNvSpPr>
            <a:spLocks noGrp="1"/>
          </p:cNvSpPr>
          <p:nvPr/>
        </p:nvSpPr>
        <p:spPr>
          <a:xfrm>
            <a:off x="8029575" y="5638800"/>
            <a:ext cx="1104900" cy="485775"/>
          </a:xfrm>
          <a:prstGeom prst="roundRect">
            <a:avLst>
              <a:gd name="adj" fmla="val 15686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换电</a:t>
            </a:r>
          </a:p>
        </p:txBody>
      </p:sp>
      <p:sp>
        <p:nvSpPr>
          <p:cNvPr id="1071" name="object-72">
            <a:extLst>
              <a:ext uri="{FF2B5EF4-FFF2-40B4-BE49-F238E27FC236}">
                <a16:creationId xmlns:a16="http://schemas.microsoft.com/office/drawing/2014/main" id="{B32E99D7-C686-4E2D-9349-42C94E320159}"/>
              </a:ext>
            </a:extLst>
          </p:cNvPr>
          <p:cNvSpPr>
            <a:spLocks noGrp="1"/>
          </p:cNvSpPr>
          <p:nvPr/>
        </p:nvSpPr>
        <p:spPr>
          <a:xfrm>
            <a:off x="9296400" y="5638800"/>
            <a:ext cx="1104900" cy="485775"/>
          </a:xfrm>
          <a:prstGeom prst="roundRect">
            <a:avLst>
              <a:gd name="adj" fmla="val 15686"/>
            </a:avLst>
          </a:prstGeom>
          <a:solidFill>
            <a:srgbClr val="E8F3E4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V2G</a:t>
            </a:r>
          </a:p>
        </p:txBody>
      </p:sp>
      <p:sp>
        <p:nvSpPr>
          <p:cNvPr id="1072" name="object-73">
            <a:extLst>
              <a:ext uri="{FF2B5EF4-FFF2-40B4-BE49-F238E27FC236}">
                <a16:creationId xmlns:a16="http://schemas.microsoft.com/office/drawing/2014/main" id="{38FD7670-C3C2-42EC-B822-54795A7786D7}"/>
              </a:ext>
            </a:extLst>
          </p:cNvPr>
          <p:cNvSpPr>
            <a:spLocks noGrp="1"/>
          </p:cNvSpPr>
          <p:nvPr/>
        </p:nvSpPr>
        <p:spPr>
          <a:xfrm>
            <a:off x="3514725" y="5486400"/>
            <a:ext cx="428625" cy="953"/>
          </a:xfrm>
          <a:prstGeom prst="line">
            <a:avLst/>
          </a:prstGeom>
          <a:noFill/>
          <a:ln w="22860">
            <a:solidFill>
              <a:srgbClr val="1673CE"/>
            </a:solidFill>
            <a:prstDash val="solid"/>
          </a:ln>
        </p:spPr>
      </p:sp>
      <p:sp>
        <p:nvSpPr>
          <p:cNvPr id="1073" name="object-74">
            <a:extLst>
              <a:ext uri="{FF2B5EF4-FFF2-40B4-BE49-F238E27FC236}">
                <a16:creationId xmlns:a16="http://schemas.microsoft.com/office/drawing/2014/main" id="{188CA830-AD74-4195-9F09-38FBE7A33F96}"/>
              </a:ext>
            </a:extLst>
          </p:cNvPr>
          <p:cNvSpPr>
            <a:spLocks noGrp="1"/>
          </p:cNvSpPr>
          <p:nvPr/>
        </p:nvSpPr>
        <p:spPr>
          <a:xfrm>
            <a:off x="3943350" y="5486400"/>
            <a:ext cx="953" cy="390525"/>
          </a:xfrm>
          <a:prstGeom prst="line">
            <a:avLst/>
          </a:prstGeom>
          <a:noFill/>
          <a:ln w="22860">
            <a:solidFill>
              <a:srgbClr val="1673CE"/>
            </a:solidFill>
            <a:prstDash val="solid"/>
          </a:ln>
        </p:spPr>
      </p:sp>
      <p:sp>
        <p:nvSpPr>
          <p:cNvPr id="1074" name="object-75">
            <a:extLst>
              <a:ext uri="{FF2B5EF4-FFF2-40B4-BE49-F238E27FC236}">
                <a16:creationId xmlns:a16="http://schemas.microsoft.com/office/drawing/2014/main" id="{1DE6BA41-231D-44E4-A942-C91E6FBE5102}"/>
              </a:ext>
            </a:extLst>
          </p:cNvPr>
          <p:cNvSpPr>
            <a:spLocks noGrp="1"/>
          </p:cNvSpPr>
          <p:nvPr/>
        </p:nvSpPr>
        <p:spPr>
          <a:xfrm>
            <a:off x="3943350" y="5876925"/>
            <a:ext cx="285750" cy="953"/>
          </a:xfrm>
          <a:prstGeom prst="line">
            <a:avLst/>
          </a:prstGeom>
          <a:noFill/>
          <a:ln w="22860">
            <a:solidFill>
              <a:srgbClr val="1673CE"/>
            </a:solidFill>
            <a:prstDash val="solid"/>
          </a:ln>
        </p:spPr>
      </p:sp>
      <p:sp>
        <p:nvSpPr>
          <p:cNvPr id="1075" name="object-76">
            <a:extLst>
              <a:ext uri="{FF2B5EF4-FFF2-40B4-BE49-F238E27FC236}">
                <a16:creationId xmlns:a16="http://schemas.microsoft.com/office/drawing/2014/main" id="{EE42EBB0-14D9-4D16-BE5F-A4AACFE3F95D}"/>
              </a:ext>
            </a:extLst>
          </p:cNvPr>
          <p:cNvSpPr>
            <a:spLocks noGrp="1"/>
          </p:cNvSpPr>
          <p:nvPr/>
        </p:nvSpPr>
        <p:spPr>
          <a:xfrm>
            <a:off x="4095750" y="5819775"/>
            <a:ext cx="133350" cy="114300"/>
          </a:xfrm>
          <a:prstGeom prst="rightArrow">
            <a:avLst/>
          </a:prstGeom>
          <a:solidFill>
            <a:srgbClr val="1673CE"/>
          </a:solidFill>
          <a:ln w="0">
            <a:noFill/>
            <a:prstDash val="solid"/>
          </a:ln>
        </p:spPr>
      </p:sp>
      <p:sp>
        <p:nvSpPr>
          <p:cNvPr id="1076" name="object-77">
            <a:extLst>
              <a:ext uri="{FF2B5EF4-FFF2-40B4-BE49-F238E27FC236}">
                <a16:creationId xmlns:a16="http://schemas.microsoft.com/office/drawing/2014/main" id="{2ADF1D65-EC18-4CB8-B724-16DDD1C362B4}"/>
              </a:ext>
            </a:extLst>
          </p:cNvPr>
          <p:cNvSpPr>
            <a:spLocks noGrp="1"/>
          </p:cNvSpPr>
          <p:nvPr/>
        </p:nvSpPr>
        <p:spPr>
          <a:xfrm>
            <a:off x="3543300" y="5981700"/>
            <a:ext cx="714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425" b="0">
                <a:solidFill>
                  <a:srgbClr val="1673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167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73CE"/>
                </a:solidFill>
                <a:latin typeface="Microsoft YaHei"/>
                <a:ea typeface="Microsoft YaHei"/>
                <a:cs typeface="Microsoft YaHei"/>
              </a:rPr>
              <a:t>价格</a:t>
            </a:r>
          </a:p>
        </p:txBody>
      </p:sp>
      <p:sp>
        <p:nvSpPr>
          <p:cNvPr id="1077" name="object-78">
            <a:extLst>
              <a:ext uri="{FF2B5EF4-FFF2-40B4-BE49-F238E27FC236}">
                <a16:creationId xmlns:a16="http://schemas.microsoft.com/office/drawing/2014/main" id="{E352430E-E2C6-4EC9-ADCC-CC76E5946847}"/>
              </a:ext>
            </a:extLst>
          </p:cNvPr>
          <p:cNvSpPr>
            <a:spLocks noGrp="1"/>
          </p:cNvSpPr>
          <p:nvPr/>
        </p:nvSpPr>
        <p:spPr>
          <a:xfrm>
            <a:off x="428625" y="6619875"/>
            <a:ext cx="1619250" cy="895350"/>
          </a:xfrm>
          <a:prstGeom prst="roundRect">
            <a:avLst>
              <a:gd name="adj" fmla="val 8511"/>
            </a:avLst>
          </a:prstGeom>
          <a:solidFill>
            <a:srgbClr val="EEE8FA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800" b="1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 b="1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rPr>
              <a:t>BIRCH</a:t>
            </a:r>
          </a:p>
          <a:p>
            <a:pPr algn="ctr">
              <a:defRPr sz="1800" b="1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rPr>
              <a:t>用户偏好分类</a:t>
            </a:r>
          </a:p>
        </p:txBody>
      </p:sp>
      <p:sp>
        <p:nvSpPr>
          <p:cNvPr id="1078" name="object-79">
            <a:extLst>
              <a:ext uri="{FF2B5EF4-FFF2-40B4-BE49-F238E27FC236}">
                <a16:creationId xmlns:a16="http://schemas.microsoft.com/office/drawing/2014/main" id="{CBAB8754-FD53-4E1E-B5B1-762F547DE4ED}"/>
              </a:ext>
            </a:extLst>
          </p:cNvPr>
          <p:cNvSpPr>
            <a:spLocks noGrp="1"/>
          </p:cNvSpPr>
          <p:nvPr/>
        </p:nvSpPr>
        <p:spPr>
          <a:xfrm>
            <a:off x="2047875" y="7067550"/>
            <a:ext cx="552450" cy="953"/>
          </a:xfrm>
          <a:prstGeom prst="line">
            <a:avLst/>
          </a:prstGeom>
          <a:noFill/>
          <a:ln w="22860">
            <a:solidFill>
              <a:srgbClr val="7751A8"/>
            </a:solidFill>
            <a:prstDash val="solid"/>
          </a:ln>
        </p:spPr>
      </p:sp>
      <p:sp>
        <p:nvSpPr>
          <p:cNvPr id="1079" name="object-80">
            <a:extLst>
              <a:ext uri="{FF2B5EF4-FFF2-40B4-BE49-F238E27FC236}">
                <a16:creationId xmlns:a16="http://schemas.microsoft.com/office/drawing/2014/main" id="{511472C6-BE3B-4951-A92E-DDB6FBCD8934}"/>
              </a:ext>
            </a:extLst>
          </p:cNvPr>
          <p:cNvSpPr>
            <a:spLocks noGrp="1"/>
          </p:cNvSpPr>
          <p:nvPr/>
        </p:nvSpPr>
        <p:spPr>
          <a:xfrm>
            <a:off x="2466975" y="7010400"/>
            <a:ext cx="133350" cy="114300"/>
          </a:xfrm>
          <a:prstGeom prst="rightArrow">
            <a:avLst/>
          </a:prstGeom>
          <a:solidFill>
            <a:srgbClr val="7751A8"/>
          </a:solidFill>
          <a:ln w="0">
            <a:noFill/>
            <a:prstDash val="solid"/>
          </a:ln>
        </p:spPr>
      </p:sp>
      <p:sp>
        <p:nvSpPr>
          <p:cNvPr id="1080" name="object-81">
            <a:extLst>
              <a:ext uri="{FF2B5EF4-FFF2-40B4-BE49-F238E27FC236}">
                <a16:creationId xmlns:a16="http://schemas.microsoft.com/office/drawing/2014/main" id="{FA33EE67-9630-4B57-BDD0-E3299EFA8136}"/>
              </a:ext>
            </a:extLst>
          </p:cNvPr>
          <p:cNvSpPr>
            <a:spLocks noGrp="1"/>
          </p:cNvSpPr>
          <p:nvPr/>
        </p:nvSpPr>
        <p:spPr>
          <a:xfrm>
            <a:off x="400050" y="6153150"/>
            <a:ext cx="17049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3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3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价格 / 距离</a:t>
            </a:r>
          </a:p>
          <a:p>
            <a:pPr algn="ctr">
              <a:defRPr sz="13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排队 / 环保</a:t>
            </a:r>
          </a:p>
        </p:txBody>
      </p:sp>
      <p:sp>
        <p:nvSpPr>
          <p:cNvPr id="1081" name="object-82">
            <a:extLst>
              <a:ext uri="{FF2B5EF4-FFF2-40B4-BE49-F238E27FC236}">
                <a16:creationId xmlns:a16="http://schemas.microsoft.com/office/drawing/2014/main" id="{A39724F0-D4B4-415F-A68F-05D5BB2F9C3A}"/>
              </a:ext>
            </a:extLst>
          </p:cNvPr>
          <p:cNvSpPr>
            <a:spLocks noGrp="1"/>
          </p:cNvSpPr>
          <p:nvPr/>
        </p:nvSpPr>
        <p:spPr>
          <a:xfrm>
            <a:off x="2600325" y="6667500"/>
            <a:ext cx="6724650" cy="1076325"/>
          </a:xfrm>
          <a:prstGeom prst="rect">
            <a:avLst/>
          </a:prstGeom>
          <a:solidFill>
            <a:srgbClr val="F8F6FC"/>
          </a:solidFill>
          <a:ln w="9525">
            <a:solidFill>
              <a:srgbClr val="BCADCE"/>
            </a:solidFill>
            <a:prstDash val="solid"/>
          </a:ln>
        </p:spPr>
      </p:sp>
      <p:sp>
        <p:nvSpPr>
          <p:cNvPr id="1082" name="object-83">
            <a:extLst>
              <a:ext uri="{FF2B5EF4-FFF2-40B4-BE49-F238E27FC236}">
                <a16:creationId xmlns:a16="http://schemas.microsoft.com/office/drawing/2014/main" id="{C7979AA7-6A73-4E39-AD34-E1ADED126E12}"/>
              </a:ext>
            </a:extLst>
          </p:cNvPr>
          <p:cNvSpPr>
            <a:spLocks noGrp="1"/>
          </p:cNvSpPr>
          <p:nvPr/>
        </p:nvSpPr>
        <p:spPr>
          <a:xfrm>
            <a:off x="2809875" y="6886575"/>
            <a:ext cx="133350" cy="133350"/>
          </a:xfrm>
          <a:prstGeom prst="ellipse">
            <a:avLst/>
          </a:prstGeom>
          <a:solidFill>
            <a:srgbClr val="7751A8"/>
          </a:solidFill>
          <a:ln w="19050">
            <a:solidFill>
              <a:srgbClr val="7751A8"/>
            </a:solidFill>
            <a:prstDash val="solid"/>
          </a:ln>
        </p:spPr>
      </p:sp>
      <p:sp>
        <p:nvSpPr>
          <p:cNvPr id="1083" name="object-84">
            <a:extLst>
              <a:ext uri="{FF2B5EF4-FFF2-40B4-BE49-F238E27FC236}">
                <a16:creationId xmlns:a16="http://schemas.microsoft.com/office/drawing/2014/main" id="{E9F2DECF-3CC8-4887-A960-CB17646F7CFE}"/>
              </a:ext>
            </a:extLst>
          </p:cNvPr>
          <p:cNvSpPr>
            <a:spLocks noGrp="1"/>
          </p:cNvSpPr>
          <p:nvPr/>
        </p:nvSpPr>
        <p:spPr>
          <a:xfrm>
            <a:off x="2790825" y="7058025"/>
            <a:ext cx="171450" cy="228600"/>
          </a:xfrm>
          <a:prstGeom prst="roundRect">
            <a:avLst>
              <a:gd name="adj" fmla="val 44444"/>
            </a:avLst>
          </a:prstGeom>
          <a:solidFill>
            <a:srgbClr val="7751A8"/>
          </a:solidFill>
          <a:ln w="0">
            <a:noFill/>
            <a:prstDash val="solid"/>
          </a:ln>
        </p:spPr>
      </p:sp>
      <p:sp>
        <p:nvSpPr>
          <p:cNvPr id="1084" name="object-85">
            <a:extLst>
              <a:ext uri="{FF2B5EF4-FFF2-40B4-BE49-F238E27FC236}">
                <a16:creationId xmlns:a16="http://schemas.microsoft.com/office/drawing/2014/main" id="{6FA6E039-0864-42E1-828F-FB2F63351DF1}"/>
              </a:ext>
            </a:extLst>
          </p:cNvPr>
          <p:cNvSpPr>
            <a:spLocks noGrp="1"/>
          </p:cNvSpPr>
          <p:nvPr/>
        </p:nvSpPr>
        <p:spPr>
          <a:xfrm>
            <a:off x="3048000" y="6886575"/>
            <a:ext cx="133350" cy="133350"/>
          </a:xfrm>
          <a:prstGeom prst="ellipse">
            <a:avLst/>
          </a:prstGeom>
          <a:solidFill>
            <a:srgbClr val="7751A8"/>
          </a:solidFill>
          <a:ln w="19050">
            <a:solidFill>
              <a:srgbClr val="7751A8"/>
            </a:solidFill>
            <a:prstDash val="solid"/>
          </a:ln>
        </p:spPr>
      </p:sp>
      <p:sp>
        <p:nvSpPr>
          <p:cNvPr id="1085" name="object-86">
            <a:extLst>
              <a:ext uri="{FF2B5EF4-FFF2-40B4-BE49-F238E27FC236}">
                <a16:creationId xmlns:a16="http://schemas.microsoft.com/office/drawing/2014/main" id="{6EE27CD7-C9F4-4DB1-BAF7-173C02397889}"/>
              </a:ext>
            </a:extLst>
          </p:cNvPr>
          <p:cNvSpPr>
            <a:spLocks noGrp="1"/>
          </p:cNvSpPr>
          <p:nvPr/>
        </p:nvSpPr>
        <p:spPr>
          <a:xfrm>
            <a:off x="3028950" y="7058025"/>
            <a:ext cx="171450" cy="228600"/>
          </a:xfrm>
          <a:prstGeom prst="roundRect">
            <a:avLst>
              <a:gd name="adj" fmla="val 44444"/>
            </a:avLst>
          </a:prstGeom>
          <a:solidFill>
            <a:srgbClr val="7751A8"/>
          </a:solidFill>
          <a:ln w="0">
            <a:noFill/>
            <a:prstDash val="solid"/>
          </a:ln>
        </p:spPr>
      </p:sp>
      <p:sp>
        <p:nvSpPr>
          <p:cNvPr id="1086" name="object-87">
            <a:extLst>
              <a:ext uri="{FF2B5EF4-FFF2-40B4-BE49-F238E27FC236}">
                <a16:creationId xmlns:a16="http://schemas.microsoft.com/office/drawing/2014/main" id="{3BBCE65D-6BD0-43BF-AB49-FC6B68BE2DA9}"/>
              </a:ext>
            </a:extLst>
          </p:cNvPr>
          <p:cNvSpPr>
            <a:spLocks noGrp="1"/>
          </p:cNvSpPr>
          <p:nvPr/>
        </p:nvSpPr>
        <p:spPr>
          <a:xfrm>
            <a:off x="3286125" y="6886575"/>
            <a:ext cx="133350" cy="133350"/>
          </a:xfrm>
          <a:prstGeom prst="ellipse">
            <a:avLst/>
          </a:prstGeom>
          <a:solidFill>
            <a:srgbClr val="7751A8"/>
          </a:solidFill>
          <a:ln w="19050">
            <a:solidFill>
              <a:srgbClr val="7751A8"/>
            </a:solidFill>
            <a:prstDash val="solid"/>
          </a:ln>
        </p:spPr>
      </p:sp>
      <p:sp>
        <p:nvSpPr>
          <p:cNvPr id="1087" name="object-88">
            <a:extLst>
              <a:ext uri="{FF2B5EF4-FFF2-40B4-BE49-F238E27FC236}">
                <a16:creationId xmlns:a16="http://schemas.microsoft.com/office/drawing/2014/main" id="{1A1A5B49-D83C-49E4-97C5-D1BDACB9941A}"/>
              </a:ext>
            </a:extLst>
          </p:cNvPr>
          <p:cNvSpPr>
            <a:spLocks noGrp="1"/>
          </p:cNvSpPr>
          <p:nvPr/>
        </p:nvSpPr>
        <p:spPr>
          <a:xfrm>
            <a:off x="3267075" y="7058025"/>
            <a:ext cx="171450" cy="228600"/>
          </a:xfrm>
          <a:prstGeom prst="roundRect">
            <a:avLst>
              <a:gd name="adj" fmla="val 44444"/>
            </a:avLst>
          </a:prstGeom>
          <a:solidFill>
            <a:srgbClr val="7751A8"/>
          </a:solidFill>
          <a:ln w="0">
            <a:noFill/>
            <a:prstDash val="solid"/>
          </a:ln>
        </p:spPr>
      </p:sp>
      <p:sp>
        <p:nvSpPr>
          <p:cNvPr id="1088" name="object-89">
            <a:extLst>
              <a:ext uri="{FF2B5EF4-FFF2-40B4-BE49-F238E27FC236}">
                <a16:creationId xmlns:a16="http://schemas.microsoft.com/office/drawing/2014/main" id="{9813C8FD-1345-4A2D-BE9B-711F7C687C4F}"/>
              </a:ext>
            </a:extLst>
          </p:cNvPr>
          <p:cNvSpPr>
            <a:spLocks noGrp="1"/>
          </p:cNvSpPr>
          <p:nvPr/>
        </p:nvSpPr>
        <p:spPr>
          <a:xfrm>
            <a:off x="2590800" y="7372350"/>
            <a:ext cx="13049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rPr>
              <a:t>用户群 0</a:t>
            </a:r>
          </a:p>
        </p:txBody>
      </p:sp>
      <p:sp>
        <p:nvSpPr>
          <p:cNvPr id="1089" name="object-90">
            <a:extLst>
              <a:ext uri="{FF2B5EF4-FFF2-40B4-BE49-F238E27FC236}">
                <a16:creationId xmlns:a16="http://schemas.microsoft.com/office/drawing/2014/main" id="{CE90D2AB-0302-4BE0-8537-C2C849DF945A}"/>
              </a:ext>
            </a:extLst>
          </p:cNvPr>
          <p:cNvSpPr>
            <a:spLocks noGrp="1"/>
          </p:cNvSpPr>
          <p:nvPr/>
        </p:nvSpPr>
        <p:spPr>
          <a:xfrm>
            <a:off x="4733925" y="6886575"/>
            <a:ext cx="133350" cy="133350"/>
          </a:xfrm>
          <a:prstGeom prst="ellipse">
            <a:avLst/>
          </a:prstGeom>
          <a:solidFill>
            <a:srgbClr val="D16A25"/>
          </a:solidFill>
          <a:ln w="19050">
            <a:solidFill>
              <a:srgbClr val="D16A25"/>
            </a:solidFill>
            <a:prstDash val="solid"/>
          </a:ln>
        </p:spPr>
      </p:sp>
      <p:sp>
        <p:nvSpPr>
          <p:cNvPr id="1090" name="object-91">
            <a:extLst>
              <a:ext uri="{FF2B5EF4-FFF2-40B4-BE49-F238E27FC236}">
                <a16:creationId xmlns:a16="http://schemas.microsoft.com/office/drawing/2014/main" id="{8C936786-A28C-4D26-9A26-F01062944A49}"/>
              </a:ext>
            </a:extLst>
          </p:cNvPr>
          <p:cNvSpPr>
            <a:spLocks noGrp="1"/>
          </p:cNvSpPr>
          <p:nvPr/>
        </p:nvSpPr>
        <p:spPr>
          <a:xfrm>
            <a:off x="4714875" y="7058025"/>
            <a:ext cx="171450" cy="228600"/>
          </a:xfrm>
          <a:prstGeom prst="roundRect">
            <a:avLst>
              <a:gd name="adj" fmla="val 44444"/>
            </a:avLst>
          </a:prstGeom>
          <a:solidFill>
            <a:srgbClr val="D16A25"/>
          </a:solidFill>
          <a:ln w="0">
            <a:noFill/>
            <a:prstDash val="solid"/>
          </a:ln>
        </p:spPr>
      </p:sp>
      <p:sp>
        <p:nvSpPr>
          <p:cNvPr id="1091" name="object-92">
            <a:extLst>
              <a:ext uri="{FF2B5EF4-FFF2-40B4-BE49-F238E27FC236}">
                <a16:creationId xmlns:a16="http://schemas.microsoft.com/office/drawing/2014/main" id="{E54E52F5-9907-40B6-8070-6F36DC976AF4}"/>
              </a:ext>
            </a:extLst>
          </p:cNvPr>
          <p:cNvSpPr>
            <a:spLocks noGrp="1"/>
          </p:cNvSpPr>
          <p:nvPr/>
        </p:nvSpPr>
        <p:spPr>
          <a:xfrm>
            <a:off x="4972050" y="6886575"/>
            <a:ext cx="133350" cy="133350"/>
          </a:xfrm>
          <a:prstGeom prst="ellipse">
            <a:avLst/>
          </a:prstGeom>
          <a:solidFill>
            <a:srgbClr val="D16A25"/>
          </a:solidFill>
          <a:ln w="19050">
            <a:solidFill>
              <a:srgbClr val="D16A25"/>
            </a:solidFill>
            <a:prstDash val="solid"/>
          </a:ln>
        </p:spPr>
      </p:sp>
      <p:sp>
        <p:nvSpPr>
          <p:cNvPr id="1092" name="object-93">
            <a:extLst>
              <a:ext uri="{FF2B5EF4-FFF2-40B4-BE49-F238E27FC236}">
                <a16:creationId xmlns:a16="http://schemas.microsoft.com/office/drawing/2014/main" id="{9E818903-61A4-442D-875A-EEC418CA17ED}"/>
              </a:ext>
            </a:extLst>
          </p:cNvPr>
          <p:cNvSpPr>
            <a:spLocks noGrp="1"/>
          </p:cNvSpPr>
          <p:nvPr/>
        </p:nvSpPr>
        <p:spPr>
          <a:xfrm>
            <a:off x="4953000" y="7058025"/>
            <a:ext cx="171450" cy="228600"/>
          </a:xfrm>
          <a:prstGeom prst="roundRect">
            <a:avLst>
              <a:gd name="adj" fmla="val 44444"/>
            </a:avLst>
          </a:prstGeom>
          <a:solidFill>
            <a:srgbClr val="D16A25"/>
          </a:solidFill>
          <a:ln w="0">
            <a:noFill/>
            <a:prstDash val="solid"/>
          </a:ln>
        </p:spPr>
      </p:sp>
      <p:sp>
        <p:nvSpPr>
          <p:cNvPr id="1093" name="object-94">
            <a:extLst>
              <a:ext uri="{FF2B5EF4-FFF2-40B4-BE49-F238E27FC236}">
                <a16:creationId xmlns:a16="http://schemas.microsoft.com/office/drawing/2014/main" id="{9BBE57F6-4C1D-4A20-8B4A-EFCE66194A71}"/>
              </a:ext>
            </a:extLst>
          </p:cNvPr>
          <p:cNvSpPr>
            <a:spLocks noGrp="1"/>
          </p:cNvSpPr>
          <p:nvPr/>
        </p:nvSpPr>
        <p:spPr>
          <a:xfrm>
            <a:off x="5210175" y="6886575"/>
            <a:ext cx="133350" cy="133350"/>
          </a:xfrm>
          <a:prstGeom prst="ellipse">
            <a:avLst/>
          </a:prstGeom>
          <a:solidFill>
            <a:srgbClr val="D16A25"/>
          </a:solidFill>
          <a:ln w="19050">
            <a:solidFill>
              <a:srgbClr val="D16A25"/>
            </a:solidFill>
            <a:prstDash val="solid"/>
          </a:ln>
        </p:spPr>
      </p:sp>
      <p:sp>
        <p:nvSpPr>
          <p:cNvPr id="1094" name="object-95">
            <a:extLst>
              <a:ext uri="{FF2B5EF4-FFF2-40B4-BE49-F238E27FC236}">
                <a16:creationId xmlns:a16="http://schemas.microsoft.com/office/drawing/2014/main" id="{F06DB22D-AFC5-4968-9E67-2A182F501AF0}"/>
              </a:ext>
            </a:extLst>
          </p:cNvPr>
          <p:cNvSpPr>
            <a:spLocks noGrp="1"/>
          </p:cNvSpPr>
          <p:nvPr/>
        </p:nvSpPr>
        <p:spPr>
          <a:xfrm>
            <a:off x="5191125" y="7058025"/>
            <a:ext cx="171450" cy="228600"/>
          </a:xfrm>
          <a:prstGeom prst="roundRect">
            <a:avLst>
              <a:gd name="adj" fmla="val 44444"/>
            </a:avLst>
          </a:prstGeom>
          <a:solidFill>
            <a:srgbClr val="D16A25"/>
          </a:solidFill>
          <a:ln w="0">
            <a:noFill/>
            <a:prstDash val="solid"/>
          </a:ln>
        </p:spPr>
      </p:sp>
      <p:sp>
        <p:nvSpPr>
          <p:cNvPr id="1095" name="object-96">
            <a:extLst>
              <a:ext uri="{FF2B5EF4-FFF2-40B4-BE49-F238E27FC236}">
                <a16:creationId xmlns:a16="http://schemas.microsoft.com/office/drawing/2014/main" id="{235B3380-8381-443F-87C7-42858459D5F1}"/>
              </a:ext>
            </a:extLst>
          </p:cNvPr>
          <p:cNvSpPr>
            <a:spLocks noGrp="1"/>
          </p:cNvSpPr>
          <p:nvPr/>
        </p:nvSpPr>
        <p:spPr>
          <a:xfrm>
            <a:off x="4514850" y="7372350"/>
            <a:ext cx="13049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rPr>
              <a:t>用户群 1</a:t>
            </a:r>
          </a:p>
        </p:txBody>
      </p:sp>
      <p:sp>
        <p:nvSpPr>
          <p:cNvPr id="1096" name="object-97">
            <a:extLst>
              <a:ext uri="{FF2B5EF4-FFF2-40B4-BE49-F238E27FC236}">
                <a16:creationId xmlns:a16="http://schemas.microsoft.com/office/drawing/2014/main" id="{8DCD7C10-9606-401B-B5D3-8A10F8C119E5}"/>
              </a:ext>
            </a:extLst>
          </p:cNvPr>
          <p:cNvSpPr>
            <a:spLocks noGrp="1"/>
          </p:cNvSpPr>
          <p:nvPr/>
        </p:nvSpPr>
        <p:spPr>
          <a:xfrm>
            <a:off x="6657975" y="6886575"/>
            <a:ext cx="133350" cy="133350"/>
          </a:xfrm>
          <a:prstGeom prst="ellipse">
            <a:avLst/>
          </a:prstGeom>
          <a:solidFill>
            <a:srgbClr val="087F8C"/>
          </a:solidFill>
          <a:ln w="19050">
            <a:solidFill>
              <a:srgbClr val="087F8C"/>
            </a:solidFill>
            <a:prstDash val="solid"/>
          </a:ln>
        </p:spPr>
      </p:sp>
      <p:sp>
        <p:nvSpPr>
          <p:cNvPr id="1097" name="object-98">
            <a:extLst>
              <a:ext uri="{FF2B5EF4-FFF2-40B4-BE49-F238E27FC236}">
                <a16:creationId xmlns:a16="http://schemas.microsoft.com/office/drawing/2014/main" id="{DFD2E2F9-F4AA-4E7A-8785-D6403927561C}"/>
              </a:ext>
            </a:extLst>
          </p:cNvPr>
          <p:cNvSpPr>
            <a:spLocks noGrp="1"/>
          </p:cNvSpPr>
          <p:nvPr/>
        </p:nvSpPr>
        <p:spPr>
          <a:xfrm>
            <a:off x="6638925" y="7058025"/>
            <a:ext cx="171450" cy="228600"/>
          </a:xfrm>
          <a:prstGeom prst="roundRect">
            <a:avLst>
              <a:gd name="adj" fmla="val 44444"/>
            </a:avLst>
          </a:prstGeom>
          <a:solidFill>
            <a:srgbClr val="087F8C"/>
          </a:solidFill>
          <a:ln w="0">
            <a:noFill/>
            <a:prstDash val="solid"/>
          </a:ln>
        </p:spPr>
      </p:sp>
      <p:sp>
        <p:nvSpPr>
          <p:cNvPr id="1098" name="object-99">
            <a:extLst>
              <a:ext uri="{FF2B5EF4-FFF2-40B4-BE49-F238E27FC236}">
                <a16:creationId xmlns:a16="http://schemas.microsoft.com/office/drawing/2014/main" id="{4DD7298D-57DF-4878-9A19-DB4E234077E3}"/>
              </a:ext>
            </a:extLst>
          </p:cNvPr>
          <p:cNvSpPr>
            <a:spLocks noGrp="1"/>
          </p:cNvSpPr>
          <p:nvPr/>
        </p:nvSpPr>
        <p:spPr>
          <a:xfrm>
            <a:off x="6896100" y="6886575"/>
            <a:ext cx="133350" cy="133350"/>
          </a:xfrm>
          <a:prstGeom prst="ellipse">
            <a:avLst/>
          </a:prstGeom>
          <a:solidFill>
            <a:srgbClr val="087F8C"/>
          </a:solidFill>
          <a:ln w="19050">
            <a:solidFill>
              <a:srgbClr val="087F8C"/>
            </a:solidFill>
            <a:prstDash val="solid"/>
          </a:ln>
        </p:spPr>
      </p:sp>
      <p:sp>
        <p:nvSpPr>
          <p:cNvPr id="1099" name="object-100">
            <a:extLst>
              <a:ext uri="{FF2B5EF4-FFF2-40B4-BE49-F238E27FC236}">
                <a16:creationId xmlns:a16="http://schemas.microsoft.com/office/drawing/2014/main" id="{85A1AD3C-B7FF-4B78-BE66-7CFEBC42F68B}"/>
              </a:ext>
            </a:extLst>
          </p:cNvPr>
          <p:cNvSpPr>
            <a:spLocks noGrp="1"/>
          </p:cNvSpPr>
          <p:nvPr/>
        </p:nvSpPr>
        <p:spPr>
          <a:xfrm>
            <a:off x="6877050" y="7058025"/>
            <a:ext cx="171450" cy="228600"/>
          </a:xfrm>
          <a:prstGeom prst="roundRect">
            <a:avLst>
              <a:gd name="adj" fmla="val 44444"/>
            </a:avLst>
          </a:prstGeom>
          <a:solidFill>
            <a:srgbClr val="087F8C"/>
          </a:solidFill>
          <a:ln w="0">
            <a:noFill/>
            <a:prstDash val="solid"/>
          </a:ln>
        </p:spPr>
      </p:sp>
      <p:sp>
        <p:nvSpPr>
          <p:cNvPr id="1100" name="object-101">
            <a:extLst>
              <a:ext uri="{FF2B5EF4-FFF2-40B4-BE49-F238E27FC236}">
                <a16:creationId xmlns:a16="http://schemas.microsoft.com/office/drawing/2014/main" id="{CE272524-E6DE-4CE5-B92D-7724BBE989A6}"/>
              </a:ext>
            </a:extLst>
          </p:cNvPr>
          <p:cNvSpPr>
            <a:spLocks noGrp="1"/>
          </p:cNvSpPr>
          <p:nvPr/>
        </p:nvSpPr>
        <p:spPr>
          <a:xfrm>
            <a:off x="7134225" y="6886575"/>
            <a:ext cx="133350" cy="133350"/>
          </a:xfrm>
          <a:prstGeom prst="ellipse">
            <a:avLst/>
          </a:prstGeom>
          <a:solidFill>
            <a:srgbClr val="087F8C"/>
          </a:solidFill>
          <a:ln w="19050">
            <a:solidFill>
              <a:srgbClr val="087F8C"/>
            </a:solidFill>
            <a:prstDash val="solid"/>
          </a:ln>
        </p:spPr>
      </p:sp>
      <p:sp>
        <p:nvSpPr>
          <p:cNvPr id="1101" name="object-102">
            <a:extLst>
              <a:ext uri="{FF2B5EF4-FFF2-40B4-BE49-F238E27FC236}">
                <a16:creationId xmlns:a16="http://schemas.microsoft.com/office/drawing/2014/main" id="{57539E27-D954-42E2-91B7-239CDE41866D}"/>
              </a:ext>
            </a:extLst>
          </p:cNvPr>
          <p:cNvSpPr>
            <a:spLocks noGrp="1"/>
          </p:cNvSpPr>
          <p:nvPr/>
        </p:nvSpPr>
        <p:spPr>
          <a:xfrm>
            <a:off x="7115175" y="7058025"/>
            <a:ext cx="171450" cy="228600"/>
          </a:xfrm>
          <a:prstGeom prst="roundRect">
            <a:avLst>
              <a:gd name="adj" fmla="val 44444"/>
            </a:avLst>
          </a:prstGeom>
          <a:solidFill>
            <a:srgbClr val="087F8C"/>
          </a:solidFill>
          <a:ln w="0">
            <a:noFill/>
            <a:prstDash val="solid"/>
          </a:ln>
        </p:spPr>
      </p:sp>
      <p:sp>
        <p:nvSpPr>
          <p:cNvPr id="1102" name="object-103">
            <a:extLst>
              <a:ext uri="{FF2B5EF4-FFF2-40B4-BE49-F238E27FC236}">
                <a16:creationId xmlns:a16="http://schemas.microsoft.com/office/drawing/2014/main" id="{3C4536E1-9E20-4750-A6CB-2EB1CCC89CED}"/>
              </a:ext>
            </a:extLst>
          </p:cNvPr>
          <p:cNvSpPr>
            <a:spLocks noGrp="1"/>
          </p:cNvSpPr>
          <p:nvPr/>
        </p:nvSpPr>
        <p:spPr>
          <a:xfrm>
            <a:off x="6438900" y="7372350"/>
            <a:ext cx="13049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用户群 2</a:t>
            </a:r>
          </a:p>
        </p:txBody>
      </p:sp>
      <p:sp>
        <p:nvSpPr>
          <p:cNvPr id="1103" name="object-104">
            <a:extLst>
              <a:ext uri="{FF2B5EF4-FFF2-40B4-BE49-F238E27FC236}">
                <a16:creationId xmlns:a16="http://schemas.microsoft.com/office/drawing/2014/main" id="{6A263F62-BEEA-4A20-9622-225C5987DA7D}"/>
              </a:ext>
            </a:extLst>
          </p:cNvPr>
          <p:cNvSpPr>
            <a:spLocks noGrp="1"/>
          </p:cNvSpPr>
          <p:nvPr/>
        </p:nvSpPr>
        <p:spPr>
          <a:xfrm>
            <a:off x="8582025" y="6886575"/>
            <a:ext cx="133350" cy="133350"/>
          </a:xfrm>
          <a:prstGeom prst="ellipse">
            <a:avLst/>
          </a:prstGeom>
          <a:solidFill>
            <a:srgbClr val="1673CE"/>
          </a:solidFill>
          <a:ln w="19050">
            <a:solidFill>
              <a:srgbClr val="1673CE"/>
            </a:solidFill>
            <a:prstDash val="solid"/>
          </a:ln>
        </p:spPr>
      </p:sp>
      <p:sp>
        <p:nvSpPr>
          <p:cNvPr id="1104" name="object-105">
            <a:extLst>
              <a:ext uri="{FF2B5EF4-FFF2-40B4-BE49-F238E27FC236}">
                <a16:creationId xmlns:a16="http://schemas.microsoft.com/office/drawing/2014/main" id="{3B57B74D-72D0-4945-B5CF-C805D6FA6C88}"/>
              </a:ext>
            </a:extLst>
          </p:cNvPr>
          <p:cNvSpPr>
            <a:spLocks noGrp="1"/>
          </p:cNvSpPr>
          <p:nvPr/>
        </p:nvSpPr>
        <p:spPr>
          <a:xfrm>
            <a:off x="8562975" y="7058025"/>
            <a:ext cx="171450" cy="228600"/>
          </a:xfrm>
          <a:prstGeom prst="roundRect">
            <a:avLst>
              <a:gd name="adj" fmla="val 44444"/>
            </a:avLst>
          </a:prstGeom>
          <a:solidFill>
            <a:srgbClr val="1673CE"/>
          </a:solidFill>
          <a:ln w="0">
            <a:noFill/>
            <a:prstDash val="solid"/>
          </a:ln>
        </p:spPr>
      </p:sp>
      <p:sp>
        <p:nvSpPr>
          <p:cNvPr id="1105" name="object-106">
            <a:extLst>
              <a:ext uri="{FF2B5EF4-FFF2-40B4-BE49-F238E27FC236}">
                <a16:creationId xmlns:a16="http://schemas.microsoft.com/office/drawing/2014/main" id="{A6E8EFDF-10EF-482B-BACC-C86AC799B64B}"/>
              </a:ext>
            </a:extLst>
          </p:cNvPr>
          <p:cNvSpPr>
            <a:spLocks noGrp="1"/>
          </p:cNvSpPr>
          <p:nvPr/>
        </p:nvSpPr>
        <p:spPr>
          <a:xfrm>
            <a:off x="8820150" y="6886575"/>
            <a:ext cx="133350" cy="133350"/>
          </a:xfrm>
          <a:prstGeom prst="ellipse">
            <a:avLst/>
          </a:prstGeom>
          <a:solidFill>
            <a:srgbClr val="1673CE"/>
          </a:solidFill>
          <a:ln w="19050">
            <a:solidFill>
              <a:srgbClr val="1673CE"/>
            </a:solidFill>
            <a:prstDash val="solid"/>
          </a:ln>
        </p:spPr>
      </p:sp>
      <p:sp>
        <p:nvSpPr>
          <p:cNvPr id="1106" name="object-107">
            <a:extLst>
              <a:ext uri="{FF2B5EF4-FFF2-40B4-BE49-F238E27FC236}">
                <a16:creationId xmlns:a16="http://schemas.microsoft.com/office/drawing/2014/main" id="{3987B4D8-B804-4E28-978B-F4EB6F19D6E1}"/>
              </a:ext>
            </a:extLst>
          </p:cNvPr>
          <p:cNvSpPr>
            <a:spLocks noGrp="1"/>
          </p:cNvSpPr>
          <p:nvPr/>
        </p:nvSpPr>
        <p:spPr>
          <a:xfrm>
            <a:off x="8801100" y="7058025"/>
            <a:ext cx="171450" cy="228600"/>
          </a:xfrm>
          <a:prstGeom prst="roundRect">
            <a:avLst>
              <a:gd name="adj" fmla="val 44444"/>
            </a:avLst>
          </a:prstGeom>
          <a:solidFill>
            <a:srgbClr val="1673CE"/>
          </a:solidFill>
          <a:ln w="0">
            <a:noFill/>
            <a:prstDash val="solid"/>
          </a:ln>
        </p:spPr>
      </p:sp>
      <p:sp>
        <p:nvSpPr>
          <p:cNvPr id="1107" name="object-108">
            <a:extLst>
              <a:ext uri="{FF2B5EF4-FFF2-40B4-BE49-F238E27FC236}">
                <a16:creationId xmlns:a16="http://schemas.microsoft.com/office/drawing/2014/main" id="{FB5C578C-37EC-4556-BEA2-7549C4FAFFDF}"/>
              </a:ext>
            </a:extLst>
          </p:cNvPr>
          <p:cNvSpPr>
            <a:spLocks noGrp="1"/>
          </p:cNvSpPr>
          <p:nvPr/>
        </p:nvSpPr>
        <p:spPr>
          <a:xfrm>
            <a:off x="9058275" y="6886575"/>
            <a:ext cx="133350" cy="133350"/>
          </a:xfrm>
          <a:prstGeom prst="ellipse">
            <a:avLst/>
          </a:prstGeom>
          <a:solidFill>
            <a:srgbClr val="1673CE"/>
          </a:solidFill>
          <a:ln w="19050">
            <a:solidFill>
              <a:srgbClr val="1673CE"/>
            </a:solidFill>
            <a:prstDash val="solid"/>
          </a:ln>
        </p:spPr>
      </p:sp>
      <p:sp>
        <p:nvSpPr>
          <p:cNvPr id="1108" name="object-109">
            <a:extLst>
              <a:ext uri="{FF2B5EF4-FFF2-40B4-BE49-F238E27FC236}">
                <a16:creationId xmlns:a16="http://schemas.microsoft.com/office/drawing/2014/main" id="{A3DDD977-8040-4F57-91E6-86D0B643D348}"/>
              </a:ext>
            </a:extLst>
          </p:cNvPr>
          <p:cNvSpPr>
            <a:spLocks noGrp="1"/>
          </p:cNvSpPr>
          <p:nvPr/>
        </p:nvSpPr>
        <p:spPr>
          <a:xfrm>
            <a:off x="9039225" y="7058025"/>
            <a:ext cx="171450" cy="228600"/>
          </a:xfrm>
          <a:prstGeom prst="roundRect">
            <a:avLst>
              <a:gd name="adj" fmla="val 44444"/>
            </a:avLst>
          </a:prstGeom>
          <a:solidFill>
            <a:srgbClr val="1673CE"/>
          </a:solidFill>
          <a:ln w="0">
            <a:noFill/>
            <a:prstDash val="solid"/>
          </a:ln>
        </p:spPr>
      </p:sp>
      <p:sp>
        <p:nvSpPr>
          <p:cNvPr id="1109" name="object-110">
            <a:extLst>
              <a:ext uri="{FF2B5EF4-FFF2-40B4-BE49-F238E27FC236}">
                <a16:creationId xmlns:a16="http://schemas.microsoft.com/office/drawing/2014/main" id="{7F00E312-1D4A-4870-9CE3-11E5F407C11E}"/>
              </a:ext>
            </a:extLst>
          </p:cNvPr>
          <p:cNvSpPr>
            <a:spLocks noGrp="1"/>
          </p:cNvSpPr>
          <p:nvPr/>
        </p:nvSpPr>
        <p:spPr>
          <a:xfrm>
            <a:off x="8362950" y="7372350"/>
            <a:ext cx="13049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1673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167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73CE"/>
                </a:solidFill>
                <a:latin typeface="Microsoft YaHei"/>
                <a:ea typeface="Microsoft YaHei"/>
                <a:cs typeface="Microsoft YaHei"/>
              </a:rPr>
              <a:t>用户群 3</a:t>
            </a:r>
          </a:p>
        </p:txBody>
      </p:sp>
      <p:sp>
        <p:nvSpPr>
          <p:cNvPr id="1110" name="object-111">
            <a:extLst>
              <a:ext uri="{FF2B5EF4-FFF2-40B4-BE49-F238E27FC236}">
                <a16:creationId xmlns:a16="http://schemas.microsoft.com/office/drawing/2014/main" id="{751C183C-5304-4AA3-AA91-45AFC40B9F01}"/>
              </a:ext>
            </a:extLst>
          </p:cNvPr>
          <p:cNvSpPr>
            <a:spLocks noGrp="1"/>
          </p:cNvSpPr>
          <p:nvPr/>
        </p:nvSpPr>
        <p:spPr>
          <a:xfrm>
            <a:off x="9496425" y="7172325"/>
            <a:ext cx="619125" cy="257175"/>
          </a:xfrm>
          <a:prstGeom prst="roundRect">
            <a:avLst>
              <a:gd name="adj" fmla="val 29630"/>
            </a:avLst>
          </a:prstGeom>
          <a:solidFill>
            <a:srgbClr val="EAF5FF"/>
          </a:solidFill>
          <a:ln w="19050">
            <a:solidFill>
              <a:srgbClr val="1673CE"/>
            </a:solidFill>
            <a:prstDash val="solid"/>
          </a:ln>
        </p:spPr>
      </p:sp>
      <p:sp>
        <p:nvSpPr>
          <p:cNvPr id="1111" name="object-112">
            <a:extLst>
              <a:ext uri="{FF2B5EF4-FFF2-40B4-BE49-F238E27FC236}">
                <a16:creationId xmlns:a16="http://schemas.microsoft.com/office/drawing/2014/main" id="{C140D178-82B6-4306-A73E-B82DDDC14C79}"/>
              </a:ext>
            </a:extLst>
          </p:cNvPr>
          <p:cNvSpPr>
            <a:spLocks noGrp="1"/>
          </p:cNvSpPr>
          <p:nvPr/>
        </p:nvSpPr>
        <p:spPr>
          <a:xfrm>
            <a:off x="9629775" y="7058025"/>
            <a:ext cx="333375" cy="190500"/>
          </a:xfrm>
          <a:prstGeom prst="rect">
            <a:avLst/>
          </a:prstGeom>
          <a:solidFill>
            <a:srgbClr val="EAF5FF"/>
          </a:solidFill>
          <a:ln w="19050">
            <a:solidFill>
              <a:srgbClr val="1673CE"/>
            </a:solidFill>
            <a:prstDash val="solid"/>
          </a:ln>
        </p:spPr>
      </p:sp>
      <p:sp>
        <p:nvSpPr>
          <p:cNvPr id="1112" name="object-113">
            <a:extLst>
              <a:ext uri="{FF2B5EF4-FFF2-40B4-BE49-F238E27FC236}">
                <a16:creationId xmlns:a16="http://schemas.microsoft.com/office/drawing/2014/main" id="{2F0D0409-D789-4E96-B47A-F1B7832E6616}"/>
              </a:ext>
            </a:extLst>
          </p:cNvPr>
          <p:cNvSpPr>
            <a:spLocks noGrp="1"/>
          </p:cNvSpPr>
          <p:nvPr/>
        </p:nvSpPr>
        <p:spPr>
          <a:xfrm>
            <a:off x="9563100" y="7372350"/>
            <a:ext cx="133350" cy="133350"/>
          </a:xfrm>
          <a:prstGeom prst="ellipse">
            <a:avLst/>
          </a:prstGeom>
          <a:solidFill>
            <a:srgbClr val="1673CE"/>
          </a:solidFill>
          <a:ln w="19050">
            <a:solidFill>
              <a:srgbClr val="1673CE"/>
            </a:solidFill>
            <a:prstDash val="solid"/>
          </a:ln>
        </p:spPr>
      </p:sp>
      <p:sp>
        <p:nvSpPr>
          <p:cNvPr id="1113" name="object-114">
            <a:extLst>
              <a:ext uri="{FF2B5EF4-FFF2-40B4-BE49-F238E27FC236}">
                <a16:creationId xmlns:a16="http://schemas.microsoft.com/office/drawing/2014/main" id="{5EB41F2A-BF6D-4C32-8AAA-6AEE6C3C9F77}"/>
              </a:ext>
            </a:extLst>
          </p:cNvPr>
          <p:cNvSpPr>
            <a:spLocks noGrp="1"/>
          </p:cNvSpPr>
          <p:nvPr/>
        </p:nvSpPr>
        <p:spPr>
          <a:xfrm>
            <a:off x="9915525" y="7372350"/>
            <a:ext cx="133350" cy="133350"/>
          </a:xfrm>
          <a:prstGeom prst="ellipse">
            <a:avLst/>
          </a:prstGeom>
          <a:solidFill>
            <a:srgbClr val="1673CE"/>
          </a:solidFill>
          <a:ln w="19050">
            <a:solidFill>
              <a:srgbClr val="1673CE"/>
            </a:solidFill>
            <a:prstDash val="solid"/>
          </a:ln>
        </p:spPr>
      </p:sp>
      <p:sp>
        <p:nvSpPr>
          <p:cNvPr id="1114" name="object-115">
            <a:extLst>
              <a:ext uri="{FF2B5EF4-FFF2-40B4-BE49-F238E27FC236}">
                <a16:creationId xmlns:a16="http://schemas.microsoft.com/office/drawing/2014/main" id="{47AD481D-88F0-4879-A6A9-A693BF3CC915}"/>
              </a:ext>
            </a:extLst>
          </p:cNvPr>
          <p:cNvSpPr>
            <a:spLocks noGrp="1"/>
          </p:cNvSpPr>
          <p:nvPr/>
        </p:nvSpPr>
        <p:spPr>
          <a:xfrm>
            <a:off x="9324975" y="7210425"/>
            <a:ext cx="171450" cy="953"/>
          </a:xfrm>
          <a:prstGeom prst="line">
            <a:avLst/>
          </a:prstGeom>
          <a:noFill/>
          <a:ln w="22860">
            <a:solidFill>
              <a:srgbClr val="1673CE"/>
            </a:solidFill>
            <a:prstDash val="solid"/>
          </a:ln>
        </p:spPr>
      </p:sp>
      <p:sp>
        <p:nvSpPr>
          <p:cNvPr id="1115" name="object-116">
            <a:extLst>
              <a:ext uri="{FF2B5EF4-FFF2-40B4-BE49-F238E27FC236}">
                <a16:creationId xmlns:a16="http://schemas.microsoft.com/office/drawing/2014/main" id="{DF80F653-C7BB-44C0-81E3-DF8A15D019C4}"/>
              </a:ext>
            </a:extLst>
          </p:cNvPr>
          <p:cNvSpPr>
            <a:spLocks noGrp="1"/>
          </p:cNvSpPr>
          <p:nvPr/>
        </p:nvSpPr>
        <p:spPr>
          <a:xfrm>
            <a:off x="9363075" y="7153275"/>
            <a:ext cx="133350" cy="114300"/>
          </a:xfrm>
          <a:prstGeom prst="rightArrow">
            <a:avLst/>
          </a:prstGeom>
          <a:solidFill>
            <a:srgbClr val="1673CE"/>
          </a:solidFill>
          <a:ln w="0">
            <a:noFill/>
            <a:prstDash val="solid"/>
          </a:ln>
        </p:spPr>
      </p:sp>
      <p:sp>
        <p:nvSpPr>
          <p:cNvPr id="1116" name="object-117">
            <a:extLst>
              <a:ext uri="{FF2B5EF4-FFF2-40B4-BE49-F238E27FC236}">
                <a16:creationId xmlns:a16="http://schemas.microsoft.com/office/drawing/2014/main" id="{E0B51B5E-B1AC-4FF7-96AC-B0CCC02C7E74}"/>
              </a:ext>
            </a:extLst>
          </p:cNvPr>
          <p:cNvSpPr>
            <a:spLocks noGrp="1"/>
          </p:cNvSpPr>
          <p:nvPr/>
        </p:nvSpPr>
        <p:spPr>
          <a:xfrm>
            <a:off x="8658225" y="7724775"/>
            <a:ext cx="2009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充放换电响应</a:t>
            </a:r>
          </a:p>
        </p:txBody>
      </p:sp>
      <p:sp>
        <p:nvSpPr>
          <p:cNvPr id="1117" name="object-118">
            <a:extLst>
              <a:ext uri="{FF2B5EF4-FFF2-40B4-BE49-F238E27FC236}">
                <a16:creationId xmlns:a16="http://schemas.microsoft.com/office/drawing/2014/main" id="{9F7DB195-FB8A-4CC6-AF1A-3300DD3F5A05}"/>
              </a:ext>
            </a:extLst>
          </p:cNvPr>
          <p:cNvSpPr>
            <a:spLocks noGrp="1"/>
          </p:cNvSpPr>
          <p:nvPr/>
        </p:nvSpPr>
        <p:spPr>
          <a:xfrm>
            <a:off x="7372350" y="6124575"/>
            <a:ext cx="953" cy="304800"/>
          </a:xfrm>
          <a:prstGeom prst="line">
            <a:avLst/>
          </a:prstGeom>
          <a:noFill/>
          <a:ln w="22860">
            <a:solidFill>
              <a:srgbClr val="1673CE"/>
            </a:solidFill>
            <a:prstDash val="solid"/>
          </a:ln>
        </p:spPr>
      </p:sp>
      <p:sp>
        <p:nvSpPr>
          <p:cNvPr id="1118" name="object-119">
            <a:extLst>
              <a:ext uri="{FF2B5EF4-FFF2-40B4-BE49-F238E27FC236}">
                <a16:creationId xmlns:a16="http://schemas.microsoft.com/office/drawing/2014/main" id="{3A01393B-1455-4586-A1AC-A1F44F6D8AA6}"/>
              </a:ext>
            </a:extLst>
          </p:cNvPr>
          <p:cNvSpPr>
            <a:spLocks noGrp="1"/>
          </p:cNvSpPr>
          <p:nvPr/>
        </p:nvSpPr>
        <p:spPr>
          <a:xfrm>
            <a:off x="6000750" y="6429375"/>
            <a:ext cx="1371600" cy="953"/>
          </a:xfrm>
          <a:prstGeom prst="line">
            <a:avLst/>
          </a:prstGeom>
          <a:noFill/>
          <a:ln w="22860">
            <a:solidFill>
              <a:srgbClr val="1673CE"/>
            </a:solidFill>
            <a:prstDash val="solid"/>
          </a:ln>
        </p:spPr>
      </p:sp>
      <p:sp>
        <p:nvSpPr>
          <p:cNvPr id="1119" name="object-120">
            <a:extLst>
              <a:ext uri="{FF2B5EF4-FFF2-40B4-BE49-F238E27FC236}">
                <a16:creationId xmlns:a16="http://schemas.microsoft.com/office/drawing/2014/main" id="{A449F8C8-E604-4B21-9DB2-98E3A04A3BDE}"/>
              </a:ext>
            </a:extLst>
          </p:cNvPr>
          <p:cNvSpPr>
            <a:spLocks noGrp="1"/>
          </p:cNvSpPr>
          <p:nvPr/>
        </p:nvSpPr>
        <p:spPr>
          <a:xfrm>
            <a:off x="6000750" y="6429375"/>
            <a:ext cx="953" cy="238125"/>
          </a:xfrm>
          <a:prstGeom prst="line">
            <a:avLst/>
          </a:prstGeom>
          <a:noFill/>
          <a:ln w="22860">
            <a:solidFill>
              <a:srgbClr val="1673CE"/>
            </a:solidFill>
            <a:prstDash val="solid"/>
          </a:ln>
        </p:spPr>
      </p:sp>
      <p:sp>
        <p:nvSpPr>
          <p:cNvPr id="1120" name="object-121">
            <a:extLst>
              <a:ext uri="{FF2B5EF4-FFF2-40B4-BE49-F238E27FC236}">
                <a16:creationId xmlns:a16="http://schemas.microsoft.com/office/drawing/2014/main" id="{67D96289-857A-4995-AF32-1B1C65574696}"/>
              </a:ext>
            </a:extLst>
          </p:cNvPr>
          <p:cNvSpPr>
            <a:spLocks noGrp="1"/>
          </p:cNvSpPr>
          <p:nvPr/>
        </p:nvSpPr>
        <p:spPr>
          <a:xfrm>
            <a:off x="5943600" y="6534150"/>
            <a:ext cx="114300" cy="133350"/>
          </a:xfrm>
          <a:prstGeom prst="downArrow">
            <a:avLst/>
          </a:prstGeom>
          <a:solidFill>
            <a:srgbClr val="1673CE"/>
          </a:solidFill>
          <a:ln w="0">
            <a:noFill/>
            <a:prstDash val="solid"/>
          </a:ln>
        </p:spPr>
      </p:sp>
      <p:sp>
        <p:nvSpPr>
          <p:cNvPr id="1121" name="object-122">
            <a:extLst>
              <a:ext uri="{FF2B5EF4-FFF2-40B4-BE49-F238E27FC236}">
                <a16:creationId xmlns:a16="http://schemas.microsoft.com/office/drawing/2014/main" id="{BBA239C3-FE42-47C3-9E11-0D71BAC96D9A}"/>
              </a:ext>
            </a:extLst>
          </p:cNvPr>
          <p:cNvSpPr>
            <a:spLocks noGrp="1"/>
          </p:cNvSpPr>
          <p:nvPr/>
        </p:nvSpPr>
        <p:spPr>
          <a:xfrm>
            <a:off x="7486650" y="6200775"/>
            <a:ext cx="1323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500" b="0">
                <a:solidFill>
                  <a:srgbClr val="1673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167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673CE"/>
                </a:solidFill>
                <a:latin typeface="Microsoft YaHei"/>
                <a:ea typeface="Microsoft YaHei"/>
                <a:cs typeface="Microsoft YaHei"/>
              </a:rPr>
              <a:t>套餐选择</a:t>
            </a:r>
          </a:p>
        </p:txBody>
      </p:sp>
      <p:sp>
        <p:nvSpPr>
          <p:cNvPr id="1122" name="object-123">
            <a:extLst>
              <a:ext uri="{FF2B5EF4-FFF2-40B4-BE49-F238E27FC236}">
                <a16:creationId xmlns:a16="http://schemas.microsoft.com/office/drawing/2014/main" id="{D8FBF9BF-1AA1-4739-9322-6B7280F1F1E9}"/>
              </a:ext>
            </a:extLst>
          </p:cNvPr>
          <p:cNvSpPr>
            <a:spLocks noGrp="1"/>
          </p:cNvSpPr>
          <p:nvPr/>
        </p:nvSpPr>
        <p:spPr>
          <a:xfrm>
            <a:off x="10001250" y="7524750"/>
            <a:ext cx="523875" cy="953"/>
          </a:xfrm>
          <a:prstGeom prst="line">
            <a:avLst/>
          </a:prstGeom>
          <a:noFill/>
          <a:ln w="22860">
            <a:solidFill>
              <a:srgbClr val="D16A25"/>
            </a:solidFill>
            <a:prstDash val="dash"/>
          </a:ln>
        </p:spPr>
      </p:sp>
      <p:sp>
        <p:nvSpPr>
          <p:cNvPr id="1123" name="object-124">
            <a:extLst>
              <a:ext uri="{FF2B5EF4-FFF2-40B4-BE49-F238E27FC236}">
                <a16:creationId xmlns:a16="http://schemas.microsoft.com/office/drawing/2014/main" id="{BF97C4F8-E758-4281-8045-79B22534687E}"/>
              </a:ext>
            </a:extLst>
          </p:cNvPr>
          <p:cNvSpPr>
            <a:spLocks noGrp="1"/>
          </p:cNvSpPr>
          <p:nvPr/>
        </p:nvSpPr>
        <p:spPr>
          <a:xfrm>
            <a:off x="10525125" y="4953000"/>
            <a:ext cx="953" cy="2571750"/>
          </a:xfrm>
          <a:prstGeom prst="line">
            <a:avLst/>
          </a:prstGeom>
          <a:noFill/>
          <a:ln w="22860">
            <a:solidFill>
              <a:srgbClr val="D16A25"/>
            </a:solidFill>
            <a:prstDash val="dash"/>
          </a:ln>
        </p:spPr>
      </p:sp>
      <p:sp>
        <p:nvSpPr>
          <p:cNvPr id="1124" name="object-125">
            <a:extLst>
              <a:ext uri="{FF2B5EF4-FFF2-40B4-BE49-F238E27FC236}">
                <a16:creationId xmlns:a16="http://schemas.microsoft.com/office/drawing/2014/main" id="{34F5B526-5FA6-4846-8B3B-DD5CFD25B6BE}"/>
              </a:ext>
            </a:extLst>
          </p:cNvPr>
          <p:cNvSpPr>
            <a:spLocks noGrp="1"/>
          </p:cNvSpPr>
          <p:nvPr/>
        </p:nvSpPr>
        <p:spPr>
          <a:xfrm>
            <a:off x="3705225" y="4953000"/>
            <a:ext cx="6819900" cy="953"/>
          </a:xfrm>
          <a:prstGeom prst="line">
            <a:avLst/>
          </a:prstGeom>
          <a:noFill/>
          <a:ln w="22860">
            <a:solidFill>
              <a:srgbClr val="D16A25"/>
            </a:solidFill>
            <a:prstDash val="dash"/>
          </a:ln>
        </p:spPr>
      </p:sp>
      <p:sp>
        <p:nvSpPr>
          <p:cNvPr id="1125" name="object-126">
            <a:extLst>
              <a:ext uri="{FF2B5EF4-FFF2-40B4-BE49-F238E27FC236}">
                <a16:creationId xmlns:a16="http://schemas.microsoft.com/office/drawing/2014/main" id="{6922C267-5FE9-4252-A099-2682D1743987}"/>
              </a:ext>
            </a:extLst>
          </p:cNvPr>
          <p:cNvSpPr>
            <a:spLocks noGrp="1"/>
          </p:cNvSpPr>
          <p:nvPr/>
        </p:nvSpPr>
        <p:spPr>
          <a:xfrm>
            <a:off x="3705225" y="4953000"/>
            <a:ext cx="953" cy="304800"/>
          </a:xfrm>
          <a:prstGeom prst="line">
            <a:avLst/>
          </a:prstGeom>
          <a:noFill/>
          <a:ln w="22860">
            <a:solidFill>
              <a:srgbClr val="D16A25"/>
            </a:solidFill>
            <a:prstDash val="dash"/>
          </a:ln>
        </p:spPr>
      </p:sp>
      <p:sp>
        <p:nvSpPr>
          <p:cNvPr id="1126" name="object-127">
            <a:extLst>
              <a:ext uri="{FF2B5EF4-FFF2-40B4-BE49-F238E27FC236}">
                <a16:creationId xmlns:a16="http://schemas.microsoft.com/office/drawing/2014/main" id="{95BFCE36-793C-489A-BC0F-079AF6F3ACC5}"/>
              </a:ext>
            </a:extLst>
          </p:cNvPr>
          <p:cNvSpPr>
            <a:spLocks noGrp="1"/>
          </p:cNvSpPr>
          <p:nvPr/>
        </p:nvSpPr>
        <p:spPr>
          <a:xfrm>
            <a:off x="3514725" y="5257800"/>
            <a:ext cx="190500" cy="953"/>
          </a:xfrm>
          <a:prstGeom prst="line">
            <a:avLst/>
          </a:prstGeom>
          <a:noFill/>
          <a:ln w="22860">
            <a:solidFill>
              <a:srgbClr val="D16A25"/>
            </a:solidFill>
            <a:prstDash val="dash"/>
          </a:ln>
        </p:spPr>
      </p:sp>
      <p:sp>
        <p:nvSpPr>
          <p:cNvPr id="1127" name="object-128">
            <a:extLst>
              <a:ext uri="{FF2B5EF4-FFF2-40B4-BE49-F238E27FC236}">
                <a16:creationId xmlns:a16="http://schemas.microsoft.com/office/drawing/2014/main" id="{BD6C1A7A-9261-4E48-8265-790BF40D70E9}"/>
              </a:ext>
            </a:extLst>
          </p:cNvPr>
          <p:cNvSpPr>
            <a:spLocks noGrp="1"/>
          </p:cNvSpPr>
          <p:nvPr/>
        </p:nvSpPr>
        <p:spPr>
          <a:xfrm>
            <a:off x="3514725" y="5200650"/>
            <a:ext cx="133350" cy="114300"/>
          </a:xfrm>
          <a:prstGeom prst="leftArrow">
            <a:avLst/>
          </a:prstGeom>
          <a:solidFill>
            <a:srgbClr val="D16A25"/>
          </a:solidFill>
          <a:ln w="0">
            <a:noFill/>
            <a:prstDash val="solid"/>
          </a:ln>
        </p:spPr>
      </p:sp>
      <p:sp>
        <p:nvSpPr>
          <p:cNvPr id="1128" name="object-129">
            <a:extLst>
              <a:ext uri="{FF2B5EF4-FFF2-40B4-BE49-F238E27FC236}">
                <a16:creationId xmlns:a16="http://schemas.microsoft.com/office/drawing/2014/main" id="{1D4DD260-A254-4A6A-9B4E-177824EDB8B1}"/>
              </a:ext>
            </a:extLst>
          </p:cNvPr>
          <p:cNvSpPr>
            <a:spLocks noGrp="1"/>
          </p:cNvSpPr>
          <p:nvPr/>
        </p:nvSpPr>
        <p:spPr>
          <a:xfrm>
            <a:off x="7115175" y="4962525"/>
            <a:ext cx="2762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0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16A25"/>
                </a:solidFill>
                <a:latin typeface="Microsoft YaHei"/>
                <a:ea typeface="Microsoft YaHei"/>
                <a:cs typeface="Microsoft YaHei"/>
              </a:rPr>
              <a:t>需求与行为反馈</a:t>
            </a:r>
          </a:p>
        </p:txBody>
      </p:sp>
      <p:sp>
        <p:nvSpPr>
          <p:cNvPr id="1129" name="object-130">
            <a:extLst>
              <a:ext uri="{FF2B5EF4-FFF2-40B4-BE49-F238E27FC236}">
                <a16:creationId xmlns:a16="http://schemas.microsoft.com/office/drawing/2014/main" id="{88B20487-30E7-495E-82E6-BEF6F293C1CB}"/>
              </a:ext>
            </a:extLst>
          </p:cNvPr>
          <p:cNvSpPr>
            <a:spLocks noGrp="1"/>
          </p:cNvSpPr>
          <p:nvPr/>
        </p:nvSpPr>
        <p:spPr>
          <a:xfrm>
            <a:off x="2695575" y="7800975"/>
            <a:ext cx="57245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0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7751A8"/>
                </a:solidFill>
                <a:latin typeface="Microsoft YaHei"/>
                <a:ea typeface="Microsoft YaHei"/>
                <a:cs typeface="Microsoft YaHei"/>
              </a:rPr>
              <a:t>各群按费用满意度与舒适性选择套餐</a:t>
            </a:r>
          </a:p>
        </p:txBody>
      </p:sp>
      <p:sp>
        <p:nvSpPr>
          <p:cNvPr id="1130" name="object-131">
            <a:extLst>
              <a:ext uri="{FF2B5EF4-FFF2-40B4-BE49-F238E27FC236}">
                <a16:creationId xmlns:a16="http://schemas.microsoft.com/office/drawing/2014/main" id="{D72418A7-0113-4DE6-895A-B6DF3893D214}"/>
              </a:ext>
            </a:extLst>
          </p:cNvPr>
          <p:cNvSpPr>
            <a:spLocks noGrp="1"/>
          </p:cNvSpPr>
          <p:nvPr/>
        </p:nvSpPr>
        <p:spPr>
          <a:xfrm>
            <a:off x="11229975" y="2676525"/>
            <a:ext cx="4276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上层：净收益与绿电匹配</a:t>
            </a:r>
          </a:p>
        </p:txBody>
      </p:sp>
      <p:pic>
        <p:nvPicPr>
          <p:cNvPr id="1131" name="">
            <a:extLst>
              <a:ext uri="{FF2B5EF4-FFF2-40B4-BE49-F238E27FC236}">
                <a16:creationId xmlns:a16="http://schemas.microsoft.com/office/drawing/2014/main" id="{2CF500D1-DE09-499C-9F4F-3E4559FC74C8}"/>
              </a:ext>
            </a:extLst>
          </p:cNvPr>
          <p:cNvPicPr>
            <a:picLocks noChangeAspect="1"/>
          </p:cNvPicPr>
          <p:nvPr/>
        </p:nvPicPr>
        <p:blipFill>
          <a:blip r:embed="rId500">
            <a:extLst>
              <a:ext uri="{96DAC541-7B7A-43D3-8B79-37D633B846F1}">
                <asvg:svgBlip xmlns:asvg="http://schemas.microsoft.com/office/drawing/2016/SVG/main" r:embed="rId501"/>
              </a:ext>
            </a:extLst>
          </a:blip>
          <a:stretch/>
        </p:blipFill>
        <p:spPr>
          <a:xfrm>
            <a:off x="11922406" y="3095625"/>
            <a:ext cx="2901388" cy="409575"/>
          </a:xfrm>
          <a:prstGeom prst="rect">
            <a:avLst/>
          </a:prstGeom>
        </p:spPr>
      </p:pic>
      <p:pic>
        <p:nvPicPr>
          <p:cNvPr id="1132" name="">
            <a:extLst>
              <a:ext uri="{FF2B5EF4-FFF2-40B4-BE49-F238E27FC236}">
                <a16:creationId xmlns:a16="http://schemas.microsoft.com/office/drawing/2014/main" id="{9259AB3D-2D98-4796-AA56-E1DF7F391C0C}"/>
              </a:ext>
            </a:extLst>
          </p:cNvPr>
          <p:cNvPicPr>
            <a:picLocks noChangeAspect="1"/>
          </p:cNvPicPr>
          <p:nvPr/>
        </p:nvPicPr>
        <p:blipFill>
          <a:blip r:embed="rId502">
            <a:extLst>
              <a:ext uri="{96DAC541-7B7A-43D3-8B79-37D633B846F1}">
                <asvg:svgBlip xmlns:asvg="http://schemas.microsoft.com/office/drawing/2016/SVG/main" r:embed="rId503"/>
              </a:ext>
            </a:extLst>
          </a:blip>
          <a:stretch/>
        </p:blipFill>
        <p:spPr>
          <a:xfrm>
            <a:off x="11571893" y="3619500"/>
            <a:ext cx="3602413" cy="504825"/>
          </a:xfrm>
          <a:prstGeom prst="rect">
            <a:avLst/>
          </a:prstGeom>
        </p:spPr>
      </p:pic>
      <p:sp>
        <p:nvSpPr>
          <p:cNvPr id="1133" name="object-132">
            <a:extLst>
              <a:ext uri="{FF2B5EF4-FFF2-40B4-BE49-F238E27FC236}">
                <a16:creationId xmlns:a16="http://schemas.microsoft.com/office/drawing/2014/main" id="{91D294B0-D66A-41C6-B368-42872ADCE9D3}"/>
              </a:ext>
            </a:extLst>
          </p:cNvPr>
          <p:cNvSpPr>
            <a:spLocks noGrp="1"/>
          </p:cNvSpPr>
          <p:nvPr/>
        </p:nvSpPr>
        <p:spPr>
          <a:xfrm>
            <a:off x="11229975" y="4295775"/>
            <a:ext cx="42767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下层：费用满意度与用电舒适性</a:t>
            </a:r>
          </a:p>
        </p:txBody>
      </p:sp>
      <p:pic>
        <p:nvPicPr>
          <p:cNvPr id="1134" name="">
            <a:extLst>
              <a:ext uri="{FF2B5EF4-FFF2-40B4-BE49-F238E27FC236}">
                <a16:creationId xmlns:a16="http://schemas.microsoft.com/office/drawing/2014/main" id="{7777342F-F71E-4915-B237-F7E917D1F1B7}"/>
              </a:ext>
            </a:extLst>
          </p:cNvPr>
          <p:cNvPicPr>
            <a:picLocks noChangeAspect="1"/>
          </p:cNvPicPr>
          <p:nvPr/>
        </p:nvPicPr>
        <p:blipFill>
          <a:blip r:embed="rId504">
            <a:extLst>
              <a:ext uri="{96DAC541-7B7A-43D3-8B79-37D633B846F1}">
                <asvg:svgBlip xmlns:asvg="http://schemas.microsoft.com/office/drawing/2016/SVG/main" r:embed="rId505"/>
              </a:ext>
            </a:extLst>
          </a:blip>
          <a:stretch/>
        </p:blipFill>
        <p:spPr>
          <a:xfrm>
            <a:off x="12023613" y="4762500"/>
            <a:ext cx="2727548" cy="457200"/>
          </a:xfrm>
          <a:prstGeom prst="rect">
            <a:avLst/>
          </a:prstGeom>
        </p:spPr>
      </p:pic>
      <p:sp>
        <p:nvSpPr>
          <p:cNvPr id="1135" name="object-133">
            <a:extLst>
              <a:ext uri="{FF2B5EF4-FFF2-40B4-BE49-F238E27FC236}">
                <a16:creationId xmlns:a16="http://schemas.microsoft.com/office/drawing/2014/main" id="{F6DD058F-15CF-4C4E-96B9-7FC044167105}"/>
              </a:ext>
            </a:extLst>
          </p:cNvPr>
          <p:cNvSpPr>
            <a:spLocks noGrp="1"/>
          </p:cNvSpPr>
          <p:nvPr/>
        </p:nvSpPr>
        <p:spPr>
          <a:xfrm>
            <a:off x="11210925" y="5429250"/>
            <a:ext cx="4314825" cy="953"/>
          </a:xfrm>
          <a:prstGeom prst="line">
            <a:avLst/>
          </a:prstGeom>
          <a:noFill/>
          <a:ln w="9525">
            <a:solidFill>
              <a:srgbClr val="66B7FA"/>
            </a:solidFill>
            <a:prstDash val="solid"/>
          </a:ln>
        </p:spPr>
      </p:sp>
      <p:sp>
        <p:nvSpPr>
          <p:cNvPr id="1136" name="object-134">
            <a:extLst>
              <a:ext uri="{FF2B5EF4-FFF2-40B4-BE49-F238E27FC236}">
                <a16:creationId xmlns:a16="http://schemas.microsoft.com/office/drawing/2014/main" id="{BE3475DE-9BBB-4808-81EA-C0434BC424FD}"/>
              </a:ext>
            </a:extLst>
          </p:cNvPr>
          <p:cNvSpPr>
            <a:spLocks noGrp="1"/>
          </p:cNvSpPr>
          <p:nvPr/>
        </p:nvSpPr>
        <p:spPr>
          <a:xfrm>
            <a:off x="11229975" y="5524500"/>
            <a:ext cx="426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多智能体迭代</a:t>
            </a:r>
          </a:p>
        </p:txBody>
      </p:sp>
      <p:sp>
        <p:nvSpPr>
          <p:cNvPr id="1137" name="object-135">
            <a:extLst>
              <a:ext uri="{FF2B5EF4-FFF2-40B4-BE49-F238E27FC236}">
                <a16:creationId xmlns:a16="http://schemas.microsoft.com/office/drawing/2014/main" id="{D7DB33F1-6AF5-4EBB-95C7-1FC719BDED62}"/>
              </a:ext>
            </a:extLst>
          </p:cNvPr>
          <p:cNvSpPr>
            <a:spLocks noGrp="1"/>
          </p:cNvSpPr>
          <p:nvPr/>
        </p:nvSpPr>
        <p:spPr>
          <a:xfrm>
            <a:off x="11334750" y="6067425"/>
            <a:ext cx="4048125" cy="619125"/>
          </a:xfrm>
          <a:prstGeom prst="roundRect">
            <a:avLst>
              <a:gd name="adj" fmla="val 12308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联合动作</a:t>
            </a:r>
          </a:p>
          <a:p>
            <a:pPr algn="ctr">
              <a:def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价格 / 套餐 / 充放换电</a:t>
            </a:r>
          </a:p>
        </p:txBody>
      </p:sp>
      <p:sp>
        <p:nvSpPr>
          <p:cNvPr id="1138" name="object-136">
            <a:extLst>
              <a:ext uri="{FF2B5EF4-FFF2-40B4-BE49-F238E27FC236}">
                <a16:creationId xmlns:a16="http://schemas.microsoft.com/office/drawing/2014/main" id="{8BC3A74A-5FF7-4497-BFD7-006689A98720}"/>
              </a:ext>
            </a:extLst>
          </p:cNvPr>
          <p:cNvSpPr>
            <a:spLocks noGrp="1"/>
          </p:cNvSpPr>
          <p:nvPr/>
        </p:nvSpPr>
        <p:spPr>
          <a:xfrm>
            <a:off x="13382625" y="6686550"/>
            <a:ext cx="953" cy="228600"/>
          </a:xfrm>
          <a:prstGeom prst="line">
            <a:avLst/>
          </a:prstGeom>
          <a:noFill/>
          <a:ln w="22860">
            <a:solidFill>
              <a:srgbClr val="07368C"/>
            </a:solidFill>
            <a:prstDash val="solid"/>
          </a:ln>
        </p:spPr>
      </p:sp>
      <p:sp>
        <p:nvSpPr>
          <p:cNvPr id="1139" name="object-137">
            <a:extLst>
              <a:ext uri="{FF2B5EF4-FFF2-40B4-BE49-F238E27FC236}">
                <a16:creationId xmlns:a16="http://schemas.microsoft.com/office/drawing/2014/main" id="{2F199311-7A1A-4C32-BB17-B03167F1A21C}"/>
              </a:ext>
            </a:extLst>
          </p:cNvPr>
          <p:cNvSpPr>
            <a:spLocks noGrp="1"/>
          </p:cNvSpPr>
          <p:nvPr/>
        </p:nvSpPr>
        <p:spPr>
          <a:xfrm>
            <a:off x="13325475" y="6781800"/>
            <a:ext cx="114300" cy="133350"/>
          </a:xfrm>
          <a:prstGeom prst="downArrow">
            <a:avLst/>
          </a:prstGeom>
          <a:solidFill>
            <a:srgbClr val="07368C"/>
          </a:solidFill>
          <a:ln w="0">
            <a:noFill/>
            <a:prstDash val="solid"/>
          </a:ln>
        </p:spPr>
      </p:sp>
      <p:sp>
        <p:nvSpPr>
          <p:cNvPr id="1140" name="object-138">
            <a:extLst>
              <a:ext uri="{FF2B5EF4-FFF2-40B4-BE49-F238E27FC236}">
                <a16:creationId xmlns:a16="http://schemas.microsoft.com/office/drawing/2014/main" id="{B109A9AB-C6CE-4BA5-A620-0CA93E344A29}"/>
              </a:ext>
            </a:extLst>
          </p:cNvPr>
          <p:cNvSpPr>
            <a:spLocks noGrp="1"/>
          </p:cNvSpPr>
          <p:nvPr/>
        </p:nvSpPr>
        <p:spPr>
          <a:xfrm>
            <a:off x="11334750" y="6943725"/>
            <a:ext cx="4048125" cy="457200"/>
          </a:xfrm>
          <a:prstGeom prst="roundRect">
            <a:avLst>
              <a:gd name="adj" fmla="val 16667"/>
            </a:avLst>
          </a:prstGeom>
          <a:solidFill>
            <a:srgbClr val="FFF1DC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执行动作，计算各主体奖励</a:t>
            </a:r>
          </a:p>
        </p:txBody>
      </p:sp>
      <p:sp>
        <p:nvSpPr>
          <p:cNvPr id="1141" name="object-139">
            <a:extLst>
              <a:ext uri="{FF2B5EF4-FFF2-40B4-BE49-F238E27FC236}">
                <a16:creationId xmlns:a16="http://schemas.microsoft.com/office/drawing/2014/main" id="{833031BA-2940-41F4-BC61-8F8D574A278B}"/>
              </a:ext>
            </a:extLst>
          </p:cNvPr>
          <p:cNvSpPr>
            <a:spLocks noGrp="1"/>
          </p:cNvSpPr>
          <p:nvPr/>
        </p:nvSpPr>
        <p:spPr>
          <a:xfrm>
            <a:off x="13382625" y="7400925"/>
            <a:ext cx="953" cy="228600"/>
          </a:xfrm>
          <a:prstGeom prst="line">
            <a:avLst/>
          </a:prstGeom>
          <a:noFill/>
          <a:ln w="22860">
            <a:solidFill>
              <a:srgbClr val="07368C"/>
            </a:solidFill>
            <a:prstDash val="solid"/>
          </a:ln>
        </p:spPr>
      </p:sp>
      <p:sp>
        <p:nvSpPr>
          <p:cNvPr id="1142" name="object-140">
            <a:extLst>
              <a:ext uri="{FF2B5EF4-FFF2-40B4-BE49-F238E27FC236}">
                <a16:creationId xmlns:a16="http://schemas.microsoft.com/office/drawing/2014/main" id="{FCEE77B0-6AE6-456E-9629-649F6F9CC2FA}"/>
              </a:ext>
            </a:extLst>
          </p:cNvPr>
          <p:cNvSpPr>
            <a:spLocks noGrp="1"/>
          </p:cNvSpPr>
          <p:nvPr/>
        </p:nvSpPr>
        <p:spPr>
          <a:xfrm>
            <a:off x="13325475" y="7496175"/>
            <a:ext cx="114300" cy="133350"/>
          </a:xfrm>
          <a:prstGeom prst="downArrow">
            <a:avLst/>
          </a:prstGeom>
          <a:solidFill>
            <a:srgbClr val="07368C"/>
          </a:solidFill>
          <a:ln w="0">
            <a:noFill/>
            <a:prstDash val="solid"/>
          </a:ln>
        </p:spPr>
      </p:sp>
      <p:sp>
        <p:nvSpPr>
          <p:cNvPr id="1143" name="object-141">
            <a:extLst>
              <a:ext uri="{FF2B5EF4-FFF2-40B4-BE49-F238E27FC236}">
                <a16:creationId xmlns:a16="http://schemas.microsoft.com/office/drawing/2014/main" id="{AE50FC44-25BE-4762-9C80-3495EE17E71B}"/>
              </a:ext>
            </a:extLst>
          </p:cNvPr>
          <p:cNvSpPr>
            <a:spLocks noGrp="1"/>
          </p:cNvSpPr>
          <p:nvPr/>
        </p:nvSpPr>
        <p:spPr>
          <a:xfrm>
            <a:off x="11334750" y="7667625"/>
            <a:ext cx="4048125" cy="447675"/>
          </a:xfrm>
          <a:prstGeom prst="roundRect">
            <a:avLst>
              <a:gd name="adj" fmla="val 17021"/>
            </a:avLst>
          </a:prstGeom>
          <a:solidFill>
            <a:srgbClr val="EAF3E5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下一状态 Nash 均衡与 Q 更新</a:t>
            </a:r>
          </a:p>
        </p:txBody>
      </p:sp>
      <p:sp>
        <p:nvSpPr>
          <p:cNvPr id="1144" name="object-142">
            <a:extLst>
              <a:ext uri="{FF2B5EF4-FFF2-40B4-BE49-F238E27FC236}">
                <a16:creationId xmlns:a16="http://schemas.microsoft.com/office/drawing/2014/main" id="{E70B6EAF-EA27-46DA-8086-1F227A665496}"/>
              </a:ext>
            </a:extLst>
          </p:cNvPr>
          <p:cNvSpPr>
            <a:spLocks noGrp="1"/>
          </p:cNvSpPr>
          <p:nvPr/>
        </p:nvSpPr>
        <p:spPr>
          <a:xfrm>
            <a:off x="11153775" y="7896225"/>
            <a:ext cx="180975" cy="953"/>
          </a:xfrm>
          <a:prstGeom prst="line">
            <a:avLst/>
          </a:prstGeom>
          <a:noFill/>
          <a:ln w="22860">
            <a:solidFill>
              <a:srgbClr val="7751A8"/>
            </a:solidFill>
            <a:prstDash val="solid"/>
          </a:ln>
        </p:spPr>
      </p:sp>
      <p:sp>
        <p:nvSpPr>
          <p:cNvPr id="1145" name="object-143">
            <a:extLst>
              <a:ext uri="{FF2B5EF4-FFF2-40B4-BE49-F238E27FC236}">
                <a16:creationId xmlns:a16="http://schemas.microsoft.com/office/drawing/2014/main" id="{FD03F396-F52A-4DD2-809D-FCBB78B8BA52}"/>
              </a:ext>
            </a:extLst>
          </p:cNvPr>
          <p:cNvSpPr>
            <a:spLocks noGrp="1"/>
          </p:cNvSpPr>
          <p:nvPr/>
        </p:nvSpPr>
        <p:spPr>
          <a:xfrm>
            <a:off x="11153775" y="5876925"/>
            <a:ext cx="953" cy="2019300"/>
          </a:xfrm>
          <a:prstGeom prst="line">
            <a:avLst/>
          </a:prstGeom>
          <a:noFill/>
          <a:ln w="22860">
            <a:solidFill>
              <a:srgbClr val="7751A8"/>
            </a:solidFill>
            <a:prstDash val="solid"/>
          </a:ln>
        </p:spPr>
      </p:sp>
      <p:sp>
        <p:nvSpPr>
          <p:cNvPr id="1146" name="object-144">
            <a:extLst>
              <a:ext uri="{FF2B5EF4-FFF2-40B4-BE49-F238E27FC236}">
                <a16:creationId xmlns:a16="http://schemas.microsoft.com/office/drawing/2014/main" id="{F668D9FA-8732-4BA8-8DD2-66B5A0407880}"/>
              </a:ext>
            </a:extLst>
          </p:cNvPr>
          <p:cNvSpPr>
            <a:spLocks noGrp="1"/>
          </p:cNvSpPr>
          <p:nvPr/>
        </p:nvSpPr>
        <p:spPr>
          <a:xfrm>
            <a:off x="11153775" y="5876925"/>
            <a:ext cx="2228850" cy="953"/>
          </a:xfrm>
          <a:prstGeom prst="line">
            <a:avLst/>
          </a:prstGeom>
          <a:noFill/>
          <a:ln w="22860">
            <a:solidFill>
              <a:srgbClr val="7751A8"/>
            </a:solidFill>
            <a:prstDash val="solid"/>
          </a:ln>
        </p:spPr>
      </p:sp>
      <p:sp>
        <p:nvSpPr>
          <p:cNvPr id="1147" name="object-145">
            <a:extLst>
              <a:ext uri="{FF2B5EF4-FFF2-40B4-BE49-F238E27FC236}">
                <a16:creationId xmlns:a16="http://schemas.microsoft.com/office/drawing/2014/main" id="{6B8F0DFB-E999-4252-A05E-8648771E8D21}"/>
              </a:ext>
            </a:extLst>
          </p:cNvPr>
          <p:cNvSpPr>
            <a:spLocks noGrp="1"/>
          </p:cNvSpPr>
          <p:nvPr/>
        </p:nvSpPr>
        <p:spPr>
          <a:xfrm>
            <a:off x="13382625" y="5876925"/>
            <a:ext cx="953" cy="190500"/>
          </a:xfrm>
          <a:prstGeom prst="line">
            <a:avLst/>
          </a:prstGeom>
          <a:noFill/>
          <a:ln w="22860">
            <a:solidFill>
              <a:srgbClr val="7751A8"/>
            </a:solidFill>
            <a:prstDash val="solid"/>
          </a:ln>
        </p:spPr>
      </p:sp>
      <p:sp>
        <p:nvSpPr>
          <p:cNvPr id="1148" name="object-146">
            <a:extLst>
              <a:ext uri="{FF2B5EF4-FFF2-40B4-BE49-F238E27FC236}">
                <a16:creationId xmlns:a16="http://schemas.microsoft.com/office/drawing/2014/main" id="{6254EC32-68F1-4524-A936-DEE42A32A62A}"/>
              </a:ext>
            </a:extLst>
          </p:cNvPr>
          <p:cNvSpPr>
            <a:spLocks noGrp="1"/>
          </p:cNvSpPr>
          <p:nvPr/>
        </p:nvSpPr>
        <p:spPr>
          <a:xfrm>
            <a:off x="13325475" y="5934075"/>
            <a:ext cx="114300" cy="133350"/>
          </a:xfrm>
          <a:prstGeom prst="downArrow">
            <a:avLst/>
          </a:prstGeom>
          <a:solidFill>
            <a:srgbClr val="7751A8"/>
          </a:solidFill>
          <a:ln w="0">
            <a:noFill/>
            <a:prstDash val="solid"/>
          </a:ln>
        </p:spPr>
      </p:sp>
      <p:sp>
        <p:nvSpPr>
          <p:cNvPr id="1149" name="object-147">
            <a:extLst>
              <a:ext uri="{FF2B5EF4-FFF2-40B4-BE49-F238E27FC236}">
                <a16:creationId xmlns:a16="http://schemas.microsoft.com/office/drawing/2014/main" id="{423F82DE-5F5A-4926-8F82-E94351438DD4}"/>
              </a:ext>
            </a:extLst>
          </p:cNvPr>
          <p:cNvSpPr>
            <a:spLocks noGrp="1"/>
          </p:cNvSpPr>
          <p:nvPr/>
        </p:nvSpPr>
        <p:spPr>
          <a:xfrm>
            <a:off x="11191875" y="5238750"/>
            <a:ext cx="43148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价格边界、套餐唯一选择与费用约束</a:t>
            </a:r>
          </a:p>
        </p:txBody>
      </p:sp>
      <p:sp>
        <p:nvSpPr>
          <p:cNvPr id="1150" name="object-148">
            <a:extLst>
              <a:ext uri="{FF2B5EF4-FFF2-40B4-BE49-F238E27FC236}">
                <a16:creationId xmlns:a16="http://schemas.microsoft.com/office/drawing/2014/main" id="{D73B4044-4B27-412E-92F1-5A2EBFC63F01}"/>
              </a:ext>
            </a:extLst>
          </p:cNvPr>
          <p:cNvSpPr>
            <a:spLocks noGrp="1"/>
          </p:cNvSpPr>
          <p:nvPr/>
        </p:nvSpPr>
        <p:spPr>
          <a:xfrm>
            <a:off x="171450" y="8410575"/>
            <a:ext cx="1558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运营商与用户保留各自目标；绿电匹配效用衡量曲线相似性，不能直接等同于可再生能源消纳率</a:t>
            </a:r>
          </a:p>
        </p:txBody>
      </p:sp>
    </p:spTree>
    <p:extLst>
      <p:ext uri="{BB962C8B-B14F-4D97-AF65-F5344CB8AC3E}">
        <p14:creationId xmlns:p14="http://schemas.microsoft.com/office/powerpoint/2010/main" val="2137955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rule">
            <a:extLst>
              <a:ext uri="{FF2B5EF4-FFF2-40B4-BE49-F238E27FC236}">
                <a16:creationId xmlns:a16="http://schemas.microsoft.com/office/drawing/2014/main" id="{2827DF31-A7F0-4D05-9A4A-E01F0F3476C0}"/>
              </a:ext>
            </a:extLst>
          </p:cNvPr>
          <p:cNvSpPr>
            <a:spLocks noGrp="1"/>
          </p:cNvSpPr>
          <p:nvPr/>
        </p:nvSpPr>
        <p:spPr>
          <a:xfrm>
            <a:off x="161925" y="657225"/>
            <a:ext cx="15601950" cy="95"/>
          </a:xfrm>
          <a:custGeom>
            <a:avLst/>
            <a:gdLst/>
            <a:ahLst/>
            <a:cxnLst/>
            <a:rect l="0" t="0" r="0" b="0"/>
            <a:pathLst>
              <a:path w="15601950" h="95">
                <a:moveTo>
                  <a:pt x="0" y="0"/>
                </a:moveTo>
                <a:lnTo>
                  <a:pt x="15601950" y="0"/>
                </a:lnTo>
              </a:path>
            </a:pathLst>
          </a:custGeom>
          <a:noFill/>
          <a:ln w="30480">
            <a:solidFill>
              <a:srgbClr val="0753C6"/>
            </a:solidFill>
            <a:prstDash val="solid"/>
          </a:ln>
        </p:spPr>
      </p:sp>
      <p:sp>
        <p:nvSpPr>
          <p:cNvPr id="3" name="summary">
            <a:extLst>
              <a:ext uri="{FF2B5EF4-FFF2-40B4-BE49-F238E27FC236}">
                <a16:creationId xmlns:a16="http://schemas.microsoft.com/office/drawing/2014/main" id="{C46A3055-CE5D-45B9-82A8-861A11FE31C4}"/>
              </a:ext>
            </a:extLst>
          </p:cNvPr>
          <p:cNvSpPr>
            <a:spLocks noGrp="1"/>
          </p:cNvSpPr>
          <p:nvPr/>
        </p:nvSpPr>
        <p:spPr>
          <a:xfrm>
            <a:off x="171450" y="742950"/>
            <a:ext cx="15582900" cy="1343025"/>
          </a:xfrm>
          <a:prstGeom prst="roundRect">
            <a:avLst>
              <a:gd name="adj" fmla="val 10638"/>
            </a:avLst>
          </a:prstGeom>
          <a:gradFill>
            <a:gsLst>
              <a:gs pos="0">
                <a:srgbClr val="F3FBFF"/>
              </a:gs>
              <a:gs pos="100000">
                <a:srgbClr val="E4F2FE"/>
              </a:gs>
            </a:gsLst>
            <a:lin ang="5400000"/>
          </a:gradFill>
          <a:ln w="8573">
            <a:solidFill>
              <a:srgbClr val="6DBBFA"/>
            </a:solidFill>
            <a:prstDash val="solid"/>
          </a:ln>
        </p:spPr>
      </p:sp>
      <p:sp>
        <p:nvSpPr>
          <p:cNvPr id="9" name="col1">
            <a:extLst>
              <a:ext uri="{FF2B5EF4-FFF2-40B4-BE49-F238E27FC236}">
                <a16:creationId xmlns:a16="http://schemas.microsoft.com/office/drawing/2014/main" id="{BD4BD3F8-86EC-4EF4-B77E-DC31C1E30448}"/>
              </a:ext>
            </a:extLst>
          </p:cNvPr>
          <p:cNvSpPr>
            <a:spLocks noGrp="1"/>
          </p:cNvSpPr>
          <p:nvPr/>
        </p:nvSpPr>
        <p:spPr>
          <a:xfrm>
            <a:off x="171449" y="2190750"/>
            <a:ext cx="5105400" cy="6115050"/>
          </a:xfrm>
          <a:prstGeom prst="roundRect">
            <a:avLst>
              <a:gd name="adj" fmla="val 1949"/>
            </a:avLst>
          </a:prstGeom>
          <a:solidFill>
            <a:srgbClr val="FFFFFF"/>
          </a:solidFill>
          <a:ln w="10478">
            <a:solidFill>
              <a:srgbClr val="1383F1"/>
            </a:solidFill>
            <a:prstDash val="solid"/>
          </a:ln>
        </p:spPr>
      </p:sp>
      <p:sp>
        <p:nvSpPr>
          <p:cNvPr id="11" name="col2">
            <a:extLst>
              <a:ext uri="{FF2B5EF4-FFF2-40B4-BE49-F238E27FC236}">
                <a16:creationId xmlns:a16="http://schemas.microsoft.com/office/drawing/2014/main" id="{B7E9851C-B24E-4E37-BE18-623FE6F6CEA0}"/>
              </a:ext>
            </a:extLst>
          </p:cNvPr>
          <p:cNvSpPr>
            <a:spLocks noGrp="1"/>
          </p:cNvSpPr>
          <p:nvPr/>
        </p:nvSpPr>
        <p:spPr>
          <a:xfrm>
            <a:off x="5391150" y="2190750"/>
            <a:ext cx="5105400" cy="6115050"/>
          </a:xfrm>
          <a:prstGeom prst="roundRect">
            <a:avLst>
              <a:gd name="adj" fmla="val 1757"/>
            </a:avLst>
          </a:prstGeom>
          <a:solidFill>
            <a:srgbClr val="FFFFFF"/>
          </a:solidFill>
          <a:ln w="10478">
            <a:solidFill>
              <a:srgbClr val="1383F1"/>
            </a:solidFill>
            <a:prstDash val="solid"/>
          </a:ln>
        </p:spPr>
      </p:sp>
      <p:sp>
        <p:nvSpPr>
          <p:cNvPr id="13" name="col3">
            <a:extLst>
              <a:ext uri="{FF2B5EF4-FFF2-40B4-BE49-F238E27FC236}">
                <a16:creationId xmlns:a16="http://schemas.microsoft.com/office/drawing/2014/main" id="{9005D114-A3EE-422F-9203-7C102F1A4025}"/>
              </a:ext>
            </a:extLst>
          </p:cNvPr>
          <p:cNvSpPr>
            <a:spLocks noGrp="1"/>
          </p:cNvSpPr>
          <p:nvPr/>
        </p:nvSpPr>
        <p:spPr>
          <a:xfrm>
            <a:off x="10610850" y="2190750"/>
            <a:ext cx="5105400" cy="6115050"/>
          </a:xfrm>
          <a:prstGeom prst="roundRect">
            <a:avLst>
              <a:gd name="adj" fmla="val 1862"/>
            </a:avLst>
          </a:prstGeom>
          <a:solidFill>
            <a:srgbClr val="FFFFFF"/>
          </a:solidFill>
          <a:ln w="10478">
            <a:solidFill>
              <a:srgbClr val="1383F1"/>
            </a:solidFill>
            <a:prstDash val="solid"/>
          </a:ln>
        </p:spPr>
      </p:sp>
      <p:sp>
        <p:nvSpPr>
          <p:cNvPr id="640" name="object-44">
            <a:extLst>
              <a:ext uri="{FF2B5EF4-FFF2-40B4-BE49-F238E27FC236}">
                <a16:creationId xmlns:a16="http://schemas.microsoft.com/office/drawing/2014/main" id="{F5F8B044-2625-59A4-6F71-576721D9A006}"/>
              </a:ext>
            </a:extLst>
          </p:cNvPr>
          <p:cNvSpPr>
            <a:spLocks noGrp="1"/>
          </p:cNvSpPr>
          <p:nvPr/>
        </p:nvSpPr>
        <p:spPr>
          <a:xfrm>
            <a:off x="190500" y="9525"/>
            <a:ext cx="155257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36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6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2. 北京海淀算例：用户聚类、算法对比与目标权衡</a:t>
            </a:r>
          </a:p>
        </p:txBody>
      </p:sp>
      <p:sp>
        <p:nvSpPr>
          <p:cNvPr id="641" name="object-45">
            <a:extLst>
              <a:ext uri="{FF2B5EF4-FFF2-40B4-BE49-F238E27FC236}">
                <a16:creationId xmlns:a16="http://schemas.microsoft.com/office/drawing/2014/main" id="{23230E38-8398-CDB5-C496-49EC6742CC7C}"/>
              </a:ext>
            </a:extLst>
          </p:cNvPr>
          <p:cNvSpPr>
            <a:spLocks noGrp="1"/>
          </p:cNvSpPr>
          <p:nvPr/>
        </p:nvSpPr>
        <p:spPr>
          <a:xfrm>
            <a:off x="171450" y="742950"/>
            <a:ext cx="15582900" cy="1343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15座站、1000名用户、5 min时间步长的算例中，Nash-Q净收益为17.24万元；</a:t>
            </a:r>
          </a:p>
          <a:p>
            <a:pPr algn="l">
              <a:def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1D30"/>
                </a:solidFill>
                <a:latin typeface="Microsoft YaHei"/>
                <a:ea typeface="Microsoft YaHei"/>
                <a:cs typeface="Microsoft YaHei"/>
              </a:rPr>
              <a:t>与交替最优响应（ABR）相比收益增加约13.05%，求解时间减少约37.25%，多目标存在明确权衡。</a:t>
            </a:r>
          </a:p>
        </p:txBody>
      </p:sp>
      <p:sp>
        <p:nvSpPr>
          <p:cNvPr id="642" name="object-46">
            <a:extLst>
              <a:ext uri="{FF2B5EF4-FFF2-40B4-BE49-F238E27FC236}">
                <a16:creationId xmlns:a16="http://schemas.microsoft.com/office/drawing/2014/main" id="{E426A134-80B1-FE98-FF61-F7A5FB922C03}"/>
              </a:ext>
            </a:extLst>
          </p:cNvPr>
          <p:cNvSpPr>
            <a:spLocks noGrp="1"/>
          </p:cNvSpPr>
          <p:nvPr/>
        </p:nvSpPr>
        <p:spPr>
          <a:xfrm>
            <a:off x="257175" y="2247900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① 用户聚类与可解释性</a:t>
            </a:r>
          </a:p>
        </p:txBody>
      </p:sp>
      <p:sp>
        <p:nvSpPr>
          <p:cNvPr id="643" name="object-47">
            <a:extLst>
              <a:ext uri="{FF2B5EF4-FFF2-40B4-BE49-F238E27FC236}">
                <a16:creationId xmlns:a16="http://schemas.microsoft.com/office/drawing/2014/main" id="{0F1A3AD8-1E49-D063-823C-34C0F4B144C7}"/>
              </a:ext>
            </a:extLst>
          </p:cNvPr>
          <p:cNvSpPr>
            <a:spLocks noGrp="1"/>
          </p:cNvSpPr>
          <p:nvPr/>
        </p:nvSpPr>
        <p:spPr>
          <a:xfrm>
            <a:off x="266700" y="2695575"/>
            <a:ext cx="4914900" cy="361950"/>
          </a:xfrm>
          <a:prstGeom prst="roundRect">
            <a:avLst>
              <a:gd name="adj" fmla="val 21053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四个用户群 · 比较相同聚类数 k = 4</a:t>
            </a:r>
          </a:p>
        </p:txBody>
      </p:sp>
      <p:sp>
        <p:nvSpPr>
          <p:cNvPr id="644" name="object-48">
            <a:extLst>
              <a:ext uri="{FF2B5EF4-FFF2-40B4-BE49-F238E27FC236}">
                <a16:creationId xmlns:a16="http://schemas.microsoft.com/office/drawing/2014/main" id="{5CA5BA10-3822-BAA0-892F-25408844B5F2}"/>
              </a:ext>
            </a:extLst>
          </p:cNvPr>
          <p:cNvSpPr>
            <a:spLocks noGrp="1"/>
          </p:cNvSpPr>
          <p:nvPr/>
        </p:nvSpPr>
        <p:spPr>
          <a:xfrm>
            <a:off x="285750" y="3152775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聚类质量（SC为轮廓系数）</a:t>
            </a:r>
          </a:p>
        </p:txBody>
      </p:sp>
      <p:graphicFrame>
        <p:nvGraphicFramePr>
          <p:cNvPr id="645" name="表格 644">
            <a:extLst>
              <a:ext uri="{FF2B5EF4-FFF2-40B4-BE49-F238E27FC236}">
                <a16:creationId xmlns:a16="http://schemas.microsoft.com/office/drawing/2014/main" id="{1B112DC6-0FAC-A1FF-A568-0AFF407244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2442262"/>
              </p:ext>
            </p:extLst>
          </p:nvPr>
        </p:nvGraphicFramePr>
        <p:xfrm>
          <a:off x="285750" y="3486150"/>
          <a:ext cx="4876800" cy="2038350"/>
        </p:xfrm>
        <a:graphic>
          <a:graphicData uri="http://schemas.openxmlformats.org/drawingml/2006/table">
            <a:tbl>
              <a:tblPr/>
              <a:tblGrid>
                <a:gridCol w="180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463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SC↑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DBI↓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时间/s↓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0.3528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2.4652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K-means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0.3501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2.6860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0.411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GMM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4.9549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63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46" name="object-49">
            <a:extLst>
              <a:ext uri="{FF2B5EF4-FFF2-40B4-BE49-F238E27FC236}">
                <a16:creationId xmlns:a16="http://schemas.microsoft.com/office/drawing/2014/main" id="{E8230CC5-8925-7BAB-E760-44E225497A1E}"/>
              </a:ext>
            </a:extLst>
          </p:cNvPr>
          <p:cNvSpPr>
            <a:spLocks noGrp="1"/>
          </p:cNvSpPr>
          <p:nvPr/>
        </p:nvSpPr>
        <p:spPr>
          <a:xfrm>
            <a:off x="285750" y="5638800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群体特征与粒度选择</a:t>
            </a:r>
          </a:p>
        </p:txBody>
      </p:sp>
      <p:graphicFrame>
        <p:nvGraphicFramePr>
          <p:cNvPr id="647" name="表格 646">
            <a:extLst>
              <a:ext uri="{FF2B5EF4-FFF2-40B4-BE49-F238E27FC236}">
                <a16:creationId xmlns:a16="http://schemas.microsoft.com/office/drawing/2014/main" id="{24497686-3E55-F239-4088-B006590011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429562"/>
              </p:ext>
            </p:extLst>
          </p:nvPr>
        </p:nvGraphicFramePr>
        <p:xfrm>
          <a:off x="285750" y="5972175"/>
          <a:ext cx="4876800" cy="1714500"/>
        </p:xfrm>
        <a:graphic>
          <a:graphicData uri="http://schemas.openxmlformats.org/drawingml/2006/table">
            <a:tbl>
              <a:tblPr/>
              <a:tblGrid>
                <a:gridCol w="2243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用户群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主要特征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群0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价格与环保偏好较强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群1 / 群3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价格敏感、SOC焦虑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群2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属性组合更均衡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选取四群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兼顾解释性与计算量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48" name="object-50">
            <a:extLst>
              <a:ext uri="{FF2B5EF4-FFF2-40B4-BE49-F238E27FC236}">
                <a16:creationId xmlns:a16="http://schemas.microsoft.com/office/drawing/2014/main" id="{11297333-7E05-7029-265B-ED90FBF2E426}"/>
              </a:ext>
            </a:extLst>
          </p:cNvPr>
          <p:cNvSpPr>
            <a:spLocks noGrp="1"/>
          </p:cNvSpPr>
          <p:nvPr/>
        </p:nvSpPr>
        <p:spPr>
          <a:xfrm>
            <a:off x="285750" y="7772400"/>
            <a:ext cx="4876800" cy="485775"/>
          </a:xfrm>
          <a:prstGeom prst="roundRect">
            <a:avLst>
              <a:gd name="adj" fmla="val 15686"/>
            </a:avLst>
          </a:prstGeom>
          <a:solidFill>
            <a:srgbClr val="EAF5FF"/>
          </a:solidFill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BIRCH在三算法比较中略优</a:t>
            </a:r>
          </a:p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四群为粒度折中，并非全部指标最优</a:t>
            </a:r>
          </a:p>
        </p:txBody>
      </p:sp>
      <p:sp>
        <p:nvSpPr>
          <p:cNvPr id="649" name="object-51">
            <a:extLst>
              <a:ext uri="{FF2B5EF4-FFF2-40B4-BE49-F238E27FC236}">
                <a16:creationId xmlns:a16="http://schemas.microsoft.com/office/drawing/2014/main" id="{D15BA770-A79E-4C17-A2E7-A0575065F6DF}"/>
              </a:ext>
            </a:extLst>
          </p:cNvPr>
          <p:cNvSpPr>
            <a:spLocks noGrp="1"/>
          </p:cNvSpPr>
          <p:nvPr/>
        </p:nvSpPr>
        <p:spPr>
          <a:xfrm>
            <a:off x="5476875" y="2247900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② Nash-Q 与 ABR 对比</a:t>
            </a:r>
          </a:p>
        </p:txBody>
      </p:sp>
      <p:sp>
        <p:nvSpPr>
          <p:cNvPr id="650" name="object-52">
            <a:extLst>
              <a:ext uri="{FF2B5EF4-FFF2-40B4-BE49-F238E27FC236}">
                <a16:creationId xmlns:a16="http://schemas.microsoft.com/office/drawing/2014/main" id="{C102314B-3B69-C1AE-1A12-7178090D2A35}"/>
              </a:ext>
            </a:extLst>
          </p:cNvPr>
          <p:cNvSpPr>
            <a:spLocks noGrp="1"/>
          </p:cNvSpPr>
          <p:nvPr/>
        </p:nvSpPr>
        <p:spPr>
          <a:xfrm>
            <a:off x="5486400" y="2695575"/>
            <a:ext cx="4914900" cy="361950"/>
          </a:xfrm>
          <a:prstGeom prst="roundRect">
            <a:avLst>
              <a:gd name="adj" fmla="val 21053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同一BIRCH分类 · 保留全部目标</a:t>
            </a:r>
          </a:p>
        </p:txBody>
      </p:sp>
      <p:sp>
        <p:nvSpPr>
          <p:cNvPr id="651" name="object-53">
            <a:extLst>
              <a:ext uri="{FF2B5EF4-FFF2-40B4-BE49-F238E27FC236}">
                <a16:creationId xmlns:a16="http://schemas.microsoft.com/office/drawing/2014/main" id="{9D3423CA-414E-19B0-E918-1E88C4A000BE}"/>
              </a:ext>
            </a:extLst>
          </p:cNvPr>
          <p:cNvSpPr>
            <a:spLocks noGrp="1"/>
          </p:cNvSpPr>
          <p:nvPr/>
        </p:nvSpPr>
        <p:spPr>
          <a:xfrm>
            <a:off x="5505450" y="3152775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运营商净收益</a:t>
            </a:r>
          </a:p>
        </p:txBody>
      </p:sp>
      <p:graphicFrame>
        <p:nvGraphicFramePr>
          <p:cNvPr id="652" name="Chart">
            <a:extLst>
              <a:ext uri="{FF2B5EF4-FFF2-40B4-BE49-F238E27FC236}">
                <a16:creationId xmlns:a16="http://schemas.microsoft.com/office/drawing/2014/main" id="{51F54496-A317-DF31-21E6-F472452F2E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6551079"/>
              </p:ext>
            </p:extLst>
          </p:nvPr>
        </p:nvGraphicFramePr>
        <p:xfrm>
          <a:off x="5486400" y="3505200"/>
          <a:ext cx="4914900" cy="203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53" name="object-54">
            <a:extLst>
              <a:ext uri="{FF2B5EF4-FFF2-40B4-BE49-F238E27FC236}">
                <a16:creationId xmlns:a16="http://schemas.microsoft.com/office/drawing/2014/main" id="{B0F5BE1C-95E8-9DE0-5E8C-94FF96E33071}"/>
              </a:ext>
            </a:extLst>
          </p:cNvPr>
          <p:cNvSpPr>
            <a:spLocks noGrp="1"/>
          </p:cNvSpPr>
          <p:nvPr/>
        </p:nvSpPr>
        <p:spPr>
          <a:xfrm>
            <a:off x="5505450" y="5638800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协调效果与计算开销</a:t>
            </a:r>
          </a:p>
        </p:txBody>
      </p:sp>
      <p:graphicFrame>
        <p:nvGraphicFramePr>
          <p:cNvPr id="654" name="表格 653">
            <a:extLst>
              <a:ext uri="{FF2B5EF4-FFF2-40B4-BE49-F238E27FC236}">
                <a16:creationId xmlns:a16="http://schemas.microsoft.com/office/drawing/2014/main" id="{111CC5B1-6463-65E0-6189-D4E3CA48C5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820942"/>
              </p:ext>
            </p:extLst>
          </p:nvPr>
        </p:nvGraphicFramePr>
        <p:xfrm>
          <a:off x="5505450" y="5972175"/>
          <a:ext cx="4876800" cy="1714500"/>
        </p:xfrm>
        <a:graphic>
          <a:graphicData uri="http://schemas.openxmlformats.org/drawingml/2006/table">
            <a:tbl>
              <a:tblPr/>
              <a:tblGrid>
                <a:gridCol w="195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ABR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Nash-Q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绿电匹配效用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0.1294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运行时间/s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3782.7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2373.5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群2用户效用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0.5116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0.5916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55" name="object-55">
            <a:extLst>
              <a:ext uri="{FF2B5EF4-FFF2-40B4-BE49-F238E27FC236}">
                <a16:creationId xmlns:a16="http://schemas.microsoft.com/office/drawing/2014/main" id="{D2DA633A-C37D-020A-1FD5-7DA7963D81FD}"/>
              </a:ext>
            </a:extLst>
          </p:cNvPr>
          <p:cNvSpPr>
            <a:spLocks noGrp="1"/>
          </p:cNvSpPr>
          <p:nvPr/>
        </p:nvSpPr>
        <p:spPr>
          <a:xfrm>
            <a:off x="5505450" y="7772400"/>
            <a:ext cx="4876800" cy="485775"/>
          </a:xfrm>
          <a:prstGeom prst="roundRect">
            <a:avLst>
              <a:gd name="adj" fmla="val 15686"/>
            </a:avLst>
          </a:prstGeom>
          <a:solidFill>
            <a:srgbClr val="EAF5FF"/>
          </a:solidFill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净收益增加13.05%，时间减少37.25%</a:t>
            </a:r>
          </a:p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训练在1353轮后达到终止条件</a:t>
            </a:r>
          </a:p>
        </p:txBody>
      </p:sp>
      <p:sp>
        <p:nvSpPr>
          <p:cNvPr id="657" name="object-56">
            <a:extLst>
              <a:ext uri="{FF2B5EF4-FFF2-40B4-BE49-F238E27FC236}">
                <a16:creationId xmlns:a16="http://schemas.microsoft.com/office/drawing/2014/main" id="{21DB1C4D-4B08-299B-8B76-2DB43728D31A}"/>
              </a:ext>
            </a:extLst>
          </p:cNvPr>
          <p:cNvSpPr>
            <a:spLocks noGrp="1"/>
          </p:cNvSpPr>
          <p:nvPr/>
        </p:nvSpPr>
        <p:spPr>
          <a:xfrm>
            <a:off x="10696575" y="2247900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③ 单目标与综合方案权衡</a:t>
            </a:r>
          </a:p>
        </p:txBody>
      </p:sp>
      <p:sp>
        <p:nvSpPr>
          <p:cNvPr id="658" name="object-57">
            <a:extLst>
              <a:ext uri="{FF2B5EF4-FFF2-40B4-BE49-F238E27FC236}">
                <a16:creationId xmlns:a16="http://schemas.microsoft.com/office/drawing/2014/main" id="{368A1A61-E343-842C-CB42-F65E681DD56E}"/>
              </a:ext>
            </a:extLst>
          </p:cNvPr>
          <p:cNvSpPr>
            <a:spLocks noGrp="1"/>
          </p:cNvSpPr>
          <p:nvPr/>
        </p:nvSpPr>
        <p:spPr>
          <a:xfrm>
            <a:off x="10706100" y="2695575"/>
            <a:ext cx="4914900" cy="361950"/>
          </a:xfrm>
          <a:prstGeom prst="roundRect">
            <a:avLst>
              <a:gd name="adj" fmla="val 21053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相同BIRCH与Nash-Q配置</a:t>
            </a:r>
          </a:p>
        </p:txBody>
      </p:sp>
      <p:sp>
        <p:nvSpPr>
          <p:cNvPr id="659" name="object-58">
            <a:extLst>
              <a:ext uri="{FF2B5EF4-FFF2-40B4-BE49-F238E27FC236}">
                <a16:creationId xmlns:a16="http://schemas.microsoft.com/office/drawing/2014/main" id="{21A8A6D7-0F62-C0E7-1EA9-629AF5E954D9}"/>
              </a:ext>
            </a:extLst>
          </p:cNvPr>
          <p:cNvSpPr>
            <a:spLocks noGrp="1"/>
          </p:cNvSpPr>
          <p:nvPr/>
        </p:nvSpPr>
        <p:spPr>
          <a:xfrm>
            <a:off x="10725150" y="3152775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收益与匹配的取舍</a:t>
            </a:r>
          </a:p>
        </p:txBody>
      </p:sp>
      <p:graphicFrame>
        <p:nvGraphicFramePr>
          <p:cNvPr id="660" name="表格 659">
            <a:extLst>
              <a:ext uri="{FF2B5EF4-FFF2-40B4-BE49-F238E27FC236}">
                <a16:creationId xmlns:a16="http://schemas.microsoft.com/office/drawing/2014/main" id="{116E880D-2F13-F203-3B11-AF472D17EB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8350971"/>
              </p:ext>
            </p:extLst>
          </p:nvPr>
        </p:nvGraphicFramePr>
        <p:xfrm>
          <a:off x="10725150" y="3486150"/>
          <a:ext cx="4876800" cy="2038350"/>
        </p:xfrm>
        <a:graphic>
          <a:graphicData uri="http://schemas.openxmlformats.org/drawingml/2006/table">
            <a:tbl>
              <a:tblPr/>
              <a:tblGrid>
                <a:gridCol w="195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收益/万元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匹配效用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 S1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17.243948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0.1294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仅收益 S5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23.859453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0.0825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仅匹配 S6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12.845000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0.2950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61" name="object-59">
            <a:extLst>
              <a:ext uri="{FF2B5EF4-FFF2-40B4-BE49-F238E27FC236}">
                <a16:creationId xmlns:a16="http://schemas.microsoft.com/office/drawing/2014/main" id="{66CCECD3-AD4C-9695-AB01-15C013C04C10}"/>
              </a:ext>
            </a:extLst>
          </p:cNvPr>
          <p:cNvSpPr>
            <a:spLocks noGrp="1"/>
          </p:cNvSpPr>
          <p:nvPr/>
        </p:nvSpPr>
        <p:spPr>
          <a:xfrm>
            <a:off x="10725150" y="5638800"/>
            <a:ext cx="4876800" cy="304800"/>
          </a:xfrm>
          <a:prstGeom prst="roundRect">
            <a:avLst>
              <a:gd name="adj" fmla="val 25000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敏感性结论</a:t>
            </a:r>
          </a:p>
        </p:txBody>
      </p:sp>
      <p:graphicFrame>
        <p:nvGraphicFramePr>
          <p:cNvPr id="662" name="表格 661">
            <a:extLst>
              <a:ext uri="{FF2B5EF4-FFF2-40B4-BE49-F238E27FC236}">
                <a16:creationId xmlns:a16="http://schemas.microsoft.com/office/drawing/2014/main" id="{6DF6B5D1-40D4-4C11-0A16-DDD0C9C901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0006330"/>
              </p:ext>
            </p:extLst>
          </p:nvPr>
        </p:nvGraphicFramePr>
        <p:xfrm>
          <a:off x="10725150" y="5972175"/>
          <a:ext cx="4876800" cy="1714500"/>
        </p:xfrm>
        <a:graphic>
          <a:graphicData uri="http://schemas.openxmlformats.org/drawingml/2006/table">
            <a:tbl>
              <a:tblPr/>
              <a:tblGrid>
                <a:gridCol w="2243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条件变化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07368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算例中的方向</a:t>
                      </a:r>
                    </a:p>
                  </a:txBody>
                  <a:tcPr anchor="ctr">
                    <a:solidFill>
                      <a:srgbClr val="DC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用户规模增加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收益↑，匹配及效用↓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套餐基价提高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收益↑，匹配及效用↓</a:t>
                      </a:r>
                    </a:p>
                  </a:txBody>
                  <a:tcPr anchor="ctr">
                    <a:solidFill>
                      <a:srgbClr val="F2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更重距离/排队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01D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响应与匹配效果减弱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63" name="object-60">
            <a:extLst>
              <a:ext uri="{FF2B5EF4-FFF2-40B4-BE49-F238E27FC236}">
                <a16:creationId xmlns:a16="http://schemas.microsoft.com/office/drawing/2014/main" id="{6124207D-9960-5E9C-247F-48368FA8CA63}"/>
              </a:ext>
            </a:extLst>
          </p:cNvPr>
          <p:cNvSpPr>
            <a:spLocks noGrp="1"/>
          </p:cNvSpPr>
          <p:nvPr/>
        </p:nvSpPr>
        <p:spPr>
          <a:xfrm>
            <a:off x="10725150" y="7772400"/>
            <a:ext cx="4876800" cy="485775"/>
          </a:xfrm>
          <a:prstGeom prst="roundRect">
            <a:avLst>
              <a:gd name="adj" fmla="val 15686"/>
            </a:avLst>
          </a:prstGeom>
          <a:solidFill>
            <a:srgbClr val="EAF5FF"/>
          </a:solidFill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完整模型折中收益与匹配目标</a:t>
            </a:r>
          </a:p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提高收益不必然改善用户效用</a:t>
            </a:r>
          </a:p>
        </p:txBody>
      </p:sp>
      <p:sp>
        <p:nvSpPr>
          <p:cNvPr id="664" name="object-61">
            <a:extLst>
              <a:ext uri="{FF2B5EF4-FFF2-40B4-BE49-F238E27FC236}">
                <a16:creationId xmlns:a16="http://schemas.microsoft.com/office/drawing/2014/main" id="{21D188EB-AED3-DE4F-BF99-D11E7925A1CD}"/>
              </a:ext>
            </a:extLst>
          </p:cNvPr>
          <p:cNvSpPr>
            <a:spLocks noGrp="1"/>
          </p:cNvSpPr>
          <p:nvPr/>
        </p:nvSpPr>
        <p:spPr>
          <a:xfrm>
            <a:off x="171450" y="8410575"/>
            <a:ext cx="15582900" cy="438150"/>
          </a:xfrm>
          <a:prstGeom prst="roundRect">
            <a:avLst>
              <a:gd name="adj" fmla="val 17391"/>
            </a:avLst>
          </a:prstGeom>
          <a:solidFill>
            <a:srgbClr val="EAF5FF"/>
          </a:solidFill>
          <a:ln w="9525">
            <a:solidFill>
              <a:srgbClr val="66B7FA"/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>
            <a:def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68C"/>
                </a:solidFill>
                <a:latin typeface="Microsoft YaHei"/>
                <a:ea typeface="Microsoft YaHei"/>
                <a:cs typeface="Microsoft YaHei"/>
              </a:rPr>
              <a:t>完整模型兼顾收益、绿电匹配与用户体验；套餐定价效果依赖用户偏好和外部新能源曲线</a:t>
            </a:r>
          </a:p>
        </p:txBody>
      </p:sp>
    </p:spTree>
    <p:extLst>
      <p:ext uri="{BB962C8B-B14F-4D97-AF65-F5344CB8AC3E}">
        <p14:creationId xmlns:p14="http://schemas.microsoft.com/office/powerpoint/2010/main" val="15403677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2035</Words>
  <Application>Microsoft Office PowerPoint</Application>
  <DocSecurity>0</DocSecurity>
  <PresentationFormat>自定义</PresentationFormat>
  <Paragraphs>177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Microsoft YaHei</vt:lpstr>
      <vt:lpstr>Calibri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lenovo</cp:lastModifiedBy>
  <cp:revision>2</cp:revision>
  <dcterms:created xsi:type="dcterms:W3CDTF">2026-09-18T02:10:34Z</dcterms:created>
  <dcterms:modified xsi:type="dcterms:W3CDTF">2026-10-10T06:11:00Z</dcterms:modified>
</cp:coreProperties>
</file>