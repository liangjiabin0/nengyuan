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累计供电率（%）</c:v>
          </c:tx>
          <c:spPr>
            <a:solidFill>
              <a:srgbClr val="1673C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1B4CA"/>
              </a:solidFill>
              <a:ln w="9525">
                <a:solidFill>
                  <a:srgbClr val="A1B4CA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C413-4C92-A91D-5E9226E373F7}"/>
              </c:ext>
            </c:extLst>
          </c:dPt>
          <c:dPt>
            <c:idx val="1"/>
            <c:invertIfNegative val="0"/>
            <c:bubble3D val="0"/>
            <c:spPr>
              <a:solidFill>
                <a:srgbClr val="07368C"/>
              </a:solidFill>
              <a:ln w="9525">
                <a:solidFill>
                  <a:srgbClr val="07368C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C413-4C92-A91D-5E9226E373F7}"/>
              </c:ext>
            </c:extLst>
          </c:dPt>
          <c:dPt>
            <c:idx val="2"/>
            <c:invertIfNegative val="0"/>
            <c:bubble3D val="0"/>
            <c:spPr>
              <a:solidFill>
                <a:srgbClr val="A1B4CA"/>
              </a:solidFill>
              <a:ln w="9525">
                <a:solidFill>
                  <a:srgbClr val="A1B4CA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C413-4C92-A91D-5E9226E373F7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1">
                <a:spAutoFit/>
              </a:bodyPr>
              <a:lstStyle/>
              <a:p>
                <a:pPr>
                  <a:defRPr sz="1400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即时调度</c:v>
                </c:pt>
                <c:pt idx="1">
                  <c:v>协调调度</c:v>
                </c:pt>
                <c:pt idx="2">
                  <c:v>关键优先上界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54.247</c:v>
                </c:pt>
                <c:pt idx="1">
                  <c:v>95</c:v>
                </c:pt>
                <c:pt idx="2">
                  <c:v>97.742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C413-4C92-A91D-5E9226E373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10477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altLang="en-US" sz="1400">
                    <a:latin typeface="Microsoft YaHei"/>
                    <a:ea typeface="Microsoft YaHei"/>
                    <a:cs typeface="Microsoft YaHei"/>
                  </a:defRPr>
                </a:pPr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方案</a:t>
                </a:r>
              </a:p>
            </c:rich>
          </c:tx>
          <c:overlay val="0"/>
        </c:title>
        <c:numFmt formatCode="General" sourceLinked="1"/>
        <c:majorTickMark val="in"/>
        <c:minorTickMark val="none"/>
        <c:tickLblPos val="nextTo"/>
        <c:spPr>
          <a:ln w="14288">
            <a:solidFill>
              <a:srgbClr val="595959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10477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累计供电率（</a:t>
                </a:r>
                <a:r>
                  <a:rPr lang="en-US" altLang="zh-CN" sz="1400">
                    <a:latin typeface="Microsoft YaHei"/>
                    <a:ea typeface="Microsoft YaHei"/>
                    <a:cs typeface="Microsoft YaHei"/>
                  </a:rPr>
                  <a:t>%</a:t>
                </a:r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）</a:t>
                </a:r>
              </a:p>
            </c:rich>
          </c:tx>
          <c:overlay val="0"/>
        </c:title>
        <c:numFmt formatCode="0" sourceLinked="0"/>
        <c:majorTickMark val="in"/>
        <c:minorTickMark val="none"/>
        <c:tickLblPos val="nextTo"/>
        <c:spPr>
          <a:ln w="14288">
            <a:solidFill>
              <a:srgbClr val="595959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14288">
          <a:solidFill>
            <a:srgbClr val="595959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测试覆盖率（%）</c:v>
          </c:tx>
          <c:spPr>
            <a:solidFill>
              <a:srgbClr val="1673C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1B4CA"/>
              </a:solidFill>
              <a:ln w="9525">
                <a:solidFill>
                  <a:srgbClr val="A1B4CA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026-420D-8B87-14191EBB06E5}"/>
              </c:ext>
            </c:extLst>
          </c:dPt>
          <c:dPt>
            <c:idx val="1"/>
            <c:invertIfNegative val="0"/>
            <c:bubble3D val="0"/>
            <c:spPr>
              <a:solidFill>
                <a:srgbClr val="278CAD"/>
              </a:solidFill>
              <a:ln w="9525">
                <a:solidFill>
                  <a:srgbClr val="278CAD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8026-420D-8B87-14191EBB06E5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1">
                <a:spAutoFit/>
              </a:bodyPr>
              <a:lstStyle/>
              <a:p>
                <a:pPr>
                  <a:defRPr sz="1400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名义90%</c:v>
                </c:pt>
                <c:pt idx="1">
                  <c:v>名义95%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30.386</c:v>
                </c:pt>
                <c:pt idx="1">
                  <c:v>43.494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8026-420D-8B87-14191EBB06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10477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altLang="en-US" sz="1400">
                    <a:latin typeface="Microsoft YaHei"/>
                    <a:ea typeface="Microsoft YaHei"/>
                    <a:cs typeface="Microsoft YaHei"/>
                  </a:defRPr>
                </a:pPr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方案</a:t>
                </a:r>
              </a:p>
            </c:rich>
          </c:tx>
          <c:overlay val="0"/>
        </c:title>
        <c:numFmt formatCode="General" sourceLinked="1"/>
        <c:majorTickMark val="in"/>
        <c:minorTickMark val="none"/>
        <c:tickLblPos val="nextTo"/>
        <c:spPr>
          <a:ln w="14288">
            <a:solidFill>
              <a:srgbClr val="595959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10477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测试覆盖率（</a:t>
                </a:r>
                <a:r>
                  <a:rPr lang="en-US" altLang="zh-CN" sz="1400">
                    <a:latin typeface="Microsoft YaHei"/>
                    <a:ea typeface="Microsoft YaHei"/>
                    <a:cs typeface="Microsoft YaHei"/>
                  </a:rPr>
                  <a:t>%</a:t>
                </a:r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）</a:t>
                </a:r>
              </a:p>
            </c:rich>
          </c:tx>
          <c:overlay val="0"/>
        </c:title>
        <c:numFmt formatCode="0" sourceLinked="0"/>
        <c:majorTickMark val="in"/>
        <c:minorTickMark val="none"/>
        <c:tickLblPos val="nextTo"/>
        <c:spPr>
          <a:ln w="14288">
            <a:solidFill>
              <a:srgbClr val="595959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14288">
          <a:solidFill>
            <a:srgbClr val="595959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复合风光低出力事件下孤岛微电网关键负荷调度</a:t>
            </a:r>
          </a:p>
          <a:p xmlns:a="http://schemas.openxmlformats.org/drawingml/2006/main">
            <a:r>
              <a:t>原文：E:\application\xwechat_files\wxid_xyihcy7u0jkj21_d246\msg\file\2026-10\epae20260908006.docx</a:t>
            </a:r>
          </a:p>
          <a:p xmlns:a="http://schemas.openxmlformats.org/drawingml/2006/main">
            <a:r>
              <a:t>事件与决策边界：§1.1–1.4；表1</a:t>
            </a:r>
          </a:p>
          <a:p xmlns:a="http://schemas.openxmlformats.org/drawingml/2006/main">
            <a:r>
              <a:t>目标基准与关键约束：式(20)–(30)、(36)–(37)</a:t>
            </a:r>
          </a:p>
          <a:p xmlns:a="http://schemas.openxmlformats.org/drawingml/2006/main">
            <a:r>
              <a:t>分层求解与可行性校验：§2.2、2.4、2.5</a:t>
            </a:r>
          </a:p>
          <a:p xmlns:a="http://schemas.openxmlformats.org/drawingml/2006/main">
            <a:r>
              <a:t>最大总供电基准：式(20)、(22)</a:t>
            </a:r>
          </a:p>
          <a:p xmlns:a="http://schemas.openxmlformats.org/drawingml/2006/main">
            <a:r>
              <a:t>LaTeX: T^*=\max_{x\in\Omega}T(x),\quad T(x)=C(x)+N(x)</a:t>
            </a:r>
          </a:p>
          <a:p xmlns:a="http://schemas.openxmlformats.org/drawingml/2006/main">
            <a:r>
              <a:t>显式损失预算与累计目标：式(23)–(25)；损失分母为E_L，不是T*</a:t>
            </a:r>
          </a:p>
          <a:p xmlns:a="http://schemas.openxmlformats.org/drawingml/2006/main">
            <a:r>
              <a:t>LaTeX: \frac{T^*-T(x)}{E_L}\le\rho_\varepsilon,\qquad C(x)\ge\gamma_c E_L^c</a:t>
            </a:r>
          </a:p>
          <a:p xmlns:a="http://schemas.openxmlformats.org/drawingml/2006/main">
            <a:r>
              <a:t>最低逐时供电与跨时能量：式(12)、(29)–(30)</a:t>
            </a:r>
          </a:p>
          <a:p xmlns:a="http://schemas.openxmlformats.org/drawingml/2006/main">
            <a:r>
              <a:t>LaTeX: P_{c,t}^{s}\ge\eta_c P_{c,t}^{L},\quad E_{t+1}=E_t+\eta_{ch}P_t^{ch}\Delta t-\frac{P_t^{dis}\Delta t}{\eta_{dis}}</a:t>
            </a:r>
          </a:p>
          <a:p xmlns:a="http://schemas.openxmlformats.org/drawingml/2006/main">
            <a:r>
              <a:t>支路潮流与设备边界：式(36)–(37)</a:t>
            </a:r>
          </a:p>
          <a:p xmlns:a="http://schemas.openxmlformats.org/drawingml/2006/main">
            <a:r>
              <a:t>LaTeX: P_{ij,t}^{2}+Q_{ij,t}^{2}\le v_{i,t}l_{ij,t},\qquad V_{\min}^{2}\le v_{i,t}\le V_{\max}^{2}</a:t>
            </a:r>
          </a:p>
          <a:p xmlns:a="http://schemas.openxmlformats.org/drawingml/2006/main">
            <a:r>
              <a:t>原文式(23)以总需求电量 E_L 为分母，因此0.4370%是供电损失指标，不表述为相对最大供电量T*的百分比。</a:t>
            </a:r>
          </a:p>
          <a:p xmlns:a="http://schemas.openxmlformats.org/drawingml/2006/main">
            <a:r>
              <a:t>正文分层优先提高ηc的描述与表2“累计95%”最低逐时4.346%的方案关系需作者进一步说明；两页分别呈现原文流程与表格，不将表2作为该优先顺序最优性的独立证明。</a:t>
            </a:r>
          </a:p>
          <a:p xmlns:a="http://schemas.openxmlformats.org/drawingml/2006/main">
            <a:r>
              <a:t>L0的上下界跨95%，不得与L1–L3作完整位置优劣排名；预测备用实验为16 h能量层，不能与23 h网络层混同。</a:t>
            </a:r>
          </a:p>
          <a:p xmlns:a="http://schemas.openxmlformats.org/drawingml/2006/main">
            <a:r>
              <a:t>物理连接图表达原文的变量与设备关系，不将其当作逐节点测试系统的拓扑复刻。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复合风光低出力事件下孤岛微电网关键负荷调度</a:t>
            </a:r>
          </a:p>
          <a:p>
            <a:r>
              <a:rPr lang="zh-CN" altLang="en-US"/>
              <a:t>原文：</a:t>
            </a:r>
            <a:r>
              <a:rPr lang="en-US"/>
              <a:t>E:\application\xwechat_files\wxid_xyihcy7u0jkj21_d246\msg\file\2026-10\epae20260908006.docx</a:t>
            </a:r>
          </a:p>
          <a:p>
            <a:r>
              <a:rPr lang="en-US"/>
              <a:t>① </a:t>
            </a:r>
            <a:r>
              <a:rPr lang="zh-CN" altLang="en-US"/>
              <a:t>累计供电与逐时服务：</a:t>
            </a:r>
            <a:r>
              <a:rPr lang="en-US" altLang="zh-CN"/>
              <a:t>§3.2</a:t>
            </a:r>
            <a:r>
              <a:rPr lang="zh-CN" altLang="en-US"/>
              <a:t>、表</a:t>
            </a:r>
            <a:r>
              <a:rPr lang="en-US" altLang="zh-CN"/>
              <a:t>2</a:t>
            </a:r>
          </a:p>
          <a:p>
            <a:r>
              <a:rPr lang="zh-CN" altLang="en-US"/>
              <a:t>关键负荷累计供电率：</a:t>
            </a:r>
            <a:r>
              <a:rPr lang="en-US" altLang="zh-CN"/>
              <a:t>§3.2</a:t>
            </a:r>
          </a:p>
          <a:p>
            <a:r>
              <a:rPr lang="en-US" altLang="zh-CN"/>
              <a:t>{"</a:t>
            </a:r>
            <a:r>
              <a:rPr lang="en-US"/>
              <a:t>type":"chart","title":"</a:t>
            </a:r>
            <a:r>
              <a:rPr lang="zh-CN" altLang="en-US"/>
              <a:t>关键负荷累计供电率</a:t>
            </a:r>
            <a:r>
              <a:rPr lang="en-US" altLang="zh-CN"/>
              <a:t>","</a:t>
            </a:r>
            <a:r>
              <a:rPr lang="en-US"/>
              <a:t>categories":["</a:t>
            </a:r>
            <a:r>
              <a:rPr lang="zh-CN" altLang="en-US"/>
              <a:t>即时调度</a:t>
            </a:r>
            <a:r>
              <a:rPr lang="en-US" altLang="zh-CN"/>
              <a:t>","</a:t>
            </a:r>
            <a:r>
              <a:rPr lang="zh-CN" altLang="en-US"/>
              <a:t>协调调度</a:t>
            </a:r>
            <a:r>
              <a:rPr lang="en-US" altLang="zh-CN"/>
              <a:t>","</a:t>
            </a:r>
            <a:r>
              <a:rPr lang="zh-CN" altLang="en-US"/>
              <a:t>关键优先上界</a:t>
            </a:r>
            <a:r>
              <a:rPr lang="en-US" altLang="zh-CN"/>
              <a:t>"],"</a:t>
            </a:r>
            <a:r>
              <a:rPr lang="en-US"/>
              <a:t>series":[{"name":"</a:t>
            </a:r>
            <a:r>
              <a:rPr lang="zh-CN" altLang="en-US"/>
              <a:t>累计供电率（</a:t>
            </a:r>
            <a:r>
              <a:rPr lang="en-US" altLang="zh-CN"/>
              <a:t>%</a:t>
            </a:r>
            <a:r>
              <a:rPr lang="zh-CN" altLang="en-US"/>
              <a:t>）</a:t>
            </a:r>
            <a:r>
              <a:rPr lang="en-US" altLang="zh-CN"/>
              <a:t>","</a:t>
            </a:r>
            <a:r>
              <a:rPr lang="en-US"/>
              <a:t>values":[54.247,95,97.742]}],"xTitle":"</a:t>
            </a:r>
            <a:r>
              <a:rPr lang="zh-CN" altLang="en-US"/>
              <a:t>比较方案</a:t>
            </a:r>
            <a:r>
              <a:rPr lang="en-US" altLang="zh-CN"/>
              <a:t>","</a:t>
            </a:r>
            <a:r>
              <a:rPr lang="en-US"/>
              <a:t>yTitle":"</a:t>
            </a:r>
            <a:r>
              <a:rPr lang="zh-CN" altLang="en-US"/>
              <a:t>累计供电率（</a:t>
            </a:r>
            <a:r>
              <a:rPr lang="en-US" altLang="zh-CN"/>
              <a:t>%</a:t>
            </a:r>
            <a:r>
              <a:rPr lang="zh-CN" altLang="en-US"/>
              <a:t>）</a:t>
            </a:r>
            <a:r>
              <a:rPr lang="en-US" altLang="zh-CN"/>
              <a:t>","</a:t>
            </a:r>
            <a:r>
              <a:rPr lang="en-US"/>
              <a:t>yMin":0,"yMax":100,"yMajorUnit":20,"evidenceRef":"§3.2","format":"0.000"}</a:t>
            </a:r>
          </a:p>
          <a:p>
            <a:r>
              <a:rPr lang="zh-CN" altLang="en-US"/>
              <a:t>连续供电对照：表</a:t>
            </a:r>
            <a:r>
              <a:rPr lang="en-US" altLang="zh-CN"/>
              <a:t>2</a:t>
            </a:r>
            <a:r>
              <a:rPr lang="zh-CN" altLang="en-US"/>
              <a:t>、表</a:t>
            </a:r>
            <a:r>
              <a:rPr lang="en-US"/>
              <a:t>A5</a:t>
            </a:r>
          </a:p>
          <a:p>
            <a:r>
              <a:rPr lang="en-US"/>
              <a:t>{"type":"table","title":"</a:t>
            </a:r>
            <a:r>
              <a:rPr lang="zh-CN" altLang="en-US"/>
              <a:t>连续供电对照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方案</a:t>
            </a:r>
            <a:r>
              <a:rPr lang="en-US" altLang="zh-CN"/>
              <a:t>","</a:t>
            </a:r>
            <a:r>
              <a:rPr lang="zh-CN" altLang="en-US"/>
              <a:t>最低逐时</a:t>
            </a:r>
            <a:r>
              <a:rPr lang="en-US" altLang="zh-CN"/>
              <a:t>/%","</a:t>
            </a:r>
            <a:r>
              <a:rPr lang="el-GR"/>
              <a:t>β/%"],"</a:t>
            </a:r>
            <a:r>
              <a:rPr lang="en-US"/>
              <a:t>rows":[["</a:t>
            </a:r>
            <a:r>
              <a:rPr lang="zh-CN" altLang="en-US"/>
              <a:t>累计</a:t>
            </a:r>
            <a:r>
              <a:rPr lang="en-US" altLang="zh-CN"/>
              <a:t>95%","4.346","2.861"],["+80%</a:t>
            </a:r>
            <a:r>
              <a:rPr lang="zh-CN" altLang="en-US"/>
              <a:t>逐时下限</a:t>
            </a:r>
            <a:r>
              <a:rPr lang="en-US" altLang="zh-CN"/>
              <a:t>","80.000","2.861"],["+95%</a:t>
            </a:r>
            <a:r>
              <a:rPr lang="zh-CN" altLang="en-US"/>
              <a:t>逐时下限</a:t>
            </a:r>
            <a:r>
              <a:rPr lang="en-US" altLang="zh-CN"/>
              <a:t>","96.898","0.000"]],"</a:t>
            </a:r>
            <a:r>
              <a:rPr lang="en-US"/>
              <a:t>evidenceRef":"</a:t>
            </a:r>
            <a:r>
              <a:rPr lang="zh-CN" altLang="en-US"/>
              <a:t>表</a:t>
            </a:r>
            <a:r>
              <a:rPr lang="en-US" altLang="zh-CN"/>
              <a:t>2</a:t>
            </a:r>
            <a:r>
              <a:rPr lang="zh-CN" altLang="en-US"/>
              <a:t>、表</a:t>
            </a:r>
            <a:r>
              <a:rPr lang="en-US"/>
              <a:t>A5"}</a:t>
            </a:r>
          </a:p>
          <a:p>
            <a:r>
              <a:rPr lang="en-US"/>
              <a:t>② </a:t>
            </a:r>
            <a:r>
              <a:rPr lang="zh-CN" altLang="en-US"/>
              <a:t>储能位置与网络认证：</a:t>
            </a:r>
            <a:r>
              <a:rPr lang="en-US" altLang="zh-CN"/>
              <a:t>§3.3</a:t>
            </a:r>
            <a:r>
              <a:rPr lang="zh-CN" altLang="en-US"/>
              <a:t>；表</a:t>
            </a:r>
            <a:r>
              <a:rPr lang="en-US"/>
              <a:t>B3a–c</a:t>
            </a:r>
          </a:p>
          <a:p>
            <a:r>
              <a:rPr lang="zh-CN" altLang="en-US"/>
              <a:t>关键负荷可达区间：表</a:t>
            </a:r>
            <a:r>
              <a:rPr lang="en-US"/>
              <a:t>B3a</a:t>
            </a:r>
          </a:p>
          <a:p>
            <a:r>
              <a:rPr lang="en-US"/>
              <a:t>{"type":"table","title":"</a:t>
            </a:r>
            <a:r>
              <a:rPr lang="zh-CN" altLang="en-US"/>
              <a:t>关键负荷可达区间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位置</a:t>
            </a:r>
            <a:r>
              <a:rPr lang="en-US" altLang="zh-CN"/>
              <a:t>","</a:t>
            </a:r>
            <a:r>
              <a:rPr lang="en-US"/>
              <a:t>AC</a:t>
            </a:r>
            <a:r>
              <a:rPr lang="zh-CN" altLang="en-US"/>
              <a:t>下界</a:t>
            </a:r>
            <a:r>
              <a:rPr lang="en-US" altLang="zh-CN"/>
              <a:t>/%","</a:t>
            </a:r>
            <a:r>
              <a:rPr lang="en-US"/>
              <a:t>SOCP</a:t>
            </a:r>
            <a:r>
              <a:rPr lang="zh-CN" altLang="en-US"/>
              <a:t>上界</a:t>
            </a:r>
            <a:r>
              <a:rPr lang="en-US" altLang="zh-CN"/>
              <a:t>/%"],"</a:t>
            </a:r>
            <a:r>
              <a:rPr lang="en-US"/>
              <a:t>rows":[["</a:t>
            </a:r>
            <a:r>
              <a:rPr lang="zh-CN" altLang="en-US"/>
              <a:t>节点</a:t>
            </a:r>
            <a:r>
              <a:rPr lang="en-US" altLang="zh-CN"/>
              <a:t>1","94.721","98.124"],["</a:t>
            </a:r>
            <a:r>
              <a:rPr lang="zh-CN" altLang="en-US"/>
              <a:t>节点</a:t>
            </a:r>
            <a:r>
              <a:rPr lang="en-US" altLang="zh-CN"/>
              <a:t>18","49.977","49.977"],["</a:t>
            </a:r>
            <a:r>
              <a:rPr lang="zh-CN" altLang="en-US"/>
              <a:t>节点</a:t>
            </a:r>
            <a:r>
              <a:rPr lang="en-US" altLang="zh-CN"/>
              <a:t>33","71.251","71.251"],["18/33</a:t>
            </a:r>
            <a:r>
              <a:rPr lang="zh-CN" altLang="en-US"/>
              <a:t>各半</a:t>
            </a:r>
            <a:r>
              <a:rPr lang="en-US" altLang="zh-CN"/>
              <a:t>","96.059","96.059"]],"</a:t>
            </a:r>
            <a:r>
              <a:rPr lang="en-US"/>
              <a:t>evidenceRef":"</a:t>
            </a:r>
            <a:r>
              <a:rPr lang="zh-CN" altLang="en-US"/>
              <a:t>表</a:t>
            </a:r>
            <a:r>
              <a:rPr lang="en-US"/>
              <a:t>B3a"}</a:t>
            </a:r>
          </a:p>
          <a:p>
            <a:r>
              <a:rPr lang="zh-CN" altLang="en-US"/>
              <a:t>分布式储能 </a:t>
            </a:r>
            <a:r>
              <a:rPr lang="en-US"/>
              <a:t>L3 </a:t>
            </a:r>
            <a:r>
              <a:rPr lang="zh-CN" altLang="en-US"/>
              <a:t>的交流校验：</a:t>
            </a:r>
            <a:r>
              <a:rPr lang="en-US" altLang="zh-CN"/>
              <a:t>§3.3</a:t>
            </a:r>
            <a:r>
              <a:rPr lang="zh-CN" altLang="en-US"/>
              <a:t>、表</a:t>
            </a:r>
            <a:r>
              <a:rPr lang="en-US"/>
              <a:t>B3c</a:t>
            </a:r>
          </a:p>
          <a:p>
            <a:r>
              <a:rPr lang="en-US"/>
              <a:t>{"type":"table","title":"</a:t>
            </a:r>
            <a:r>
              <a:rPr lang="zh-CN" altLang="en-US"/>
              <a:t>分布式储能 </a:t>
            </a:r>
            <a:r>
              <a:rPr lang="en-US"/>
              <a:t>L3 </a:t>
            </a:r>
            <a:r>
              <a:rPr lang="zh-CN" altLang="en-US"/>
              <a:t>的交流校验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指标</a:t>
            </a:r>
            <a:r>
              <a:rPr lang="en-US" altLang="zh-CN"/>
              <a:t>","</a:t>
            </a:r>
            <a:r>
              <a:rPr lang="zh-CN" altLang="en-US"/>
              <a:t>结果</a:t>
            </a:r>
            <a:r>
              <a:rPr lang="en-US" altLang="zh-CN"/>
              <a:t>"],"</a:t>
            </a:r>
            <a:r>
              <a:rPr lang="en-US"/>
              <a:t>rows":[["</a:t>
            </a:r>
            <a:r>
              <a:rPr lang="zh-CN" altLang="en-US"/>
              <a:t>电压 </a:t>
            </a:r>
            <a:r>
              <a:rPr lang="en-US" altLang="zh-CN"/>
              <a:t>/ </a:t>
            </a:r>
            <a:r>
              <a:rPr lang="en-US"/>
              <a:t>pu","0.9938–1.0495"],["</a:t>
            </a:r>
            <a:r>
              <a:rPr lang="zh-CN" altLang="en-US"/>
              <a:t>最大线路负载率</a:t>
            </a:r>
            <a:r>
              <a:rPr lang="en-US" altLang="zh-CN"/>
              <a:t>","57.984%"],["</a:t>
            </a:r>
            <a:r>
              <a:rPr lang="zh-CN" altLang="en-US"/>
              <a:t>最大逆变器负载率</a:t>
            </a:r>
            <a:r>
              <a:rPr lang="en-US" altLang="zh-CN"/>
              <a:t>","99.900%"],["</a:t>
            </a:r>
            <a:r>
              <a:rPr lang="zh-CN" altLang="en-US"/>
              <a:t>通过交流回代</a:t>
            </a:r>
            <a:r>
              <a:rPr lang="en-US" altLang="zh-CN"/>
              <a:t>","72 / 72 </a:t>
            </a:r>
            <a:r>
              <a:rPr lang="zh-CN" altLang="en-US"/>
              <a:t>时点</a:t>
            </a:r>
            <a:r>
              <a:rPr lang="en-US" altLang="zh-CN"/>
              <a:t>"]],"</a:t>
            </a:r>
            <a:r>
              <a:rPr lang="en-US"/>
              <a:t>evidenceRef":"§3.3、</a:t>
            </a:r>
            <a:r>
              <a:rPr lang="zh-CN" altLang="en-US"/>
              <a:t>表</a:t>
            </a:r>
            <a:r>
              <a:rPr lang="en-US"/>
              <a:t>B3c"}</a:t>
            </a:r>
          </a:p>
          <a:p>
            <a:r>
              <a:rPr lang="en-US"/>
              <a:t>③ </a:t>
            </a:r>
            <a:r>
              <a:rPr lang="zh-CN" altLang="en-US"/>
              <a:t>分位数备用的迁移表现：</a:t>
            </a:r>
            <a:r>
              <a:rPr lang="en-US" altLang="zh-CN"/>
              <a:t>§3.5</a:t>
            </a:r>
            <a:r>
              <a:rPr lang="zh-CN" altLang="en-US"/>
              <a:t>、表</a:t>
            </a:r>
            <a:r>
              <a:rPr lang="en-US"/>
              <a:t>B4</a:t>
            </a:r>
          </a:p>
          <a:p>
            <a:r>
              <a:rPr lang="zh-CN" altLang="en-US"/>
              <a:t>测试期累计下界覆盖率：</a:t>
            </a:r>
            <a:r>
              <a:rPr lang="en-US" altLang="zh-CN"/>
              <a:t>§3.5</a:t>
            </a:r>
            <a:r>
              <a:rPr lang="zh-CN" altLang="en-US"/>
              <a:t>、表</a:t>
            </a:r>
            <a:r>
              <a:rPr lang="en-US"/>
              <a:t>B4</a:t>
            </a:r>
          </a:p>
          <a:p>
            <a:r>
              <a:rPr lang="en-US"/>
              <a:t>{"type":"chart","title":"</a:t>
            </a:r>
            <a:r>
              <a:rPr lang="zh-CN" altLang="en-US"/>
              <a:t>测试期累计下界覆盖率</a:t>
            </a:r>
            <a:r>
              <a:rPr lang="en-US" altLang="zh-CN"/>
              <a:t>","</a:t>
            </a:r>
            <a:r>
              <a:rPr lang="en-US"/>
              <a:t>categories":["</a:t>
            </a:r>
            <a:r>
              <a:rPr lang="zh-CN" altLang="en-US"/>
              <a:t>名义</a:t>
            </a:r>
            <a:r>
              <a:rPr lang="en-US" altLang="zh-CN"/>
              <a:t>90%","</a:t>
            </a:r>
            <a:r>
              <a:rPr lang="zh-CN" altLang="en-US"/>
              <a:t>名义</a:t>
            </a:r>
            <a:r>
              <a:rPr lang="en-US" altLang="zh-CN"/>
              <a:t>95%"],"</a:t>
            </a:r>
            <a:r>
              <a:rPr lang="en-US"/>
              <a:t>series":[{"name":"</a:t>
            </a:r>
            <a:r>
              <a:rPr lang="zh-CN" altLang="en-US"/>
              <a:t>测试覆盖率（</a:t>
            </a:r>
            <a:r>
              <a:rPr lang="en-US" altLang="zh-CN"/>
              <a:t>%</a:t>
            </a:r>
            <a:r>
              <a:rPr lang="zh-CN" altLang="en-US"/>
              <a:t>）</a:t>
            </a:r>
            <a:r>
              <a:rPr lang="en-US" altLang="zh-CN"/>
              <a:t>","</a:t>
            </a:r>
            <a:r>
              <a:rPr lang="en-US"/>
              <a:t>values":[30.386,43.494]}],"xTitle":"</a:t>
            </a:r>
            <a:r>
              <a:rPr lang="zh-CN" altLang="en-US"/>
              <a:t>比较方案</a:t>
            </a:r>
            <a:r>
              <a:rPr lang="en-US" altLang="zh-CN"/>
              <a:t>","</a:t>
            </a:r>
            <a:r>
              <a:rPr lang="en-US"/>
              <a:t>yTitle":"</a:t>
            </a:r>
            <a:r>
              <a:rPr lang="zh-CN" altLang="en-US"/>
              <a:t>测试覆盖率（</a:t>
            </a:r>
            <a:r>
              <a:rPr lang="en-US" altLang="zh-CN"/>
              <a:t>%</a:t>
            </a:r>
            <a:r>
              <a:rPr lang="zh-CN" altLang="en-US"/>
              <a:t>）</a:t>
            </a:r>
            <a:r>
              <a:rPr lang="en-US" altLang="zh-CN"/>
              <a:t>","</a:t>
            </a:r>
            <a:r>
              <a:rPr lang="en-US"/>
              <a:t>yMin":0,"yMax":100,"yMajorUnit":20,"evidenceRef":"§3.5、</a:t>
            </a:r>
            <a:r>
              <a:rPr lang="zh-CN" altLang="en-US"/>
              <a:t>表</a:t>
            </a:r>
            <a:r>
              <a:rPr lang="en-US"/>
              <a:t>B4","format":"0.000"}</a:t>
            </a:r>
          </a:p>
          <a:p>
            <a:r>
              <a:rPr lang="zh-CN" altLang="en-US"/>
              <a:t>校准与严格可行性：</a:t>
            </a:r>
            <a:r>
              <a:rPr lang="en-US" altLang="zh-CN"/>
              <a:t>§3.5</a:t>
            </a:r>
            <a:r>
              <a:rPr lang="zh-CN" altLang="en-US"/>
              <a:t>、表</a:t>
            </a:r>
            <a:r>
              <a:rPr lang="en-US"/>
              <a:t>B4</a:t>
            </a:r>
          </a:p>
          <a:p>
            <a:r>
              <a:rPr lang="en-US"/>
              <a:t>{"type":"table","title":"</a:t>
            </a:r>
            <a:r>
              <a:rPr lang="zh-CN" altLang="en-US"/>
              <a:t>校准与严格可行性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策略</a:t>
            </a:r>
            <a:r>
              <a:rPr lang="en-US" altLang="zh-CN"/>
              <a:t>","</a:t>
            </a:r>
            <a:r>
              <a:rPr lang="zh-CN" altLang="en-US"/>
              <a:t>校准覆盖</a:t>
            </a:r>
            <a:r>
              <a:rPr lang="en-US" altLang="zh-CN"/>
              <a:t>/%","</a:t>
            </a:r>
            <a:r>
              <a:rPr lang="zh-CN" altLang="en-US"/>
              <a:t>严格可行</a:t>
            </a:r>
            <a:r>
              <a:rPr lang="en-US" altLang="zh-CN"/>
              <a:t>"],"</a:t>
            </a:r>
            <a:r>
              <a:rPr lang="en-US"/>
              <a:t>rows":[["</a:t>
            </a:r>
            <a:r>
              <a:rPr lang="zh-CN" altLang="en-US"/>
              <a:t>名义</a:t>
            </a:r>
            <a:r>
              <a:rPr lang="en-US" altLang="zh-CN"/>
              <a:t>90%","93.41","0 / 200"],["</a:t>
            </a:r>
            <a:r>
              <a:rPr lang="zh-CN" altLang="en-US"/>
              <a:t>名义</a:t>
            </a:r>
            <a:r>
              <a:rPr lang="en-US" altLang="zh-CN"/>
              <a:t>95%","97.22","0 / 200"]],"</a:t>
            </a:r>
            <a:r>
              <a:rPr lang="en-US"/>
              <a:t>evidenceRef":"§3.5、</a:t>
            </a:r>
            <a:r>
              <a:rPr lang="zh-CN" altLang="en-US"/>
              <a:t>表</a:t>
            </a:r>
            <a:r>
              <a:rPr lang="en-US"/>
              <a:t>B4"}</a:t>
            </a:r>
          </a:p>
          <a:p>
            <a:r>
              <a:rPr lang="zh-CN" altLang="en-US"/>
              <a:t>引用边界：原文式</a:t>
            </a:r>
            <a:r>
              <a:rPr lang="en-US" altLang="zh-CN"/>
              <a:t>(23)</a:t>
            </a:r>
            <a:r>
              <a:rPr lang="zh-CN" altLang="en-US"/>
              <a:t>以总需求电量 </a:t>
            </a:r>
            <a:r>
              <a:rPr lang="en-US"/>
              <a:t>E_L </a:t>
            </a:r>
            <a:r>
              <a:rPr lang="zh-CN" altLang="en-US"/>
              <a:t>为分母，因此</a:t>
            </a:r>
            <a:r>
              <a:rPr lang="en-US" altLang="zh-CN"/>
              <a:t>0.4370%</a:t>
            </a:r>
            <a:r>
              <a:rPr lang="zh-CN" altLang="en-US"/>
              <a:t>是供电损失指标，不表述为相对最大供电量</a:t>
            </a:r>
            <a:r>
              <a:rPr lang="en-US"/>
              <a:t>T*</a:t>
            </a:r>
            <a:r>
              <a:rPr lang="zh-CN" altLang="en-US"/>
              <a:t>的百分比。</a:t>
            </a:r>
          </a:p>
          <a:p>
            <a:r>
              <a:rPr lang="zh-CN" altLang="en-US"/>
              <a:t>正文分层优先提高</a:t>
            </a:r>
            <a:r>
              <a:rPr lang="el-GR"/>
              <a:t>η</a:t>
            </a:r>
            <a:r>
              <a:rPr lang="en-US"/>
              <a:t>c</a:t>
            </a:r>
            <a:r>
              <a:rPr lang="zh-CN" altLang="en-US"/>
              <a:t>的描述与表</a:t>
            </a:r>
            <a:r>
              <a:rPr lang="en-US" altLang="zh-CN"/>
              <a:t>2“</a:t>
            </a:r>
            <a:r>
              <a:rPr lang="zh-CN" altLang="en-US"/>
              <a:t>累计</a:t>
            </a:r>
            <a:r>
              <a:rPr lang="en-US" altLang="zh-CN"/>
              <a:t>95%”</a:t>
            </a:r>
            <a:r>
              <a:rPr lang="zh-CN" altLang="en-US"/>
              <a:t>最低逐时</a:t>
            </a:r>
            <a:r>
              <a:rPr lang="en-US" altLang="zh-CN"/>
              <a:t>4.346%</a:t>
            </a:r>
            <a:r>
              <a:rPr lang="zh-CN" altLang="en-US"/>
              <a:t>的方案关系需作者进一步说明；两页分别呈现原文流程与表格，不将表</a:t>
            </a:r>
            <a:r>
              <a:rPr lang="en-US" altLang="zh-CN"/>
              <a:t>2</a:t>
            </a:r>
            <a:r>
              <a:rPr lang="zh-CN" altLang="en-US"/>
              <a:t>作为该优先顺序最优性的独立证明。</a:t>
            </a:r>
          </a:p>
          <a:p>
            <a:r>
              <a:rPr lang="en-US"/>
              <a:t>L0</a:t>
            </a:r>
            <a:r>
              <a:rPr lang="zh-CN" altLang="en-US"/>
              <a:t>的上下界跨</a:t>
            </a:r>
            <a:r>
              <a:rPr lang="en-US" altLang="zh-CN"/>
              <a:t>95%</a:t>
            </a:r>
            <a:r>
              <a:rPr lang="zh-CN" altLang="en-US"/>
              <a:t>，不得与</a:t>
            </a:r>
            <a:r>
              <a:rPr lang="en-US"/>
              <a:t>L1–L3</a:t>
            </a:r>
            <a:r>
              <a:rPr lang="zh-CN" altLang="en-US"/>
              <a:t>作完整位置优劣排名；预测备用实验为</a:t>
            </a:r>
            <a:r>
              <a:rPr lang="en-US" altLang="zh-CN"/>
              <a:t>16 </a:t>
            </a:r>
            <a:r>
              <a:rPr lang="en-US"/>
              <a:t>h</a:t>
            </a:r>
            <a:r>
              <a:rPr lang="zh-CN" altLang="en-US"/>
              <a:t>能量层，不能与</a:t>
            </a:r>
            <a:r>
              <a:rPr lang="en-US" altLang="zh-CN"/>
              <a:t>23 </a:t>
            </a:r>
            <a:r>
              <a:rPr lang="en-US"/>
              <a:t>h</a:t>
            </a:r>
            <a:r>
              <a:rPr lang="zh-CN" altLang="en-US"/>
              <a:t>网络层混同。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00" Type="http://schemas.openxmlformats.org/officeDocument/2006/relationships/image" Target="../media/graphical-image.png"/><Relationship Id="rId501" Type="http://schemas.openxmlformats.org/officeDocument/2006/relationships/image" Target="../media/graphical-image2.png"/><Relationship Id="rId502" Type="http://schemas.openxmlformats.org/officeDocument/2006/relationships/image" Target="../media/graphical-image3.png"/><Relationship Id="rId503" Type="http://schemas.openxmlformats.org/officeDocument/2006/relationships/image" Target="../media/graphical-image4.png"/><Relationship Id="rId504" Type="http://schemas.openxmlformats.org/officeDocument/2006/relationships/image" Target="../media/graphical-image5.png"/><Relationship Id="rId505" Type="http://schemas.openxmlformats.org/officeDocument/2006/relationships/image" Target="../media/graphical-image6.png"/><Relationship Id="rId506" Type="http://schemas.openxmlformats.org/officeDocument/2006/relationships/image" Target="../media/graphical-image.svg"/><Relationship Id="rId507" Type="http://schemas.openxmlformats.org/officeDocument/2006/relationships/image" Target="../media/graphical-image7.png"/><Relationship Id="rId508" Type="http://schemas.openxmlformats.org/officeDocument/2006/relationships/image" Target="../media/graphical-image2.svg"/><Relationship Id="rId509" Type="http://schemas.openxmlformats.org/officeDocument/2006/relationships/image" Target="../media/graphical-image8.png"/><Relationship Id="rId510" Type="http://schemas.openxmlformats.org/officeDocument/2006/relationships/image" Target="../media/graphical-image3.svg"/><Relationship Id="rId511" Type="http://schemas.openxmlformats.org/officeDocument/2006/relationships/image" Target="../media/graphical-image9.png"/><Relationship Id="rId512" Type="http://schemas.openxmlformats.org/officeDocument/2006/relationships/image" Target="../media/graphical-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>
            <a:extLst>
              <a:ext uri="{FF2B5EF4-FFF2-40B4-BE49-F238E27FC236}">
                <a16:creationId xmlns:a16="http://schemas.microsoft.com/office/drawing/2014/main" id="{4A55B9EB-935D-4C98-9717-E563F8E762F8}"/>
              </a:ext>
            </a:extLst>
          </p:cNvPr>
          <p:cNvSpPr>
            <a:spLocks noGrp="1"/>
          </p:cNvSpPr>
          <p:nvPr/>
        </p:nvSpPr>
        <p:spPr>
          <a:xfrm>
            <a:off x="161925" y="619125"/>
            <a:ext cx="15601950" cy="95"/>
          </a:xfrm>
          <a:custGeom>
            <a:avLst/>
            <a:gdLst/>
            <a:ahLst/>
            <a:cxnLst/>
            <a:rect l="0" t="0" r="0" b="0"/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/>
          <a:ln w="30480">
            <a:solidFill>
              <a:srgbClr val="0753C6"/>
            </a:solidFill>
            <a:prstDash val="solid"/>
          </a:ln>
        </p:spPr>
      </p:sp>
      <p:sp>
        <p:nvSpPr>
          <p:cNvPr id="3" name="summary">
            <a:extLst>
              <a:ext uri="{FF2B5EF4-FFF2-40B4-BE49-F238E27FC236}">
                <a16:creationId xmlns:a16="http://schemas.microsoft.com/office/drawing/2014/main" id="{DF2EF721-98A1-43A5-9E21-D2653C5DB181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oundRect">
            <a:avLst>
              <a:gd name="adj" fmla="val 10638"/>
            </a:avLst>
          </a:prstGeom>
          <a:gradFill>
            <a:gsLst>
              <a:gs pos="0">
                <a:srgbClr val="F4FBFF"/>
              </a:gs>
              <a:gs pos="100000">
                <a:srgbClr val="E4F2FE"/>
              </a:gs>
            </a:gsLst>
            <a:lin ang="5400000"/>
          </a:gradFill>
          <a:ln w="8573">
            <a:solidFill>
              <a:srgbClr val="68B8FA"/>
            </a:solidFill>
            <a:prstDash val="solid"/>
          </a:ln>
        </p:spPr>
      </p:sp>
      <p:sp>
        <p:nvSpPr>
          <p:cNvPr id="152" name="conclusion">
            <a:extLst>
              <a:ext uri="{FF2B5EF4-FFF2-40B4-BE49-F238E27FC236}">
                <a16:creationId xmlns:a16="http://schemas.microsoft.com/office/drawing/2014/main" id="{4A123D2A-D35A-4E14-BCC3-BBC29BF50A5C}"/>
              </a:ext>
            </a:extLst>
          </p:cNvPr>
          <p:cNvSpPr>
            <a:spLocks noGrp="1"/>
          </p:cNvSpPr>
          <p:nvPr/>
        </p:nvSpPr>
        <p:spPr>
          <a:xfrm>
            <a:off x="171450" y="8410575"/>
            <a:ext cx="15582900" cy="438150"/>
          </a:xfrm>
          <a:prstGeom prst="roundRect">
            <a:avLst>
              <a:gd name="adj" fmla="val 23913"/>
            </a:avLst>
          </a:prstGeom>
          <a:gradFill>
            <a:gsLst>
              <a:gs pos="0">
                <a:srgbClr val="E9F6FF"/>
              </a:gs>
              <a:gs pos="100000">
                <a:srgbClr val="DCEEFF"/>
              </a:gs>
            </a:gsLst>
            <a:lin ang="5400000"/>
          </a:gradFill>
          <a:ln w="8573">
            <a:solidFill>
              <a:srgbClr val="68B8FA"/>
            </a:solidFill>
            <a:prstDash val="solid"/>
          </a:ln>
        </p:spPr>
      </p:sp>
      <p:sp>
        <p:nvSpPr>
          <p:cNvPr id="1000" name="object-1">
            <a:extLst>
              <a:ext uri="{FF2B5EF4-FFF2-40B4-BE49-F238E27FC236}">
                <a16:creationId xmlns:a16="http://schemas.microsoft.com/office/drawing/2014/main" id="{05DE5726-4A7F-4A88-B60F-C0E29897D6BB}"/>
              </a:ext>
            </a:extLst>
          </p:cNvPr>
          <p:cNvSpPr>
            <a:spLocks noGrp="1"/>
          </p:cNvSpPr>
          <p:nvPr/>
        </p:nvSpPr>
        <p:spPr>
          <a:xfrm>
            <a:off x="190500" y="9525"/>
            <a:ext cx="15525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1. 复合低出力事件：风光储供能与分层保障</a:t>
            </a:r>
          </a:p>
        </p:txBody>
      </p:sp>
      <p:sp>
        <p:nvSpPr>
          <p:cNvPr id="1001" name="object-2">
            <a:extLst>
              <a:ext uri="{FF2B5EF4-FFF2-40B4-BE49-F238E27FC236}">
                <a16:creationId xmlns:a16="http://schemas.microsoft.com/office/drawing/2014/main" id="{404071EF-98C1-46A6-85EB-67571CE3BBBD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以最大总供电量为基准，在显式损失预算内协调关键与非关键负荷；</a:t>
            </a:r>
          </a:p>
          <a:p>
            <a: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逐时供电、网络可行性与预测备用分别检验，容量作为给定运行条件。</a:t>
            </a:r>
          </a:p>
        </p:txBody>
      </p:sp>
      <p:sp>
        <p:nvSpPr>
          <p:cNvPr id="1002" name="object-3">
            <a:extLst>
              <a:ext uri="{FF2B5EF4-FFF2-40B4-BE49-F238E27FC236}">
                <a16:creationId xmlns:a16="http://schemas.microsoft.com/office/drawing/2014/main" id="{DD234D38-A324-4F14-BA8C-8D2A10859613}"/>
              </a:ext>
            </a:extLst>
          </p:cNvPr>
          <p:cNvSpPr>
            <a:spLocks noGrp="1"/>
          </p:cNvSpPr>
          <p:nvPr/>
        </p:nvSpPr>
        <p:spPr>
          <a:xfrm>
            <a:off x="171450" y="2190750"/>
            <a:ext cx="10715625" cy="6115050"/>
          </a:xfrm>
          <a:prstGeom prst="roundRect">
            <a:avLst>
              <a:gd name="adj" fmla="val 1246"/>
            </a:avLst>
          </a:prstGeom>
          <a:solidFill>
            <a:srgbClr val="FFFFFF"/>
          </a:solidFill>
          <a:ln w="9525">
            <a:solidFill>
              <a:srgbClr val="66B7FA"/>
            </a:solidFill>
            <a:prstDash val="solid"/>
          </a:ln>
        </p:spPr>
      </p:sp>
      <p:sp>
        <p:nvSpPr>
          <p:cNvPr id="1003" name="object-4">
            <a:extLst>
              <a:ext uri="{FF2B5EF4-FFF2-40B4-BE49-F238E27FC236}">
                <a16:creationId xmlns:a16="http://schemas.microsoft.com/office/drawing/2014/main" id="{C04C2BBD-0BC3-494A-8C37-2E7907F30524}"/>
              </a:ext>
            </a:extLst>
          </p:cNvPr>
          <p:cNvSpPr>
            <a:spLocks noGrp="1"/>
          </p:cNvSpPr>
          <p:nvPr/>
        </p:nvSpPr>
        <p:spPr>
          <a:xfrm>
            <a:off x="285750" y="2238375"/>
            <a:ext cx="10487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事件输入与风光储供能</a:t>
            </a:r>
          </a:p>
        </p:txBody>
      </p:sp>
      <p:sp>
        <p:nvSpPr>
          <p:cNvPr id="1004" name="object-5">
            <a:extLst>
              <a:ext uri="{FF2B5EF4-FFF2-40B4-BE49-F238E27FC236}">
                <a16:creationId xmlns:a16="http://schemas.microsoft.com/office/drawing/2014/main" id="{FAB65E02-F524-44C1-A615-90D64B475200}"/>
              </a:ext>
            </a:extLst>
          </p:cNvPr>
          <p:cNvSpPr>
            <a:spLocks noGrp="1"/>
          </p:cNvSpPr>
          <p:nvPr/>
        </p:nvSpPr>
        <p:spPr>
          <a:xfrm>
            <a:off x="11001375" y="2190750"/>
            <a:ext cx="4752975" cy="6115050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9525">
            <a:solidFill>
              <a:srgbClr val="66B7FA"/>
            </a:solidFill>
            <a:prstDash val="solid"/>
          </a:ln>
        </p:spPr>
      </p:sp>
      <p:sp>
        <p:nvSpPr>
          <p:cNvPr id="1005" name="object-6">
            <a:extLst>
              <a:ext uri="{FF2B5EF4-FFF2-40B4-BE49-F238E27FC236}">
                <a16:creationId xmlns:a16="http://schemas.microsoft.com/office/drawing/2014/main" id="{A40B35FB-3156-4A48-9278-5DD956E5CCD3}"/>
              </a:ext>
            </a:extLst>
          </p:cNvPr>
          <p:cNvSpPr>
            <a:spLocks noGrp="1"/>
          </p:cNvSpPr>
          <p:nvPr/>
        </p:nvSpPr>
        <p:spPr>
          <a:xfrm>
            <a:off x="11115675" y="2238375"/>
            <a:ext cx="4524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保障优先级与网络校验</a:t>
            </a:r>
          </a:p>
        </p:txBody>
      </p:sp>
      <p:sp>
        <p:nvSpPr>
          <p:cNvPr id="1006" name="object-7">
            <a:extLst>
              <a:ext uri="{FF2B5EF4-FFF2-40B4-BE49-F238E27FC236}">
                <a16:creationId xmlns:a16="http://schemas.microsoft.com/office/drawing/2014/main" id="{2682A791-F297-4751-AC53-1766E6A359E9}"/>
              </a:ext>
            </a:extLst>
          </p:cNvPr>
          <p:cNvSpPr>
            <a:spLocks noGrp="1"/>
          </p:cNvSpPr>
          <p:nvPr/>
        </p:nvSpPr>
        <p:spPr>
          <a:xfrm>
            <a:off x="361950" y="2667000"/>
            <a:ext cx="3714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复合低出力事件</a:t>
            </a:r>
          </a:p>
        </p:txBody>
      </p:sp>
      <p:pic>
        <p:nvPicPr>
          <p:cNvPr id="1007" name="">
            <a:extLst>
              <a:ext uri="{FF2B5EF4-FFF2-40B4-BE49-F238E27FC236}">
                <a16:creationId xmlns:a16="http://schemas.microsoft.com/office/drawing/2014/main" id="{E7F23CFD-C78A-4C10-B475-8024C28152CA}"/>
              </a:ext>
            </a:extLst>
          </p:cNvPr>
          <p:cNvPicPr>
            <a:picLocks noChangeAspect="1"/>
          </p:cNvPicPr>
          <p:nvPr/>
        </p:nvPicPr>
        <p:blipFill>
          <a:blip r:embed="rId500"/>
          <a:stretch/>
        </p:blipFill>
        <p:spPr>
          <a:xfrm>
            <a:off x="361950" y="3108891"/>
            <a:ext cx="3667125" cy="2535693"/>
          </a:xfrm>
          <a:prstGeom prst="rect">
            <a:avLst/>
          </a:prstGeom>
        </p:spPr>
      </p:pic>
      <p:sp>
        <p:nvSpPr>
          <p:cNvPr id="1008" name="object-8">
            <a:extLst>
              <a:ext uri="{FF2B5EF4-FFF2-40B4-BE49-F238E27FC236}">
                <a16:creationId xmlns:a16="http://schemas.microsoft.com/office/drawing/2014/main" id="{BD0E6D13-23B1-448A-A773-514AD5AAD147}"/>
              </a:ext>
            </a:extLst>
          </p:cNvPr>
          <p:cNvSpPr>
            <a:spLocks noGrp="1"/>
          </p:cNvSpPr>
          <p:nvPr/>
        </p:nvSpPr>
        <p:spPr>
          <a:xfrm>
            <a:off x="876300" y="5876925"/>
            <a:ext cx="2619375" cy="800100"/>
          </a:xfrm>
          <a:prstGeom prst="diamond">
            <a:avLst/>
          </a:prstGeom>
          <a:solidFill>
            <a:srgbClr val="EAF5FF"/>
          </a:solidFill>
          <a:ln w="13335">
            <a:solidFill>
              <a:srgbClr val="1673CE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风光均低于</a:t>
            </a:r>
          </a:p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q 分位数</a:t>
            </a:r>
          </a:p>
        </p:txBody>
      </p:sp>
      <p:sp>
        <p:nvSpPr>
          <p:cNvPr id="1009" name="object-9">
            <a:extLst>
              <a:ext uri="{FF2B5EF4-FFF2-40B4-BE49-F238E27FC236}">
                <a16:creationId xmlns:a16="http://schemas.microsoft.com/office/drawing/2014/main" id="{3205B9EF-B227-4342-8C1C-8B412EDAA2D9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953" cy="219075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10" name="object-10">
            <a:extLst>
              <a:ext uri="{FF2B5EF4-FFF2-40B4-BE49-F238E27FC236}">
                <a16:creationId xmlns:a16="http://schemas.microsoft.com/office/drawing/2014/main" id="{A80A1984-8199-4689-AADC-492EBF357CB2}"/>
              </a:ext>
            </a:extLst>
          </p:cNvPr>
          <p:cNvSpPr>
            <a:spLocks noGrp="1"/>
          </p:cNvSpPr>
          <p:nvPr/>
        </p:nvSpPr>
        <p:spPr>
          <a:xfrm>
            <a:off x="2133600" y="5743575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11" name="object-11">
            <a:extLst>
              <a:ext uri="{FF2B5EF4-FFF2-40B4-BE49-F238E27FC236}">
                <a16:creationId xmlns:a16="http://schemas.microsoft.com/office/drawing/2014/main" id="{ABC9C893-1035-438C-8CCF-0369AAC47051}"/>
              </a:ext>
            </a:extLst>
          </p:cNvPr>
          <p:cNvSpPr>
            <a:spLocks noGrp="1"/>
          </p:cNvSpPr>
          <p:nvPr/>
        </p:nvSpPr>
        <p:spPr>
          <a:xfrm>
            <a:off x="590550" y="7000875"/>
            <a:ext cx="3238500" cy="800100"/>
          </a:xfrm>
          <a:prstGeom prst="roundRect">
            <a:avLst>
              <a:gd name="adj" fmla="val 9524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去重并按短缺得分排序</a:t>
            </a:r>
          </a:p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形成 H 小时事件集</a:t>
            </a:r>
          </a:p>
        </p:txBody>
      </p:sp>
      <p:sp>
        <p:nvSpPr>
          <p:cNvPr id="1012" name="object-12">
            <a:extLst>
              <a:ext uri="{FF2B5EF4-FFF2-40B4-BE49-F238E27FC236}">
                <a16:creationId xmlns:a16="http://schemas.microsoft.com/office/drawing/2014/main" id="{B5F53484-BBA3-4192-96C8-C1E7D0F6A79B}"/>
              </a:ext>
            </a:extLst>
          </p:cNvPr>
          <p:cNvSpPr>
            <a:spLocks noGrp="1"/>
          </p:cNvSpPr>
          <p:nvPr/>
        </p:nvSpPr>
        <p:spPr>
          <a:xfrm>
            <a:off x="2190750" y="6677025"/>
            <a:ext cx="953" cy="323850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13" name="object-13">
            <a:extLst>
              <a:ext uri="{FF2B5EF4-FFF2-40B4-BE49-F238E27FC236}">
                <a16:creationId xmlns:a16="http://schemas.microsoft.com/office/drawing/2014/main" id="{FFC29BFA-0FC0-42BB-A6AE-AD79989D3E85}"/>
              </a:ext>
            </a:extLst>
          </p:cNvPr>
          <p:cNvSpPr>
            <a:spLocks noGrp="1"/>
          </p:cNvSpPr>
          <p:nvPr/>
        </p:nvSpPr>
        <p:spPr>
          <a:xfrm>
            <a:off x="2133600" y="6867525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14" name="object-14">
            <a:extLst>
              <a:ext uri="{FF2B5EF4-FFF2-40B4-BE49-F238E27FC236}">
                <a16:creationId xmlns:a16="http://schemas.microsoft.com/office/drawing/2014/main" id="{3FB566AC-AD18-46AA-A60A-18C4CB8F2FA7}"/>
              </a:ext>
            </a:extLst>
          </p:cNvPr>
          <p:cNvSpPr>
            <a:spLocks noGrp="1"/>
          </p:cNvSpPr>
          <p:nvPr/>
        </p:nvSpPr>
        <p:spPr>
          <a:xfrm>
            <a:off x="485775" y="783907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主算例 H = 72 h，q = 10%</a:t>
            </a:r>
          </a:p>
        </p:txBody>
      </p:sp>
      <p:sp>
        <p:nvSpPr>
          <p:cNvPr id="1015" name="object-15">
            <a:extLst>
              <a:ext uri="{FF2B5EF4-FFF2-40B4-BE49-F238E27FC236}">
                <a16:creationId xmlns:a16="http://schemas.microsoft.com/office/drawing/2014/main" id="{AF0A4362-88F2-4EAC-AB67-CD7D30D47605}"/>
              </a:ext>
            </a:extLst>
          </p:cNvPr>
          <p:cNvSpPr>
            <a:spLocks noGrp="1"/>
          </p:cNvSpPr>
          <p:nvPr/>
        </p:nvSpPr>
        <p:spPr>
          <a:xfrm>
            <a:off x="4229100" y="2714625"/>
            <a:ext cx="9525" cy="953"/>
          </a:xfrm>
          <a:prstGeom prst="line">
            <a:avLst/>
          </a:prstGeom>
          <a:noFill/>
          <a:ln w="9525">
            <a:solidFill>
              <a:srgbClr val="66B7FA"/>
            </a:solidFill>
            <a:prstDash val="solid"/>
          </a:ln>
        </p:spPr>
      </p:sp>
      <p:sp>
        <p:nvSpPr>
          <p:cNvPr id="1016" name="object-16">
            <a:extLst>
              <a:ext uri="{FF2B5EF4-FFF2-40B4-BE49-F238E27FC236}">
                <a16:creationId xmlns:a16="http://schemas.microsoft.com/office/drawing/2014/main" id="{79368CDA-D18C-41AF-9773-E7A1D3573763}"/>
              </a:ext>
            </a:extLst>
          </p:cNvPr>
          <p:cNvSpPr>
            <a:spLocks noGrp="1"/>
          </p:cNvSpPr>
          <p:nvPr/>
        </p:nvSpPr>
        <p:spPr>
          <a:xfrm>
            <a:off x="4229100" y="2714625"/>
            <a:ext cx="953" cy="5391150"/>
          </a:xfrm>
          <a:prstGeom prst="line">
            <a:avLst/>
          </a:prstGeom>
          <a:noFill/>
          <a:ln w="9525">
            <a:solidFill>
              <a:srgbClr val="66B7FA"/>
            </a:solidFill>
            <a:prstDash val="solid"/>
          </a:ln>
        </p:spPr>
      </p:sp>
      <p:sp>
        <p:nvSpPr>
          <p:cNvPr id="1017" name="object-17">
            <a:extLst>
              <a:ext uri="{FF2B5EF4-FFF2-40B4-BE49-F238E27FC236}">
                <a16:creationId xmlns:a16="http://schemas.microsoft.com/office/drawing/2014/main" id="{FB86F896-8DC4-4199-A1A2-1FFC9ACE829D}"/>
              </a:ext>
            </a:extLst>
          </p:cNvPr>
          <p:cNvSpPr>
            <a:spLocks noGrp="1"/>
          </p:cNvSpPr>
          <p:nvPr/>
        </p:nvSpPr>
        <p:spPr>
          <a:xfrm>
            <a:off x="4486275" y="2667000"/>
            <a:ext cx="609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风光出力与跨时段储能共同供电</a:t>
            </a:r>
          </a:p>
        </p:txBody>
      </p:sp>
      <p:pic>
        <p:nvPicPr>
          <p:cNvPr id="1018" name="">
            <a:extLst>
              <a:ext uri="{FF2B5EF4-FFF2-40B4-BE49-F238E27FC236}">
                <a16:creationId xmlns:a16="http://schemas.microsoft.com/office/drawing/2014/main" id="{86CF5FBF-05FE-47F1-B190-8B183FCA0AC7}"/>
              </a:ext>
            </a:extLst>
          </p:cNvPr>
          <p:cNvPicPr>
            <a:picLocks noChangeAspect="1"/>
          </p:cNvPicPr>
          <p:nvPr/>
        </p:nvPicPr>
        <p:blipFill>
          <a:blip r:embed="rId501"/>
          <a:stretch/>
        </p:blipFill>
        <p:spPr>
          <a:xfrm>
            <a:off x="4667250" y="3162826"/>
            <a:ext cx="1257300" cy="875248"/>
          </a:xfrm>
          <a:prstGeom prst="rect">
            <a:avLst/>
          </a:prstGeom>
        </p:spPr>
      </p:pic>
      <p:pic>
        <p:nvPicPr>
          <p:cNvPr id="1019" name="">
            <a:extLst>
              <a:ext uri="{FF2B5EF4-FFF2-40B4-BE49-F238E27FC236}">
                <a16:creationId xmlns:a16="http://schemas.microsoft.com/office/drawing/2014/main" id="{398F190E-91E3-4D4B-AE18-85DB0EC705B1}"/>
              </a:ext>
            </a:extLst>
          </p:cNvPr>
          <p:cNvPicPr>
            <a:picLocks noChangeAspect="1"/>
          </p:cNvPicPr>
          <p:nvPr/>
        </p:nvPicPr>
        <p:blipFill>
          <a:blip r:embed="rId502"/>
          <a:stretch/>
        </p:blipFill>
        <p:spPr>
          <a:xfrm>
            <a:off x="6553351" y="3162300"/>
            <a:ext cx="1237948" cy="876300"/>
          </a:xfrm>
          <a:prstGeom prst="rect">
            <a:avLst/>
          </a:prstGeom>
        </p:spPr>
      </p:pic>
      <p:pic>
        <p:nvPicPr>
          <p:cNvPr id="1020" name="">
            <a:extLst>
              <a:ext uri="{FF2B5EF4-FFF2-40B4-BE49-F238E27FC236}">
                <a16:creationId xmlns:a16="http://schemas.microsoft.com/office/drawing/2014/main" id="{61A481D7-96A6-4DDC-BD45-B5C897094A29}"/>
              </a:ext>
            </a:extLst>
          </p:cNvPr>
          <p:cNvPicPr>
            <a:picLocks noChangeAspect="1"/>
          </p:cNvPicPr>
          <p:nvPr/>
        </p:nvPicPr>
        <p:blipFill>
          <a:blip r:embed="rId503"/>
          <a:stretch/>
        </p:blipFill>
        <p:spPr>
          <a:xfrm>
            <a:off x="8809113" y="3162300"/>
            <a:ext cx="1203174" cy="876300"/>
          </a:xfrm>
          <a:prstGeom prst="rect">
            <a:avLst/>
          </a:prstGeom>
        </p:spPr>
      </p:pic>
      <p:sp>
        <p:nvSpPr>
          <p:cNvPr id="1021" name="object-18">
            <a:extLst>
              <a:ext uri="{FF2B5EF4-FFF2-40B4-BE49-F238E27FC236}">
                <a16:creationId xmlns:a16="http://schemas.microsoft.com/office/drawing/2014/main" id="{A47A62FA-F8B6-4210-A9D7-32C454949297}"/>
              </a:ext>
            </a:extLst>
          </p:cNvPr>
          <p:cNvSpPr>
            <a:spLocks noGrp="1"/>
          </p:cNvSpPr>
          <p:nvPr/>
        </p:nvSpPr>
        <p:spPr>
          <a:xfrm>
            <a:off x="4638675" y="4038600"/>
            <a:ext cx="12954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风电</a:t>
            </a:r>
          </a:p>
        </p:txBody>
      </p:sp>
      <p:sp>
        <p:nvSpPr>
          <p:cNvPr id="1022" name="object-19">
            <a:extLst>
              <a:ext uri="{FF2B5EF4-FFF2-40B4-BE49-F238E27FC236}">
                <a16:creationId xmlns:a16="http://schemas.microsoft.com/office/drawing/2014/main" id="{DE2A96F9-DCCA-4E82-8102-6EC1476BA715}"/>
              </a:ext>
            </a:extLst>
          </p:cNvPr>
          <p:cNvSpPr>
            <a:spLocks noGrp="1"/>
          </p:cNvSpPr>
          <p:nvPr/>
        </p:nvSpPr>
        <p:spPr>
          <a:xfrm>
            <a:off x="6534150" y="4038600"/>
            <a:ext cx="12954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光伏</a:t>
            </a:r>
          </a:p>
        </p:txBody>
      </p:sp>
      <p:sp>
        <p:nvSpPr>
          <p:cNvPr id="1023" name="object-20">
            <a:extLst>
              <a:ext uri="{FF2B5EF4-FFF2-40B4-BE49-F238E27FC236}">
                <a16:creationId xmlns:a16="http://schemas.microsoft.com/office/drawing/2014/main" id="{150CCEE4-D64C-4453-BC32-FB5F171D5745}"/>
              </a:ext>
            </a:extLst>
          </p:cNvPr>
          <p:cNvSpPr>
            <a:spLocks noGrp="1"/>
          </p:cNvSpPr>
          <p:nvPr/>
        </p:nvSpPr>
        <p:spPr>
          <a:xfrm>
            <a:off x="8610600" y="4038600"/>
            <a:ext cx="1600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储能 / SOC</a:t>
            </a:r>
          </a:p>
        </p:txBody>
      </p:sp>
      <p:sp>
        <p:nvSpPr>
          <p:cNvPr id="1024" name="object-21">
            <a:extLst>
              <a:ext uri="{FF2B5EF4-FFF2-40B4-BE49-F238E27FC236}">
                <a16:creationId xmlns:a16="http://schemas.microsoft.com/office/drawing/2014/main" id="{58282B23-7D7D-41BC-B400-F34912BF62E1}"/>
              </a:ext>
            </a:extLst>
          </p:cNvPr>
          <p:cNvSpPr>
            <a:spLocks noGrp="1"/>
          </p:cNvSpPr>
          <p:nvPr/>
        </p:nvSpPr>
        <p:spPr>
          <a:xfrm>
            <a:off x="5295900" y="4305300"/>
            <a:ext cx="953" cy="29527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25" name="object-22">
            <a:extLst>
              <a:ext uri="{FF2B5EF4-FFF2-40B4-BE49-F238E27FC236}">
                <a16:creationId xmlns:a16="http://schemas.microsoft.com/office/drawing/2014/main" id="{20C724E4-C85F-4152-B4A4-ABDC87D3249D}"/>
              </a:ext>
            </a:extLst>
          </p:cNvPr>
          <p:cNvSpPr>
            <a:spLocks noGrp="1"/>
          </p:cNvSpPr>
          <p:nvPr/>
        </p:nvSpPr>
        <p:spPr>
          <a:xfrm>
            <a:off x="5238750" y="4467225"/>
            <a:ext cx="114300" cy="133350"/>
          </a:xfrm>
          <a:prstGeom prst="down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026" name="object-23">
            <a:extLst>
              <a:ext uri="{FF2B5EF4-FFF2-40B4-BE49-F238E27FC236}">
                <a16:creationId xmlns:a16="http://schemas.microsoft.com/office/drawing/2014/main" id="{A20003A5-45A7-444F-9CC2-6E9ED16DDCF7}"/>
              </a:ext>
            </a:extLst>
          </p:cNvPr>
          <p:cNvSpPr>
            <a:spLocks noGrp="1"/>
          </p:cNvSpPr>
          <p:nvPr/>
        </p:nvSpPr>
        <p:spPr>
          <a:xfrm>
            <a:off x="7172325" y="4305300"/>
            <a:ext cx="953" cy="29527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27" name="object-24">
            <a:extLst>
              <a:ext uri="{FF2B5EF4-FFF2-40B4-BE49-F238E27FC236}">
                <a16:creationId xmlns:a16="http://schemas.microsoft.com/office/drawing/2014/main" id="{0FC5EBAB-C7FC-43E5-B63B-944C5ED1C8C2}"/>
              </a:ext>
            </a:extLst>
          </p:cNvPr>
          <p:cNvSpPr>
            <a:spLocks noGrp="1"/>
          </p:cNvSpPr>
          <p:nvPr/>
        </p:nvSpPr>
        <p:spPr>
          <a:xfrm>
            <a:off x="7115175" y="4467225"/>
            <a:ext cx="114300" cy="133350"/>
          </a:xfrm>
          <a:prstGeom prst="down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028" name="object-25">
            <a:extLst>
              <a:ext uri="{FF2B5EF4-FFF2-40B4-BE49-F238E27FC236}">
                <a16:creationId xmlns:a16="http://schemas.microsoft.com/office/drawing/2014/main" id="{893A369A-6B7F-476C-8D0C-D817BC267075}"/>
              </a:ext>
            </a:extLst>
          </p:cNvPr>
          <p:cNvSpPr>
            <a:spLocks noGrp="1"/>
          </p:cNvSpPr>
          <p:nvPr/>
        </p:nvSpPr>
        <p:spPr>
          <a:xfrm>
            <a:off x="9410700" y="4305300"/>
            <a:ext cx="953" cy="29527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29" name="object-26">
            <a:extLst>
              <a:ext uri="{FF2B5EF4-FFF2-40B4-BE49-F238E27FC236}">
                <a16:creationId xmlns:a16="http://schemas.microsoft.com/office/drawing/2014/main" id="{C754DE05-1971-4B7C-980A-0D17B0D3DD19}"/>
              </a:ext>
            </a:extLst>
          </p:cNvPr>
          <p:cNvSpPr>
            <a:spLocks noGrp="1"/>
          </p:cNvSpPr>
          <p:nvPr/>
        </p:nvSpPr>
        <p:spPr>
          <a:xfrm>
            <a:off x="9353550" y="4467225"/>
            <a:ext cx="114300" cy="133350"/>
          </a:xfrm>
          <a:prstGeom prst="down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030" name="object-27">
            <a:extLst>
              <a:ext uri="{FF2B5EF4-FFF2-40B4-BE49-F238E27FC236}">
                <a16:creationId xmlns:a16="http://schemas.microsoft.com/office/drawing/2014/main" id="{70DDF9AA-FD3D-4E96-A637-CD297F7F178E}"/>
              </a:ext>
            </a:extLst>
          </p:cNvPr>
          <p:cNvSpPr>
            <a:spLocks noGrp="1"/>
          </p:cNvSpPr>
          <p:nvPr/>
        </p:nvSpPr>
        <p:spPr>
          <a:xfrm>
            <a:off x="9591675" y="4314825"/>
            <a:ext cx="953" cy="285750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31" name="object-28">
            <a:extLst>
              <a:ext uri="{FF2B5EF4-FFF2-40B4-BE49-F238E27FC236}">
                <a16:creationId xmlns:a16="http://schemas.microsoft.com/office/drawing/2014/main" id="{0819AEFD-0E8A-4F88-B632-06C00E53B116}"/>
              </a:ext>
            </a:extLst>
          </p:cNvPr>
          <p:cNvSpPr>
            <a:spLocks noGrp="1"/>
          </p:cNvSpPr>
          <p:nvPr/>
        </p:nvSpPr>
        <p:spPr>
          <a:xfrm>
            <a:off x="9534525" y="4314825"/>
            <a:ext cx="114300" cy="133350"/>
          </a:xfrm>
          <a:prstGeom prst="up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032" name="object-29">
            <a:extLst>
              <a:ext uri="{FF2B5EF4-FFF2-40B4-BE49-F238E27FC236}">
                <a16:creationId xmlns:a16="http://schemas.microsoft.com/office/drawing/2014/main" id="{616D9644-CD44-4E16-9AF5-616537D26506}"/>
              </a:ext>
            </a:extLst>
          </p:cNvPr>
          <p:cNvSpPr>
            <a:spLocks noGrp="1"/>
          </p:cNvSpPr>
          <p:nvPr/>
        </p:nvSpPr>
        <p:spPr>
          <a:xfrm>
            <a:off x="4752975" y="4600575"/>
            <a:ext cx="5676900" cy="953"/>
          </a:xfrm>
          <a:prstGeom prst="line">
            <a:avLst/>
          </a:prstGeom>
          <a:noFill/>
          <a:ln w="38100">
            <a:solidFill>
              <a:srgbClr val="087F8C"/>
            </a:solidFill>
            <a:prstDash val="solid"/>
          </a:ln>
        </p:spPr>
      </p:sp>
      <p:sp>
        <p:nvSpPr>
          <p:cNvPr id="1033" name="object-30">
            <a:extLst>
              <a:ext uri="{FF2B5EF4-FFF2-40B4-BE49-F238E27FC236}">
                <a16:creationId xmlns:a16="http://schemas.microsoft.com/office/drawing/2014/main" id="{BF0F9C62-4B65-4062-B0B6-9D12303D61B8}"/>
              </a:ext>
            </a:extLst>
          </p:cNvPr>
          <p:cNvSpPr>
            <a:spLocks noGrp="1"/>
          </p:cNvSpPr>
          <p:nvPr/>
        </p:nvSpPr>
        <p:spPr>
          <a:xfrm>
            <a:off x="7410450" y="4619625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功率平衡</a:t>
            </a:r>
          </a:p>
        </p:txBody>
      </p:sp>
      <p:sp>
        <p:nvSpPr>
          <p:cNvPr id="1034" name="object-31">
            <a:extLst>
              <a:ext uri="{FF2B5EF4-FFF2-40B4-BE49-F238E27FC236}">
                <a16:creationId xmlns:a16="http://schemas.microsoft.com/office/drawing/2014/main" id="{9160091A-0264-41BD-8D08-2C22C0D11C89}"/>
              </a:ext>
            </a:extLst>
          </p:cNvPr>
          <p:cNvSpPr>
            <a:spLocks noGrp="1"/>
          </p:cNvSpPr>
          <p:nvPr/>
        </p:nvSpPr>
        <p:spPr>
          <a:xfrm>
            <a:off x="5810250" y="4600575"/>
            <a:ext cx="953" cy="40957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35" name="object-32">
            <a:extLst>
              <a:ext uri="{FF2B5EF4-FFF2-40B4-BE49-F238E27FC236}">
                <a16:creationId xmlns:a16="http://schemas.microsoft.com/office/drawing/2014/main" id="{9213CE5A-B3AB-49AC-B98A-AB0A5530ACF3}"/>
              </a:ext>
            </a:extLst>
          </p:cNvPr>
          <p:cNvSpPr>
            <a:spLocks noGrp="1"/>
          </p:cNvSpPr>
          <p:nvPr/>
        </p:nvSpPr>
        <p:spPr>
          <a:xfrm>
            <a:off x="5753100" y="4876800"/>
            <a:ext cx="114300" cy="133350"/>
          </a:xfrm>
          <a:prstGeom prst="down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036" name="object-33">
            <a:extLst>
              <a:ext uri="{FF2B5EF4-FFF2-40B4-BE49-F238E27FC236}">
                <a16:creationId xmlns:a16="http://schemas.microsoft.com/office/drawing/2014/main" id="{4954FDD8-5790-446A-9B50-D7B4F7F4999E}"/>
              </a:ext>
            </a:extLst>
          </p:cNvPr>
          <p:cNvSpPr>
            <a:spLocks noGrp="1"/>
          </p:cNvSpPr>
          <p:nvPr/>
        </p:nvSpPr>
        <p:spPr>
          <a:xfrm>
            <a:off x="9353550" y="4600575"/>
            <a:ext cx="953" cy="40957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37" name="object-34">
            <a:extLst>
              <a:ext uri="{FF2B5EF4-FFF2-40B4-BE49-F238E27FC236}">
                <a16:creationId xmlns:a16="http://schemas.microsoft.com/office/drawing/2014/main" id="{E960D285-1832-4B48-B8C8-6B507999F934}"/>
              </a:ext>
            </a:extLst>
          </p:cNvPr>
          <p:cNvSpPr>
            <a:spLocks noGrp="1"/>
          </p:cNvSpPr>
          <p:nvPr/>
        </p:nvSpPr>
        <p:spPr>
          <a:xfrm>
            <a:off x="9296400" y="4876800"/>
            <a:ext cx="114300" cy="133350"/>
          </a:xfrm>
          <a:prstGeom prst="down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pic>
        <p:nvPicPr>
          <p:cNvPr id="1038" name="">
            <a:extLst>
              <a:ext uri="{FF2B5EF4-FFF2-40B4-BE49-F238E27FC236}">
                <a16:creationId xmlns:a16="http://schemas.microsoft.com/office/drawing/2014/main" id="{72CFA3D6-CC75-4E74-A60B-B7990F25B2AF}"/>
              </a:ext>
            </a:extLst>
          </p:cNvPr>
          <p:cNvPicPr>
            <a:picLocks noChangeAspect="1"/>
          </p:cNvPicPr>
          <p:nvPr/>
        </p:nvPicPr>
        <p:blipFill>
          <a:blip r:embed="rId504"/>
          <a:stretch/>
        </p:blipFill>
        <p:spPr>
          <a:xfrm>
            <a:off x="5394325" y="5019675"/>
            <a:ext cx="831850" cy="800100"/>
          </a:xfrm>
          <a:prstGeom prst="rect">
            <a:avLst/>
          </a:prstGeom>
        </p:spPr>
      </p:pic>
      <p:sp>
        <p:nvSpPr>
          <p:cNvPr id="1039" name="object-35">
            <a:extLst>
              <a:ext uri="{FF2B5EF4-FFF2-40B4-BE49-F238E27FC236}">
                <a16:creationId xmlns:a16="http://schemas.microsoft.com/office/drawing/2014/main" id="{B2772FDA-3E0B-405C-BD64-EFBB0C50CCDD}"/>
              </a:ext>
            </a:extLst>
          </p:cNvPr>
          <p:cNvSpPr>
            <a:spLocks noGrp="1"/>
          </p:cNvSpPr>
          <p:nvPr/>
        </p:nvSpPr>
        <p:spPr>
          <a:xfrm>
            <a:off x="9067800" y="5143500"/>
            <a:ext cx="609600" cy="523875"/>
          </a:xfrm>
          <a:prstGeom prst="rect">
            <a:avLst/>
          </a:prstGeom>
          <a:solidFill>
            <a:srgbClr val="FFF3DA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040" name="object-36">
            <a:extLst>
              <a:ext uri="{FF2B5EF4-FFF2-40B4-BE49-F238E27FC236}">
                <a16:creationId xmlns:a16="http://schemas.microsoft.com/office/drawing/2014/main" id="{C8FDA688-404C-4823-9592-6F757278FA3F}"/>
              </a:ext>
            </a:extLst>
          </p:cNvPr>
          <p:cNvSpPr>
            <a:spLocks noGrp="1"/>
          </p:cNvSpPr>
          <p:nvPr/>
        </p:nvSpPr>
        <p:spPr>
          <a:xfrm>
            <a:off x="9163050" y="5229225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1" name="object-37">
            <a:extLst>
              <a:ext uri="{FF2B5EF4-FFF2-40B4-BE49-F238E27FC236}">
                <a16:creationId xmlns:a16="http://schemas.microsoft.com/office/drawing/2014/main" id="{B2DDC028-AD9C-4EFC-8CC4-91318C55A42D}"/>
              </a:ext>
            </a:extLst>
          </p:cNvPr>
          <p:cNvSpPr>
            <a:spLocks noGrp="1"/>
          </p:cNvSpPr>
          <p:nvPr/>
        </p:nvSpPr>
        <p:spPr>
          <a:xfrm>
            <a:off x="9344025" y="5229225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2" name="object-38">
            <a:extLst>
              <a:ext uri="{FF2B5EF4-FFF2-40B4-BE49-F238E27FC236}">
                <a16:creationId xmlns:a16="http://schemas.microsoft.com/office/drawing/2014/main" id="{5F8322C4-07AB-4B38-8287-FB547251914D}"/>
              </a:ext>
            </a:extLst>
          </p:cNvPr>
          <p:cNvSpPr>
            <a:spLocks noGrp="1"/>
          </p:cNvSpPr>
          <p:nvPr/>
        </p:nvSpPr>
        <p:spPr>
          <a:xfrm>
            <a:off x="9525000" y="5229225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3" name="object-39">
            <a:extLst>
              <a:ext uri="{FF2B5EF4-FFF2-40B4-BE49-F238E27FC236}">
                <a16:creationId xmlns:a16="http://schemas.microsoft.com/office/drawing/2014/main" id="{C24CBDBA-01E6-4272-82E5-0AAD5D43BAD2}"/>
              </a:ext>
            </a:extLst>
          </p:cNvPr>
          <p:cNvSpPr>
            <a:spLocks noGrp="1"/>
          </p:cNvSpPr>
          <p:nvPr/>
        </p:nvSpPr>
        <p:spPr>
          <a:xfrm>
            <a:off x="9163050" y="5419725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4" name="object-40">
            <a:extLst>
              <a:ext uri="{FF2B5EF4-FFF2-40B4-BE49-F238E27FC236}">
                <a16:creationId xmlns:a16="http://schemas.microsoft.com/office/drawing/2014/main" id="{FAEB5B7F-0251-49A0-BBE0-87A157848714}"/>
              </a:ext>
            </a:extLst>
          </p:cNvPr>
          <p:cNvSpPr>
            <a:spLocks noGrp="1"/>
          </p:cNvSpPr>
          <p:nvPr/>
        </p:nvSpPr>
        <p:spPr>
          <a:xfrm>
            <a:off x="9344025" y="5419725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5" name="object-41">
            <a:extLst>
              <a:ext uri="{FF2B5EF4-FFF2-40B4-BE49-F238E27FC236}">
                <a16:creationId xmlns:a16="http://schemas.microsoft.com/office/drawing/2014/main" id="{7F0EB025-36FD-4BA9-BC4E-D26839270B48}"/>
              </a:ext>
            </a:extLst>
          </p:cNvPr>
          <p:cNvSpPr>
            <a:spLocks noGrp="1"/>
          </p:cNvSpPr>
          <p:nvPr/>
        </p:nvSpPr>
        <p:spPr>
          <a:xfrm>
            <a:off x="9525000" y="5419725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6" name="object-42">
            <a:extLst>
              <a:ext uri="{FF2B5EF4-FFF2-40B4-BE49-F238E27FC236}">
                <a16:creationId xmlns:a16="http://schemas.microsoft.com/office/drawing/2014/main" id="{0A2B758A-346C-4DD3-A611-3851FB638551}"/>
              </a:ext>
            </a:extLst>
          </p:cNvPr>
          <p:cNvSpPr>
            <a:spLocks noGrp="1"/>
          </p:cNvSpPr>
          <p:nvPr/>
        </p:nvSpPr>
        <p:spPr>
          <a:xfrm>
            <a:off x="9324975" y="5562600"/>
            <a:ext cx="152400" cy="104775"/>
          </a:xfrm>
          <a:prstGeom prst="rect">
            <a:avLst/>
          </a:prstGeom>
          <a:solidFill>
            <a:srgbClr val="D16A25"/>
          </a:solidFill>
          <a:ln w="9525">
            <a:noFill/>
            <a:prstDash val="solid"/>
          </a:ln>
        </p:spPr>
      </p:sp>
      <p:sp>
        <p:nvSpPr>
          <p:cNvPr id="1047" name="object-43">
            <a:extLst>
              <a:ext uri="{FF2B5EF4-FFF2-40B4-BE49-F238E27FC236}">
                <a16:creationId xmlns:a16="http://schemas.microsoft.com/office/drawing/2014/main" id="{3D255515-FEB5-4DA2-8EE0-E8C3549BBBE1}"/>
              </a:ext>
            </a:extLst>
          </p:cNvPr>
          <p:cNvSpPr>
            <a:spLocks noGrp="1"/>
          </p:cNvSpPr>
          <p:nvPr/>
        </p:nvSpPr>
        <p:spPr>
          <a:xfrm>
            <a:off x="4895850" y="582930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关键负荷 C</a:t>
            </a:r>
          </a:p>
        </p:txBody>
      </p:sp>
      <p:sp>
        <p:nvSpPr>
          <p:cNvPr id="1048" name="object-44">
            <a:extLst>
              <a:ext uri="{FF2B5EF4-FFF2-40B4-BE49-F238E27FC236}">
                <a16:creationId xmlns:a16="http://schemas.microsoft.com/office/drawing/2014/main" id="{FB9F1F13-D2A4-4A36-B147-D05E82E6F5CB}"/>
              </a:ext>
            </a:extLst>
          </p:cNvPr>
          <p:cNvSpPr>
            <a:spLocks noGrp="1"/>
          </p:cNvSpPr>
          <p:nvPr/>
        </p:nvSpPr>
        <p:spPr>
          <a:xfrm>
            <a:off x="8420100" y="5829300"/>
            <a:ext cx="2114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非关键负荷 N</a:t>
            </a:r>
          </a:p>
        </p:txBody>
      </p:sp>
      <p:sp>
        <p:nvSpPr>
          <p:cNvPr id="1049" name="object-45">
            <a:extLst>
              <a:ext uri="{FF2B5EF4-FFF2-40B4-BE49-F238E27FC236}">
                <a16:creationId xmlns:a16="http://schemas.microsoft.com/office/drawing/2014/main" id="{C186CB6D-CB3B-494E-8B2C-3790F392EDD9}"/>
              </a:ext>
            </a:extLst>
          </p:cNvPr>
          <p:cNvSpPr>
            <a:spLocks noGrp="1"/>
          </p:cNvSpPr>
          <p:nvPr/>
        </p:nvSpPr>
        <p:spPr>
          <a:xfrm>
            <a:off x="4810125" y="613410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累计目标 + 逐时下限</a:t>
            </a:r>
          </a:p>
        </p:txBody>
      </p:sp>
      <p:sp>
        <p:nvSpPr>
          <p:cNvPr id="1050" name="object-46">
            <a:extLst>
              <a:ext uri="{FF2B5EF4-FFF2-40B4-BE49-F238E27FC236}">
                <a16:creationId xmlns:a16="http://schemas.microsoft.com/office/drawing/2014/main" id="{2D406CD5-DEEA-4076-A932-201745917AE9}"/>
              </a:ext>
            </a:extLst>
          </p:cNvPr>
          <p:cNvSpPr>
            <a:spLocks noGrp="1"/>
          </p:cNvSpPr>
          <p:nvPr/>
        </p:nvSpPr>
        <p:spPr>
          <a:xfrm>
            <a:off x="8296275" y="6134100"/>
            <a:ext cx="2371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最不利24 h保障 β</a:t>
            </a:r>
          </a:p>
        </p:txBody>
      </p:sp>
      <p:sp>
        <p:nvSpPr>
          <p:cNvPr id="1051" name="object-47">
            <a:extLst>
              <a:ext uri="{FF2B5EF4-FFF2-40B4-BE49-F238E27FC236}">
                <a16:creationId xmlns:a16="http://schemas.microsoft.com/office/drawing/2014/main" id="{F9229FD8-73BF-4458-917D-E571A17198E7}"/>
              </a:ext>
            </a:extLst>
          </p:cNvPr>
          <p:cNvSpPr>
            <a:spLocks noGrp="1"/>
          </p:cNvSpPr>
          <p:nvPr/>
        </p:nvSpPr>
        <p:spPr>
          <a:xfrm>
            <a:off x="3838575" y="7400925"/>
            <a:ext cx="485775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52" name="object-48">
            <a:extLst>
              <a:ext uri="{FF2B5EF4-FFF2-40B4-BE49-F238E27FC236}">
                <a16:creationId xmlns:a16="http://schemas.microsoft.com/office/drawing/2014/main" id="{A1858CFD-AE35-4A4A-82D8-910C68EA272F}"/>
              </a:ext>
            </a:extLst>
          </p:cNvPr>
          <p:cNvSpPr>
            <a:spLocks noGrp="1"/>
          </p:cNvSpPr>
          <p:nvPr/>
        </p:nvSpPr>
        <p:spPr>
          <a:xfrm>
            <a:off x="4324350" y="6543675"/>
            <a:ext cx="953" cy="857250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53" name="object-49">
            <a:extLst>
              <a:ext uri="{FF2B5EF4-FFF2-40B4-BE49-F238E27FC236}">
                <a16:creationId xmlns:a16="http://schemas.microsoft.com/office/drawing/2014/main" id="{88BA7E32-EB22-4F7B-B223-FE86BEAE3FC9}"/>
              </a:ext>
            </a:extLst>
          </p:cNvPr>
          <p:cNvSpPr>
            <a:spLocks noGrp="1"/>
          </p:cNvSpPr>
          <p:nvPr/>
        </p:nvSpPr>
        <p:spPr>
          <a:xfrm>
            <a:off x="4324350" y="6543675"/>
            <a:ext cx="3295650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54" name="object-50">
            <a:extLst>
              <a:ext uri="{FF2B5EF4-FFF2-40B4-BE49-F238E27FC236}">
                <a16:creationId xmlns:a16="http://schemas.microsoft.com/office/drawing/2014/main" id="{88F03501-D3BB-4163-B240-8EA5D89D9F22}"/>
              </a:ext>
            </a:extLst>
          </p:cNvPr>
          <p:cNvSpPr>
            <a:spLocks noGrp="1"/>
          </p:cNvSpPr>
          <p:nvPr/>
        </p:nvSpPr>
        <p:spPr>
          <a:xfrm>
            <a:off x="7486650" y="6486525"/>
            <a:ext cx="133350" cy="114300"/>
          </a:xfrm>
          <a:prstGeom prst="rightArrow">
            <a:avLst/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055" name="object-51">
            <a:extLst>
              <a:ext uri="{FF2B5EF4-FFF2-40B4-BE49-F238E27FC236}">
                <a16:creationId xmlns:a16="http://schemas.microsoft.com/office/drawing/2014/main" id="{CF3D45AB-8857-4F71-ADCB-70A2DBAACDFB}"/>
              </a:ext>
            </a:extLst>
          </p:cNvPr>
          <p:cNvSpPr>
            <a:spLocks noGrp="1"/>
          </p:cNvSpPr>
          <p:nvPr/>
        </p:nvSpPr>
        <p:spPr>
          <a:xfrm>
            <a:off x="4391025" y="713422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4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事件窗口</a:t>
            </a:r>
          </a:p>
        </p:txBody>
      </p:sp>
      <p:sp>
        <p:nvSpPr>
          <p:cNvPr id="1056" name="object-52">
            <a:extLst>
              <a:ext uri="{FF2B5EF4-FFF2-40B4-BE49-F238E27FC236}">
                <a16:creationId xmlns:a16="http://schemas.microsoft.com/office/drawing/2014/main" id="{2346406B-11AA-4043-BB3E-641DE39D071E}"/>
              </a:ext>
            </a:extLst>
          </p:cNvPr>
          <p:cNvSpPr>
            <a:spLocks noGrp="1"/>
          </p:cNvSpPr>
          <p:nvPr/>
        </p:nvSpPr>
        <p:spPr>
          <a:xfrm>
            <a:off x="4552950" y="6543675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逐时供电与能量状态耦合</a:t>
            </a:r>
          </a:p>
        </p:txBody>
      </p:sp>
      <p:pic>
        <p:nvPicPr>
          <p:cNvPr id="1057" name="">
            <a:extLst>
              <a:ext uri="{FF2B5EF4-FFF2-40B4-BE49-F238E27FC236}">
                <a16:creationId xmlns:a16="http://schemas.microsoft.com/office/drawing/2014/main" id="{FD12759C-1029-4FD1-9337-E5BF5777620E}"/>
              </a:ext>
            </a:extLst>
          </p:cNvPr>
          <p:cNvPicPr>
            <a:picLocks noChangeAspect="1"/>
          </p:cNvPicPr>
          <p:nvPr/>
        </p:nvPicPr>
        <p:blipFill>
          <a:blip r:embed="rId505">
            <a:extLst>
              <a:ext uri="{96DAC541-7B7A-43D3-8B79-37D633B846F1}">
                <asvg:svgBlip xmlns:asvg="http://schemas.microsoft.com/office/drawing/2016/SVG/main" r:embed="rId506"/>
              </a:ext>
            </a:extLst>
          </a:blip>
          <a:stretch/>
        </p:blipFill>
        <p:spPr>
          <a:xfrm>
            <a:off x="5245909" y="6877050"/>
            <a:ext cx="4662457" cy="552450"/>
          </a:xfrm>
          <a:prstGeom prst="rect">
            <a:avLst/>
          </a:prstGeom>
        </p:spPr>
      </p:pic>
      <p:sp>
        <p:nvSpPr>
          <p:cNvPr id="1058" name="object-53">
            <a:extLst>
              <a:ext uri="{FF2B5EF4-FFF2-40B4-BE49-F238E27FC236}">
                <a16:creationId xmlns:a16="http://schemas.microsoft.com/office/drawing/2014/main" id="{1C6A7388-78A1-4159-BE82-09391139DD33}"/>
              </a:ext>
            </a:extLst>
          </p:cNvPr>
          <p:cNvSpPr>
            <a:spLocks noGrp="1"/>
          </p:cNvSpPr>
          <p:nvPr/>
        </p:nvSpPr>
        <p:spPr>
          <a:xfrm>
            <a:off x="4552950" y="7496175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电压、电流及逆变器容量约束</a:t>
            </a:r>
          </a:p>
        </p:txBody>
      </p:sp>
      <p:pic>
        <p:nvPicPr>
          <p:cNvPr id="1059" name="">
            <a:extLst>
              <a:ext uri="{FF2B5EF4-FFF2-40B4-BE49-F238E27FC236}">
                <a16:creationId xmlns:a16="http://schemas.microsoft.com/office/drawing/2014/main" id="{DC0CC373-6674-41BD-8F95-7E88673F1156}"/>
              </a:ext>
            </a:extLst>
          </p:cNvPr>
          <p:cNvPicPr>
            <a:picLocks noChangeAspect="1"/>
          </p:cNvPicPr>
          <p:nvPr/>
        </p:nvPicPr>
        <p:blipFill>
          <a:blip r:embed="rId507">
            <a:extLst>
              <a:ext uri="{96DAC541-7B7A-43D3-8B79-37D633B846F1}">
                <asvg:svgBlip xmlns:asvg="http://schemas.microsoft.com/office/drawing/2016/SVG/main" r:embed="rId508"/>
              </a:ext>
            </a:extLst>
          </a:blip>
          <a:stretch/>
        </p:blipFill>
        <p:spPr>
          <a:xfrm>
            <a:off x="4607344" y="7791450"/>
            <a:ext cx="5949112" cy="400050"/>
          </a:xfrm>
          <a:prstGeom prst="rect">
            <a:avLst/>
          </a:prstGeom>
        </p:spPr>
      </p:pic>
      <p:sp>
        <p:nvSpPr>
          <p:cNvPr id="1060" name="object-54">
            <a:extLst>
              <a:ext uri="{FF2B5EF4-FFF2-40B4-BE49-F238E27FC236}">
                <a16:creationId xmlns:a16="http://schemas.microsoft.com/office/drawing/2014/main" id="{23370BBF-3DE5-48D5-BD16-61EDA9BA2E58}"/>
              </a:ext>
            </a:extLst>
          </p:cNvPr>
          <p:cNvSpPr>
            <a:spLocks noGrp="1"/>
          </p:cNvSpPr>
          <p:nvPr/>
        </p:nvSpPr>
        <p:spPr>
          <a:xfrm>
            <a:off x="11268075" y="2762250"/>
            <a:ext cx="4219575" cy="371475"/>
          </a:xfrm>
          <a:prstGeom prst="roundRect">
            <a:avLst>
              <a:gd name="adj" fmla="val 2051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① 最大总供电量基准</a:t>
            </a:r>
          </a:p>
        </p:txBody>
      </p:sp>
      <p:pic>
        <p:nvPicPr>
          <p:cNvPr id="1061" name="">
            <a:extLst>
              <a:ext uri="{FF2B5EF4-FFF2-40B4-BE49-F238E27FC236}">
                <a16:creationId xmlns:a16="http://schemas.microsoft.com/office/drawing/2014/main" id="{B0E0B047-8CD4-43CD-BC21-6ACA43637771}"/>
              </a:ext>
            </a:extLst>
          </p:cNvPr>
          <p:cNvPicPr>
            <a:picLocks noChangeAspect="1"/>
          </p:cNvPicPr>
          <p:nvPr/>
        </p:nvPicPr>
        <p:blipFill>
          <a:blip r:embed="rId509">
            <a:extLst>
              <a:ext uri="{96DAC541-7B7A-43D3-8B79-37D633B846F1}">
                <asvg:svgBlip xmlns:asvg="http://schemas.microsoft.com/office/drawing/2016/SVG/main" r:embed="rId510"/>
              </a:ext>
            </a:extLst>
          </a:blip>
          <a:stretch/>
        </p:blipFill>
        <p:spPr>
          <a:xfrm>
            <a:off x="11334750" y="3276154"/>
            <a:ext cx="4076700" cy="372367"/>
          </a:xfrm>
          <a:prstGeom prst="rect">
            <a:avLst/>
          </a:prstGeom>
        </p:spPr>
      </p:pic>
      <p:sp>
        <p:nvSpPr>
          <p:cNvPr id="1062" name="object-55">
            <a:extLst>
              <a:ext uri="{FF2B5EF4-FFF2-40B4-BE49-F238E27FC236}">
                <a16:creationId xmlns:a16="http://schemas.microsoft.com/office/drawing/2014/main" id="{07700560-3F28-4AC3-988A-E5C13792700E}"/>
              </a:ext>
            </a:extLst>
          </p:cNvPr>
          <p:cNvSpPr>
            <a:spLocks noGrp="1"/>
          </p:cNvSpPr>
          <p:nvPr/>
        </p:nvSpPr>
        <p:spPr>
          <a:xfrm>
            <a:off x="13382625" y="3733800"/>
            <a:ext cx="953" cy="238125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63" name="object-56">
            <a:extLst>
              <a:ext uri="{FF2B5EF4-FFF2-40B4-BE49-F238E27FC236}">
                <a16:creationId xmlns:a16="http://schemas.microsoft.com/office/drawing/2014/main" id="{26B9997F-DDB7-453A-BBD3-310161B91978}"/>
              </a:ext>
            </a:extLst>
          </p:cNvPr>
          <p:cNvSpPr>
            <a:spLocks noGrp="1"/>
          </p:cNvSpPr>
          <p:nvPr/>
        </p:nvSpPr>
        <p:spPr>
          <a:xfrm>
            <a:off x="13325475" y="3838575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64" name="object-57">
            <a:extLst>
              <a:ext uri="{FF2B5EF4-FFF2-40B4-BE49-F238E27FC236}">
                <a16:creationId xmlns:a16="http://schemas.microsoft.com/office/drawing/2014/main" id="{4030702D-9D13-4F9E-9C9E-D67EA061A9C1}"/>
              </a:ext>
            </a:extLst>
          </p:cNvPr>
          <p:cNvSpPr>
            <a:spLocks noGrp="1"/>
          </p:cNvSpPr>
          <p:nvPr/>
        </p:nvSpPr>
        <p:spPr>
          <a:xfrm>
            <a:off x="11268075" y="4000500"/>
            <a:ext cx="4219575" cy="381000"/>
          </a:xfrm>
          <a:prstGeom prst="roundRect">
            <a:avLst>
              <a:gd name="adj" fmla="val 20000"/>
            </a:avLst>
          </a:prstGeom>
          <a:solidFill>
            <a:srgbClr val="E9F4E7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② 累计目标与损失预算</a:t>
            </a:r>
          </a:p>
        </p:txBody>
      </p:sp>
      <p:pic>
        <p:nvPicPr>
          <p:cNvPr id="1065" name="">
            <a:extLst>
              <a:ext uri="{FF2B5EF4-FFF2-40B4-BE49-F238E27FC236}">
                <a16:creationId xmlns:a16="http://schemas.microsoft.com/office/drawing/2014/main" id="{47880D3D-5985-4BD0-BC76-8F9522C2E696}"/>
              </a:ext>
            </a:extLst>
          </p:cNvPr>
          <p:cNvPicPr>
            <a:picLocks noChangeAspect="1"/>
          </p:cNvPicPr>
          <p:nvPr/>
        </p:nvPicPr>
        <p:blipFill>
          <a:blip r:embed="rId511">
            <a:extLst>
              <a:ext uri="{96DAC541-7B7A-43D3-8B79-37D633B846F1}">
                <asvg:svgBlip xmlns:asvg="http://schemas.microsoft.com/office/drawing/2016/SVG/main" r:embed="rId512"/>
              </a:ext>
            </a:extLst>
          </a:blip>
          <a:stretch/>
        </p:blipFill>
        <p:spPr>
          <a:xfrm>
            <a:off x="11567212" y="4524375"/>
            <a:ext cx="3611775" cy="542925"/>
          </a:xfrm>
          <a:prstGeom prst="rect">
            <a:avLst/>
          </a:prstGeom>
        </p:spPr>
      </p:pic>
      <p:sp>
        <p:nvSpPr>
          <p:cNvPr id="1066" name="object-58">
            <a:extLst>
              <a:ext uri="{FF2B5EF4-FFF2-40B4-BE49-F238E27FC236}">
                <a16:creationId xmlns:a16="http://schemas.microsoft.com/office/drawing/2014/main" id="{E6207864-82D7-4050-B802-FCDF96290F07}"/>
              </a:ext>
            </a:extLst>
          </p:cNvPr>
          <p:cNvSpPr>
            <a:spLocks noGrp="1"/>
          </p:cNvSpPr>
          <p:nvPr/>
        </p:nvSpPr>
        <p:spPr>
          <a:xfrm>
            <a:off x="11315700" y="51625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提高最低逐时供电率 ηc</a:t>
            </a:r>
          </a:p>
        </p:txBody>
      </p:sp>
      <p:sp>
        <p:nvSpPr>
          <p:cNvPr id="1067" name="object-59">
            <a:extLst>
              <a:ext uri="{FF2B5EF4-FFF2-40B4-BE49-F238E27FC236}">
                <a16:creationId xmlns:a16="http://schemas.microsoft.com/office/drawing/2014/main" id="{CCF3B2D1-0257-4C08-9AF1-DD245FDA2498}"/>
              </a:ext>
            </a:extLst>
          </p:cNvPr>
          <p:cNvSpPr>
            <a:spLocks noGrp="1"/>
          </p:cNvSpPr>
          <p:nvPr/>
        </p:nvSpPr>
        <p:spPr>
          <a:xfrm>
            <a:off x="13382625" y="5524500"/>
            <a:ext cx="953" cy="257175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68" name="object-60">
            <a:extLst>
              <a:ext uri="{FF2B5EF4-FFF2-40B4-BE49-F238E27FC236}">
                <a16:creationId xmlns:a16="http://schemas.microsoft.com/office/drawing/2014/main" id="{C655D53C-E6D5-4437-AFC1-A03110A5161E}"/>
              </a:ext>
            </a:extLst>
          </p:cNvPr>
          <p:cNvSpPr>
            <a:spLocks noGrp="1"/>
          </p:cNvSpPr>
          <p:nvPr/>
        </p:nvSpPr>
        <p:spPr>
          <a:xfrm>
            <a:off x="13325475" y="5648325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69" name="object-61">
            <a:extLst>
              <a:ext uri="{FF2B5EF4-FFF2-40B4-BE49-F238E27FC236}">
                <a16:creationId xmlns:a16="http://schemas.microsoft.com/office/drawing/2014/main" id="{E409012E-D85D-400C-96B6-5FF7979EF8CA}"/>
              </a:ext>
            </a:extLst>
          </p:cNvPr>
          <p:cNvSpPr>
            <a:spLocks noGrp="1"/>
          </p:cNvSpPr>
          <p:nvPr/>
        </p:nvSpPr>
        <p:spPr>
          <a:xfrm>
            <a:off x="11268075" y="5810250"/>
            <a:ext cx="4219575" cy="552450"/>
          </a:xfrm>
          <a:prstGeom prst="roundRect">
            <a:avLst>
              <a:gd name="adj" fmla="val 13793"/>
            </a:avLst>
          </a:prstGeom>
          <a:solidFill>
            <a:srgbClr val="FFF2D9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③ 提高非关键负荷保障 β</a:t>
            </a:r>
          </a:p>
        </p:txBody>
      </p:sp>
      <p:sp>
        <p:nvSpPr>
          <p:cNvPr id="1070" name="object-62">
            <a:extLst>
              <a:ext uri="{FF2B5EF4-FFF2-40B4-BE49-F238E27FC236}">
                <a16:creationId xmlns:a16="http://schemas.microsoft.com/office/drawing/2014/main" id="{1F74FCFD-B336-44EC-8E1F-AB63FD1A1C3F}"/>
              </a:ext>
            </a:extLst>
          </p:cNvPr>
          <p:cNvSpPr>
            <a:spLocks noGrp="1"/>
          </p:cNvSpPr>
          <p:nvPr/>
        </p:nvSpPr>
        <p:spPr>
          <a:xfrm>
            <a:off x="11515725" y="6400800"/>
            <a:ext cx="37433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网络 SOCP 与锥间隙检查</a:t>
            </a:r>
          </a:p>
        </p:txBody>
      </p:sp>
      <p:sp>
        <p:nvSpPr>
          <p:cNvPr id="1071" name="object-63">
            <a:extLst>
              <a:ext uri="{FF2B5EF4-FFF2-40B4-BE49-F238E27FC236}">
                <a16:creationId xmlns:a16="http://schemas.microsoft.com/office/drawing/2014/main" id="{FF0E6BED-D8E9-42D6-8246-179591048048}"/>
              </a:ext>
            </a:extLst>
          </p:cNvPr>
          <p:cNvSpPr>
            <a:spLocks noGrp="1"/>
          </p:cNvSpPr>
          <p:nvPr/>
        </p:nvSpPr>
        <p:spPr>
          <a:xfrm>
            <a:off x="13382625" y="6648450"/>
            <a:ext cx="953" cy="152400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72" name="object-64">
            <a:extLst>
              <a:ext uri="{FF2B5EF4-FFF2-40B4-BE49-F238E27FC236}">
                <a16:creationId xmlns:a16="http://schemas.microsoft.com/office/drawing/2014/main" id="{799E4730-195C-4674-95D9-6C321159D324}"/>
              </a:ext>
            </a:extLst>
          </p:cNvPr>
          <p:cNvSpPr>
            <a:spLocks noGrp="1"/>
          </p:cNvSpPr>
          <p:nvPr/>
        </p:nvSpPr>
        <p:spPr>
          <a:xfrm>
            <a:off x="13325475" y="6667500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73" name="object-65">
            <a:extLst>
              <a:ext uri="{FF2B5EF4-FFF2-40B4-BE49-F238E27FC236}">
                <a16:creationId xmlns:a16="http://schemas.microsoft.com/office/drawing/2014/main" id="{F6FED7E5-AE49-47E8-B465-791372D149C5}"/>
              </a:ext>
            </a:extLst>
          </p:cNvPr>
          <p:cNvSpPr>
            <a:spLocks noGrp="1"/>
          </p:cNvSpPr>
          <p:nvPr/>
        </p:nvSpPr>
        <p:spPr>
          <a:xfrm>
            <a:off x="12030075" y="6800850"/>
            <a:ext cx="2695575" cy="742950"/>
          </a:xfrm>
          <a:prstGeom prst="diamond">
            <a:avLst/>
          </a:prstGeom>
          <a:solidFill>
            <a:srgbClr val="EAF5FF"/>
          </a:solidFill>
          <a:ln w="13335">
            <a:solidFill>
              <a:srgbClr val="1673CE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交流回代</a:t>
            </a:r>
          </a:p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可行？</a:t>
            </a:r>
          </a:p>
        </p:txBody>
      </p:sp>
      <p:sp>
        <p:nvSpPr>
          <p:cNvPr id="1074" name="object-66">
            <a:extLst>
              <a:ext uri="{FF2B5EF4-FFF2-40B4-BE49-F238E27FC236}">
                <a16:creationId xmlns:a16="http://schemas.microsoft.com/office/drawing/2014/main" id="{165CF536-4003-4570-AFE2-F799B5C1802A}"/>
              </a:ext>
            </a:extLst>
          </p:cNvPr>
          <p:cNvSpPr>
            <a:spLocks noGrp="1"/>
          </p:cNvSpPr>
          <p:nvPr/>
        </p:nvSpPr>
        <p:spPr>
          <a:xfrm>
            <a:off x="13382625" y="7543800"/>
            <a:ext cx="953" cy="266700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75" name="object-67">
            <a:extLst>
              <a:ext uri="{FF2B5EF4-FFF2-40B4-BE49-F238E27FC236}">
                <a16:creationId xmlns:a16="http://schemas.microsoft.com/office/drawing/2014/main" id="{BEB5A28C-A31C-4207-BAF3-07DFAC4E1D17}"/>
              </a:ext>
            </a:extLst>
          </p:cNvPr>
          <p:cNvSpPr>
            <a:spLocks noGrp="1"/>
          </p:cNvSpPr>
          <p:nvPr/>
        </p:nvSpPr>
        <p:spPr>
          <a:xfrm>
            <a:off x="13325475" y="7677150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76" name="object-68">
            <a:extLst>
              <a:ext uri="{FF2B5EF4-FFF2-40B4-BE49-F238E27FC236}">
                <a16:creationId xmlns:a16="http://schemas.microsoft.com/office/drawing/2014/main" id="{DDE53544-AAD9-42B0-A127-EDF9C94DAFC2}"/>
              </a:ext>
            </a:extLst>
          </p:cNvPr>
          <p:cNvSpPr>
            <a:spLocks noGrp="1"/>
          </p:cNvSpPr>
          <p:nvPr/>
        </p:nvSpPr>
        <p:spPr>
          <a:xfrm>
            <a:off x="11229975" y="7820025"/>
            <a:ext cx="4286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分别报告能量目标与网络可达边界</a:t>
            </a:r>
          </a:p>
        </p:txBody>
      </p:sp>
      <p:sp>
        <p:nvSpPr>
          <p:cNvPr id="1077" name="object-69">
            <a:extLst>
              <a:ext uri="{FF2B5EF4-FFF2-40B4-BE49-F238E27FC236}">
                <a16:creationId xmlns:a16="http://schemas.microsoft.com/office/drawing/2014/main" id="{088B3CD9-7914-419D-B4BC-A352F755861A}"/>
              </a:ext>
            </a:extLst>
          </p:cNvPr>
          <p:cNvSpPr>
            <a:spLocks noGrp="1"/>
          </p:cNvSpPr>
          <p:nvPr/>
        </p:nvSpPr>
        <p:spPr>
          <a:xfrm>
            <a:off x="171450" y="8410575"/>
            <a:ext cx="1558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累计目标、逐时服务深度和交流可行性分别约束；事件末端不要求恢复初始 SOC</a:t>
            </a:r>
          </a:p>
        </p:txBody>
      </p:sp>
    </p:spTree>
    <p:extLst>
      <p:ext uri="{BB962C8B-B14F-4D97-AF65-F5344CB8AC3E}">
        <p14:creationId xmlns:p14="http://schemas.microsoft.com/office/powerpoint/2010/main" val="213795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>
            <a:extLst>
              <a:ext uri="{FF2B5EF4-FFF2-40B4-BE49-F238E27FC236}">
                <a16:creationId xmlns:a16="http://schemas.microsoft.com/office/drawing/2014/main" id="{2827DF31-A7F0-4D05-9A4A-E01F0F3476C0}"/>
              </a:ext>
            </a:extLst>
          </p:cNvPr>
          <p:cNvSpPr>
            <a:spLocks noGrp="1"/>
          </p:cNvSpPr>
          <p:nvPr/>
        </p:nvSpPr>
        <p:spPr>
          <a:xfrm>
            <a:off x="161925" y="657225"/>
            <a:ext cx="15601950" cy="95"/>
          </a:xfrm>
          <a:custGeom>
            <a:avLst/>
            <a:gdLst/>
            <a:ahLst/>
            <a:cxnLst/>
            <a:rect l="0" t="0" r="0" b="0"/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/>
          <a:ln w="30480">
            <a:solidFill>
              <a:srgbClr val="0753C6"/>
            </a:solidFill>
            <a:prstDash val="solid"/>
          </a:ln>
        </p:spPr>
      </p:sp>
      <p:sp>
        <p:nvSpPr>
          <p:cNvPr id="3" name="summary">
            <a:extLst>
              <a:ext uri="{FF2B5EF4-FFF2-40B4-BE49-F238E27FC236}">
                <a16:creationId xmlns:a16="http://schemas.microsoft.com/office/drawing/2014/main" id="{C46A3055-CE5D-45B9-82A8-861A11FE31C4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oundRect">
            <a:avLst>
              <a:gd name="adj" fmla="val 10638"/>
            </a:avLst>
          </a:prstGeom>
          <a:gradFill>
            <a:gsLst>
              <a:gs pos="0">
                <a:srgbClr val="F3FBFF"/>
              </a:gs>
              <a:gs pos="100000">
                <a:srgbClr val="E4F2FE"/>
              </a:gs>
            </a:gsLst>
            <a:lin ang="5400000"/>
          </a:gradFill>
          <a:ln w="8573">
            <a:solidFill>
              <a:srgbClr val="6DBBFA"/>
            </a:solidFill>
            <a:prstDash val="solid"/>
          </a:ln>
        </p:spPr>
      </p:sp>
      <p:sp>
        <p:nvSpPr>
          <p:cNvPr id="9" name="col1">
            <a:extLst>
              <a:ext uri="{FF2B5EF4-FFF2-40B4-BE49-F238E27FC236}">
                <a16:creationId xmlns:a16="http://schemas.microsoft.com/office/drawing/2014/main" id="{BD4BD3F8-86EC-4EF4-B77E-DC31C1E30448}"/>
              </a:ext>
            </a:extLst>
          </p:cNvPr>
          <p:cNvSpPr>
            <a:spLocks noGrp="1"/>
          </p:cNvSpPr>
          <p:nvPr/>
        </p:nvSpPr>
        <p:spPr>
          <a:xfrm>
            <a:off x="171449" y="2190750"/>
            <a:ext cx="5105400" cy="6115050"/>
          </a:xfrm>
          <a:prstGeom prst="roundRect">
            <a:avLst>
              <a:gd name="adj" fmla="val 1949"/>
            </a:avLst>
          </a:prstGeom>
          <a:solidFill>
            <a:srgbClr val="FFFFFF"/>
          </a:solidFill>
          <a:ln w="10478">
            <a:solidFill>
              <a:srgbClr val="1383F1"/>
            </a:solidFill>
            <a:prstDash val="solid"/>
          </a:ln>
        </p:spPr>
      </p:sp>
      <p:sp>
        <p:nvSpPr>
          <p:cNvPr id="11" name="col2">
            <a:extLst>
              <a:ext uri="{FF2B5EF4-FFF2-40B4-BE49-F238E27FC236}">
                <a16:creationId xmlns:a16="http://schemas.microsoft.com/office/drawing/2014/main" id="{B7E9851C-B24E-4E37-BE18-623FE6F6CEA0}"/>
              </a:ext>
            </a:extLst>
          </p:cNvPr>
          <p:cNvSpPr>
            <a:spLocks noGrp="1"/>
          </p:cNvSpPr>
          <p:nvPr/>
        </p:nvSpPr>
        <p:spPr>
          <a:xfrm>
            <a:off x="5391150" y="2190750"/>
            <a:ext cx="5105400" cy="6115050"/>
          </a:xfrm>
          <a:prstGeom prst="roundRect">
            <a:avLst>
              <a:gd name="adj" fmla="val 1757"/>
            </a:avLst>
          </a:prstGeom>
          <a:solidFill>
            <a:srgbClr val="FFFFFF"/>
          </a:solidFill>
          <a:ln w="10478">
            <a:solidFill>
              <a:srgbClr val="1383F1"/>
            </a:solidFill>
            <a:prstDash val="solid"/>
          </a:ln>
        </p:spPr>
      </p:sp>
      <p:sp>
        <p:nvSpPr>
          <p:cNvPr id="13" name="col3">
            <a:extLst>
              <a:ext uri="{FF2B5EF4-FFF2-40B4-BE49-F238E27FC236}">
                <a16:creationId xmlns:a16="http://schemas.microsoft.com/office/drawing/2014/main" id="{9005D114-A3EE-422F-9203-7C102F1A4025}"/>
              </a:ext>
            </a:extLst>
          </p:cNvPr>
          <p:cNvSpPr>
            <a:spLocks noGrp="1"/>
          </p:cNvSpPr>
          <p:nvPr/>
        </p:nvSpPr>
        <p:spPr>
          <a:xfrm>
            <a:off x="10610850" y="2190750"/>
            <a:ext cx="5105400" cy="6115050"/>
          </a:xfrm>
          <a:prstGeom prst="roundRect">
            <a:avLst>
              <a:gd name="adj" fmla="val 1862"/>
            </a:avLst>
          </a:prstGeom>
          <a:solidFill>
            <a:srgbClr val="FFFFFF"/>
          </a:solidFill>
          <a:ln w="10478">
            <a:solidFill>
              <a:srgbClr val="1383F1"/>
            </a:solidFill>
            <a:prstDash val="solid"/>
          </a:ln>
        </p:spPr>
      </p:sp>
      <p:sp>
        <p:nvSpPr>
          <p:cNvPr id="640" name="object-34">
            <a:extLst>
              <a:ext uri="{FF2B5EF4-FFF2-40B4-BE49-F238E27FC236}">
                <a16:creationId xmlns:a16="http://schemas.microsoft.com/office/drawing/2014/main" id="{B7B9E86A-9183-D16A-BD0D-892A3792D75B}"/>
              </a:ext>
            </a:extLst>
          </p:cNvPr>
          <p:cNvSpPr>
            <a:spLocks noGrp="1"/>
          </p:cNvSpPr>
          <p:nvPr/>
        </p:nvSpPr>
        <p:spPr>
          <a:xfrm>
            <a:off x="190500" y="9525"/>
            <a:ext cx="15525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2. 72 h 事件：供电改善、网络边界与备用失效</a:t>
            </a:r>
          </a:p>
        </p:txBody>
      </p:sp>
      <p:sp>
        <p:nvSpPr>
          <p:cNvPr id="641" name="object-35">
            <a:extLst>
              <a:ext uri="{FF2B5EF4-FFF2-40B4-BE49-F238E27FC236}">
                <a16:creationId xmlns:a16="http://schemas.microsoft.com/office/drawing/2014/main" id="{E8AEB25C-43E8-85F1-D2CB-178878E90142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典型事件关键负荷累计供电率由 54.247% 提高至 95.000%，供电损失指标为 0.4370%；</a:t>
            </a:r>
          </a:p>
          <a:p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累计达标仍可能出现深度逐时不足，网络位置和预测误差迁移会改变可行边界。</a:t>
            </a:r>
          </a:p>
        </p:txBody>
      </p:sp>
      <p:sp>
        <p:nvSpPr>
          <p:cNvPr id="642" name="object-36">
            <a:extLst>
              <a:ext uri="{FF2B5EF4-FFF2-40B4-BE49-F238E27FC236}">
                <a16:creationId xmlns:a16="http://schemas.microsoft.com/office/drawing/2014/main" id="{91CB7A41-ECCB-6C78-7878-68DE568AD152}"/>
              </a:ext>
            </a:extLst>
          </p:cNvPr>
          <p:cNvSpPr>
            <a:spLocks noGrp="1"/>
          </p:cNvSpPr>
          <p:nvPr/>
        </p:nvSpPr>
        <p:spPr>
          <a:xfrm>
            <a:off x="2571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① 累计供电与逐时服务</a:t>
            </a:r>
          </a:p>
        </p:txBody>
      </p:sp>
      <p:sp>
        <p:nvSpPr>
          <p:cNvPr id="643" name="object-37">
            <a:extLst>
              <a:ext uri="{FF2B5EF4-FFF2-40B4-BE49-F238E27FC236}">
                <a16:creationId xmlns:a16="http://schemas.microsoft.com/office/drawing/2014/main" id="{75BAF415-8536-E83F-6896-33D2E5B87E38}"/>
              </a:ext>
            </a:extLst>
          </p:cNvPr>
          <p:cNvSpPr>
            <a:spLocks noGrp="1"/>
          </p:cNvSpPr>
          <p:nvPr/>
        </p:nvSpPr>
        <p:spPr>
          <a:xfrm>
            <a:off x="2667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16 h 储能 · 同一 72 h 事件</a:t>
            </a:r>
          </a:p>
        </p:txBody>
      </p:sp>
      <p:sp>
        <p:nvSpPr>
          <p:cNvPr id="644" name="object-38">
            <a:extLst>
              <a:ext uri="{FF2B5EF4-FFF2-40B4-BE49-F238E27FC236}">
                <a16:creationId xmlns:a16="http://schemas.microsoft.com/office/drawing/2014/main" id="{FB57B5F7-5CFC-26C7-5629-02005284BCC7}"/>
              </a:ext>
            </a:extLst>
          </p:cNvPr>
          <p:cNvSpPr>
            <a:spLocks noGrp="1"/>
          </p:cNvSpPr>
          <p:nvPr/>
        </p:nvSpPr>
        <p:spPr>
          <a:xfrm>
            <a:off x="2857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关键负荷累计供电率</a:t>
            </a:r>
          </a:p>
        </p:txBody>
      </p:sp>
      <p:graphicFrame>
        <p:nvGraphicFramePr>
          <p:cNvPr id="645" name="Chart">
            <a:extLst>
              <a:ext uri="{FF2B5EF4-FFF2-40B4-BE49-F238E27FC236}">
                <a16:creationId xmlns:a16="http://schemas.microsoft.com/office/drawing/2014/main" id="{F7CCB17D-7DF4-E061-94EC-FBA50ACA5C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4753539"/>
              </p:ext>
            </p:extLst>
          </p:nvPr>
        </p:nvGraphicFramePr>
        <p:xfrm>
          <a:off x="266700" y="3505200"/>
          <a:ext cx="491490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46" name="object-39">
            <a:extLst>
              <a:ext uri="{FF2B5EF4-FFF2-40B4-BE49-F238E27FC236}">
                <a16:creationId xmlns:a16="http://schemas.microsoft.com/office/drawing/2014/main" id="{69B83B87-E68C-12F1-6022-11455B3EEAB6}"/>
              </a:ext>
            </a:extLst>
          </p:cNvPr>
          <p:cNvSpPr>
            <a:spLocks noGrp="1"/>
          </p:cNvSpPr>
          <p:nvPr/>
        </p:nvSpPr>
        <p:spPr>
          <a:xfrm>
            <a:off x="2857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连续供电对照</a:t>
            </a:r>
          </a:p>
        </p:txBody>
      </p:sp>
      <p:graphicFrame>
        <p:nvGraphicFramePr>
          <p:cNvPr id="647" name="表格 646">
            <a:extLst>
              <a:ext uri="{FF2B5EF4-FFF2-40B4-BE49-F238E27FC236}">
                <a16:creationId xmlns:a16="http://schemas.microsoft.com/office/drawing/2014/main" id="{A67D7A95-4394-F066-6FAF-FCCA7EC9C2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6862998"/>
              </p:ext>
            </p:extLst>
          </p:nvPr>
        </p:nvGraphicFramePr>
        <p:xfrm>
          <a:off x="2857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最低逐时/%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β/%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+80%逐时下限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80.000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2.861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+95%逐时下限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96.898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8" name="object-40">
            <a:extLst>
              <a:ext uri="{FF2B5EF4-FFF2-40B4-BE49-F238E27FC236}">
                <a16:creationId xmlns:a16="http://schemas.microsoft.com/office/drawing/2014/main" id="{6649AAC7-9D2D-0E12-596A-FF8357CC34F0}"/>
              </a:ext>
            </a:extLst>
          </p:cNvPr>
          <p:cNvSpPr>
            <a:spLocks noGrp="1"/>
          </p:cNvSpPr>
          <p:nvPr/>
        </p:nvSpPr>
        <p:spPr>
          <a:xfrm>
            <a:off x="2857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累计目标相同，逐时不足深度不同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提高连续性会压缩非关键供电</a:t>
            </a:r>
          </a:p>
        </p:txBody>
      </p:sp>
      <p:sp>
        <p:nvSpPr>
          <p:cNvPr id="649" name="object-41">
            <a:extLst>
              <a:ext uri="{FF2B5EF4-FFF2-40B4-BE49-F238E27FC236}">
                <a16:creationId xmlns:a16="http://schemas.microsoft.com/office/drawing/2014/main" id="{663D6FF5-CD99-0150-7F5D-9F80C510CE11}"/>
              </a:ext>
            </a:extLst>
          </p:cNvPr>
          <p:cNvSpPr>
            <a:spLocks noGrp="1"/>
          </p:cNvSpPr>
          <p:nvPr/>
        </p:nvSpPr>
        <p:spPr>
          <a:xfrm>
            <a:off x="54768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② 储能位置与网络认证</a:t>
            </a:r>
          </a:p>
        </p:txBody>
      </p:sp>
      <p:sp>
        <p:nvSpPr>
          <p:cNvPr id="650" name="object-42">
            <a:extLst>
              <a:ext uri="{FF2B5EF4-FFF2-40B4-BE49-F238E27FC236}">
                <a16:creationId xmlns:a16="http://schemas.microsoft.com/office/drawing/2014/main" id="{6A8763C8-0243-E2E2-11BA-EE71B83B5D12}"/>
              </a:ext>
            </a:extLst>
          </p:cNvPr>
          <p:cNvSpPr>
            <a:spLocks noGrp="1"/>
          </p:cNvSpPr>
          <p:nvPr/>
        </p:nvSpPr>
        <p:spPr>
          <a:xfrm>
            <a:off x="54864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统一 23 h / 3.715 MW 总储能</a:t>
            </a:r>
          </a:p>
        </p:txBody>
      </p:sp>
      <p:sp>
        <p:nvSpPr>
          <p:cNvPr id="651" name="object-43">
            <a:extLst>
              <a:ext uri="{FF2B5EF4-FFF2-40B4-BE49-F238E27FC236}">
                <a16:creationId xmlns:a16="http://schemas.microsoft.com/office/drawing/2014/main" id="{3CEA1096-2090-EC05-8AA2-1BF9A440879A}"/>
              </a:ext>
            </a:extLst>
          </p:cNvPr>
          <p:cNvSpPr>
            <a:spLocks noGrp="1"/>
          </p:cNvSpPr>
          <p:nvPr/>
        </p:nvSpPr>
        <p:spPr>
          <a:xfrm>
            <a:off x="55054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关键负荷可达区间</a:t>
            </a:r>
          </a:p>
        </p:txBody>
      </p:sp>
      <p:graphicFrame>
        <p:nvGraphicFramePr>
          <p:cNvPr id="652" name="表格 651">
            <a:extLst>
              <a:ext uri="{FF2B5EF4-FFF2-40B4-BE49-F238E27FC236}">
                <a16:creationId xmlns:a16="http://schemas.microsoft.com/office/drawing/2014/main" id="{31613FDA-299E-0804-B8B4-2AFC3B897F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9677088"/>
              </p:ext>
            </p:extLst>
          </p:nvPr>
        </p:nvGraphicFramePr>
        <p:xfrm>
          <a:off x="5505450" y="3486150"/>
          <a:ext cx="4876800" cy="203835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AC下界/%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SOCP上界/%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94.721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节点18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49.977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49.977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71.251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71.251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18/33各半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96.059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96.059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3" name="object-44">
            <a:extLst>
              <a:ext uri="{FF2B5EF4-FFF2-40B4-BE49-F238E27FC236}">
                <a16:creationId xmlns:a16="http://schemas.microsoft.com/office/drawing/2014/main" id="{52D464A7-47C9-84A5-A0B7-D007F96E25F3}"/>
              </a:ext>
            </a:extLst>
          </p:cNvPr>
          <p:cNvSpPr>
            <a:spLocks noGrp="1"/>
          </p:cNvSpPr>
          <p:nvPr/>
        </p:nvSpPr>
        <p:spPr>
          <a:xfrm>
            <a:off x="55054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分布式储能 L3 的交流校验</a:t>
            </a:r>
          </a:p>
        </p:txBody>
      </p:sp>
      <p:graphicFrame>
        <p:nvGraphicFramePr>
          <p:cNvPr id="654" name="表格 653">
            <a:extLst>
              <a:ext uri="{FF2B5EF4-FFF2-40B4-BE49-F238E27FC236}">
                <a16:creationId xmlns:a16="http://schemas.microsoft.com/office/drawing/2014/main" id="{17F63CBB-F90E-D28A-6299-BFF18E329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9234113"/>
              </p:ext>
            </p:extLst>
          </p:nvPr>
        </p:nvGraphicFramePr>
        <p:xfrm>
          <a:off x="55054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224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 / 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0.9938–1.0495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最大线路负载率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57.984%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最大逆变器负载率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99.900%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通过交流回代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 / 72 时点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5" name="object-45">
            <a:extLst>
              <a:ext uri="{FF2B5EF4-FFF2-40B4-BE49-F238E27FC236}">
                <a16:creationId xmlns:a16="http://schemas.microsoft.com/office/drawing/2014/main" id="{E2595AFF-D916-B613-A358-A3E30A638C01}"/>
              </a:ext>
            </a:extLst>
          </p:cNvPr>
          <p:cNvSpPr>
            <a:spLocks noGrp="1"/>
          </p:cNvSpPr>
          <p:nvPr/>
        </p:nvSpPr>
        <p:spPr>
          <a:xfrm>
            <a:off x="55054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L3 可达、L1/L2 不可达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节点1的区间跨越95%，尚不能判定</a:t>
            </a:r>
          </a:p>
        </p:txBody>
      </p:sp>
      <p:sp>
        <p:nvSpPr>
          <p:cNvPr id="657" name="object-46">
            <a:extLst>
              <a:ext uri="{FF2B5EF4-FFF2-40B4-BE49-F238E27FC236}">
                <a16:creationId xmlns:a16="http://schemas.microsoft.com/office/drawing/2014/main" id="{906994FC-F1FF-D444-300C-AC9C92F4B101}"/>
              </a:ext>
            </a:extLst>
          </p:cNvPr>
          <p:cNvSpPr>
            <a:spLocks noGrp="1"/>
          </p:cNvSpPr>
          <p:nvPr/>
        </p:nvSpPr>
        <p:spPr>
          <a:xfrm>
            <a:off x="106965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③ 分位数备用的迁移表现</a:t>
            </a:r>
          </a:p>
        </p:txBody>
      </p:sp>
      <p:sp>
        <p:nvSpPr>
          <p:cNvPr id="658" name="object-47">
            <a:extLst>
              <a:ext uri="{FF2B5EF4-FFF2-40B4-BE49-F238E27FC236}">
                <a16:creationId xmlns:a16="http://schemas.microsoft.com/office/drawing/2014/main" id="{BB99FBCF-C66B-D5DB-D4B2-0188BECD17A6}"/>
              </a:ext>
            </a:extLst>
          </p:cNvPr>
          <p:cNvSpPr>
            <a:spLocks noGrp="1"/>
          </p:cNvSpPr>
          <p:nvPr/>
        </p:nvSpPr>
        <p:spPr>
          <a:xfrm>
            <a:off x="107061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16 h 储能 · 200 条配对测试轨迹</a:t>
            </a:r>
          </a:p>
        </p:txBody>
      </p:sp>
      <p:sp>
        <p:nvSpPr>
          <p:cNvPr id="659" name="object-48">
            <a:extLst>
              <a:ext uri="{FF2B5EF4-FFF2-40B4-BE49-F238E27FC236}">
                <a16:creationId xmlns:a16="http://schemas.microsoft.com/office/drawing/2014/main" id="{D4C03053-F696-0311-6BAB-7794B46764ED}"/>
              </a:ext>
            </a:extLst>
          </p:cNvPr>
          <p:cNvSpPr>
            <a:spLocks noGrp="1"/>
          </p:cNvSpPr>
          <p:nvPr/>
        </p:nvSpPr>
        <p:spPr>
          <a:xfrm>
            <a:off x="107251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测试期累计下界覆盖率</a:t>
            </a:r>
          </a:p>
        </p:txBody>
      </p:sp>
      <p:graphicFrame>
        <p:nvGraphicFramePr>
          <p:cNvPr id="660" name="Chart">
            <a:extLst>
              <a:ext uri="{FF2B5EF4-FFF2-40B4-BE49-F238E27FC236}">
                <a16:creationId xmlns:a16="http://schemas.microsoft.com/office/drawing/2014/main" id="{F49310E8-7353-EC19-833B-C7FFD7C62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6007273"/>
              </p:ext>
            </p:extLst>
          </p:nvPr>
        </p:nvGraphicFramePr>
        <p:xfrm>
          <a:off x="10706100" y="3505200"/>
          <a:ext cx="491490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1" name="object-49">
            <a:extLst>
              <a:ext uri="{FF2B5EF4-FFF2-40B4-BE49-F238E27FC236}">
                <a16:creationId xmlns:a16="http://schemas.microsoft.com/office/drawing/2014/main" id="{9242B602-1806-9F71-98AD-7BB2168A35BD}"/>
              </a:ext>
            </a:extLst>
          </p:cNvPr>
          <p:cNvSpPr>
            <a:spLocks noGrp="1"/>
          </p:cNvSpPr>
          <p:nvPr/>
        </p:nvSpPr>
        <p:spPr>
          <a:xfrm>
            <a:off x="107251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校准与严格可行性</a:t>
            </a:r>
          </a:p>
        </p:txBody>
      </p:sp>
      <p:graphicFrame>
        <p:nvGraphicFramePr>
          <p:cNvPr id="662" name="表格 661">
            <a:extLst>
              <a:ext uri="{FF2B5EF4-FFF2-40B4-BE49-F238E27FC236}">
                <a16:creationId xmlns:a16="http://schemas.microsoft.com/office/drawing/2014/main" id="{1A5F1A0A-F9C6-9CDA-97C3-261443DEC0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0722914"/>
              </p:ext>
            </p:extLst>
          </p:nvPr>
        </p:nvGraphicFramePr>
        <p:xfrm>
          <a:off x="107251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校准覆盖/%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严格可行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名义95%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97.22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200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63" name="object-50">
            <a:extLst>
              <a:ext uri="{FF2B5EF4-FFF2-40B4-BE49-F238E27FC236}">
                <a16:creationId xmlns:a16="http://schemas.microsoft.com/office/drawing/2014/main" id="{790CB9B7-81C7-D7F8-7409-7286C8F93C6A}"/>
              </a:ext>
            </a:extLst>
          </p:cNvPr>
          <p:cNvSpPr>
            <a:spLocks noGrp="1"/>
          </p:cNvSpPr>
          <p:nvPr/>
        </p:nvSpPr>
        <p:spPr>
          <a:xfrm>
            <a:off x="107251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迁移后覆盖下降，严格备用失效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应急续行不代表备用策略改善</a:t>
            </a:r>
          </a:p>
        </p:txBody>
      </p:sp>
      <p:sp>
        <p:nvSpPr>
          <p:cNvPr id="664" name="object-51">
            <a:extLst>
              <a:ext uri="{FF2B5EF4-FFF2-40B4-BE49-F238E27FC236}">
                <a16:creationId xmlns:a16="http://schemas.microsoft.com/office/drawing/2014/main" id="{3A8F5080-537C-9365-2ADC-17FFC916B4B0}"/>
              </a:ext>
            </a:extLst>
          </p:cNvPr>
          <p:cNvSpPr>
            <a:spLocks noGrp="1"/>
          </p:cNvSpPr>
          <p:nvPr/>
        </p:nvSpPr>
        <p:spPr>
          <a:xfrm>
            <a:off x="171450" y="8410575"/>
            <a:ext cx="15582900" cy="438150"/>
          </a:xfrm>
          <a:prstGeom prst="roundRect">
            <a:avLst>
              <a:gd name="adj" fmla="val 17391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给定历史事件、外生容量与小时级稳态调度结果；95% 为可调目标，不能替代连续供电保障</a:t>
            </a:r>
          </a:p>
        </p:txBody>
      </p:sp>
    </p:spTree>
    <p:extLst>
      <p:ext uri="{BB962C8B-B14F-4D97-AF65-F5344CB8AC3E}">
        <p14:creationId xmlns:p14="http://schemas.microsoft.com/office/powerpoint/2010/main" val="15403677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1776</Words>
  <Application>Microsoft Office PowerPoint</Application>
  <DocSecurity>0</DocSecurity>
  <PresentationFormat>自定义</PresentationFormat>
  <Paragraphs>157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lenovo</cp:lastModifiedBy>
  <cp:revision>2</cp:revision>
  <dcterms:created xsi:type="dcterms:W3CDTF">2026-09-18T02:10:34Z</dcterms:created>
  <dcterms:modified xsi:type="dcterms:W3CDTF">2026-10-10T06:07:46Z</dcterms:modified>
</cp:coreProperties>
</file>