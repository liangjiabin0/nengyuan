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Default Extension="xlsx" ContentType="application/vnd.openxmlformats-officedocument.spreadsheetml.sheet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经济成本（元）</c:v>
          </c:tx>
          <c:spPr>
            <a:solidFill>
              <a:srgbClr val="1673CE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A1B4CA"/>
              </a:solidFill>
              <a:ln w="9525">
                <a:solidFill>
                  <a:srgbClr val="A1B4CA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4401-4508-8C8C-3F3B4CF88FE5}"/>
              </c:ext>
            </c:extLst>
          </c:dPt>
          <c:dPt>
            <c:idx val="1"/>
            <c:invertIfNegative val="0"/>
            <c:bubble3D val="0"/>
            <c:spPr>
              <a:solidFill>
                <a:srgbClr val="07368C"/>
              </a:solidFill>
              <a:ln w="9525">
                <a:solidFill>
                  <a:srgbClr val="07368C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4401-4508-8C8C-3F3B4CF88FE5}"/>
              </c:ext>
            </c:extLst>
          </c:dPt>
          <c:dPt>
            <c:idx val="2"/>
            <c:invertIfNegative val="0"/>
            <c:bubble3D val="0"/>
            <c:spPr>
              <a:solidFill>
                <a:srgbClr val="A1B4CA"/>
              </a:solidFill>
              <a:ln w="9525">
                <a:solidFill>
                  <a:srgbClr val="A1B4CA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4401-4508-8C8C-3F3B4CF88FE5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1">
                <a:spAutoFit/>
              </a:bodyPr>
              <a:lstStyle/>
              <a:p>
                <a:pPr>
                  <a:defRPr sz="1400">
                    <a:solidFill>
                      <a:srgbClr val="101D3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基准EMS</c:v>
                </c:pt>
                <c:pt idx="1">
                  <c:v>所提方法</c:v>
                </c:pt>
                <c:pt idx="2">
                  <c:v>容量比例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262</c:v>
                </c:pt>
                <c:pt idx="1">
                  <c:v>270</c:v>
                </c:pt>
                <c:pt idx="2">
                  <c:v>314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4401-4508-8C8C-3F3B4CF88F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w="10477">
              <a:solidFill>
                <a:srgbClr val="A6A6A6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 altLang="en-US" sz="1400">
                    <a:latin typeface="Microsoft YaHei"/>
                    <a:ea typeface="Microsoft YaHei"/>
                    <a:cs typeface="Microsoft YaHei"/>
                  </a:defRPr>
                </a:pPr>
                <a:r>
                  <a:rPr lang="zh-CN" altLang="en-US" sz="1400">
                    <a:latin typeface="Microsoft YaHei"/>
                    <a:ea typeface="Microsoft YaHei"/>
                    <a:cs typeface="Microsoft YaHei"/>
                  </a:rPr>
                  <a:t>方案</a:t>
                </a:r>
              </a:p>
            </c:rich>
          </c:tx>
          <c:overlay val="0"/>
        </c:title>
        <c:numFmt formatCode="General" sourceLinked="1"/>
        <c:majorTickMark val="in"/>
        <c:minorTickMark val="none"/>
        <c:tickLblPos val="nextTo"/>
        <c:spPr>
          <a:ln w="14288">
            <a:solidFill>
              <a:srgbClr val="595959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w="10477">
              <a:solidFill>
                <a:srgbClr val="A6A6A6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r>
                  <a:rPr lang="zh-CN" altLang="en-US" sz="1400">
                    <a:latin typeface="Microsoft YaHei"/>
                    <a:ea typeface="Microsoft YaHei"/>
                    <a:cs typeface="Microsoft YaHei"/>
                  </a:rPr>
                  <a:t>经济成本（元）</a:t>
                </a:r>
              </a:p>
            </c:rich>
          </c:tx>
          <c:overlay val="0"/>
        </c:title>
        <c:numFmt formatCode="0" sourceLinked="0"/>
        <c:majorTickMark val="in"/>
        <c:minorTickMark val="none"/>
        <c:tickLblPos val="nextTo"/>
        <c:spPr>
          <a:ln w="14288">
            <a:solidFill>
              <a:srgbClr val="595959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70"/>
      </c:valAx>
      <c:spPr>
        <a:solidFill>
          <a:srgbClr val="FFFFFF"/>
        </a:solidFill>
        <a:ln w="14288">
          <a:solidFill>
            <a:srgbClr val="595959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孤岛微电网中GFM变流器实时功率再分配的分层能量管理策略</a:t>
            </a:r>
          </a:p>
          <a:p xmlns:a="http://schemas.openxmlformats.org/drawingml/2006/main">
            <a:r>
              <a:t>原文：E:\application\xwechat_files\wxid_xyihcy7u0jkj21_d246\msg\file\2026-10\X262004_O_editing.docx</a:t>
            </a:r>
          </a:p>
          <a:p xmlns:a="http://schemas.openxmlformats.org/drawingml/2006/main">
            <a:r>
              <a:t>三层闭环与信息传递：§3.1–3.2，图4</a:t>
            </a:r>
          </a:p>
          <a:p xmlns:a="http://schemas.openxmlformats.org/drawingml/2006/main">
            <a:r>
              <a:t>三级优化与二级控制方程：附录A；式(11)–(15)、(20)–(22)</a:t>
            </a:r>
          </a:p>
          <a:p xmlns:a="http://schemas.openxmlformats.org/drawingml/2006/main">
            <a:r>
              <a:t>求解、执行与反馈：§3.2、§4、式(35)–(41)</a:t>
            </a:r>
          </a:p>
          <a:p xmlns:a="http://schemas.openxmlformats.org/drawingml/2006/main">
            <a:r>
              <a:t>经济运行与安全裕度：附录A 式(A1)–(A4)；原式Csec=-γS</a:t>
            </a:r>
          </a:p>
          <a:p xmlns:a="http://schemas.openxmlformats.org/drawingml/2006/main">
            <a:r>
              <a:t>LaTeX: \min F=C_{\rm BESS}+C_{{\rm PV},fix}+C_{{\rm PV},curt}+C_{sec}</a:t>
            </a:r>
          </a:p>
          <a:p xmlns:a="http://schemas.openxmlformats.org/drawingml/2006/main">
            <a:r>
              <a:t>高斯安全项的二次型表示：式(9)–(15)；仅高斯安全项的变换，不扩展为总目标等价</a:t>
            </a:r>
          </a:p>
          <a:p xmlns:a="http://schemas.openxmlformats.org/drawingml/2006/main">
            <a:r>
              <a:t>LaTeX: J=-\ln S=\sum\nolimits_{vs\in V}\lambda\,\Xi_{vs}^{\prime T}w_{vs}\Xi_{vs}^{\prime}</a:t>
            </a:r>
          </a:p>
          <a:p xmlns:a="http://schemas.openxmlformats.org/drawingml/2006/main">
            <a:r>
              <a:t>各机目标功率：式(19)–(20)、(28)</a:t>
            </a:r>
          </a:p>
          <a:p xmlns:a="http://schemas.openxmlformats.org/drawingml/2006/main">
            <a:r>
              <a:t>LaTeX: P_{m,vs}=P_{m,vs}^{0}+\xi_{vs}\Delta P,\quad\sum\nolimits_{vs}\xi_{vs}=1</a:t>
            </a:r>
          </a:p>
          <a:p xmlns:a="http://schemas.openxmlformats.org/drawingml/2006/main">
            <a:r>
              <a:t>新增功率误差积分：式(21)–(24)</a:t>
            </a:r>
          </a:p>
          <a:p xmlns:a="http://schemas.openxmlformats.org/drawingml/2006/main">
            <a:r>
              <a:t>LaTeX: \dot\eta_{P,vs}=k_{P,vs}^{I}\left(P_{m,vs}^{0}+\xi_{vs}\Delta P-P_{e,vs}\right)</a:t>
            </a:r>
          </a:p>
          <a:p xmlns:a="http://schemas.openxmlformats.org/drawingml/2006/main">
            <a:r>
              <a:t>§3.1称变换后为MIQP，§4称连续模型为SOCP；PPT保留YALMIP/Gurobi求解路径，不统一为未经核实的单一模型类型。</a:t>
            </a:r>
          </a:p>
          <a:p xmlns:a="http://schemas.openxmlformats.org/drawingml/2006/main">
            <a:r>
              <a:t>对高斯安全项单独做负对数的等价性，不自动证明含经济成本的原加性总目标等价或全局最优。</a:t>
            </a:r>
          </a:p>
          <a:p xmlns:a="http://schemas.openxmlformats.org/drawingml/2006/main">
            <a:r>
              <a:t>表7基准EMS的初始SOC1=0.85高于表1声明的上限0.8。大扰动结果仅按该表报告，不据此证明所有初值一致的严格优势。</a:t>
            </a:r>
          </a:p>
          <a:p xmlns:a="http://schemas.openxmlformats.org/drawingml/2006/main">
            <a:r>
              <a:t>表2所提容量裕度上/下0.66/0.61，容量比例0.59/0.64；不复述所提方法所有方向SOC裕度都更高。</a:t>
            </a:r>
          </a:p>
          <a:p xmlns:a="http://schemas.openxmlformats.org/drawingml/2006/main">
            <a:r>
              <a:t>物理连接图表达原文的变量与设备关系，不将其当作逐节点测试系统的拓扑复刻。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孤岛微电网中</a:t>
            </a:r>
            <a:r>
              <a:rPr lang="en-US"/>
              <a:t>GFM</a:t>
            </a:r>
            <a:r>
              <a:rPr lang="zh-CN" altLang="en-US"/>
              <a:t>变流器实时功率再分配的分层能量管理策略</a:t>
            </a:r>
          </a:p>
          <a:p>
            <a:r>
              <a:rPr lang="zh-CN" altLang="en-US"/>
              <a:t>原文：</a:t>
            </a:r>
            <a:r>
              <a:rPr lang="en-US"/>
              <a:t>E:\application\xwechat_files\wxid_xyihcy7u0jkj21_d246\msg\file\2026-10\X262004_O_editing.docx</a:t>
            </a:r>
          </a:p>
          <a:p>
            <a:r>
              <a:rPr lang="en-US"/>
              <a:t>① </a:t>
            </a:r>
            <a:r>
              <a:rPr lang="zh-CN" altLang="en-US"/>
              <a:t>经济性与安全裕度：表</a:t>
            </a:r>
            <a:r>
              <a:rPr lang="en-US" altLang="zh-CN"/>
              <a:t>1</a:t>
            </a:r>
            <a:r>
              <a:rPr lang="zh-CN" altLang="en-US"/>
              <a:t>、表</a:t>
            </a:r>
            <a:r>
              <a:rPr lang="en-US" altLang="zh-CN"/>
              <a:t>2</a:t>
            </a:r>
          </a:p>
          <a:p>
            <a:r>
              <a:rPr lang="en-US"/>
              <a:t>EMS </a:t>
            </a:r>
            <a:r>
              <a:rPr lang="zh-CN" altLang="en-US"/>
              <a:t>经济成本：表</a:t>
            </a:r>
            <a:r>
              <a:rPr lang="en-US" altLang="zh-CN"/>
              <a:t>2</a:t>
            </a:r>
          </a:p>
          <a:p>
            <a:r>
              <a:rPr lang="en-US" altLang="zh-CN"/>
              <a:t>{"</a:t>
            </a:r>
            <a:r>
              <a:rPr lang="en-US"/>
              <a:t>type":"chart","title":"EMS </a:t>
            </a:r>
            <a:r>
              <a:rPr lang="zh-CN" altLang="en-US"/>
              <a:t>经济成本</a:t>
            </a:r>
            <a:r>
              <a:rPr lang="en-US" altLang="zh-CN"/>
              <a:t>","</a:t>
            </a:r>
            <a:r>
              <a:rPr lang="en-US"/>
              <a:t>categories":["</a:t>
            </a:r>
            <a:r>
              <a:rPr lang="zh-CN" altLang="en-US"/>
              <a:t>基准</a:t>
            </a:r>
            <a:r>
              <a:rPr lang="en-US"/>
              <a:t>EMS","</a:t>
            </a:r>
            <a:r>
              <a:rPr lang="zh-CN" altLang="en-US"/>
              <a:t>所提方法</a:t>
            </a:r>
            <a:r>
              <a:rPr lang="en-US" altLang="zh-CN"/>
              <a:t>","</a:t>
            </a:r>
            <a:r>
              <a:rPr lang="zh-CN" altLang="en-US"/>
              <a:t>容量比例</a:t>
            </a:r>
            <a:r>
              <a:rPr lang="en-US" altLang="zh-CN"/>
              <a:t>"],"</a:t>
            </a:r>
            <a:r>
              <a:rPr lang="en-US"/>
              <a:t>series":[{"name":"</a:t>
            </a:r>
            <a:r>
              <a:rPr lang="zh-CN" altLang="en-US"/>
              <a:t>经济成本（元）</a:t>
            </a:r>
            <a:r>
              <a:rPr lang="en-US" altLang="zh-CN"/>
              <a:t>","</a:t>
            </a:r>
            <a:r>
              <a:rPr lang="en-US"/>
              <a:t>values":[262,270,314]}],"xTitle":"</a:t>
            </a:r>
            <a:r>
              <a:rPr lang="zh-CN" altLang="en-US"/>
              <a:t>比较方案</a:t>
            </a:r>
            <a:r>
              <a:rPr lang="en-US" altLang="zh-CN"/>
              <a:t>","</a:t>
            </a:r>
            <a:r>
              <a:rPr lang="en-US"/>
              <a:t>yTitle":"</a:t>
            </a:r>
            <a:r>
              <a:rPr lang="zh-CN" altLang="en-US"/>
              <a:t>经济成本（元）</a:t>
            </a:r>
            <a:r>
              <a:rPr lang="en-US" altLang="zh-CN"/>
              <a:t>","</a:t>
            </a:r>
            <a:r>
              <a:rPr lang="en-US"/>
              <a:t>yMin":0,"yMax":350,"yMajorUnit":70,"evidenceRef":"</a:t>
            </a:r>
            <a:r>
              <a:rPr lang="zh-CN" altLang="en-US"/>
              <a:t>表</a:t>
            </a:r>
            <a:r>
              <a:rPr lang="en-US" altLang="zh-CN"/>
              <a:t>2","</a:t>
            </a:r>
            <a:r>
              <a:rPr lang="en-US"/>
              <a:t>format":"0"}</a:t>
            </a:r>
          </a:p>
          <a:p>
            <a:r>
              <a:rPr lang="zh-CN" altLang="en-US"/>
              <a:t>最小运行裕度：表</a:t>
            </a:r>
            <a:r>
              <a:rPr lang="en-US" altLang="zh-CN"/>
              <a:t>2</a:t>
            </a:r>
          </a:p>
          <a:p>
            <a:r>
              <a:rPr lang="en-US" altLang="zh-CN"/>
              <a:t>{"</a:t>
            </a:r>
            <a:r>
              <a:rPr lang="en-US"/>
              <a:t>type":"table","title":"</a:t>
            </a:r>
            <a:r>
              <a:rPr lang="zh-CN" altLang="en-US"/>
              <a:t>最小运行裕度</a:t>
            </a:r>
            <a:r>
              <a:rPr lang="en-US" altLang="zh-CN"/>
              <a:t>","</a:t>
            </a:r>
            <a:r>
              <a:rPr lang="en-US"/>
              <a:t>headers":["</a:t>
            </a:r>
            <a:r>
              <a:rPr lang="zh-CN" altLang="en-US"/>
              <a:t>方案</a:t>
            </a:r>
            <a:r>
              <a:rPr lang="en-US" altLang="zh-CN"/>
              <a:t>","</a:t>
            </a:r>
            <a:r>
              <a:rPr lang="zh-CN" altLang="en-US"/>
              <a:t>上调</a:t>
            </a:r>
            <a:r>
              <a:rPr lang="en-US" altLang="zh-CN"/>
              <a:t>/</a:t>
            </a:r>
            <a:r>
              <a:rPr lang="en-US"/>
              <a:t>kW","</a:t>
            </a:r>
            <a:r>
              <a:rPr lang="zh-CN" altLang="en-US"/>
              <a:t>下调</a:t>
            </a:r>
            <a:r>
              <a:rPr lang="en-US" altLang="zh-CN"/>
              <a:t>/</a:t>
            </a:r>
            <a:r>
              <a:rPr lang="en-US"/>
              <a:t>kW"],"rows":[["</a:t>
            </a:r>
            <a:r>
              <a:rPr lang="zh-CN" altLang="en-US"/>
              <a:t>基准</a:t>
            </a:r>
            <a:r>
              <a:rPr lang="en-US"/>
              <a:t>EMS","22.9","24.1"],["</a:t>
            </a:r>
            <a:r>
              <a:rPr lang="zh-CN" altLang="en-US"/>
              <a:t>所提方法</a:t>
            </a:r>
            <a:r>
              <a:rPr lang="en-US" altLang="zh-CN"/>
              <a:t>","42.7","44.9"],["</a:t>
            </a:r>
            <a:r>
              <a:rPr lang="zh-CN" altLang="en-US"/>
              <a:t>容量比例</a:t>
            </a:r>
            <a:r>
              <a:rPr lang="en-US" altLang="zh-CN"/>
              <a:t>","42.9","44.97"]],"</a:t>
            </a:r>
            <a:r>
              <a:rPr lang="en-US"/>
              <a:t>evidenceRef":"</a:t>
            </a:r>
            <a:r>
              <a:rPr lang="zh-CN" altLang="en-US"/>
              <a:t>表</a:t>
            </a:r>
            <a:r>
              <a:rPr lang="en-US" altLang="zh-CN"/>
              <a:t>2"}</a:t>
            </a:r>
          </a:p>
          <a:p>
            <a:r>
              <a:rPr lang="en-US" altLang="zh-CN"/>
              <a:t>② </a:t>
            </a:r>
            <a:r>
              <a:rPr lang="zh-CN" altLang="en-US"/>
              <a:t>功率跟踪与分配消融：</a:t>
            </a:r>
            <a:r>
              <a:rPr lang="en-US" altLang="zh-CN"/>
              <a:t>§5.2</a:t>
            </a:r>
            <a:r>
              <a:rPr lang="zh-CN" altLang="en-US"/>
              <a:t>；表</a:t>
            </a:r>
            <a:r>
              <a:rPr lang="en-US" altLang="zh-CN"/>
              <a:t>6</a:t>
            </a:r>
          </a:p>
          <a:p>
            <a:r>
              <a:rPr lang="zh-CN" altLang="en-US"/>
              <a:t>稳态有功输出 </a:t>
            </a:r>
            <a:r>
              <a:rPr lang="en-US"/>
              <a:t>GFM1 / GFM2：</a:t>
            </a:r>
            <a:r>
              <a:rPr lang="zh-CN" altLang="en-US"/>
              <a:t>表</a:t>
            </a:r>
            <a:r>
              <a:rPr lang="en-US" altLang="zh-CN"/>
              <a:t>6</a:t>
            </a:r>
            <a:r>
              <a:rPr lang="zh-CN" altLang="en-US"/>
              <a:t>；</a:t>
            </a:r>
            <a:r>
              <a:rPr lang="en-US" altLang="zh-CN"/>
              <a:t>§5.2</a:t>
            </a:r>
          </a:p>
          <a:p>
            <a:r>
              <a:rPr lang="en-US" altLang="zh-CN"/>
              <a:t>{"</a:t>
            </a:r>
            <a:r>
              <a:rPr lang="en-US"/>
              <a:t>type":"table","title":"</a:t>
            </a:r>
            <a:r>
              <a:rPr lang="zh-CN" altLang="en-US"/>
              <a:t>稳态有功输出 </a:t>
            </a:r>
            <a:r>
              <a:rPr lang="en-US"/>
              <a:t>GFM1 / GFM2","headers":["</a:t>
            </a:r>
            <a:r>
              <a:rPr lang="zh-CN" altLang="en-US"/>
              <a:t>控制方案</a:t>
            </a:r>
            <a:r>
              <a:rPr lang="en-US" altLang="zh-CN"/>
              <a:t>","</a:t>
            </a:r>
            <a:r>
              <a:rPr lang="zh-CN" altLang="en-US"/>
              <a:t>扰动前</a:t>
            </a:r>
            <a:r>
              <a:rPr lang="en-US" altLang="zh-CN"/>
              <a:t>/</a:t>
            </a:r>
            <a:r>
              <a:rPr lang="en-US"/>
              <a:t>kW","</a:t>
            </a:r>
            <a:r>
              <a:rPr lang="zh-CN" altLang="en-US"/>
              <a:t>扰动后</a:t>
            </a:r>
            <a:r>
              <a:rPr lang="en-US" altLang="zh-CN"/>
              <a:t>/</a:t>
            </a:r>
            <a:r>
              <a:rPr lang="en-US"/>
              <a:t>kW"],"rows":[["</a:t>
            </a:r>
            <a:r>
              <a:rPr lang="zh-CN" altLang="en-US"/>
              <a:t>完整控制</a:t>
            </a:r>
            <a:r>
              <a:rPr lang="en-US" altLang="zh-CN"/>
              <a:t>","6 / 13","10.2 / 19.5"],["</a:t>
            </a:r>
            <a:r>
              <a:rPr lang="zh-CN" altLang="en-US"/>
              <a:t>仅保留分配项</a:t>
            </a:r>
            <a:r>
              <a:rPr lang="en-US" altLang="zh-CN"/>
              <a:t>","7.7 / 11.3","11.9 / 17.8"],["</a:t>
            </a:r>
            <a:r>
              <a:rPr lang="zh-CN" altLang="en-US"/>
              <a:t>传统二级控制</a:t>
            </a:r>
            <a:r>
              <a:rPr lang="en-US" altLang="zh-CN"/>
              <a:t>","7.7 / 11.3","12.8 / 16.9"]],"</a:t>
            </a:r>
            <a:r>
              <a:rPr lang="en-US"/>
              <a:t>evidenceRef":"</a:t>
            </a:r>
            <a:r>
              <a:rPr lang="zh-CN" altLang="en-US"/>
              <a:t>表</a:t>
            </a:r>
            <a:r>
              <a:rPr lang="en-US" altLang="zh-CN"/>
              <a:t>6</a:t>
            </a:r>
            <a:r>
              <a:rPr lang="zh-CN" altLang="en-US"/>
              <a:t>；</a:t>
            </a:r>
            <a:r>
              <a:rPr lang="en-US" altLang="zh-CN"/>
              <a:t>§5.2"}</a:t>
            </a:r>
          </a:p>
          <a:p>
            <a:r>
              <a:rPr lang="zh-CN" altLang="en-US"/>
              <a:t>两个控制目标的区别：</a:t>
            </a:r>
            <a:r>
              <a:rPr lang="en-US" altLang="zh-CN"/>
              <a:t>§5.2</a:t>
            </a:r>
            <a:r>
              <a:rPr lang="zh-CN" altLang="en-US"/>
              <a:t>、式</a:t>
            </a:r>
            <a:r>
              <a:rPr lang="en-US" altLang="zh-CN"/>
              <a:t>(22)</a:t>
            </a:r>
          </a:p>
          <a:p>
            <a:r>
              <a:rPr lang="en-US" altLang="zh-CN"/>
              <a:t>{"</a:t>
            </a:r>
            <a:r>
              <a:rPr lang="en-US"/>
              <a:t>type":"table","title":"</a:t>
            </a:r>
            <a:r>
              <a:rPr lang="zh-CN" altLang="en-US"/>
              <a:t>两个控制目标的区别</a:t>
            </a:r>
            <a:r>
              <a:rPr lang="en-US" altLang="zh-CN"/>
              <a:t>","</a:t>
            </a:r>
            <a:r>
              <a:rPr lang="en-US"/>
              <a:t>headers":["</a:t>
            </a:r>
            <a:r>
              <a:rPr lang="zh-CN" altLang="en-US"/>
              <a:t>目标</a:t>
            </a:r>
            <a:r>
              <a:rPr lang="en-US" altLang="zh-CN"/>
              <a:t>","</a:t>
            </a:r>
            <a:r>
              <a:rPr lang="zh-CN" altLang="en-US"/>
              <a:t>关键环节</a:t>
            </a:r>
            <a:r>
              <a:rPr lang="en-US" altLang="zh-CN"/>
              <a:t>"],"</a:t>
            </a:r>
            <a:r>
              <a:rPr lang="en-US"/>
              <a:t>rows":[["</a:t>
            </a:r>
            <a:r>
              <a:rPr lang="zh-CN" altLang="en-US"/>
              <a:t>无总偏差时跟踪</a:t>
            </a:r>
            <a:r>
              <a:rPr lang="en-US"/>
              <a:t>EMS","</a:t>
            </a:r>
            <a:r>
              <a:rPr lang="zh-CN" altLang="en-US"/>
              <a:t>参考功率误差积分</a:t>
            </a:r>
            <a:r>
              <a:rPr lang="en-US" altLang="zh-CN"/>
              <a:t>"],["</a:t>
            </a:r>
            <a:r>
              <a:rPr lang="zh-CN" altLang="en-US"/>
              <a:t>有总偏差时按</a:t>
            </a:r>
            <a:r>
              <a:rPr lang="el-GR"/>
              <a:t>ξ</a:t>
            </a:r>
            <a:r>
              <a:rPr lang="zh-CN" altLang="en-US"/>
              <a:t>分配</a:t>
            </a:r>
            <a:r>
              <a:rPr lang="en-US" altLang="zh-CN"/>
              <a:t>","</a:t>
            </a:r>
            <a:r>
              <a:rPr lang="zh-CN" altLang="en-US"/>
              <a:t>容许因子分配项</a:t>
            </a:r>
            <a:r>
              <a:rPr lang="en-US" altLang="zh-CN"/>
              <a:t>"],["</a:t>
            </a:r>
            <a:r>
              <a:rPr lang="zh-CN" altLang="en-US"/>
              <a:t>分配目标 </a:t>
            </a:r>
            <a:r>
              <a:rPr lang="el-GR"/>
              <a:t>ξ1 : ξ2","0.39 : 0.61"]],"</a:t>
            </a:r>
            <a:r>
              <a:rPr lang="en-US"/>
              <a:t>evidenceRef":"§5.2、</a:t>
            </a:r>
            <a:r>
              <a:rPr lang="zh-CN" altLang="en-US"/>
              <a:t>式</a:t>
            </a:r>
            <a:r>
              <a:rPr lang="en-US" altLang="zh-CN"/>
              <a:t>(22)"}</a:t>
            </a:r>
          </a:p>
          <a:p>
            <a:r>
              <a:rPr lang="en-US" altLang="zh-CN"/>
              <a:t>③ </a:t>
            </a:r>
            <a:r>
              <a:rPr lang="zh-CN" altLang="en-US"/>
              <a:t>实时硬件与大扰动边界：硬件实验节；</a:t>
            </a:r>
            <a:r>
              <a:rPr lang="en-US" altLang="zh-CN"/>
              <a:t>§5.3</a:t>
            </a:r>
          </a:p>
          <a:p>
            <a:r>
              <a:rPr lang="zh-CN" altLang="en-US"/>
              <a:t>硬件实测稳态值：硬件实验节；图</a:t>
            </a:r>
            <a:r>
              <a:rPr lang="en-US" altLang="zh-CN"/>
              <a:t>16</a:t>
            </a:r>
          </a:p>
          <a:p>
            <a:r>
              <a:rPr lang="en-US" altLang="zh-CN"/>
              <a:t>{"</a:t>
            </a:r>
            <a:r>
              <a:rPr lang="en-US"/>
              <a:t>type":"table","title":"</a:t>
            </a:r>
            <a:r>
              <a:rPr lang="zh-CN" altLang="en-US"/>
              <a:t>硬件实测稳态值</a:t>
            </a:r>
            <a:r>
              <a:rPr lang="en-US" altLang="zh-CN"/>
              <a:t>","</a:t>
            </a:r>
            <a:r>
              <a:rPr lang="en-US"/>
              <a:t>headers":["</a:t>
            </a:r>
            <a:r>
              <a:rPr lang="zh-CN" altLang="en-US"/>
              <a:t>指标</a:t>
            </a:r>
            <a:r>
              <a:rPr lang="en-US" altLang="zh-CN"/>
              <a:t>","</a:t>
            </a:r>
            <a:r>
              <a:rPr lang="en-US"/>
              <a:t>GFM1","GFM2"],"rows":[["</a:t>
            </a:r>
            <a:r>
              <a:rPr lang="zh-CN" altLang="en-US"/>
              <a:t>扰动前</a:t>
            </a:r>
            <a:r>
              <a:rPr lang="en-US" altLang="zh-CN"/>
              <a:t>/</a:t>
            </a:r>
            <a:r>
              <a:rPr lang="en-US"/>
              <a:t>kW","3.00","6.50"],["</a:t>
            </a:r>
            <a:r>
              <a:rPr lang="zh-CN" altLang="en-US"/>
              <a:t>扰动后</a:t>
            </a:r>
            <a:r>
              <a:rPr lang="en-US" altLang="zh-CN"/>
              <a:t>/</a:t>
            </a:r>
            <a:r>
              <a:rPr lang="en-US"/>
              <a:t>kW","5.10","9.75"],["</a:t>
            </a:r>
            <a:r>
              <a:rPr lang="zh-CN" altLang="en-US"/>
              <a:t>增量分配比例</a:t>
            </a:r>
            <a:r>
              <a:rPr lang="en-US" altLang="zh-CN"/>
              <a:t>","0.393","0.607"]],"</a:t>
            </a:r>
            <a:r>
              <a:rPr lang="en-US"/>
              <a:t>evidenceRef":"</a:t>
            </a:r>
            <a:r>
              <a:rPr lang="zh-CN" altLang="en-US"/>
              <a:t>硬件实验节；图</a:t>
            </a:r>
            <a:r>
              <a:rPr lang="en-US" altLang="zh-CN"/>
              <a:t>16"}</a:t>
            </a:r>
          </a:p>
          <a:p>
            <a:r>
              <a:rPr lang="en-US" altLang="zh-CN"/>
              <a:t>30 </a:t>
            </a:r>
            <a:r>
              <a:rPr lang="en-US"/>
              <a:t>kW</a:t>
            </a:r>
            <a:r>
              <a:rPr lang="zh-CN" altLang="en-US"/>
              <a:t>阶跃仿真：</a:t>
            </a:r>
            <a:r>
              <a:rPr lang="en-US" altLang="zh-CN"/>
              <a:t>§5.3</a:t>
            </a:r>
            <a:r>
              <a:rPr lang="zh-CN" altLang="en-US"/>
              <a:t>、表</a:t>
            </a:r>
            <a:r>
              <a:rPr lang="en-US" altLang="zh-CN"/>
              <a:t>7</a:t>
            </a:r>
          </a:p>
          <a:p>
            <a:r>
              <a:rPr lang="en-US" altLang="zh-CN"/>
              <a:t>{"</a:t>
            </a:r>
            <a:r>
              <a:rPr lang="en-US"/>
              <a:t>type":"table","title":"30 kW</a:t>
            </a:r>
            <a:r>
              <a:rPr lang="zh-CN" altLang="en-US"/>
              <a:t>阶跃仿真</a:t>
            </a:r>
            <a:r>
              <a:rPr lang="en-US" altLang="zh-CN"/>
              <a:t>","</a:t>
            </a:r>
            <a:r>
              <a:rPr lang="en-US"/>
              <a:t>headers":["</a:t>
            </a:r>
            <a:r>
              <a:rPr lang="zh-CN" altLang="en-US"/>
              <a:t>策略</a:t>
            </a:r>
            <a:r>
              <a:rPr lang="en-US" altLang="zh-CN"/>
              <a:t>","</a:t>
            </a:r>
            <a:r>
              <a:rPr lang="zh-CN" altLang="en-US"/>
              <a:t>功率边界</a:t>
            </a:r>
            <a:r>
              <a:rPr lang="en-US" altLang="zh-CN"/>
              <a:t>","</a:t>
            </a:r>
            <a:r>
              <a:rPr lang="en-US"/>
              <a:t>SOC</a:t>
            </a:r>
            <a:r>
              <a:rPr lang="zh-CN" altLang="en-US"/>
              <a:t>裕度</a:t>
            </a:r>
            <a:r>
              <a:rPr lang="en-US" altLang="zh-CN"/>
              <a:t>"],"</a:t>
            </a:r>
            <a:r>
              <a:rPr lang="en-US"/>
              <a:t>rows":[["</a:t>
            </a:r>
            <a:r>
              <a:rPr lang="zh-CN" altLang="en-US"/>
              <a:t>所提方法</a:t>
            </a:r>
            <a:r>
              <a:rPr lang="en-US" altLang="zh-CN"/>
              <a:t>","</a:t>
            </a:r>
            <a:r>
              <a:rPr lang="zh-CN" altLang="en-US"/>
              <a:t>未越界</a:t>
            </a:r>
            <a:r>
              <a:rPr lang="en-US" altLang="zh-CN"/>
              <a:t>","0.73"],["</a:t>
            </a:r>
            <a:r>
              <a:rPr lang="zh-CN" altLang="en-US"/>
              <a:t>基准</a:t>
            </a:r>
            <a:r>
              <a:rPr lang="en-US"/>
              <a:t>EMS","</a:t>
            </a:r>
            <a:r>
              <a:rPr lang="zh-CN" altLang="en-US"/>
              <a:t>过流切断</a:t>
            </a:r>
            <a:r>
              <a:rPr lang="en-US" altLang="zh-CN"/>
              <a:t>","—"],["</a:t>
            </a:r>
            <a:r>
              <a:rPr lang="zh-CN" altLang="en-US"/>
              <a:t>容量比例</a:t>
            </a:r>
            <a:r>
              <a:rPr lang="en-US" altLang="zh-CN"/>
              <a:t>","</a:t>
            </a:r>
            <a:r>
              <a:rPr lang="zh-CN" altLang="en-US"/>
              <a:t>未越界</a:t>
            </a:r>
            <a:r>
              <a:rPr lang="en-US" altLang="zh-CN"/>
              <a:t>","0.68"]],"</a:t>
            </a:r>
            <a:r>
              <a:rPr lang="en-US"/>
              <a:t>evidenceRef":"§5.3、</a:t>
            </a:r>
            <a:r>
              <a:rPr lang="zh-CN" altLang="en-US"/>
              <a:t>表</a:t>
            </a:r>
            <a:r>
              <a:rPr lang="en-US" altLang="zh-CN"/>
              <a:t>7"}</a:t>
            </a:r>
          </a:p>
          <a:p>
            <a:r>
              <a:rPr lang="zh-CN" altLang="en-US"/>
              <a:t>引用边界：</a:t>
            </a:r>
            <a:r>
              <a:rPr lang="en-US" altLang="zh-CN"/>
              <a:t>§3.1</a:t>
            </a:r>
            <a:r>
              <a:rPr lang="zh-CN" altLang="en-US"/>
              <a:t>称变换后为</a:t>
            </a:r>
            <a:r>
              <a:rPr lang="en-US"/>
              <a:t>MIQP，§4</a:t>
            </a:r>
            <a:r>
              <a:rPr lang="zh-CN" altLang="en-US"/>
              <a:t>称连续模型为</a:t>
            </a:r>
            <a:r>
              <a:rPr lang="en-US"/>
              <a:t>SOCP；PPT</a:t>
            </a:r>
            <a:r>
              <a:rPr lang="zh-CN" altLang="en-US"/>
              <a:t>保留</a:t>
            </a:r>
            <a:r>
              <a:rPr lang="en-US"/>
              <a:t>YALMIP/Gurobi</a:t>
            </a:r>
            <a:r>
              <a:rPr lang="zh-CN" altLang="en-US"/>
              <a:t>求解路径，不统一为未经核实的单一模型类型。</a:t>
            </a:r>
          </a:p>
          <a:p>
            <a:r>
              <a:rPr lang="zh-CN" altLang="en-US"/>
              <a:t>对高斯安全项单独做负对数的等价性，不自动证明含经济成本的原加性总目标等价或全局最优。</a:t>
            </a:r>
          </a:p>
          <a:p>
            <a:r>
              <a:rPr lang="zh-CN" altLang="en-US"/>
              <a:t>表</a:t>
            </a:r>
            <a:r>
              <a:rPr lang="en-US" altLang="zh-CN"/>
              <a:t>7</a:t>
            </a:r>
            <a:r>
              <a:rPr lang="zh-CN" altLang="en-US"/>
              <a:t>基准</a:t>
            </a:r>
            <a:r>
              <a:rPr lang="en-US"/>
              <a:t>EMS</a:t>
            </a:r>
            <a:r>
              <a:rPr lang="zh-CN" altLang="en-US"/>
              <a:t>的初始</a:t>
            </a:r>
            <a:r>
              <a:rPr lang="en-US"/>
              <a:t>SOC1=0.85</a:t>
            </a:r>
            <a:r>
              <a:rPr lang="zh-CN" altLang="en-US"/>
              <a:t>高于表</a:t>
            </a:r>
            <a:r>
              <a:rPr lang="en-US" altLang="zh-CN"/>
              <a:t>1</a:t>
            </a:r>
            <a:r>
              <a:rPr lang="zh-CN" altLang="en-US"/>
              <a:t>声明的上限</a:t>
            </a:r>
            <a:r>
              <a:rPr lang="en-US" altLang="zh-CN"/>
              <a:t>0.8</a:t>
            </a:r>
            <a:r>
              <a:rPr lang="zh-CN" altLang="en-US"/>
              <a:t>。大扰动结果仅按该表报告，不据此证明所有初值一致的严格优势。</a:t>
            </a:r>
          </a:p>
          <a:p>
            <a:r>
              <a:rPr lang="zh-CN" altLang="en-US"/>
              <a:t>表</a:t>
            </a:r>
            <a:r>
              <a:rPr lang="en-US" altLang="zh-CN"/>
              <a:t>2</a:t>
            </a:r>
            <a:r>
              <a:rPr lang="zh-CN" altLang="en-US"/>
              <a:t>所提容量裕度上</a:t>
            </a:r>
            <a:r>
              <a:rPr lang="en-US" altLang="zh-CN"/>
              <a:t>/</a:t>
            </a:r>
            <a:r>
              <a:rPr lang="zh-CN" altLang="en-US"/>
              <a:t>下</a:t>
            </a:r>
            <a:r>
              <a:rPr lang="en-US" altLang="zh-CN"/>
              <a:t>0.66/0.61</a:t>
            </a:r>
            <a:r>
              <a:rPr lang="zh-CN" altLang="en-US"/>
              <a:t>，容量比例</a:t>
            </a:r>
            <a:r>
              <a:rPr lang="en-US" altLang="zh-CN"/>
              <a:t>0.59/0.64</a:t>
            </a:r>
            <a:r>
              <a:rPr lang="zh-CN" altLang="en-US"/>
              <a:t>；不复述所提方法所有方向</a:t>
            </a:r>
            <a:r>
              <a:rPr lang="en-US"/>
              <a:t>SOC</a:t>
            </a:r>
            <a:r>
              <a:rPr lang="zh-CN" altLang="en-US"/>
              <a:t>裕度都更高。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00" Type="http://schemas.openxmlformats.org/officeDocument/2006/relationships/image" Target="../media/graphical-image.png"/><Relationship Id="rId501" Type="http://schemas.openxmlformats.org/officeDocument/2006/relationships/image" Target="../media/graphical-image.svg"/><Relationship Id="rId502" Type="http://schemas.openxmlformats.org/officeDocument/2006/relationships/image" Target="../media/graphical-image2.png"/><Relationship Id="rId503" Type="http://schemas.openxmlformats.org/officeDocument/2006/relationships/image" Target="../media/graphical-image2.svg"/><Relationship Id="rId504" Type="http://schemas.openxmlformats.org/officeDocument/2006/relationships/image" Target="../media/graphical-image3.png"/><Relationship Id="rId505" Type="http://schemas.openxmlformats.org/officeDocument/2006/relationships/image" Target="../media/graphical-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rule">
            <a:extLst>
              <a:ext uri="{FF2B5EF4-FFF2-40B4-BE49-F238E27FC236}">
                <a16:creationId xmlns:a16="http://schemas.microsoft.com/office/drawing/2014/main" id="{BF49A0EE-59FF-4EA9-BEA3-B70BA80A40C3}"/>
              </a:ext>
            </a:extLst>
          </p:cNvPr>
          <p:cNvSpPr>
            <a:spLocks noGrp="1"/>
          </p:cNvSpPr>
          <p:nvPr/>
        </p:nvSpPr>
        <p:spPr>
          <a:xfrm>
            <a:off x="161925" y="619125"/>
            <a:ext cx="15601950" cy="95"/>
          </a:xfrm>
          <a:custGeom>
            <a:avLst/>
            <a:gdLst/>
            <a:ahLst/>
            <a:cxnLst/>
            <a:rect l="0" t="0" r="0" b="0"/>
            <a:pathLst>
              <a:path w="15601950" h="95">
                <a:moveTo>
                  <a:pt x="0" y="0"/>
                </a:moveTo>
                <a:lnTo>
                  <a:pt x="15601950" y="0"/>
                </a:lnTo>
              </a:path>
            </a:pathLst>
          </a:custGeom>
          <a:noFill/>
          <a:ln w="28575">
            <a:solidFill>
              <a:srgbClr val="0867D4"/>
            </a:solidFill>
            <a:prstDash val="solid"/>
          </a:ln>
        </p:spPr>
      </p:sp>
      <p:sp>
        <p:nvSpPr>
          <p:cNvPr id="3" name="summary">
            <a:extLst>
              <a:ext uri="{FF2B5EF4-FFF2-40B4-BE49-F238E27FC236}">
                <a16:creationId xmlns:a16="http://schemas.microsoft.com/office/drawing/2014/main" id="{CDD305B3-9FFE-4B7D-9ADC-FE6BF356FD84}"/>
              </a:ext>
            </a:extLst>
          </p:cNvPr>
          <p:cNvSpPr>
            <a:spLocks noGrp="1"/>
          </p:cNvSpPr>
          <p:nvPr/>
        </p:nvSpPr>
        <p:spPr>
          <a:xfrm>
            <a:off x="171450" y="742951"/>
            <a:ext cx="15582900" cy="1343025"/>
          </a:xfrm>
          <a:prstGeom prst="roundRect">
            <a:avLst>
              <a:gd name="adj" fmla="val 10274"/>
            </a:avLst>
          </a:prstGeom>
          <a:gradFill>
            <a:gsLst>
              <a:gs pos="0">
                <a:srgbClr val="F3FBFF"/>
              </a:gs>
              <a:gs pos="100000">
                <a:srgbClr val="DEEFFC"/>
              </a:gs>
            </a:gsLst>
            <a:lin ang="5400000"/>
          </a:gradFill>
          <a:ln w="9525">
            <a:solidFill>
              <a:srgbClr val="63B4FA"/>
            </a:solidFill>
            <a:prstDash val="solid"/>
          </a:ln>
        </p:spPr>
      </p:sp>
      <p:sp>
        <p:nvSpPr>
          <p:cNvPr id="358" name="conclusion">
            <a:extLst>
              <a:ext uri="{FF2B5EF4-FFF2-40B4-BE49-F238E27FC236}">
                <a16:creationId xmlns:a16="http://schemas.microsoft.com/office/drawing/2014/main" id="{C7BDA826-D73C-4DDB-A50C-DD6D71D74422}"/>
              </a:ext>
            </a:extLst>
          </p:cNvPr>
          <p:cNvSpPr>
            <a:spLocks noGrp="1"/>
          </p:cNvSpPr>
          <p:nvPr/>
        </p:nvSpPr>
        <p:spPr>
          <a:xfrm>
            <a:off x="171450" y="8410574"/>
            <a:ext cx="15582900" cy="438150"/>
          </a:xfrm>
          <a:prstGeom prst="roundRect">
            <a:avLst>
              <a:gd name="adj" fmla="val 27027"/>
            </a:avLst>
          </a:prstGeom>
          <a:gradFill>
            <a:gsLst>
              <a:gs pos="0">
                <a:srgbClr val="E5F5FF"/>
              </a:gs>
              <a:gs pos="100000">
                <a:srgbClr val="D8EDFA"/>
              </a:gs>
            </a:gsLst>
            <a:lin ang="5400000"/>
          </a:gradFill>
          <a:ln w="9525">
            <a:solidFill>
              <a:srgbClr val="63B4FA"/>
            </a:solidFill>
            <a:prstDash val="solid"/>
          </a:ln>
        </p:spPr>
      </p:sp>
      <p:sp>
        <p:nvSpPr>
          <p:cNvPr id="1000" name="object-1">
            <a:extLst>
              <a:ext uri="{FF2B5EF4-FFF2-40B4-BE49-F238E27FC236}">
                <a16:creationId xmlns:a16="http://schemas.microsoft.com/office/drawing/2014/main" id="{AFCDA6B7-A91D-4E8C-9FAB-85966771AAA7}"/>
              </a:ext>
            </a:extLst>
          </p:cNvPr>
          <p:cNvSpPr>
            <a:spLocks noGrp="1"/>
          </p:cNvSpPr>
          <p:nvPr/>
        </p:nvSpPr>
        <p:spPr>
          <a:xfrm>
            <a:off x="190500" y="9525"/>
            <a:ext cx="155257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34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4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1. GFM 功率再分配：EMS 与双积分控制闭环</a:t>
            </a:r>
          </a:p>
        </p:txBody>
      </p:sp>
      <p:sp>
        <p:nvSpPr>
          <p:cNvPr id="1001" name="object-2">
            <a:extLst>
              <a:ext uri="{FF2B5EF4-FFF2-40B4-BE49-F238E27FC236}">
                <a16:creationId xmlns:a16="http://schemas.microsoft.com/office/drawing/2014/main" id="{3F7462A8-DF8F-4C53-B30B-FF39A73750AF}"/>
              </a:ext>
            </a:extLst>
          </p:cNvPr>
          <p:cNvSpPr>
            <a:spLocks noGrp="1"/>
          </p:cNvSpPr>
          <p:nvPr/>
        </p:nvSpPr>
        <p:spPr>
          <a:xfrm>
            <a:off x="171450" y="742950"/>
            <a:ext cx="15582900" cy="1343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875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三级 EMS 综合功率裕度、SOC 裕度与节点短路比，给出基础功率和容许因子；</a:t>
            </a:r>
          </a:p>
          <a:p>
            <a:pPr algn="l">
              <a:defRPr sz="1875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二级控制在恢复频率的同时跟踪基础功率，并按容许因子分配新增不平衡功率。</a:t>
            </a:r>
          </a:p>
        </p:txBody>
      </p:sp>
      <p:sp>
        <p:nvSpPr>
          <p:cNvPr id="1002" name="object-3">
            <a:extLst>
              <a:ext uri="{FF2B5EF4-FFF2-40B4-BE49-F238E27FC236}">
                <a16:creationId xmlns:a16="http://schemas.microsoft.com/office/drawing/2014/main" id="{21C9A08D-234A-4DC5-AC36-6B7941D7D16E}"/>
              </a:ext>
            </a:extLst>
          </p:cNvPr>
          <p:cNvSpPr>
            <a:spLocks noGrp="1"/>
          </p:cNvSpPr>
          <p:nvPr/>
        </p:nvSpPr>
        <p:spPr>
          <a:xfrm>
            <a:off x="171450" y="2190750"/>
            <a:ext cx="10715625" cy="6115050"/>
          </a:xfrm>
          <a:prstGeom prst="roundRect">
            <a:avLst>
              <a:gd name="adj" fmla="val 1246"/>
            </a:avLst>
          </a:prstGeom>
          <a:solidFill>
            <a:srgbClr val="FFFFFF"/>
          </a:solidFill>
          <a:ln w="9525">
            <a:solidFill>
              <a:srgbClr val="66B7FA"/>
            </a:solidFill>
            <a:prstDash val="solid"/>
          </a:ln>
        </p:spPr>
      </p:sp>
      <p:sp>
        <p:nvSpPr>
          <p:cNvPr id="1003" name="object-4">
            <a:extLst>
              <a:ext uri="{FF2B5EF4-FFF2-40B4-BE49-F238E27FC236}">
                <a16:creationId xmlns:a16="http://schemas.microsoft.com/office/drawing/2014/main" id="{8478090B-D6A8-4B2E-9F78-6DB59B0355EA}"/>
              </a:ext>
            </a:extLst>
          </p:cNvPr>
          <p:cNvSpPr>
            <a:spLocks noGrp="1"/>
          </p:cNvSpPr>
          <p:nvPr/>
        </p:nvSpPr>
        <p:spPr>
          <a:xfrm>
            <a:off x="285750" y="2238375"/>
            <a:ext cx="104870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三级计划、二级校正与物理系统闭环</a:t>
            </a:r>
          </a:p>
        </p:txBody>
      </p:sp>
      <p:sp>
        <p:nvSpPr>
          <p:cNvPr id="1004" name="object-5">
            <a:extLst>
              <a:ext uri="{FF2B5EF4-FFF2-40B4-BE49-F238E27FC236}">
                <a16:creationId xmlns:a16="http://schemas.microsoft.com/office/drawing/2014/main" id="{A02D6A5C-E4D5-48E0-B885-EF5D7CF20628}"/>
              </a:ext>
            </a:extLst>
          </p:cNvPr>
          <p:cNvSpPr>
            <a:spLocks noGrp="1"/>
          </p:cNvSpPr>
          <p:nvPr/>
        </p:nvSpPr>
        <p:spPr>
          <a:xfrm>
            <a:off x="11001375" y="2190750"/>
            <a:ext cx="4752975" cy="6115050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 w="9525">
            <a:solidFill>
              <a:srgbClr val="66B7FA"/>
            </a:solidFill>
            <a:prstDash val="solid"/>
          </a:ln>
        </p:spPr>
      </p:sp>
      <p:sp>
        <p:nvSpPr>
          <p:cNvPr id="1005" name="object-6">
            <a:extLst>
              <a:ext uri="{FF2B5EF4-FFF2-40B4-BE49-F238E27FC236}">
                <a16:creationId xmlns:a16="http://schemas.microsoft.com/office/drawing/2014/main" id="{B0F29292-868E-419D-8102-0F3B5475DE6C}"/>
              </a:ext>
            </a:extLst>
          </p:cNvPr>
          <p:cNvSpPr>
            <a:spLocks noGrp="1"/>
          </p:cNvSpPr>
          <p:nvPr/>
        </p:nvSpPr>
        <p:spPr>
          <a:xfrm>
            <a:off x="11115675" y="2238375"/>
            <a:ext cx="4524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核心模型与稳态关系</a:t>
            </a:r>
          </a:p>
        </p:txBody>
      </p:sp>
      <p:sp>
        <p:nvSpPr>
          <p:cNvPr id="1006" name="object-7">
            <a:extLst>
              <a:ext uri="{FF2B5EF4-FFF2-40B4-BE49-F238E27FC236}">
                <a16:creationId xmlns:a16="http://schemas.microsoft.com/office/drawing/2014/main" id="{B18E7411-8C60-4BC3-8C7A-4C0C392F2069}"/>
              </a:ext>
            </a:extLst>
          </p:cNvPr>
          <p:cNvSpPr>
            <a:spLocks noGrp="1"/>
          </p:cNvSpPr>
          <p:nvPr/>
        </p:nvSpPr>
        <p:spPr>
          <a:xfrm>
            <a:off x="333375" y="2714625"/>
            <a:ext cx="10382250" cy="1371600"/>
          </a:xfrm>
          <a:prstGeom prst="rect">
            <a:avLst/>
          </a:prstGeom>
          <a:solidFill>
            <a:srgbClr val="F4F8FF"/>
          </a:solidFill>
          <a:ln w="9525">
            <a:noFill/>
            <a:prstDash val="solid"/>
          </a:ln>
        </p:spPr>
      </p:sp>
      <p:sp>
        <p:nvSpPr>
          <p:cNvPr id="1007" name="object-8">
            <a:extLst>
              <a:ext uri="{FF2B5EF4-FFF2-40B4-BE49-F238E27FC236}">
                <a16:creationId xmlns:a16="http://schemas.microsoft.com/office/drawing/2014/main" id="{E6339E3F-F107-43BF-B9C4-8D18AE4304BC}"/>
              </a:ext>
            </a:extLst>
          </p:cNvPr>
          <p:cNvSpPr>
            <a:spLocks noGrp="1"/>
          </p:cNvSpPr>
          <p:nvPr/>
        </p:nvSpPr>
        <p:spPr>
          <a:xfrm>
            <a:off x="409575" y="278130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9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三级 EMS</a:t>
            </a:r>
          </a:p>
        </p:txBody>
      </p:sp>
      <p:sp>
        <p:nvSpPr>
          <p:cNvPr id="1008" name="object-9">
            <a:extLst>
              <a:ext uri="{FF2B5EF4-FFF2-40B4-BE49-F238E27FC236}">
                <a16:creationId xmlns:a16="http://schemas.microsoft.com/office/drawing/2014/main" id="{44A849DC-D994-44BE-9CA6-60CE0987997F}"/>
              </a:ext>
            </a:extLst>
          </p:cNvPr>
          <p:cNvSpPr>
            <a:spLocks noGrp="1"/>
          </p:cNvSpPr>
          <p:nvPr/>
        </p:nvSpPr>
        <p:spPr>
          <a:xfrm>
            <a:off x="447675" y="3238500"/>
            <a:ext cx="200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7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源荷预测</a:t>
            </a:r>
          </a:p>
          <a:p>
            <a:pPr algn="l">
              <a:defRPr sz="17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网络与设备边界</a:t>
            </a:r>
          </a:p>
        </p:txBody>
      </p:sp>
      <p:sp>
        <p:nvSpPr>
          <p:cNvPr id="1009" name="object-10">
            <a:extLst>
              <a:ext uri="{FF2B5EF4-FFF2-40B4-BE49-F238E27FC236}">
                <a16:creationId xmlns:a16="http://schemas.microsoft.com/office/drawing/2014/main" id="{77340638-BE4D-4F4F-BDEC-142F2FD5276D}"/>
              </a:ext>
            </a:extLst>
          </p:cNvPr>
          <p:cNvSpPr>
            <a:spLocks noGrp="1"/>
          </p:cNvSpPr>
          <p:nvPr/>
        </p:nvSpPr>
        <p:spPr>
          <a:xfrm>
            <a:off x="2886075" y="3019425"/>
            <a:ext cx="2924175" cy="790575"/>
          </a:xfrm>
          <a:prstGeom prst="roundRect">
            <a:avLst>
              <a:gd name="adj" fmla="val 9639"/>
            </a:avLst>
          </a:prstGeom>
          <a:solidFill>
            <a:srgbClr val="EAF3E5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经济运行 + 安全裕度</a:t>
            </a:r>
          </a:p>
          <a:p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YALMIP / Gurobi</a:t>
            </a:r>
          </a:p>
        </p:txBody>
      </p:sp>
      <p:sp>
        <p:nvSpPr>
          <p:cNvPr id="1010" name="object-11">
            <a:extLst>
              <a:ext uri="{FF2B5EF4-FFF2-40B4-BE49-F238E27FC236}">
                <a16:creationId xmlns:a16="http://schemas.microsoft.com/office/drawing/2014/main" id="{D6F92907-1ECA-4467-9552-9D5F800B5239}"/>
              </a:ext>
            </a:extLst>
          </p:cNvPr>
          <p:cNvSpPr>
            <a:spLocks noGrp="1"/>
          </p:cNvSpPr>
          <p:nvPr/>
        </p:nvSpPr>
        <p:spPr>
          <a:xfrm>
            <a:off x="2409825" y="3419475"/>
            <a:ext cx="476250" cy="953"/>
          </a:xfrm>
          <a:prstGeom prst="line">
            <a:avLst/>
          </a:prstGeom>
          <a:noFill/>
          <a:ln w="22860">
            <a:solidFill>
              <a:srgbClr val="07368C"/>
            </a:solidFill>
            <a:prstDash val="solid"/>
          </a:ln>
        </p:spPr>
      </p:sp>
      <p:sp>
        <p:nvSpPr>
          <p:cNvPr id="1011" name="object-12">
            <a:extLst>
              <a:ext uri="{FF2B5EF4-FFF2-40B4-BE49-F238E27FC236}">
                <a16:creationId xmlns:a16="http://schemas.microsoft.com/office/drawing/2014/main" id="{44E14B06-8147-4397-97BB-BCADB3D7C4F9}"/>
              </a:ext>
            </a:extLst>
          </p:cNvPr>
          <p:cNvSpPr>
            <a:spLocks noGrp="1"/>
          </p:cNvSpPr>
          <p:nvPr/>
        </p:nvSpPr>
        <p:spPr>
          <a:xfrm>
            <a:off x="2752725" y="3362325"/>
            <a:ext cx="133350" cy="114300"/>
          </a:xfrm>
          <a:prstGeom prst="rightArrow">
            <a:avLst/>
          </a:prstGeom>
          <a:solidFill>
            <a:srgbClr val="07368C"/>
          </a:solidFill>
          <a:ln w="0">
            <a:noFill/>
            <a:prstDash val="solid"/>
          </a:ln>
        </p:spPr>
      </p:sp>
      <p:sp>
        <p:nvSpPr>
          <p:cNvPr id="1012" name="object-13">
            <a:extLst>
              <a:ext uri="{FF2B5EF4-FFF2-40B4-BE49-F238E27FC236}">
                <a16:creationId xmlns:a16="http://schemas.microsoft.com/office/drawing/2014/main" id="{5833E9A5-2884-46B8-9B65-78CC6AD1C669}"/>
              </a:ext>
            </a:extLst>
          </p:cNvPr>
          <p:cNvSpPr>
            <a:spLocks noGrp="1"/>
          </p:cNvSpPr>
          <p:nvPr/>
        </p:nvSpPr>
        <p:spPr>
          <a:xfrm>
            <a:off x="6991350" y="2924175"/>
            <a:ext cx="1219200" cy="523875"/>
          </a:xfrm>
          <a:prstGeom prst="roundRect">
            <a:avLst>
              <a:gd name="adj" fmla="val 14545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P⁰</a:t>
            </a:r>
          </a:p>
        </p:txBody>
      </p:sp>
      <p:sp>
        <p:nvSpPr>
          <p:cNvPr id="1013" name="object-14">
            <a:extLst>
              <a:ext uri="{FF2B5EF4-FFF2-40B4-BE49-F238E27FC236}">
                <a16:creationId xmlns:a16="http://schemas.microsoft.com/office/drawing/2014/main" id="{2521C946-A11C-4725-82DA-2F35A96D72CA}"/>
              </a:ext>
            </a:extLst>
          </p:cNvPr>
          <p:cNvSpPr>
            <a:spLocks noGrp="1"/>
          </p:cNvSpPr>
          <p:nvPr/>
        </p:nvSpPr>
        <p:spPr>
          <a:xfrm>
            <a:off x="8686800" y="2924175"/>
            <a:ext cx="1219200" cy="523875"/>
          </a:xfrm>
          <a:prstGeom prst="roundRect">
            <a:avLst>
              <a:gd name="adj" fmla="val 14545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ξ</a:t>
            </a:r>
          </a:p>
        </p:txBody>
      </p:sp>
      <p:sp>
        <p:nvSpPr>
          <p:cNvPr id="1014" name="object-15">
            <a:extLst>
              <a:ext uri="{FF2B5EF4-FFF2-40B4-BE49-F238E27FC236}">
                <a16:creationId xmlns:a16="http://schemas.microsoft.com/office/drawing/2014/main" id="{72CBBBC2-D9CC-4FFA-AF46-56DD8656069E}"/>
              </a:ext>
            </a:extLst>
          </p:cNvPr>
          <p:cNvSpPr>
            <a:spLocks noGrp="1"/>
          </p:cNvSpPr>
          <p:nvPr/>
        </p:nvSpPr>
        <p:spPr>
          <a:xfrm>
            <a:off x="6819900" y="3533775"/>
            <a:ext cx="156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基础功率</a:t>
            </a:r>
          </a:p>
        </p:txBody>
      </p:sp>
      <p:sp>
        <p:nvSpPr>
          <p:cNvPr id="1015" name="object-16">
            <a:extLst>
              <a:ext uri="{FF2B5EF4-FFF2-40B4-BE49-F238E27FC236}">
                <a16:creationId xmlns:a16="http://schemas.microsoft.com/office/drawing/2014/main" id="{1C0F8968-C460-41C8-9767-661A7E1AD111}"/>
              </a:ext>
            </a:extLst>
          </p:cNvPr>
          <p:cNvSpPr>
            <a:spLocks noGrp="1"/>
          </p:cNvSpPr>
          <p:nvPr/>
        </p:nvSpPr>
        <p:spPr>
          <a:xfrm>
            <a:off x="8524875" y="3533775"/>
            <a:ext cx="1581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容许因子</a:t>
            </a:r>
          </a:p>
        </p:txBody>
      </p:sp>
      <p:sp>
        <p:nvSpPr>
          <p:cNvPr id="1016" name="object-17">
            <a:extLst>
              <a:ext uri="{FF2B5EF4-FFF2-40B4-BE49-F238E27FC236}">
                <a16:creationId xmlns:a16="http://schemas.microsoft.com/office/drawing/2014/main" id="{E3763500-CB3C-442D-B332-B347665EAEE9}"/>
              </a:ext>
            </a:extLst>
          </p:cNvPr>
          <p:cNvSpPr>
            <a:spLocks noGrp="1"/>
          </p:cNvSpPr>
          <p:nvPr/>
        </p:nvSpPr>
        <p:spPr>
          <a:xfrm>
            <a:off x="5810250" y="3267075"/>
            <a:ext cx="723900" cy="953"/>
          </a:xfrm>
          <a:prstGeom prst="line">
            <a:avLst/>
          </a:prstGeom>
          <a:noFill/>
          <a:ln w="22860">
            <a:solidFill>
              <a:srgbClr val="07368C"/>
            </a:solidFill>
            <a:prstDash val="solid"/>
          </a:ln>
        </p:spPr>
      </p:sp>
      <p:sp>
        <p:nvSpPr>
          <p:cNvPr id="1017" name="object-18">
            <a:extLst>
              <a:ext uri="{FF2B5EF4-FFF2-40B4-BE49-F238E27FC236}">
                <a16:creationId xmlns:a16="http://schemas.microsoft.com/office/drawing/2014/main" id="{1D382BD9-48B9-4DA6-8DDC-AE93B4F1B312}"/>
              </a:ext>
            </a:extLst>
          </p:cNvPr>
          <p:cNvSpPr>
            <a:spLocks noGrp="1"/>
          </p:cNvSpPr>
          <p:nvPr/>
        </p:nvSpPr>
        <p:spPr>
          <a:xfrm>
            <a:off x="6534150" y="3181350"/>
            <a:ext cx="953" cy="85725"/>
          </a:xfrm>
          <a:prstGeom prst="line">
            <a:avLst/>
          </a:prstGeom>
          <a:noFill/>
          <a:ln w="22860">
            <a:solidFill>
              <a:srgbClr val="07368C"/>
            </a:solidFill>
            <a:prstDash val="solid"/>
          </a:ln>
        </p:spPr>
      </p:sp>
      <p:sp>
        <p:nvSpPr>
          <p:cNvPr id="1018" name="object-19">
            <a:extLst>
              <a:ext uri="{FF2B5EF4-FFF2-40B4-BE49-F238E27FC236}">
                <a16:creationId xmlns:a16="http://schemas.microsoft.com/office/drawing/2014/main" id="{CF5CD93B-243C-468C-921C-81928BF30F6B}"/>
              </a:ext>
            </a:extLst>
          </p:cNvPr>
          <p:cNvSpPr>
            <a:spLocks noGrp="1"/>
          </p:cNvSpPr>
          <p:nvPr/>
        </p:nvSpPr>
        <p:spPr>
          <a:xfrm>
            <a:off x="6534150" y="3181350"/>
            <a:ext cx="457200" cy="953"/>
          </a:xfrm>
          <a:prstGeom prst="line">
            <a:avLst/>
          </a:prstGeom>
          <a:noFill/>
          <a:ln w="22860">
            <a:solidFill>
              <a:srgbClr val="07368C"/>
            </a:solidFill>
            <a:prstDash val="solid"/>
          </a:ln>
        </p:spPr>
      </p:sp>
      <p:sp>
        <p:nvSpPr>
          <p:cNvPr id="1019" name="object-20">
            <a:extLst>
              <a:ext uri="{FF2B5EF4-FFF2-40B4-BE49-F238E27FC236}">
                <a16:creationId xmlns:a16="http://schemas.microsoft.com/office/drawing/2014/main" id="{4EFB400D-2452-4E51-9A92-0B91534844FB}"/>
              </a:ext>
            </a:extLst>
          </p:cNvPr>
          <p:cNvSpPr>
            <a:spLocks noGrp="1"/>
          </p:cNvSpPr>
          <p:nvPr/>
        </p:nvSpPr>
        <p:spPr>
          <a:xfrm>
            <a:off x="6858000" y="3124200"/>
            <a:ext cx="133350" cy="114300"/>
          </a:xfrm>
          <a:prstGeom prst="rightArrow">
            <a:avLst/>
          </a:prstGeom>
          <a:solidFill>
            <a:srgbClr val="07368C"/>
          </a:solidFill>
          <a:ln w="0">
            <a:noFill/>
            <a:prstDash val="solid"/>
          </a:ln>
        </p:spPr>
      </p:sp>
      <p:sp>
        <p:nvSpPr>
          <p:cNvPr id="1020" name="object-21">
            <a:extLst>
              <a:ext uri="{FF2B5EF4-FFF2-40B4-BE49-F238E27FC236}">
                <a16:creationId xmlns:a16="http://schemas.microsoft.com/office/drawing/2014/main" id="{B85E60BF-DA86-410A-AE84-820E656B4D8E}"/>
              </a:ext>
            </a:extLst>
          </p:cNvPr>
          <p:cNvSpPr>
            <a:spLocks noGrp="1"/>
          </p:cNvSpPr>
          <p:nvPr/>
        </p:nvSpPr>
        <p:spPr>
          <a:xfrm>
            <a:off x="6534150" y="2771775"/>
            <a:ext cx="953" cy="495300"/>
          </a:xfrm>
          <a:prstGeom prst="line">
            <a:avLst/>
          </a:prstGeom>
          <a:noFill/>
          <a:ln w="22860">
            <a:solidFill>
              <a:srgbClr val="07368C"/>
            </a:solidFill>
            <a:prstDash val="solid"/>
          </a:ln>
        </p:spPr>
      </p:sp>
      <p:sp>
        <p:nvSpPr>
          <p:cNvPr id="1021" name="object-22">
            <a:extLst>
              <a:ext uri="{FF2B5EF4-FFF2-40B4-BE49-F238E27FC236}">
                <a16:creationId xmlns:a16="http://schemas.microsoft.com/office/drawing/2014/main" id="{44999F93-A529-470E-B06B-EDF0FBC5DB5D}"/>
              </a:ext>
            </a:extLst>
          </p:cNvPr>
          <p:cNvSpPr>
            <a:spLocks noGrp="1"/>
          </p:cNvSpPr>
          <p:nvPr/>
        </p:nvSpPr>
        <p:spPr>
          <a:xfrm>
            <a:off x="6534150" y="2771775"/>
            <a:ext cx="2762250" cy="953"/>
          </a:xfrm>
          <a:prstGeom prst="line">
            <a:avLst/>
          </a:prstGeom>
          <a:noFill/>
          <a:ln w="22860">
            <a:solidFill>
              <a:srgbClr val="07368C"/>
            </a:solidFill>
            <a:prstDash val="solid"/>
          </a:ln>
        </p:spPr>
      </p:sp>
      <p:sp>
        <p:nvSpPr>
          <p:cNvPr id="1022" name="object-23">
            <a:extLst>
              <a:ext uri="{FF2B5EF4-FFF2-40B4-BE49-F238E27FC236}">
                <a16:creationId xmlns:a16="http://schemas.microsoft.com/office/drawing/2014/main" id="{1AF1FAED-E318-483F-A4C9-A511021BD489}"/>
              </a:ext>
            </a:extLst>
          </p:cNvPr>
          <p:cNvSpPr>
            <a:spLocks noGrp="1"/>
          </p:cNvSpPr>
          <p:nvPr/>
        </p:nvSpPr>
        <p:spPr>
          <a:xfrm>
            <a:off x="9296400" y="2771775"/>
            <a:ext cx="953" cy="152400"/>
          </a:xfrm>
          <a:prstGeom prst="line">
            <a:avLst/>
          </a:prstGeom>
          <a:noFill/>
          <a:ln w="22860">
            <a:solidFill>
              <a:srgbClr val="07368C"/>
            </a:solidFill>
            <a:prstDash val="solid"/>
          </a:ln>
        </p:spPr>
      </p:sp>
      <p:sp>
        <p:nvSpPr>
          <p:cNvPr id="1023" name="object-24">
            <a:extLst>
              <a:ext uri="{FF2B5EF4-FFF2-40B4-BE49-F238E27FC236}">
                <a16:creationId xmlns:a16="http://schemas.microsoft.com/office/drawing/2014/main" id="{6323A65B-62CD-4079-ABD6-23E5D5FA0AFE}"/>
              </a:ext>
            </a:extLst>
          </p:cNvPr>
          <p:cNvSpPr>
            <a:spLocks noGrp="1"/>
          </p:cNvSpPr>
          <p:nvPr/>
        </p:nvSpPr>
        <p:spPr>
          <a:xfrm>
            <a:off x="9239250" y="2790825"/>
            <a:ext cx="114300" cy="133350"/>
          </a:xfrm>
          <a:prstGeom prst="downArrow">
            <a:avLst/>
          </a:prstGeom>
          <a:solidFill>
            <a:srgbClr val="07368C"/>
          </a:solidFill>
          <a:ln w="0">
            <a:noFill/>
            <a:prstDash val="solid"/>
          </a:ln>
        </p:spPr>
      </p:sp>
      <p:sp>
        <p:nvSpPr>
          <p:cNvPr id="1024" name="object-25">
            <a:extLst>
              <a:ext uri="{FF2B5EF4-FFF2-40B4-BE49-F238E27FC236}">
                <a16:creationId xmlns:a16="http://schemas.microsoft.com/office/drawing/2014/main" id="{A694A459-2D0B-41B8-A9AA-4884CF7EE900}"/>
              </a:ext>
            </a:extLst>
          </p:cNvPr>
          <p:cNvSpPr>
            <a:spLocks noGrp="1"/>
          </p:cNvSpPr>
          <p:nvPr/>
        </p:nvSpPr>
        <p:spPr>
          <a:xfrm>
            <a:off x="6953250" y="3829050"/>
            <a:ext cx="31146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3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调度周期内保持</a:t>
            </a:r>
          </a:p>
        </p:txBody>
      </p:sp>
      <p:sp>
        <p:nvSpPr>
          <p:cNvPr id="1025" name="object-26">
            <a:extLst>
              <a:ext uri="{FF2B5EF4-FFF2-40B4-BE49-F238E27FC236}">
                <a16:creationId xmlns:a16="http://schemas.microsoft.com/office/drawing/2014/main" id="{7E481CB2-FCDC-484F-B601-FAB09AC46B89}"/>
              </a:ext>
            </a:extLst>
          </p:cNvPr>
          <p:cNvSpPr>
            <a:spLocks noGrp="1"/>
          </p:cNvSpPr>
          <p:nvPr/>
        </p:nvSpPr>
        <p:spPr>
          <a:xfrm>
            <a:off x="333375" y="4238625"/>
            <a:ext cx="10382250" cy="2181225"/>
          </a:xfrm>
          <a:prstGeom prst="rect">
            <a:avLst/>
          </a:prstGeom>
          <a:solidFill>
            <a:srgbClr val="FFF9ED"/>
          </a:solidFill>
          <a:ln w="9525">
            <a:noFill/>
            <a:prstDash val="solid"/>
          </a:ln>
        </p:spPr>
      </p:sp>
      <p:sp>
        <p:nvSpPr>
          <p:cNvPr id="1026" name="object-27">
            <a:extLst>
              <a:ext uri="{FF2B5EF4-FFF2-40B4-BE49-F238E27FC236}">
                <a16:creationId xmlns:a16="http://schemas.microsoft.com/office/drawing/2014/main" id="{7339AB54-F1C3-44DA-ADCA-A3B1D099D1D8}"/>
              </a:ext>
            </a:extLst>
          </p:cNvPr>
          <p:cNvSpPr>
            <a:spLocks noGrp="1"/>
          </p:cNvSpPr>
          <p:nvPr/>
        </p:nvSpPr>
        <p:spPr>
          <a:xfrm>
            <a:off x="409575" y="4286250"/>
            <a:ext cx="1666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95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rPr>
              <a:t>二级控制</a:t>
            </a:r>
          </a:p>
        </p:txBody>
      </p:sp>
      <p:sp>
        <p:nvSpPr>
          <p:cNvPr id="1027" name="object-28">
            <a:extLst>
              <a:ext uri="{FF2B5EF4-FFF2-40B4-BE49-F238E27FC236}">
                <a16:creationId xmlns:a16="http://schemas.microsoft.com/office/drawing/2014/main" id="{24E9A2F0-EC00-46E9-9EAF-64C15B91F2CC}"/>
              </a:ext>
            </a:extLst>
          </p:cNvPr>
          <p:cNvSpPr>
            <a:spLocks noGrp="1"/>
          </p:cNvSpPr>
          <p:nvPr/>
        </p:nvSpPr>
        <p:spPr>
          <a:xfrm>
            <a:off x="438150" y="4762500"/>
            <a:ext cx="1466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5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频率偏差</a:t>
            </a:r>
          </a:p>
        </p:txBody>
      </p:sp>
      <p:sp>
        <p:nvSpPr>
          <p:cNvPr id="1028" name="object-29">
            <a:extLst>
              <a:ext uri="{FF2B5EF4-FFF2-40B4-BE49-F238E27FC236}">
                <a16:creationId xmlns:a16="http://schemas.microsoft.com/office/drawing/2014/main" id="{BA175059-338A-4F8E-913E-FC203C8B05BD}"/>
              </a:ext>
            </a:extLst>
          </p:cNvPr>
          <p:cNvSpPr>
            <a:spLocks noGrp="1"/>
          </p:cNvSpPr>
          <p:nvPr/>
        </p:nvSpPr>
        <p:spPr>
          <a:xfrm>
            <a:off x="2028825" y="470535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6A25"/>
            </a:solidFill>
            <a:prstDash val="solid"/>
          </a:ln>
        </p:spPr>
      </p:sp>
      <p:sp>
        <p:nvSpPr>
          <p:cNvPr id="1029" name="object-30">
            <a:extLst>
              <a:ext uri="{FF2B5EF4-FFF2-40B4-BE49-F238E27FC236}">
                <a16:creationId xmlns:a16="http://schemas.microsoft.com/office/drawing/2014/main" id="{D6A97766-AC30-4930-AABB-05BA06CEC601}"/>
              </a:ext>
            </a:extLst>
          </p:cNvPr>
          <p:cNvSpPr>
            <a:spLocks noGrp="1"/>
          </p:cNvSpPr>
          <p:nvPr/>
        </p:nvSpPr>
        <p:spPr>
          <a:xfrm>
            <a:off x="1990725" y="4695825"/>
            <a:ext cx="523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80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rPr>
              <a:t>Σ</a:t>
            </a:r>
          </a:p>
        </p:txBody>
      </p:sp>
      <p:sp>
        <p:nvSpPr>
          <p:cNvPr id="1030" name="object-31">
            <a:extLst>
              <a:ext uri="{FF2B5EF4-FFF2-40B4-BE49-F238E27FC236}">
                <a16:creationId xmlns:a16="http://schemas.microsoft.com/office/drawing/2014/main" id="{47AEFDFB-60D6-489F-BD88-8FE1827E9872}"/>
              </a:ext>
            </a:extLst>
          </p:cNvPr>
          <p:cNvSpPr>
            <a:spLocks noGrp="1"/>
          </p:cNvSpPr>
          <p:nvPr/>
        </p:nvSpPr>
        <p:spPr>
          <a:xfrm>
            <a:off x="2886075" y="4667250"/>
            <a:ext cx="2143125" cy="542925"/>
          </a:xfrm>
          <a:prstGeom prst="roundRect">
            <a:avLst>
              <a:gd name="adj" fmla="val 14035"/>
            </a:avLst>
          </a:prstGeom>
          <a:solidFill>
            <a:srgbClr val="FFF0D5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频率积分</a:t>
            </a:r>
          </a:p>
        </p:txBody>
      </p:sp>
      <p:sp>
        <p:nvSpPr>
          <p:cNvPr id="1031" name="object-32">
            <a:extLst>
              <a:ext uri="{FF2B5EF4-FFF2-40B4-BE49-F238E27FC236}">
                <a16:creationId xmlns:a16="http://schemas.microsoft.com/office/drawing/2014/main" id="{56B1C7F4-B3E8-4F52-9E57-86AC66DAF42B}"/>
              </a:ext>
            </a:extLst>
          </p:cNvPr>
          <p:cNvSpPr>
            <a:spLocks noGrp="1"/>
          </p:cNvSpPr>
          <p:nvPr/>
        </p:nvSpPr>
        <p:spPr>
          <a:xfrm>
            <a:off x="1762125" y="4924425"/>
            <a:ext cx="266700" cy="953"/>
          </a:xfrm>
          <a:prstGeom prst="line">
            <a:avLst/>
          </a:prstGeom>
          <a:noFill/>
          <a:ln w="22860">
            <a:solidFill>
              <a:srgbClr val="D16A25"/>
            </a:solidFill>
            <a:prstDash val="solid"/>
          </a:ln>
        </p:spPr>
      </p:sp>
      <p:sp>
        <p:nvSpPr>
          <p:cNvPr id="1032" name="object-33">
            <a:extLst>
              <a:ext uri="{FF2B5EF4-FFF2-40B4-BE49-F238E27FC236}">
                <a16:creationId xmlns:a16="http://schemas.microsoft.com/office/drawing/2014/main" id="{A74DD8DB-5E85-4541-8F8E-B7FC1A535689}"/>
              </a:ext>
            </a:extLst>
          </p:cNvPr>
          <p:cNvSpPr>
            <a:spLocks noGrp="1"/>
          </p:cNvSpPr>
          <p:nvPr/>
        </p:nvSpPr>
        <p:spPr>
          <a:xfrm>
            <a:off x="1895475" y="4867275"/>
            <a:ext cx="133350" cy="114300"/>
          </a:xfrm>
          <a:prstGeom prst="rightArrow">
            <a:avLst/>
          </a:prstGeom>
          <a:solidFill>
            <a:srgbClr val="D16A25"/>
          </a:solidFill>
          <a:ln w="0">
            <a:noFill/>
            <a:prstDash val="solid"/>
          </a:ln>
        </p:spPr>
      </p:sp>
      <p:sp>
        <p:nvSpPr>
          <p:cNvPr id="1033" name="object-34">
            <a:extLst>
              <a:ext uri="{FF2B5EF4-FFF2-40B4-BE49-F238E27FC236}">
                <a16:creationId xmlns:a16="http://schemas.microsoft.com/office/drawing/2014/main" id="{675126AB-D2DF-41F2-9039-1840B44A520A}"/>
              </a:ext>
            </a:extLst>
          </p:cNvPr>
          <p:cNvSpPr>
            <a:spLocks noGrp="1"/>
          </p:cNvSpPr>
          <p:nvPr/>
        </p:nvSpPr>
        <p:spPr>
          <a:xfrm>
            <a:off x="2466975" y="4924425"/>
            <a:ext cx="419100" cy="953"/>
          </a:xfrm>
          <a:prstGeom prst="line">
            <a:avLst/>
          </a:prstGeom>
          <a:noFill/>
          <a:ln w="22860">
            <a:solidFill>
              <a:srgbClr val="D16A25"/>
            </a:solidFill>
            <a:prstDash val="solid"/>
          </a:ln>
        </p:spPr>
      </p:sp>
      <p:sp>
        <p:nvSpPr>
          <p:cNvPr id="1034" name="object-35">
            <a:extLst>
              <a:ext uri="{FF2B5EF4-FFF2-40B4-BE49-F238E27FC236}">
                <a16:creationId xmlns:a16="http://schemas.microsoft.com/office/drawing/2014/main" id="{5853B2B3-A4A0-435E-B017-4500939E5D3A}"/>
              </a:ext>
            </a:extLst>
          </p:cNvPr>
          <p:cNvSpPr>
            <a:spLocks noGrp="1"/>
          </p:cNvSpPr>
          <p:nvPr/>
        </p:nvSpPr>
        <p:spPr>
          <a:xfrm>
            <a:off x="2752725" y="4867275"/>
            <a:ext cx="133350" cy="114300"/>
          </a:xfrm>
          <a:prstGeom prst="rightArrow">
            <a:avLst/>
          </a:prstGeom>
          <a:solidFill>
            <a:srgbClr val="D16A25"/>
          </a:solidFill>
          <a:ln w="0">
            <a:noFill/>
            <a:prstDash val="solid"/>
          </a:ln>
        </p:spPr>
      </p:sp>
      <p:sp>
        <p:nvSpPr>
          <p:cNvPr id="1035" name="object-36">
            <a:extLst>
              <a:ext uri="{FF2B5EF4-FFF2-40B4-BE49-F238E27FC236}">
                <a16:creationId xmlns:a16="http://schemas.microsoft.com/office/drawing/2014/main" id="{26EF9ECB-D27C-428D-A5C6-ABDDD7FF214F}"/>
              </a:ext>
            </a:extLst>
          </p:cNvPr>
          <p:cNvSpPr>
            <a:spLocks noGrp="1"/>
          </p:cNvSpPr>
          <p:nvPr/>
        </p:nvSpPr>
        <p:spPr>
          <a:xfrm>
            <a:off x="428625" y="5581650"/>
            <a:ext cx="1676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5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总功率偏差 ΔP</a:t>
            </a:r>
          </a:p>
        </p:txBody>
      </p:sp>
      <p:sp>
        <p:nvSpPr>
          <p:cNvPr id="1036" name="object-37">
            <a:extLst>
              <a:ext uri="{FF2B5EF4-FFF2-40B4-BE49-F238E27FC236}">
                <a16:creationId xmlns:a16="http://schemas.microsoft.com/office/drawing/2014/main" id="{C4B32FBC-74ED-40A8-BB37-B848C70C9457}"/>
              </a:ext>
            </a:extLst>
          </p:cNvPr>
          <p:cNvSpPr>
            <a:spLocks noGrp="1"/>
          </p:cNvSpPr>
          <p:nvPr/>
        </p:nvSpPr>
        <p:spPr>
          <a:xfrm>
            <a:off x="2886075" y="5514975"/>
            <a:ext cx="2143125" cy="533400"/>
          </a:xfrm>
          <a:prstGeom prst="roundRect">
            <a:avLst>
              <a:gd name="adj" fmla="val 14286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8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P⁰ + ξΔP</a:t>
            </a:r>
          </a:p>
        </p:txBody>
      </p:sp>
      <p:sp>
        <p:nvSpPr>
          <p:cNvPr id="1037" name="object-38">
            <a:extLst>
              <a:ext uri="{FF2B5EF4-FFF2-40B4-BE49-F238E27FC236}">
                <a16:creationId xmlns:a16="http://schemas.microsoft.com/office/drawing/2014/main" id="{5E51DB07-A001-4309-AAD0-AA9F46865F98}"/>
              </a:ext>
            </a:extLst>
          </p:cNvPr>
          <p:cNvSpPr>
            <a:spLocks noGrp="1"/>
          </p:cNvSpPr>
          <p:nvPr/>
        </p:nvSpPr>
        <p:spPr>
          <a:xfrm>
            <a:off x="2114550" y="5781675"/>
            <a:ext cx="771525" cy="953"/>
          </a:xfrm>
          <a:prstGeom prst="line">
            <a:avLst/>
          </a:prstGeom>
          <a:noFill/>
          <a:ln w="22860">
            <a:solidFill>
              <a:srgbClr val="07368C"/>
            </a:solidFill>
            <a:prstDash val="solid"/>
          </a:ln>
        </p:spPr>
      </p:sp>
      <p:sp>
        <p:nvSpPr>
          <p:cNvPr id="1038" name="object-39">
            <a:extLst>
              <a:ext uri="{FF2B5EF4-FFF2-40B4-BE49-F238E27FC236}">
                <a16:creationId xmlns:a16="http://schemas.microsoft.com/office/drawing/2014/main" id="{D73EEED2-BAAA-4577-BA8E-00021D6F053C}"/>
              </a:ext>
            </a:extLst>
          </p:cNvPr>
          <p:cNvSpPr>
            <a:spLocks noGrp="1"/>
          </p:cNvSpPr>
          <p:nvPr/>
        </p:nvSpPr>
        <p:spPr>
          <a:xfrm>
            <a:off x="2752725" y="5724525"/>
            <a:ext cx="133350" cy="114300"/>
          </a:xfrm>
          <a:prstGeom prst="rightArrow">
            <a:avLst/>
          </a:prstGeom>
          <a:solidFill>
            <a:srgbClr val="07368C"/>
          </a:solidFill>
          <a:ln w="0">
            <a:noFill/>
            <a:prstDash val="solid"/>
          </a:ln>
        </p:spPr>
      </p:sp>
      <p:sp>
        <p:nvSpPr>
          <p:cNvPr id="1039" name="object-40">
            <a:extLst>
              <a:ext uri="{FF2B5EF4-FFF2-40B4-BE49-F238E27FC236}">
                <a16:creationId xmlns:a16="http://schemas.microsoft.com/office/drawing/2014/main" id="{FE5838B0-66A0-4C1E-B65B-35BDCA40CDB8}"/>
              </a:ext>
            </a:extLst>
          </p:cNvPr>
          <p:cNvSpPr>
            <a:spLocks noGrp="1"/>
          </p:cNvSpPr>
          <p:nvPr/>
        </p:nvSpPr>
        <p:spPr>
          <a:xfrm>
            <a:off x="7600950" y="3448050"/>
            <a:ext cx="953" cy="742950"/>
          </a:xfrm>
          <a:prstGeom prst="line">
            <a:avLst/>
          </a:prstGeom>
          <a:noFill/>
          <a:ln w="22860">
            <a:solidFill>
              <a:srgbClr val="1673CE"/>
            </a:solidFill>
            <a:prstDash val="dash"/>
          </a:ln>
        </p:spPr>
      </p:sp>
      <p:sp>
        <p:nvSpPr>
          <p:cNvPr id="1040" name="object-41">
            <a:extLst>
              <a:ext uri="{FF2B5EF4-FFF2-40B4-BE49-F238E27FC236}">
                <a16:creationId xmlns:a16="http://schemas.microsoft.com/office/drawing/2014/main" id="{E45BD1AB-C516-4EEA-BF18-5488D6E7FB1D}"/>
              </a:ext>
            </a:extLst>
          </p:cNvPr>
          <p:cNvSpPr>
            <a:spLocks noGrp="1"/>
          </p:cNvSpPr>
          <p:nvPr/>
        </p:nvSpPr>
        <p:spPr>
          <a:xfrm>
            <a:off x="5476875" y="4191000"/>
            <a:ext cx="2124075" cy="953"/>
          </a:xfrm>
          <a:prstGeom prst="line">
            <a:avLst/>
          </a:prstGeom>
          <a:noFill/>
          <a:ln w="22860">
            <a:solidFill>
              <a:srgbClr val="1673CE"/>
            </a:solidFill>
            <a:prstDash val="dash"/>
          </a:ln>
        </p:spPr>
      </p:sp>
      <p:sp>
        <p:nvSpPr>
          <p:cNvPr id="1041" name="object-42">
            <a:extLst>
              <a:ext uri="{FF2B5EF4-FFF2-40B4-BE49-F238E27FC236}">
                <a16:creationId xmlns:a16="http://schemas.microsoft.com/office/drawing/2014/main" id="{B6AD7D74-0170-47EE-8DA8-3780AF59DB59}"/>
              </a:ext>
            </a:extLst>
          </p:cNvPr>
          <p:cNvSpPr>
            <a:spLocks noGrp="1"/>
          </p:cNvSpPr>
          <p:nvPr/>
        </p:nvSpPr>
        <p:spPr>
          <a:xfrm>
            <a:off x="5476875" y="4191000"/>
            <a:ext cx="953" cy="1323975"/>
          </a:xfrm>
          <a:prstGeom prst="line">
            <a:avLst/>
          </a:prstGeom>
          <a:noFill/>
          <a:ln w="22860">
            <a:solidFill>
              <a:srgbClr val="1673CE"/>
            </a:solidFill>
            <a:prstDash val="dash"/>
          </a:ln>
        </p:spPr>
      </p:sp>
      <p:sp>
        <p:nvSpPr>
          <p:cNvPr id="1042" name="object-43">
            <a:extLst>
              <a:ext uri="{FF2B5EF4-FFF2-40B4-BE49-F238E27FC236}">
                <a16:creationId xmlns:a16="http://schemas.microsoft.com/office/drawing/2014/main" id="{6F78F819-C754-40EC-B1E4-9F22D3BA8094}"/>
              </a:ext>
            </a:extLst>
          </p:cNvPr>
          <p:cNvSpPr>
            <a:spLocks noGrp="1"/>
          </p:cNvSpPr>
          <p:nvPr/>
        </p:nvSpPr>
        <p:spPr>
          <a:xfrm>
            <a:off x="5029200" y="5514975"/>
            <a:ext cx="447675" cy="953"/>
          </a:xfrm>
          <a:prstGeom prst="line">
            <a:avLst/>
          </a:prstGeom>
          <a:noFill/>
          <a:ln w="22860">
            <a:solidFill>
              <a:srgbClr val="1673CE"/>
            </a:solidFill>
            <a:prstDash val="dash"/>
          </a:ln>
        </p:spPr>
      </p:sp>
      <p:sp>
        <p:nvSpPr>
          <p:cNvPr id="1043" name="object-44">
            <a:extLst>
              <a:ext uri="{FF2B5EF4-FFF2-40B4-BE49-F238E27FC236}">
                <a16:creationId xmlns:a16="http://schemas.microsoft.com/office/drawing/2014/main" id="{95A80306-BA67-48B8-8D53-17F80CD7EAB2}"/>
              </a:ext>
            </a:extLst>
          </p:cNvPr>
          <p:cNvSpPr>
            <a:spLocks noGrp="1"/>
          </p:cNvSpPr>
          <p:nvPr/>
        </p:nvSpPr>
        <p:spPr>
          <a:xfrm>
            <a:off x="5029200" y="5457825"/>
            <a:ext cx="133350" cy="114300"/>
          </a:xfrm>
          <a:prstGeom prst="leftArrow">
            <a:avLst/>
          </a:prstGeom>
          <a:solidFill>
            <a:srgbClr val="1673CE"/>
          </a:solidFill>
          <a:ln w="0">
            <a:noFill/>
            <a:prstDash val="solid"/>
          </a:ln>
        </p:spPr>
      </p:sp>
      <p:sp>
        <p:nvSpPr>
          <p:cNvPr id="1044" name="object-45">
            <a:extLst>
              <a:ext uri="{FF2B5EF4-FFF2-40B4-BE49-F238E27FC236}">
                <a16:creationId xmlns:a16="http://schemas.microsoft.com/office/drawing/2014/main" id="{16C0DC1B-89F0-41B9-B22B-35C4F0839C06}"/>
              </a:ext>
            </a:extLst>
          </p:cNvPr>
          <p:cNvSpPr>
            <a:spLocks noGrp="1"/>
          </p:cNvSpPr>
          <p:nvPr/>
        </p:nvSpPr>
        <p:spPr>
          <a:xfrm>
            <a:off x="9296400" y="3448050"/>
            <a:ext cx="953" cy="857250"/>
          </a:xfrm>
          <a:prstGeom prst="line">
            <a:avLst/>
          </a:prstGeom>
          <a:noFill/>
          <a:ln w="22860">
            <a:solidFill>
              <a:srgbClr val="1673CE"/>
            </a:solidFill>
            <a:prstDash val="dash"/>
          </a:ln>
        </p:spPr>
      </p:sp>
      <p:sp>
        <p:nvSpPr>
          <p:cNvPr id="1045" name="object-46">
            <a:extLst>
              <a:ext uri="{FF2B5EF4-FFF2-40B4-BE49-F238E27FC236}">
                <a16:creationId xmlns:a16="http://schemas.microsoft.com/office/drawing/2014/main" id="{AB6D33E9-1034-455B-BCC0-EA6FD3078A97}"/>
              </a:ext>
            </a:extLst>
          </p:cNvPr>
          <p:cNvSpPr>
            <a:spLocks noGrp="1"/>
          </p:cNvSpPr>
          <p:nvPr/>
        </p:nvSpPr>
        <p:spPr>
          <a:xfrm>
            <a:off x="5686425" y="4305300"/>
            <a:ext cx="3609975" cy="953"/>
          </a:xfrm>
          <a:prstGeom prst="line">
            <a:avLst/>
          </a:prstGeom>
          <a:noFill/>
          <a:ln w="22860">
            <a:solidFill>
              <a:srgbClr val="1673CE"/>
            </a:solidFill>
            <a:prstDash val="dash"/>
          </a:ln>
        </p:spPr>
      </p:sp>
      <p:sp>
        <p:nvSpPr>
          <p:cNvPr id="1046" name="object-47">
            <a:extLst>
              <a:ext uri="{FF2B5EF4-FFF2-40B4-BE49-F238E27FC236}">
                <a16:creationId xmlns:a16="http://schemas.microsoft.com/office/drawing/2014/main" id="{73F6B25A-FB45-4FB4-B12F-5741D9C1F24C}"/>
              </a:ext>
            </a:extLst>
          </p:cNvPr>
          <p:cNvSpPr>
            <a:spLocks noGrp="1"/>
          </p:cNvSpPr>
          <p:nvPr/>
        </p:nvSpPr>
        <p:spPr>
          <a:xfrm>
            <a:off x="5686425" y="4305300"/>
            <a:ext cx="953" cy="1514475"/>
          </a:xfrm>
          <a:prstGeom prst="line">
            <a:avLst/>
          </a:prstGeom>
          <a:noFill/>
          <a:ln w="22860">
            <a:solidFill>
              <a:srgbClr val="1673CE"/>
            </a:solidFill>
            <a:prstDash val="dash"/>
          </a:ln>
        </p:spPr>
      </p:sp>
      <p:sp>
        <p:nvSpPr>
          <p:cNvPr id="1047" name="object-48">
            <a:extLst>
              <a:ext uri="{FF2B5EF4-FFF2-40B4-BE49-F238E27FC236}">
                <a16:creationId xmlns:a16="http://schemas.microsoft.com/office/drawing/2014/main" id="{1D64BC22-55C5-4DDB-B6E3-2895585A87C9}"/>
              </a:ext>
            </a:extLst>
          </p:cNvPr>
          <p:cNvSpPr>
            <a:spLocks noGrp="1"/>
          </p:cNvSpPr>
          <p:nvPr/>
        </p:nvSpPr>
        <p:spPr>
          <a:xfrm>
            <a:off x="5029200" y="5819775"/>
            <a:ext cx="657225" cy="953"/>
          </a:xfrm>
          <a:prstGeom prst="line">
            <a:avLst/>
          </a:prstGeom>
          <a:noFill/>
          <a:ln w="22860">
            <a:solidFill>
              <a:srgbClr val="1673CE"/>
            </a:solidFill>
            <a:prstDash val="dash"/>
          </a:ln>
        </p:spPr>
      </p:sp>
      <p:sp>
        <p:nvSpPr>
          <p:cNvPr id="1048" name="object-49">
            <a:extLst>
              <a:ext uri="{FF2B5EF4-FFF2-40B4-BE49-F238E27FC236}">
                <a16:creationId xmlns:a16="http://schemas.microsoft.com/office/drawing/2014/main" id="{4E9B87DB-F5AA-4D35-BB4B-71E1330F268F}"/>
              </a:ext>
            </a:extLst>
          </p:cNvPr>
          <p:cNvSpPr>
            <a:spLocks noGrp="1"/>
          </p:cNvSpPr>
          <p:nvPr/>
        </p:nvSpPr>
        <p:spPr>
          <a:xfrm>
            <a:off x="5029200" y="5762625"/>
            <a:ext cx="133350" cy="114300"/>
          </a:xfrm>
          <a:prstGeom prst="leftArrow">
            <a:avLst/>
          </a:prstGeom>
          <a:solidFill>
            <a:srgbClr val="1673CE"/>
          </a:solidFill>
          <a:ln w="0">
            <a:noFill/>
            <a:prstDash val="solid"/>
          </a:ln>
        </p:spPr>
      </p:sp>
      <p:sp>
        <p:nvSpPr>
          <p:cNvPr id="1049" name="object-50">
            <a:extLst>
              <a:ext uri="{FF2B5EF4-FFF2-40B4-BE49-F238E27FC236}">
                <a16:creationId xmlns:a16="http://schemas.microsoft.com/office/drawing/2014/main" id="{3022D9E7-9462-4FC4-9AF7-2F2A24D1A099}"/>
              </a:ext>
            </a:extLst>
          </p:cNvPr>
          <p:cNvSpPr>
            <a:spLocks noGrp="1"/>
          </p:cNvSpPr>
          <p:nvPr/>
        </p:nvSpPr>
        <p:spPr>
          <a:xfrm>
            <a:off x="5705475" y="556260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6A25"/>
            </a:solidFill>
            <a:prstDash val="solid"/>
          </a:ln>
        </p:spPr>
      </p:sp>
      <p:sp>
        <p:nvSpPr>
          <p:cNvPr id="1050" name="object-51">
            <a:extLst>
              <a:ext uri="{FF2B5EF4-FFF2-40B4-BE49-F238E27FC236}">
                <a16:creationId xmlns:a16="http://schemas.microsoft.com/office/drawing/2014/main" id="{617E4363-7133-436C-8A0B-C5022B5C8A46}"/>
              </a:ext>
            </a:extLst>
          </p:cNvPr>
          <p:cNvSpPr>
            <a:spLocks noGrp="1"/>
          </p:cNvSpPr>
          <p:nvPr/>
        </p:nvSpPr>
        <p:spPr>
          <a:xfrm>
            <a:off x="5667375" y="5553075"/>
            <a:ext cx="523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80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rPr>
              <a:t>Σ</a:t>
            </a:r>
          </a:p>
        </p:txBody>
      </p:sp>
      <p:sp>
        <p:nvSpPr>
          <p:cNvPr id="1051" name="object-52">
            <a:extLst>
              <a:ext uri="{FF2B5EF4-FFF2-40B4-BE49-F238E27FC236}">
                <a16:creationId xmlns:a16="http://schemas.microsoft.com/office/drawing/2014/main" id="{8CF16F94-9695-45EC-9331-B99A2E1F590D}"/>
              </a:ext>
            </a:extLst>
          </p:cNvPr>
          <p:cNvSpPr>
            <a:spLocks noGrp="1"/>
          </p:cNvSpPr>
          <p:nvPr/>
        </p:nvSpPr>
        <p:spPr>
          <a:xfrm>
            <a:off x="5029200" y="5781675"/>
            <a:ext cx="676275" cy="953"/>
          </a:xfrm>
          <a:prstGeom prst="line">
            <a:avLst/>
          </a:prstGeom>
          <a:noFill/>
          <a:ln w="22860">
            <a:solidFill>
              <a:srgbClr val="D16A25"/>
            </a:solidFill>
            <a:prstDash val="solid"/>
          </a:ln>
        </p:spPr>
      </p:sp>
      <p:sp>
        <p:nvSpPr>
          <p:cNvPr id="1052" name="object-53">
            <a:extLst>
              <a:ext uri="{FF2B5EF4-FFF2-40B4-BE49-F238E27FC236}">
                <a16:creationId xmlns:a16="http://schemas.microsoft.com/office/drawing/2014/main" id="{B745E15E-1F14-48BE-9F9D-F83DE99A9F0F}"/>
              </a:ext>
            </a:extLst>
          </p:cNvPr>
          <p:cNvSpPr>
            <a:spLocks noGrp="1"/>
          </p:cNvSpPr>
          <p:nvPr/>
        </p:nvSpPr>
        <p:spPr>
          <a:xfrm>
            <a:off x="5572125" y="5724525"/>
            <a:ext cx="133350" cy="114300"/>
          </a:xfrm>
          <a:prstGeom prst="rightArrow">
            <a:avLst/>
          </a:prstGeom>
          <a:solidFill>
            <a:srgbClr val="D16A25"/>
          </a:solidFill>
          <a:ln w="0">
            <a:noFill/>
            <a:prstDash val="solid"/>
          </a:ln>
        </p:spPr>
      </p:sp>
      <p:sp>
        <p:nvSpPr>
          <p:cNvPr id="1053" name="object-54">
            <a:extLst>
              <a:ext uri="{FF2B5EF4-FFF2-40B4-BE49-F238E27FC236}">
                <a16:creationId xmlns:a16="http://schemas.microsoft.com/office/drawing/2014/main" id="{13B99C12-564E-47E8-B5A5-EE506BC1723E}"/>
              </a:ext>
            </a:extLst>
          </p:cNvPr>
          <p:cNvSpPr>
            <a:spLocks noGrp="1"/>
          </p:cNvSpPr>
          <p:nvPr/>
        </p:nvSpPr>
        <p:spPr>
          <a:xfrm>
            <a:off x="5610225" y="6076950"/>
            <a:ext cx="7905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350" b="0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0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rPr>
              <a:t>− Pe</a:t>
            </a:r>
          </a:p>
        </p:txBody>
      </p:sp>
      <p:sp>
        <p:nvSpPr>
          <p:cNvPr id="1054" name="object-55">
            <a:extLst>
              <a:ext uri="{FF2B5EF4-FFF2-40B4-BE49-F238E27FC236}">
                <a16:creationId xmlns:a16="http://schemas.microsoft.com/office/drawing/2014/main" id="{FA08BB67-7020-448A-98F4-DEC3E09C0ADA}"/>
              </a:ext>
            </a:extLst>
          </p:cNvPr>
          <p:cNvSpPr>
            <a:spLocks noGrp="1"/>
          </p:cNvSpPr>
          <p:nvPr/>
        </p:nvSpPr>
        <p:spPr>
          <a:xfrm>
            <a:off x="6743700" y="5514975"/>
            <a:ext cx="2305050" cy="542925"/>
          </a:xfrm>
          <a:prstGeom prst="roundRect">
            <a:avLst>
              <a:gd name="adj" fmla="val 14035"/>
            </a:avLst>
          </a:prstGeom>
          <a:solidFill>
            <a:srgbClr val="FFE6D9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功率误差积分</a:t>
            </a:r>
          </a:p>
        </p:txBody>
      </p:sp>
      <p:sp>
        <p:nvSpPr>
          <p:cNvPr id="1055" name="object-56">
            <a:extLst>
              <a:ext uri="{FF2B5EF4-FFF2-40B4-BE49-F238E27FC236}">
                <a16:creationId xmlns:a16="http://schemas.microsoft.com/office/drawing/2014/main" id="{1E5CC044-DE05-4F24-90B0-C5672BB6B149}"/>
              </a:ext>
            </a:extLst>
          </p:cNvPr>
          <p:cNvSpPr>
            <a:spLocks noGrp="1"/>
          </p:cNvSpPr>
          <p:nvPr/>
        </p:nvSpPr>
        <p:spPr>
          <a:xfrm>
            <a:off x="6143625" y="5781675"/>
            <a:ext cx="600075" cy="953"/>
          </a:xfrm>
          <a:prstGeom prst="line">
            <a:avLst/>
          </a:prstGeom>
          <a:noFill/>
          <a:ln w="22860">
            <a:solidFill>
              <a:srgbClr val="D16A25"/>
            </a:solidFill>
            <a:prstDash val="solid"/>
          </a:ln>
        </p:spPr>
      </p:sp>
      <p:sp>
        <p:nvSpPr>
          <p:cNvPr id="1056" name="object-57">
            <a:extLst>
              <a:ext uri="{FF2B5EF4-FFF2-40B4-BE49-F238E27FC236}">
                <a16:creationId xmlns:a16="http://schemas.microsoft.com/office/drawing/2014/main" id="{2C13ED62-AF1F-46B8-8CFF-1B320F622072}"/>
              </a:ext>
            </a:extLst>
          </p:cNvPr>
          <p:cNvSpPr>
            <a:spLocks noGrp="1"/>
          </p:cNvSpPr>
          <p:nvPr/>
        </p:nvSpPr>
        <p:spPr>
          <a:xfrm>
            <a:off x="6610350" y="5724525"/>
            <a:ext cx="133350" cy="114300"/>
          </a:xfrm>
          <a:prstGeom prst="rightArrow">
            <a:avLst/>
          </a:prstGeom>
          <a:solidFill>
            <a:srgbClr val="D16A25"/>
          </a:solidFill>
          <a:ln w="0">
            <a:noFill/>
            <a:prstDash val="solid"/>
          </a:ln>
        </p:spPr>
      </p:sp>
      <p:sp>
        <p:nvSpPr>
          <p:cNvPr id="1057" name="object-58">
            <a:extLst>
              <a:ext uri="{FF2B5EF4-FFF2-40B4-BE49-F238E27FC236}">
                <a16:creationId xmlns:a16="http://schemas.microsoft.com/office/drawing/2014/main" id="{9CD9C314-AE97-4C5D-A08C-0E2FC79F379D}"/>
              </a:ext>
            </a:extLst>
          </p:cNvPr>
          <p:cNvSpPr>
            <a:spLocks noGrp="1"/>
          </p:cNvSpPr>
          <p:nvPr/>
        </p:nvSpPr>
        <p:spPr>
          <a:xfrm>
            <a:off x="5029200" y="4924425"/>
            <a:ext cx="4905375" cy="953"/>
          </a:xfrm>
          <a:prstGeom prst="line">
            <a:avLst/>
          </a:prstGeom>
          <a:noFill/>
          <a:ln w="22860">
            <a:solidFill>
              <a:srgbClr val="D16A25"/>
            </a:solidFill>
            <a:prstDash val="solid"/>
          </a:ln>
        </p:spPr>
      </p:sp>
      <p:sp>
        <p:nvSpPr>
          <p:cNvPr id="1058" name="object-59">
            <a:extLst>
              <a:ext uri="{FF2B5EF4-FFF2-40B4-BE49-F238E27FC236}">
                <a16:creationId xmlns:a16="http://schemas.microsoft.com/office/drawing/2014/main" id="{825F86DF-1BDC-4388-929C-A19D05852B24}"/>
              </a:ext>
            </a:extLst>
          </p:cNvPr>
          <p:cNvSpPr>
            <a:spLocks noGrp="1"/>
          </p:cNvSpPr>
          <p:nvPr/>
        </p:nvSpPr>
        <p:spPr>
          <a:xfrm>
            <a:off x="9934575" y="4924425"/>
            <a:ext cx="953" cy="276225"/>
          </a:xfrm>
          <a:prstGeom prst="line">
            <a:avLst/>
          </a:prstGeom>
          <a:noFill/>
          <a:ln w="22860">
            <a:solidFill>
              <a:srgbClr val="D16A25"/>
            </a:solidFill>
            <a:prstDash val="solid"/>
          </a:ln>
        </p:spPr>
      </p:sp>
      <p:sp>
        <p:nvSpPr>
          <p:cNvPr id="1059" name="object-60">
            <a:extLst>
              <a:ext uri="{FF2B5EF4-FFF2-40B4-BE49-F238E27FC236}">
                <a16:creationId xmlns:a16="http://schemas.microsoft.com/office/drawing/2014/main" id="{484F863E-C00F-4139-979C-5507F4A4F24F}"/>
              </a:ext>
            </a:extLst>
          </p:cNvPr>
          <p:cNvSpPr>
            <a:spLocks noGrp="1"/>
          </p:cNvSpPr>
          <p:nvPr/>
        </p:nvSpPr>
        <p:spPr>
          <a:xfrm>
            <a:off x="9877425" y="5067300"/>
            <a:ext cx="114300" cy="133350"/>
          </a:xfrm>
          <a:prstGeom prst="downArrow">
            <a:avLst/>
          </a:prstGeom>
          <a:solidFill>
            <a:srgbClr val="D16A25"/>
          </a:solidFill>
          <a:ln w="0">
            <a:noFill/>
            <a:prstDash val="solid"/>
          </a:ln>
        </p:spPr>
      </p:sp>
      <p:sp>
        <p:nvSpPr>
          <p:cNvPr id="1060" name="object-61">
            <a:extLst>
              <a:ext uri="{FF2B5EF4-FFF2-40B4-BE49-F238E27FC236}">
                <a16:creationId xmlns:a16="http://schemas.microsoft.com/office/drawing/2014/main" id="{20FEF907-9750-4F8B-94EC-5C11662B9C76}"/>
              </a:ext>
            </a:extLst>
          </p:cNvPr>
          <p:cNvSpPr>
            <a:spLocks noGrp="1"/>
          </p:cNvSpPr>
          <p:nvPr/>
        </p:nvSpPr>
        <p:spPr>
          <a:xfrm>
            <a:off x="9048750" y="5781675"/>
            <a:ext cx="885825" cy="953"/>
          </a:xfrm>
          <a:prstGeom prst="line">
            <a:avLst/>
          </a:prstGeom>
          <a:noFill/>
          <a:ln w="22860">
            <a:solidFill>
              <a:srgbClr val="D16A25"/>
            </a:solidFill>
            <a:prstDash val="solid"/>
          </a:ln>
        </p:spPr>
      </p:sp>
      <p:sp>
        <p:nvSpPr>
          <p:cNvPr id="1061" name="object-62">
            <a:extLst>
              <a:ext uri="{FF2B5EF4-FFF2-40B4-BE49-F238E27FC236}">
                <a16:creationId xmlns:a16="http://schemas.microsoft.com/office/drawing/2014/main" id="{135658FA-8D5E-444A-8EBF-DFF757AB691B}"/>
              </a:ext>
            </a:extLst>
          </p:cNvPr>
          <p:cNvSpPr>
            <a:spLocks noGrp="1"/>
          </p:cNvSpPr>
          <p:nvPr/>
        </p:nvSpPr>
        <p:spPr>
          <a:xfrm>
            <a:off x="9934575" y="5638800"/>
            <a:ext cx="953" cy="142875"/>
          </a:xfrm>
          <a:prstGeom prst="line">
            <a:avLst/>
          </a:prstGeom>
          <a:noFill/>
          <a:ln w="22860">
            <a:solidFill>
              <a:srgbClr val="D16A25"/>
            </a:solidFill>
            <a:prstDash val="solid"/>
          </a:ln>
        </p:spPr>
      </p:sp>
      <p:sp>
        <p:nvSpPr>
          <p:cNvPr id="1062" name="object-63">
            <a:extLst>
              <a:ext uri="{FF2B5EF4-FFF2-40B4-BE49-F238E27FC236}">
                <a16:creationId xmlns:a16="http://schemas.microsoft.com/office/drawing/2014/main" id="{9654F63E-F413-4F3E-A49D-A0BC494C53E0}"/>
              </a:ext>
            </a:extLst>
          </p:cNvPr>
          <p:cNvSpPr>
            <a:spLocks noGrp="1"/>
          </p:cNvSpPr>
          <p:nvPr/>
        </p:nvSpPr>
        <p:spPr>
          <a:xfrm>
            <a:off x="9877425" y="5638800"/>
            <a:ext cx="114300" cy="133350"/>
          </a:xfrm>
          <a:prstGeom prst="upArrow">
            <a:avLst/>
          </a:prstGeom>
          <a:solidFill>
            <a:srgbClr val="D16A25"/>
          </a:solidFill>
          <a:ln w="0">
            <a:noFill/>
            <a:prstDash val="solid"/>
          </a:ln>
        </p:spPr>
      </p:sp>
      <p:sp>
        <p:nvSpPr>
          <p:cNvPr id="1063" name="object-64">
            <a:extLst>
              <a:ext uri="{FF2B5EF4-FFF2-40B4-BE49-F238E27FC236}">
                <a16:creationId xmlns:a16="http://schemas.microsoft.com/office/drawing/2014/main" id="{FAD0CCC9-E7A9-42E6-A915-27A0D466FA0A}"/>
              </a:ext>
            </a:extLst>
          </p:cNvPr>
          <p:cNvSpPr>
            <a:spLocks noGrp="1"/>
          </p:cNvSpPr>
          <p:nvPr/>
        </p:nvSpPr>
        <p:spPr>
          <a:xfrm>
            <a:off x="9715500" y="520065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6A25"/>
            </a:solidFill>
            <a:prstDash val="solid"/>
          </a:ln>
        </p:spPr>
      </p:sp>
      <p:sp>
        <p:nvSpPr>
          <p:cNvPr id="1064" name="object-65">
            <a:extLst>
              <a:ext uri="{FF2B5EF4-FFF2-40B4-BE49-F238E27FC236}">
                <a16:creationId xmlns:a16="http://schemas.microsoft.com/office/drawing/2014/main" id="{4688E0CC-8097-4C5A-B65F-46735FC4B241}"/>
              </a:ext>
            </a:extLst>
          </p:cNvPr>
          <p:cNvSpPr>
            <a:spLocks noGrp="1"/>
          </p:cNvSpPr>
          <p:nvPr/>
        </p:nvSpPr>
        <p:spPr>
          <a:xfrm>
            <a:off x="9696450" y="5191125"/>
            <a:ext cx="47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210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210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065" name="object-66">
            <a:extLst>
              <a:ext uri="{FF2B5EF4-FFF2-40B4-BE49-F238E27FC236}">
                <a16:creationId xmlns:a16="http://schemas.microsoft.com/office/drawing/2014/main" id="{E423B32D-17F6-44D7-AA4D-B538B2446740}"/>
              </a:ext>
            </a:extLst>
          </p:cNvPr>
          <p:cNvSpPr>
            <a:spLocks noGrp="1"/>
          </p:cNvSpPr>
          <p:nvPr/>
        </p:nvSpPr>
        <p:spPr>
          <a:xfrm>
            <a:off x="333375" y="6581775"/>
            <a:ext cx="10382250" cy="1533525"/>
          </a:xfrm>
          <a:prstGeom prst="rect">
            <a:avLst/>
          </a:prstGeom>
          <a:solidFill>
            <a:srgbClr val="F0F8F5"/>
          </a:solidFill>
          <a:ln w="9525">
            <a:noFill/>
            <a:prstDash val="solid"/>
          </a:ln>
        </p:spPr>
      </p:sp>
      <p:sp>
        <p:nvSpPr>
          <p:cNvPr id="1066" name="object-67">
            <a:extLst>
              <a:ext uri="{FF2B5EF4-FFF2-40B4-BE49-F238E27FC236}">
                <a16:creationId xmlns:a16="http://schemas.microsoft.com/office/drawing/2014/main" id="{EC48A40A-5643-45F8-8F48-A07359A1427A}"/>
              </a:ext>
            </a:extLst>
          </p:cNvPr>
          <p:cNvSpPr>
            <a:spLocks noGrp="1"/>
          </p:cNvSpPr>
          <p:nvPr/>
        </p:nvSpPr>
        <p:spPr>
          <a:xfrm>
            <a:off x="409575" y="6572250"/>
            <a:ext cx="2990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8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一级控制与电气系统</a:t>
            </a:r>
          </a:p>
        </p:txBody>
      </p:sp>
      <p:sp>
        <p:nvSpPr>
          <p:cNvPr id="1067" name="object-68">
            <a:extLst>
              <a:ext uri="{FF2B5EF4-FFF2-40B4-BE49-F238E27FC236}">
                <a16:creationId xmlns:a16="http://schemas.microsoft.com/office/drawing/2014/main" id="{1F77298E-B3A7-442D-8E40-C18A431FEF10}"/>
              </a:ext>
            </a:extLst>
          </p:cNvPr>
          <p:cNvSpPr>
            <a:spLocks noGrp="1"/>
          </p:cNvSpPr>
          <p:nvPr/>
        </p:nvSpPr>
        <p:spPr>
          <a:xfrm>
            <a:off x="904875" y="7143750"/>
            <a:ext cx="438150" cy="609600"/>
          </a:xfrm>
          <a:prstGeom prst="rect">
            <a:avLst/>
          </a:prstGeom>
          <a:solidFill>
            <a:srgbClr val="E4F1EA"/>
          </a:solidFill>
          <a:ln w="22860">
            <a:solidFill>
              <a:srgbClr val="087F8C"/>
            </a:solidFill>
            <a:prstDash val="solid"/>
          </a:ln>
        </p:spPr>
      </p:sp>
      <p:sp>
        <p:nvSpPr>
          <p:cNvPr id="1068" name="object-69">
            <a:extLst>
              <a:ext uri="{FF2B5EF4-FFF2-40B4-BE49-F238E27FC236}">
                <a16:creationId xmlns:a16="http://schemas.microsoft.com/office/drawing/2014/main" id="{D766CDE2-109D-49B6-A224-9337F6756465}"/>
              </a:ext>
            </a:extLst>
          </p:cNvPr>
          <p:cNvSpPr>
            <a:spLocks noGrp="1"/>
          </p:cNvSpPr>
          <p:nvPr/>
        </p:nvSpPr>
        <p:spPr>
          <a:xfrm>
            <a:off x="1058228" y="7077075"/>
            <a:ext cx="131445" cy="66675"/>
          </a:xfrm>
          <a:prstGeom prst="rect">
            <a:avLst/>
          </a:prstGeom>
          <a:solidFill>
            <a:srgbClr val="087F8C"/>
          </a:solidFill>
          <a:ln w="9525">
            <a:solidFill>
              <a:srgbClr val="087F8C"/>
            </a:solidFill>
            <a:prstDash val="solid"/>
          </a:ln>
        </p:spPr>
      </p:sp>
      <p:sp>
        <p:nvSpPr>
          <p:cNvPr id="1069" name="object-70">
            <a:extLst>
              <a:ext uri="{FF2B5EF4-FFF2-40B4-BE49-F238E27FC236}">
                <a16:creationId xmlns:a16="http://schemas.microsoft.com/office/drawing/2014/main" id="{B3B9E0F5-D057-4FAF-AA23-C6B4D7E60DD7}"/>
              </a:ext>
            </a:extLst>
          </p:cNvPr>
          <p:cNvSpPr>
            <a:spLocks noGrp="1"/>
          </p:cNvSpPr>
          <p:nvPr/>
        </p:nvSpPr>
        <p:spPr>
          <a:xfrm>
            <a:off x="981075" y="7239000"/>
            <a:ext cx="285750" cy="114300"/>
          </a:xfrm>
          <a:prstGeom prst="rect">
            <a:avLst/>
          </a:prstGeom>
          <a:solidFill>
            <a:srgbClr val="8AC4A8"/>
          </a:solidFill>
          <a:ln w="9525">
            <a:noFill/>
            <a:prstDash val="solid"/>
          </a:ln>
        </p:spPr>
      </p:sp>
      <p:sp>
        <p:nvSpPr>
          <p:cNvPr id="1070" name="object-71">
            <a:extLst>
              <a:ext uri="{FF2B5EF4-FFF2-40B4-BE49-F238E27FC236}">
                <a16:creationId xmlns:a16="http://schemas.microsoft.com/office/drawing/2014/main" id="{0766ED07-ACF8-4542-ACA1-7E9A6717D60D}"/>
              </a:ext>
            </a:extLst>
          </p:cNvPr>
          <p:cNvSpPr>
            <a:spLocks noGrp="1"/>
          </p:cNvSpPr>
          <p:nvPr/>
        </p:nvSpPr>
        <p:spPr>
          <a:xfrm>
            <a:off x="981075" y="7419975"/>
            <a:ext cx="285750" cy="114300"/>
          </a:xfrm>
          <a:prstGeom prst="rect">
            <a:avLst/>
          </a:prstGeom>
          <a:solidFill>
            <a:srgbClr val="8AC4A8"/>
          </a:solidFill>
          <a:ln w="9525">
            <a:noFill/>
            <a:prstDash val="solid"/>
          </a:ln>
        </p:spPr>
      </p:sp>
      <p:sp>
        <p:nvSpPr>
          <p:cNvPr id="1071" name="object-72">
            <a:extLst>
              <a:ext uri="{FF2B5EF4-FFF2-40B4-BE49-F238E27FC236}">
                <a16:creationId xmlns:a16="http://schemas.microsoft.com/office/drawing/2014/main" id="{F96973AD-6DFB-4ECC-A039-765E9EB2227F}"/>
              </a:ext>
            </a:extLst>
          </p:cNvPr>
          <p:cNvSpPr>
            <a:spLocks noGrp="1"/>
          </p:cNvSpPr>
          <p:nvPr/>
        </p:nvSpPr>
        <p:spPr>
          <a:xfrm>
            <a:off x="981075" y="7600950"/>
            <a:ext cx="285750" cy="114300"/>
          </a:xfrm>
          <a:prstGeom prst="rect">
            <a:avLst/>
          </a:prstGeom>
          <a:solidFill>
            <a:srgbClr val="8AC4A8"/>
          </a:solidFill>
          <a:ln w="9525">
            <a:noFill/>
            <a:prstDash val="solid"/>
          </a:ln>
        </p:spPr>
      </p:sp>
      <p:sp>
        <p:nvSpPr>
          <p:cNvPr id="1072" name="object-73">
            <a:extLst>
              <a:ext uri="{FF2B5EF4-FFF2-40B4-BE49-F238E27FC236}">
                <a16:creationId xmlns:a16="http://schemas.microsoft.com/office/drawing/2014/main" id="{F24CA0B4-4721-4095-88B8-362B5F9C4B71}"/>
              </a:ext>
            </a:extLst>
          </p:cNvPr>
          <p:cNvSpPr>
            <a:spLocks noGrp="1"/>
          </p:cNvSpPr>
          <p:nvPr/>
        </p:nvSpPr>
        <p:spPr>
          <a:xfrm>
            <a:off x="1114425" y="7134225"/>
            <a:ext cx="238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073" name="object-74">
            <a:extLst>
              <a:ext uri="{FF2B5EF4-FFF2-40B4-BE49-F238E27FC236}">
                <a16:creationId xmlns:a16="http://schemas.microsoft.com/office/drawing/2014/main" id="{6692D70F-4B94-4EE9-AFDA-608EA2B119C1}"/>
              </a:ext>
            </a:extLst>
          </p:cNvPr>
          <p:cNvSpPr>
            <a:spLocks noGrp="1"/>
          </p:cNvSpPr>
          <p:nvPr/>
        </p:nvSpPr>
        <p:spPr>
          <a:xfrm>
            <a:off x="1771650" y="7172325"/>
            <a:ext cx="619125" cy="581025"/>
          </a:xfrm>
          <a:prstGeom prst="rect">
            <a:avLst/>
          </a:prstGeom>
          <a:solidFill>
            <a:srgbClr val="FFFFFF"/>
          </a:solidFill>
          <a:ln w="19050">
            <a:solidFill>
              <a:srgbClr val="07368C"/>
            </a:solidFill>
            <a:prstDash val="solid"/>
          </a:ln>
        </p:spPr>
      </p:sp>
      <p:sp>
        <p:nvSpPr>
          <p:cNvPr id="1074" name="object-75">
            <a:extLst>
              <a:ext uri="{FF2B5EF4-FFF2-40B4-BE49-F238E27FC236}">
                <a16:creationId xmlns:a16="http://schemas.microsoft.com/office/drawing/2014/main" id="{6A26B576-DD67-4FEE-8425-DC321D7808BA}"/>
              </a:ext>
            </a:extLst>
          </p:cNvPr>
          <p:cNvSpPr>
            <a:spLocks noGrp="1"/>
          </p:cNvSpPr>
          <p:nvPr/>
        </p:nvSpPr>
        <p:spPr>
          <a:xfrm>
            <a:off x="1771650" y="7172325"/>
            <a:ext cx="6191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1075" name="object-76">
            <a:extLst>
              <a:ext uri="{FF2B5EF4-FFF2-40B4-BE49-F238E27FC236}">
                <a16:creationId xmlns:a16="http://schemas.microsoft.com/office/drawing/2014/main" id="{630763EE-6DF1-44E7-AF95-0E607147E5CC}"/>
              </a:ext>
            </a:extLst>
          </p:cNvPr>
          <p:cNvSpPr>
            <a:spLocks noGrp="1"/>
          </p:cNvSpPr>
          <p:nvPr/>
        </p:nvSpPr>
        <p:spPr>
          <a:xfrm>
            <a:off x="1771650" y="7467600"/>
            <a:ext cx="6191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∼</a:t>
            </a:r>
          </a:p>
        </p:txBody>
      </p:sp>
      <p:sp>
        <p:nvSpPr>
          <p:cNvPr id="1076" name="object-77">
            <a:extLst>
              <a:ext uri="{FF2B5EF4-FFF2-40B4-BE49-F238E27FC236}">
                <a16:creationId xmlns:a16="http://schemas.microsoft.com/office/drawing/2014/main" id="{78062896-3043-4202-9297-BD0CFADE0291}"/>
              </a:ext>
            </a:extLst>
          </p:cNvPr>
          <p:cNvSpPr>
            <a:spLocks noGrp="1"/>
          </p:cNvSpPr>
          <p:nvPr/>
        </p:nvSpPr>
        <p:spPr>
          <a:xfrm>
            <a:off x="1819275" y="7462838"/>
            <a:ext cx="523875" cy="953"/>
          </a:xfrm>
          <a:prstGeom prst="line">
            <a:avLst/>
          </a:prstGeom>
          <a:noFill/>
          <a:ln w="14288">
            <a:solidFill>
              <a:srgbClr val="07368C"/>
            </a:solidFill>
            <a:prstDash val="solid"/>
          </a:ln>
        </p:spPr>
      </p:sp>
      <p:sp>
        <p:nvSpPr>
          <p:cNvPr id="1077" name="object-78">
            <a:extLst>
              <a:ext uri="{FF2B5EF4-FFF2-40B4-BE49-F238E27FC236}">
                <a16:creationId xmlns:a16="http://schemas.microsoft.com/office/drawing/2014/main" id="{328791D0-E767-4D65-B8FD-C128DD5208A3}"/>
              </a:ext>
            </a:extLst>
          </p:cNvPr>
          <p:cNvSpPr>
            <a:spLocks noGrp="1"/>
          </p:cNvSpPr>
          <p:nvPr/>
        </p:nvSpPr>
        <p:spPr>
          <a:xfrm>
            <a:off x="1343025" y="7458075"/>
            <a:ext cx="428625" cy="953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78" name="object-79">
            <a:extLst>
              <a:ext uri="{FF2B5EF4-FFF2-40B4-BE49-F238E27FC236}">
                <a16:creationId xmlns:a16="http://schemas.microsoft.com/office/drawing/2014/main" id="{11096982-787C-46C2-8C8F-18237AAB52EC}"/>
              </a:ext>
            </a:extLst>
          </p:cNvPr>
          <p:cNvSpPr>
            <a:spLocks noGrp="1"/>
          </p:cNvSpPr>
          <p:nvPr/>
        </p:nvSpPr>
        <p:spPr>
          <a:xfrm>
            <a:off x="638175" y="7753350"/>
            <a:ext cx="952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储能</a:t>
            </a:r>
          </a:p>
        </p:txBody>
      </p:sp>
      <p:sp>
        <p:nvSpPr>
          <p:cNvPr id="1079" name="object-80">
            <a:extLst>
              <a:ext uri="{FF2B5EF4-FFF2-40B4-BE49-F238E27FC236}">
                <a16:creationId xmlns:a16="http://schemas.microsoft.com/office/drawing/2014/main" id="{82B67DBE-6910-4DF5-AF41-284BF519A7B9}"/>
              </a:ext>
            </a:extLst>
          </p:cNvPr>
          <p:cNvSpPr>
            <a:spLocks noGrp="1"/>
          </p:cNvSpPr>
          <p:nvPr/>
        </p:nvSpPr>
        <p:spPr>
          <a:xfrm>
            <a:off x="1552575" y="7753350"/>
            <a:ext cx="10668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GFM 1</a:t>
            </a:r>
          </a:p>
        </p:txBody>
      </p:sp>
      <p:sp>
        <p:nvSpPr>
          <p:cNvPr id="1080" name="object-81">
            <a:extLst>
              <a:ext uri="{FF2B5EF4-FFF2-40B4-BE49-F238E27FC236}">
                <a16:creationId xmlns:a16="http://schemas.microsoft.com/office/drawing/2014/main" id="{36CD2C21-E27E-49CD-BD8C-7B8C417486A7}"/>
              </a:ext>
            </a:extLst>
          </p:cNvPr>
          <p:cNvSpPr>
            <a:spLocks noGrp="1"/>
          </p:cNvSpPr>
          <p:nvPr/>
        </p:nvSpPr>
        <p:spPr>
          <a:xfrm>
            <a:off x="3333750" y="7143750"/>
            <a:ext cx="438150" cy="609600"/>
          </a:xfrm>
          <a:prstGeom prst="rect">
            <a:avLst/>
          </a:prstGeom>
          <a:solidFill>
            <a:srgbClr val="E4F1EA"/>
          </a:solidFill>
          <a:ln w="22860">
            <a:solidFill>
              <a:srgbClr val="087F8C"/>
            </a:solidFill>
            <a:prstDash val="solid"/>
          </a:ln>
        </p:spPr>
      </p:sp>
      <p:sp>
        <p:nvSpPr>
          <p:cNvPr id="1081" name="object-82">
            <a:extLst>
              <a:ext uri="{FF2B5EF4-FFF2-40B4-BE49-F238E27FC236}">
                <a16:creationId xmlns:a16="http://schemas.microsoft.com/office/drawing/2014/main" id="{F5CEE6FC-0149-4EA8-BC71-C5F0435C1F5E}"/>
              </a:ext>
            </a:extLst>
          </p:cNvPr>
          <p:cNvSpPr>
            <a:spLocks noGrp="1"/>
          </p:cNvSpPr>
          <p:nvPr/>
        </p:nvSpPr>
        <p:spPr>
          <a:xfrm>
            <a:off x="3487103" y="7077075"/>
            <a:ext cx="131445" cy="66675"/>
          </a:xfrm>
          <a:prstGeom prst="rect">
            <a:avLst/>
          </a:prstGeom>
          <a:solidFill>
            <a:srgbClr val="087F8C"/>
          </a:solidFill>
          <a:ln w="9525">
            <a:solidFill>
              <a:srgbClr val="087F8C"/>
            </a:solidFill>
            <a:prstDash val="solid"/>
          </a:ln>
        </p:spPr>
      </p:sp>
      <p:sp>
        <p:nvSpPr>
          <p:cNvPr id="1082" name="object-83">
            <a:extLst>
              <a:ext uri="{FF2B5EF4-FFF2-40B4-BE49-F238E27FC236}">
                <a16:creationId xmlns:a16="http://schemas.microsoft.com/office/drawing/2014/main" id="{2EF89AC4-9CB2-4814-A920-1524F2F8AD9D}"/>
              </a:ext>
            </a:extLst>
          </p:cNvPr>
          <p:cNvSpPr>
            <a:spLocks noGrp="1"/>
          </p:cNvSpPr>
          <p:nvPr/>
        </p:nvSpPr>
        <p:spPr>
          <a:xfrm>
            <a:off x="3409950" y="7239000"/>
            <a:ext cx="285750" cy="114300"/>
          </a:xfrm>
          <a:prstGeom prst="rect">
            <a:avLst/>
          </a:prstGeom>
          <a:solidFill>
            <a:srgbClr val="8AC4A8"/>
          </a:solidFill>
          <a:ln w="9525">
            <a:noFill/>
            <a:prstDash val="solid"/>
          </a:ln>
        </p:spPr>
      </p:sp>
      <p:sp>
        <p:nvSpPr>
          <p:cNvPr id="1083" name="object-84">
            <a:extLst>
              <a:ext uri="{FF2B5EF4-FFF2-40B4-BE49-F238E27FC236}">
                <a16:creationId xmlns:a16="http://schemas.microsoft.com/office/drawing/2014/main" id="{5FAA410B-8AC7-4490-BBCC-0CDBD306C28E}"/>
              </a:ext>
            </a:extLst>
          </p:cNvPr>
          <p:cNvSpPr>
            <a:spLocks noGrp="1"/>
          </p:cNvSpPr>
          <p:nvPr/>
        </p:nvSpPr>
        <p:spPr>
          <a:xfrm>
            <a:off x="3409950" y="7419975"/>
            <a:ext cx="285750" cy="114300"/>
          </a:xfrm>
          <a:prstGeom prst="rect">
            <a:avLst/>
          </a:prstGeom>
          <a:solidFill>
            <a:srgbClr val="8AC4A8"/>
          </a:solidFill>
          <a:ln w="9525">
            <a:noFill/>
            <a:prstDash val="solid"/>
          </a:ln>
        </p:spPr>
      </p:sp>
      <p:sp>
        <p:nvSpPr>
          <p:cNvPr id="1084" name="object-85">
            <a:extLst>
              <a:ext uri="{FF2B5EF4-FFF2-40B4-BE49-F238E27FC236}">
                <a16:creationId xmlns:a16="http://schemas.microsoft.com/office/drawing/2014/main" id="{4934102A-4C62-465D-B6A8-EB2325ABB9AA}"/>
              </a:ext>
            </a:extLst>
          </p:cNvPr>
          <p:cNvSpPr>
            <a:spLocks noGrp="1"/>
          </p:cNvSpPr>
          <p:nvPr/>
        </p:nvSpPr>
        <p:spPr>
          <a:xfrm>
            <a:off x="3409950" y="7600950"/>
            <a:ext cx="285750" cy="114300"/>
          </a:xfrm>
          <a:prstGeom prst="rect">
            <a:avLst/>
          </a:prstGeom>
          <a:solidFill>
            <a:srgbClr val="8AC4A8"/>
          </a:solidFill>
          <a:ln w="9525">
            <a:noFill/>
            <a:prstDash val="solid"/>
          </a:ln>
        </p:spPr>
      </p:sp>
      <p:sp>
        <p:nvSpPr>
          <p:cNvPr id="1085" name="object-86">
            <a:extLst>
              <a:ext uri="{FF2B5EF4-FFF2-40B4-BE49-F238E27FC236}">
                <a16:creationId xmlns:a16="http://schemas.microsoft.com/office/drawing/2014/main" id="{48A5E0E1-9F4F-4A29-B1AC-B16532D6CF3A}"/>
              </a:ext>
            </a:extLst>
          </p:cNvPr>
          <p:cNvSpPr>
            <a:spLocks noGrp="1"/>
          </p:cNvSpPr>
          <p:nvPr/>
        </p:nvSpPr>
        <p:spPr>
          <a:xfrm>
            <a:off x="3543300" y="7134225"/>
            <a:ext cx="238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086" name="object-87">
            <a:extLst>
              <a:ext uri="{FF2B5EF4-FFF2-40B4-BE49-F238E27FC236}">
                <a16:creationId xmlns:a16="http://schemas.microsoft.com/office/drawing/2014/main" id="{27FCCE2A-4BF9-4737-BF9B-7D664E031E4A}"/>
              </a:ext>
            </a:extLst>
          </p:cNvPr>
          <p:cNvSpPr>
            <a:spLocks noGrp="1"/>
          </p:cNvSpPr>
          <p:nvPr/>
        </p:nvSpPr>
        <p:spPr>
          <a:xfrm>
            <a:off x="4191000" y="7172325"/>
            <a:ext cx="619125" cy="581025"/>
          </a:xfrm>
          <a:prstGeom prst="rect">
            <a:avLst/>
          </a:prstGeom>
          <a:solidFill>
            <a:srgbClr val="FFFFFF"/>
          </a:solidFill>
          <a:ln w="19050">
            <a:solidFill>
              <a:srgbClr val="07368C"/>
            </a:solidFill>
            <a:prstDash val="solid"/>
          </a:ln>
        </p:spPr>
      </p:sp>
      <p:sp>
        <p:nvSpPr>
          <p:cNvPr id="1087" name="object-88">
            <a:extLst>
              <a:ext uri="{FF2B5EF4-FFF2-40B4-BE49-F238E27FC236}">
                <a16:creationId xmlns:a16="http://schemas.microsoft.com/office/drawing/2014/main" id="{97BDA333-F0D3-41C1-A5F7-4AB20D82F3C9}"/>
              </a:ext>
            </a:extLst>
          </p:cNvPr>
          <p:cNvSpPr>
            <a:spLocks noGrp="1"/>
          </p:cNvSpPr>
          <p:nvPr/>
        </p:nvSpPr>
        <p:spPr>
          <a:xfrm>
            <a:off x="4191000" y="7172325"/>
            <a:ext cx="6191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1088" name="object-89">
            <a:extLst>
              <a:ext uri="{FF2B5EF4-FFF2-40B4-BE49-F238E27FC236}">
                <a16:creationId xmlns:a16="http://schemas.microsoft.com/office/drawing/2014/main" id="{FF6B01D4-8E8C-43F6-B81E-68C3BD640612}"/>
              </a:ext>
            </a:extLst>
          </p:cNvPr>
          <p:cNvSpPr>
            <a:spLocks noGrp="1"/>
          </p:cNvSpPr>
          <p:nvPr/>
        </p:nvSpPr>
        <p:spPr>
          <a:xfrm>
            <a:off x="4191000" y="7467600"/>
            <a:ext cx="6191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∼</a:t>
            </a:r>
          </a:p>
        </p:txBody>
      </p:sp>
      <p:sp>
        <p:nvSpPr>
          <p:cNvPr id="1089" name="object-90">
            <a:extLst>
              <a:ext uri="{FF2B5EF4-FFF2-40B4-BE49-F238E27FC236}">
                <a16:creationId xmlns:a16="http://schemas.microsoft.com/office/drawing/2014/main" id="{1DE0ACCF-D64D-42FD-A33B-4BD3226CA73D}"/>
              </a:ext>
            </a:extLst>
          </p:cNvPr>
          <p:cNvSpPr>
            <a:spLocks noGrp="1"/>
          </p:cNvSpPr>
          <p:nvPr/>
        </p:nvSpPr>
        <p:spPr>
          <a:xfrm>
            <a:off x="4238625" y="7462838"/>
            <a:ext cx="523875" cy="953"/>
          </a:xfrm>
          <a:prstGeom prst="line">
            <a:avLst/>
          </a:prstGeom>
          <a:noFill/>
          <a:ln w="14288">
            <a:solidFill>
              <a:srgbClr val="07368C"/>
            </a:solidFill>
            <a:prstDash val="solid"/>
          </a:ln>
        </p:spPr>
      </p:sp>
      <p:sp>
        <p:nvSpPr>
          <p:cNvPr id="1090" name="object-91">
            <a:extLst>
              <a:ext uri="{FF2B5EF4-FFF2-40B4-BE49-F238E27FC236}">
                <a16:creationId xmlns:a16="http://schemas.microsoft.com/office/drawing/2014/main" id="{B24CDCD1-51BA-4A88-AB7B-6F8DAEA5BAA5}"/>
              </a:ext>
            </a:extLst>
          </p:cNvPr>
          <p:cNvSpPr>
            <a:spLocks noGrp="1"/>
          </p:cNvSpPr>
          <p:nvPr/>
        </p:nvSpPr>
        <p:spPr>
          <a:xfrm>
            <a:off x="3771900" y="7458075"/>
            <a:ext cx="419100" cy="953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91" name="object-92">
            <a:extLst>
              <a:ext uri="{FF2B5EF4-FFF2-40B4-BE49-F238E27FC236}">
                <a16:creationId xmlns:a16="http://schemas.microsoft.com/office/drawing/2014/main" id="{0C905AD7-3D6C-4E5F-8A98-9A87A577A9DB}"/>
              </a:ext>
            </a:extLst>
          </p:cNvPr>
          <p:cNvSpPr>
            <a:spLocks noGrp="1"/>
          </p:cNvSpPr>
          <p:nvPr/>
        </p:nvSpPr>
        <p:spPr>
          <a:xfrm>
            <a:off x="3067050" y="7753350"/>
            <a:ext cx="952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储能</a:t>
            </a:r>
          </a:p>
        </p:txBody>
      </p:sp>
      <p:sp>
        <p:nvSpPr>
          <p:cNvPr id="1092" name="object-93">
            <a:extLst>
              <a:ext uri="{FF2B5EF4-FFF2-40B4-BE49-F238E27FC236}">
                <a16:creationId xmlns:a16="http://schemas.microsoft.com/office/drawing/2014/main" id="{BDE11447-DD62-4054-93BB-2D900C697D44}"/>
              </a:ext>
            </a:extLst>
          </p:cNvPr>
          <p:cNvSpPr>
            <a:spLocks noGrp="1"/>
          </p:cNvSpPr>
          <p:nvPr/>
        </p:nvSpPr>
        <p:spPr>
          <a:xfrm>
            <a:off x="3943350" y="7753350"/>
            <a:ext cx="10858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GFM 2</a:t>
            </a:r>
          </a:p>
        </p:txBody>
      </p:sp>
      <p:sp>
        <p:nvSpPr>
          <p:cNvPr id="1093" name="object-94">
            <a:extLst>
              <a:ext uri="{FF2B5EF4-FFF2-40B4-BE49-F238E27FC236}">
                <a16:creationId xmlns:a16="http://schemas.microsoft.com/office/drawing/2014/main" id="{54571120-FE14-47B9-8BC7-63814D644DF3}"/>
              </a:ext>
            </a:extLst>
          </p:cNvPr>
          <p:cNvSpPr>
            <a:spLocks noGrp="1"/>
          </p:cNvSpPr>
          <p:nvPr/>
        </p:nvSpPr>
        <p:spPr>
          <a:xfrm>
            <a:off x="2390775" y="7458075"/>
            <a:ext cx="304800" cy="953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94" name="object-95">
            <a:extLst>
              <a:ext uri="{FF2B5EF4-FFF2-40B4-BE49-F238E27FC236}">
                <a16:creationId xmlns:a16="http://schemas.microsoft.com/office/drawing/2014/main" id="{163057F0-D08A-4885-A9EF-E15F53325A5B}"/>
              </a:ext>
            </a:extLst>
          </p:cNvPr>
          <p:cNvSpPr>
            <a:spLocks noGrp="1"/>
          </p:cNvSpPr>
          <p:nvPr/>
        </p:nvSpPr>
        <p:spPr>
          <a:xfrm>
            <a:off x="2695575" y="7038975"/>
            <a:ext cx="953" cy="419100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95" name="object-96">
            <a:extLst>
              <a:ext uri="{FF2B5EF4-FFF2-40B4-BE49-F238E27FC236}">
                <a16:creationId xmlns:a16="http://schemas.microsoft.com/office/drawing/2014/main" id="{17EE5519-63EB-40C5-A038-CF4D5327B9D8}"/>
              </a:ext>
            </a:extLst>
          </p:cNvPr>
          <p:cNvSpPr>
            <a:spLocks noGrp="1"/>
          </p:cNvSpPr>
          <p:nvPr/>
        </p:nvSpPr>
        <p:spPr>
          <a:xfrm>
            <a:off x="2695575" y="7038975"/>
            <a:ext cx="4733925" cy="953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96" name="object-97">
            <a:extLst>
              <a:ext uri="{FF2B5EF4-FFF2-40B4-BE49-F238E27FC236}">
                <a16:creationId xmlns:a16="http://schemas.microsoft.com/office/drawing/2014/main" id="{57B9BD46-5EEB-473B-8456-6E58B6A31650}"/>
              </a:ext>
            </a:extLst>
          </p:cNvPr>
          <p:cNvSpPr>
            <a:spLocks noGrp="1"/>
          </p:cNvSpPr>
          <p:nvPr/>
        </p:nvSpPr>
        <p:spPr>
          <a:xfrm>
            <a:off x="7429500" y="7038975"/>
            <a:ext cx="953" cy="352425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97" name="object-98">
            <a:extLst>
              <a:ext uri="{FF2B5EF4-FFF2-40B4-BE49-F238E27FC236}">
                <a16:creationId xmlns:a16="http://schemas.microsoft.com/office/drawing/2014/main" id="{B71DC22A-6E20-4F12-9731-5E0D9DB0129A}"/>
              </a:ext>
            </a:extLst>
          </p:cNvPr>
          <p:cNvSpPr>
            <a:spLocks noGrp="1"/>
          </p:cNvSpPr>
          <p:nvPr/>
        </p:nvSpPr>
        <p:spPr>
          <a:xfrm>
            <a:off x="4810125" y="7458075"/>
            <a:ext cx="2619375" cy="953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98" name="object-99">
            <a:extLst>
              <a:ext uri="{FF2B5EF4-FFF2-40B4-BE49-F238E27FC236}">
                <a16:creationId xmlns:a16="http://schemas.microsoft.com/office/drawing/2014/main" id="{AB98C005-23CD-435C-8F1E-A905275075BE}"/>
              </a:ext>
            </a:extLst>
          </p:cNvPr>
          <p:cNvSpPr>
            <a:spLocks noGrp="1"/>
          </p:cNvSpPr>
          <p:nvPr/>
        </p:nvSpPr>
        <p:spPr>
          <a:xfrm>
            <a:off x="7543800" y="7134225"/>
            <a:ext cx="1914525" cy="561975"/>
          </a:xfrm>
          <a:prstGeom prst="roundRect">
            <a:avLst>
              <a:gd name="adj" fmla="val 13559"/>
            </a:avLst>
          </a:prstGeom>
          <a:solidFill>
            <a:srgbClr val="E2F0EA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孤岛交流网络</a:t>
            </a:r>
          </a:p>
        </p:txBody>
      </p:sp>
      <p:sp>
        <p:nvSpPr>
          <p:cNvPr id="1099" name="object-100">
            <a:extLst>
              <a:ext uri="{FF2B5EF4-FFF2-40B4-BE49-F238E27FC236}">
                <a16:creationId xmlns:a16="http://schemas.microsoft.com/office/drawing/2014/main" id="{5911DBE4-7DB5-415B-8E2C-2CC9ECAB6FA7}"/>
              </a:ext>
            </a:extLst>
          </p:cNvPr>
          <p:cNvSpPr>
            <a:spLocks noGrp="1"/>
          </p:cNvSpPr>
          <p:nvPr/>
        </p:nvSpPr>
        <p:spPr>
          <a:xfrm>
            <a:off x="9763125" y="6886575"/>
            <a:ext cx="657225" cy="447675"/>
          </a:xfrm>
          <a:prstGeom prst="rect">
            <a:avLst/>
          </a:prstGeom>
          <a:solidFill>
            <a:srgbClr val="C9E8F8"/>
          </a:solidFill>
          <a:ln w="19050">
            <a:solidFill>
              <a:srgbClr val="1673CE"/>
            </a:solidFill>
            <a:prstDash val="solid"/>
          </a:ln>
        </p:spPr>
      </p:sp>
      <p:sp>
        <p:nvSpPr>
          <p:cNvPr id="1100" name="object-101">
            <a:extLst>
              <a:ext uri="{FF2B5EF4-FFF2-40B4-BE49-F238E27FC236}">
                <a16:creationId xmlns:a16="http://schemas.microsoft.com/office/drawing/2014/main" id="{713315F7-FA5F-4EF4-B6C0-5247B5F992D2}"/>
              </a:ext>
            </a:extLst>
          </p:cNvPr>
          <p:cNvSpPr>
            <a:spLocks noGrp="1"/>
          </p:cNvSpPr>
          <p:nvPr/>
        </p:nvSpPr>
        <p:spPr>
          <a:xfrm>
            <a:off x="9927431" y="6886575"/>
            <a:ext cx="953" cy="447675"/>
          </a:xfrm>
          <a:prstGeom prst="line">
            <a:avLst/>
          </a:prstGeom>
          <a:noFill/>
          <a:ln w="9525">
            <a:solidFill>
              <a:srgbClr val="1673CE"/>
            </a:solidFill>
            <a:prstDash val="solid"/>
          </a:ln>
        </p:spPr>
      </p:sp>
      <p:sp>
        <p:nvSpPr>
          <p:cNvPr id="1101" name="object-102">
            <a:extLst>
              <a:ext uri="{FF2B5EF4-FFF2-40B4-BE49-F238E27FC236}">
                <a16:creationId xmlns:a16="http://schemas.microsoft.com/office/drawing/2014/main" id="{A9A3F355-55FC-47CD-A9AD-8AD8B96DEF08}"/>
              </a:ext>
            </a:extLst>
          </p:cNvPr>
          <p:cNvSpPr>
            <a:spLocks noGrp="1"/>
          </p:cNvSpPr>
          <p:nvPr/>
        </p:nvSpPr>
        <p:spPr>
          <a:xfrm>
            <a:off x="10091738" y="6886575"/>
            <a:ext cx="953" cy="447675"/>
          </a:xfrm>
          <a:prstGeom prst="line">
            <a:avLst/>
          </a:prstGeom>
          <a:noFill/>
          <a:ln w="9525">
            <a:solidFill>
              <a:srgbClr val="1673CE"/>
            </a:solidFill>
            <a:prstDash val="solid"/>
          </a:ln>
        </p:spPr>
      </p:sp>
      <p:sp>
        <p:nvSpPr>
          <p:cNvPr id="1102" name="object-103">
            <a:extLst>
              <a:ext uri="{FF2B5EF4-FFF2-40B4-BE49-F238E27FC236}">
                <a16:creationId xmlns:a16="http://schemas.microsoft.com/office/drawing/2014/main" id="{E3851C9C-DF0D-411D-90C3-53E739B43E15}"/>
              </a:ext>
            </a:extLst>
          </p:cNvPr>
          <p:cNvSpPr>
            <a:spLocks noGrp="1"/>
          </p:cNvSpPr>
          <p:nvPr/>
        </p:nvSpPr>
        <p:spPr>
          <a:xfrm>
            <a:off x="10256044" y="6886575"/>
            <a:ext cx="953" cy="447675"/>
          </a:xfrm>
          <a:prstGeom prst="line">
            <a:avLst/>
          </a:prstGeom>
          <a:noFill/>
          <a:ln w="9525">
            <a:solidFill>
              <a:srgbClr val="1673CE"/>
            </a:solidFill>
            <a:prstDash val="solid"/>
          </a:ln>
        </p:spPr>
      </p:sp>
      <p:sp>
        <p:nvSpPr>
          <p:cNvPr id="1103" name="object-104">
            <a:extLst>
              <a:ext uri="{FF2B5EF4-FFF2-40B4-BE49-F238E27FC236}">
                <a16:creationId xmlns:a16="http://schemas.microsoft.com/office/drawing/2014/main" id="{72AE09C1-4D41-4F23-A6B9-C30B14AA1FB8}"/>
              </a:ext>
            </a:extLst>
          </p:cNvPr>
          <p:cNvSpPr>
            <a:spLocks noGrp="1"/>
          </p:cNvSpPr>
          <p:nvPr/>
        </p:nvSpPr>
        <p:spPr>
          <a:xfrm>
            <a:off x="9763125" y="7110413"/>
            <a:ext cx="657225" cy="953"/>
          </a:xfrm>
          <a:prstGeom prst="line">
            <a:avLst/>
          </a:prstGeom>
          <a:noFill/>
          <a:ln w="9525">
            <a:solidFill>
              <a:srgbClr val="1673CE"/>
            </a:solidFill>
            <a:prstDash val="solid"/>
          </a:ln>
        </p:spPr>
      </p:sp>
      <p:sp>
        <p:nvSpPr>
          <p:cNvPr id="1104" name="object-105">
            <a:extLst>
              <a:ext uri="{FF2B5EF4-FFF2-40B4-BE49-F238E27FC236}">
                <a16:creationId xmlns:a16="http://schemas.microsoft.com/office/drawing/2014/main" id="{ED57DB54-E943-4CD5-AB99-0BBF5B1E74F6}"/>
              </a:ext>
            </a:extLst>
          </p:cNvPr>
          <p:cNvSpPr>
            <a:spLocks noGrp="1"/>
          </p:cNvSpPr>
          <p:nvPr/>
        </p:nvSpPr>
        <p:spPr>
          <a:xfrm>
            <a:off x="10091738" y="7334250"/>
            <a:ext cx="953" cy="114300"/>
          </a:xfrm>
          <a:prstGeom prst="line">
            <a:avLst/>
          </a:prstGeom>
          <a:noFill/>
          <a:ln w="19050">
            <a:solidFill>
              <a:srgbClr val="1673CE"/>
            </a:solidFill>
            <a:prstDash val="solid"/>
          </a:ln>
        </p:spPr>
      </p:sp>
      <p:sp>
        <p:nvSpPr>
          <p:cNvPr id="1105" name="object-106">
            <a:extLst>
              <a:ext uri="{FF2B5EF4-FFF2-40B4-BE49-F238E27FC236}">
                <a16:creationId xmlns:a16="http://schemas.microsoft.com/office/drawing/2014/main" id="{5CAEDEA9-8AE0-4F25-8BDA-5B76C3E3E085}"/>
              </a:ext>
            </a:extLst>
          </p:cNvPr>
          <p:cNvSpPr>
            <a:spLocks noGrp="1"/>
          </p:cNvSpPr>
          <p:nvPr/>
        </p:nvSpPr>
        <p:spPr>
          <a:xfrm>
            <a:off x="9927431" y="7448550"/>
            <a:ext cx="328613" cy="953"/>
          </a:xfrm>
          <a:prstGeom prst="line">
            <a:avLst/>
          </a:prstGeom>
          <a:noFill/>
          <a:ln w="19050">
            <a:solidFill>
              <a:srgbClr val="1673CE"/>
            </a:solidFill>
            <a:prstDash val="solid"/>
          </a:ln>
        </p:spPr>
      </p:sp>
      <p:sp>
        <p:nvSpPr>
          <p:cNvPr id="1106" name="object-107">
            <a:extLst>
              <a:ext uri="{FF2B5EF4-FFF2-40B4-BE49-F238E27FC236}">
                <a16:creationId xmlns:a16="http://schemas.microsoft.com/office/drawing/2014/main" id="{24596CC9-E1B8-4BE5-9A06-2B0484D9D8D9}"/>
              </a:ext>
            </a:extLst>
          </p:cNvPr>
          <p:cNvSpPr>
            <a:spLocks noGrp="1"/>
          </p:cNvSpPr>
          <p:nvPr/>
        </p:nvSpPr>
        <p:spPr>
          <a:xfrm>
            <a:off x="9772650" y="7572375"/>
            <a:ext cx="628650" cy="447675"/>
          </a:xfrm>
          <a:prstGeom prst="rect">
            <a:avLst/>
          </a:prstGeom>
          <a:solidFill>
            <a:srgbClr val="FFF3DA"/>
          </a:solidFill>
          <a:ln w="19050">
            <a:solidFill>
              <a:srgbClr val="D16A25"/>
            </a:solidFill>
            <a:prstDash val="solid"/>
          </a:ln>
        </p:spPr>
      </p:sp>
      <p:sp>
        <p:nvSpPr>
          <p:cNvPr id="1107" name="object-108">
            <a:extLst>
              <a:ext uri="{FF2B5EF4-FFF2-40B4-BE49-F238E27FC236}">
                <a16:creationId xmlns:a16="http://schemas.microsoft.com/office/drawing/2014/main" id="{BEB53253-FFA0-40FD-A8C7-40881799198A}"/>
              </a:ext>
            </a:extLst>
          </p:cNvPr>
          <p:cNvSpPr>
            <a:spLocks noGrp="1"/>
          </p:cNvSpPr>
          <p:nvPr/>
        </p:nvSpPr>
        <p:spPr>
          <a:xfrm>
            <a:off x="9867900" y="7658100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108" name="object-109">
            <a:extLst>
              <a:ext uri="{FF2B5EF4-FFF2-40B4-BE49-F238E27FC236}">
                <a16:creationId xmlns:a16="http://schemas.microsoft.com/office/drawing/2014/main" id="{9296AA3D-9CCF-446E-9F4D-7C851780BF64}"/>
              </a:ext>
            </a:extLst>
          </p:cNvPr>
          <p:cNvSpPr>
            <a:spLocks noGrp="1"/>
          </p:cNvSpPr>
          <p:nvPr/>
        </p:nvSpPr>
        <p:spPr>
          <a:xfrm>
            <a:off x="10048875" y="7658100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109" name="object-110">
            <a:extLst>
              <a:ext uri="{FF2B5EF4-FFF2-40B4-BE49-F238E27FC236}">
                <a16:creationId xmlns:a16="http://schemas.microsoft.com/office/drawing/2014/main" id="{9959900C-51F7-4F95-A068-A43CE746438C}"/>
              </a:ext>
            </a:extLst>
          </p:cNvPr>
          <p:cNvSpPr>
            <a:spLocks noGrp="1"/>
          </p:cNvSpPr>
          <p:nvPr/>
        </p:nvSpPr>
        <p:spPr>
          <a:xfrm>
            <a:off x="10229850" y="7658100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110" name="object-111">
            <a:extLst>
              <a:ext uri="{FF2B5EF4-FFF2-40B4-BE49-F238E27FC236}">
                <a16:creationId xmlns:a16="http://schemas.microsoft.com/office/drawing/2014/main" id="{B588514E-FFE5-4E6D-92B3-397914386797}"/>
              </a:ext>
            </a:extLst>
          </p:cNvPr>
          <p:cNvSpPr>
            <a:spLocks noGrp="1"/>
          </p:cNvSpPr>
          <p:nvPr/>
        </p:nvSpPr>
        <p:spPr>
          <a:xfrm>
            <a:off x="9867900" y="7848600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111" name="object-112">
            <a:extLst>
              <a:ext uri="{FF2B5EF4-FFF2-40B4-BE49-F238E27FC236}">
                <a16:creationId xmlns:a16="http://schemas.microsoft.com/office/drawing/2014/main" id="{B7716F91-0D86-4B83-AE94-BC7C1682B27C}"/>
              </a:ext>
            </a:extLst>
          </p:cNvPr>
          <p:cNvSpPr>
            <a:spLocks noGrp="1"/>
          </p:cNvSpPr>
          <p:nvPr/>
        </p:nvSpPr>
        <p:spPr>
          <a:xfrm>
            <a:off x="10048875" y="7848600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112" name="object-113">
            <a:extLst>
              <a:ext uri="{FF2B5EF4-FFF2-40B4-BE49-F238E27FC236}">
                <a16:creationId xmlns:a16="http://schemas.microsoft.com/office/drawing/2014/main" id="{74655373-1331-44AF-BD22-930C7A5C96AD}"/>
              </a:ext>
            </a:extLst>
          </p:cNvPr>
          <p:cNvSpPr>
            <a:spLocks noGrp="1"/>
          </p:cNvSpPr>
          <p:nvPr/>
        </p:nvSpPr>
        <p:spPr>
          <a:xfrm>
            <a:off x="10229850" y="7848600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113" name="object-114">
            <a:extLst>
              <a:ext uri="{FF2B5EF4-FFF2-40B4-BE49-F238E27FC236}">
                <a16:creationId xmlns:a16="http://schemas.microsoft.com/office/drawing/2014/main" id="{D274D07B-E989-4A80-B76D-5D60F2D43142}"/>
              </a:ext>
            </a:extLst>
          </p:cNvPr>
          <p:cNvSpPr>
            <a:spLocks noGrp="1"/>
          </p:cNvSpPr>
          <p:nvPr/>
        </p:nvSpPr>
        <p:spPr>
          <a:xfrm>
            <a:off x="10029825" y="7915275"/>
            <a:ext cx="152400" cy="104775"/>
          </a:xfrm>
          <a:prstGeom prst="rect">
            <a:avLst/>
          </a:prstGeom>
          <a:solidFill>
            <a:srgbClr val="D16A25"/>
          </a:solidFill>
          <a:ln w="9525">
            <a:noFill/>
            <a:prstDash val="solid"/>
          </a:ln>
        </p:spPr>
      </p:sp>
      <p:sp>
        <p:nvSpPr>
          <p:cNvPr id="1114" name="object-115">
            <a:extLst>
              <a:ext uri="{FF2B5EF4-FFF2-40B4-BE49-F238E27FC236}">
                <a16:creationId xmlns:a16="http://schemas.microsoft.com/office/drawing/2014/main" id="{B4C5E467-3C1F-4265-84BE-AAC50F82FF9E}"/>
              </a:ext>
            </a:extLst>
          </p:cNvPr>
          <p:cNvSpPr>
            <a:spLocks noGrp="1"/>
          </p:cNvSpPr>
          <p:nvPr/>
        </p:nvSpPr>
        <p:spPr>
          <a:xfrm>
            <a:off x="9458325" y="7391400"/>
            <a:ext cx="628650" cy="953"/>
          </a:xfrm>
          <a:prstGeom prst="line">
            <a:avLst/>
          </a:prstGeom>
          <a:noFill/>
          <a:ln w="28575">
            <a:solidFill>
              <a:srgbClr val="087F8C"/>
            </a:solidFill>
            <a:prstDash val="solid"/>
          </a:ln>
        </p:spPr>
      </p:sp>
      <p:sp>
        <p:nvSpPr>
          <p:cNvPr id="1115" name="object-116">
            <a:extLst>
              <a:ext uri="{FF2B5EF4-FFF2-40B4-BE49-F238E27FC236}">
                <a16:creationId xmlns:a16="http://schemas.microsoft.com/office/drawing/2014/main" id="{DCDD1CDC-C572-4ACD-AF00-5B3B28E9899A}"/>
              </a:ext>
            </a:extLst>
          </p:cNvPr>
          <p:cNvSpPr>
            <a:spLocks noGrp="1"/>
          </p:cNvSpPr>
          <p:nvPr/>
        </p:nvSpPr>
        <p:spPr>
          <a:xfrm>
            <a:off x="10086975" y="7334250"/>
            <a:ext cx="953" cy="238125"/>
          </a:xfrm>
          <a:prstGeom prst="line">
            <a:avLst/>
          </a:prstGeom>
          <a:noFill/>
          <a:ln w="28575">
            <a:solidFill>
              <a:srgbClr val="087F8C"/>
            </a:solidFill>
            <a:prstDash val="solid"/>
          </a:ln>
        </p:spPr>
      </p:sp>
      <p:sp>
        <p:nvSpPr>
          <p:cNvPr id="1116" name="object-117">
            <a:extLst>
              <a:ext uri="{FF2B5EF4-FFF2-40B4-BE49-F238E27FC236}">
                <a16:creationId xmlns:a16="http://schemas.microsoft.com/office/drawing/2014/main" id="{56B3118A-FDAB-4816-8CE4-E16F4D9C96DC}"/>
              </a:ext>
            </a:extLst>
          </p:cNvPr>
          <p:cNvSpPr>
            <a:spLocks noGrp="1"/>
          </p:cNvSpPr>
          <p:nvPr/>
        </p:nvSpPr>
        <p:spPr>
          <a:xfrm>
            <a:off x="9934575" y="5638800"/>
            <a:ext cx="600075" cy="953"/>
          </a:xfrm>
          <a:prstGeom prst="line">
            <a:avLst/>
          </a:prstGeom>
          <a:noFill/>
          <a:ln w="22860">
            <a:solidFill>
              <a:srgbClr val="D16A25"/>
            </a:solidFill>
            <a:prstDash val="solid"/>
          </a:ln>
        </p:spPr>
      </p:sp>
      <p:sp>
        <p:nvSpPr>
          <p:cNvPr id="1117" name="object-118">
            <a:extLst>
              <a:ext uri="{FF2B5EF4-FFF2-40B4-BE49-F238E27FC236}">
                <a16:creationId xmlns:a16="http://schemas.microsoft.com/office/drawing/2014/main" id="{071431D5-6E01-4C55-AB05-2DA9E6C52C47}"/>
              </a:ext>
            </a:extLst>
          </p:cNvPr>
          <p:cNvSpPr>
            <a:spLocks noGrp="1"/>
          </p:cNvSpPr>
          <p:nvPr/>
        </p:nvSpPr>
        <p:spPr>
          <a:xfrm>
            <a:off x="10534650" y="5638800"/>
            <a:ext cx="953" cy="895350"/>
          </a:xfrm>
          <a:prstGeom prst="line">
            <a:avLst/>
          </a:prstGeom>
          <a:noFill/>
          <a:ln w="22860">
            <a:solidFill>
              <a:srgbClr val="D16A25"/>
            </a:solidFill>
            <a:prstDash val="solid"/>
          </a:ln>
        </p:spPr>
      </p:sp>
      <p:sp>
        <p:nvSpPr>
          <p:cNvPr id="1118" name="object-119">
            <a:extLst>
              <a:ext uri="{FF2B5EF4-FFF2-40B4-BE49-F238E27FC236}">
                <a16:creationId xmlns:a16="http://schemas.microsoft.com/office/drawing/2014/main" id="{0228B2E0-C4C1-4D4A-935D-45C755D314DD}"/>
              </a:ext>
            </a:extLst>
          </p:cNvPr>
          <p:cNvSpPr>
            <a:spLocks noGrp="1"/>
          </p:cNvSpPr>
          <p:nvPr/>
        </p:nvSpPr>
        <p:spPr>
          <a:xfrm>
            <a:off x="5448300" y="6534150"/>
            <a:ext cx="5086350" cy="953"/>
          </a:xfrm>
          <a:prstGeom prst="line">
            <a:avLst/>
          </a:prstGeom>
          <a:noFill/>
          <a:ln w="22860">
            <a:solidFill>
              <a:srgbClr val="D16A25"/>
            </a:solidFill>
            <a:prstDash val="solid"/>
          </a:ln>
        </p:spPr>
      </p:sp>
      <p:sp>
        <p:nvSpPr>
          <p:cNvPr id="1119" name="object-120">
            <a:extLst>
              <a:ext uri="{FF2B5EF4-FFF2-40B4-BE49-F238E27FC236}">
                <a16:creationId xmlns:a16="http://schemas.microsoft.com/office/drawing/2014/main" id="{E0A75158-DA79-43B4-B2F8-B83CF5ECE5DE}"/>
              </a:ext>
            </a:extLst>
          </p:cNvPr>
          <p:cNvSpPr>
            <a:spLocks noGrp="1"/>
          </p:cNvSpPr>
          <p:nvPr/>
        </p:nvSpPr>
        <p:spPr>
          <a:xfrm>
            <a:off x="5448300" y="6534150"/>
            <a:ext cx="953" cy="542925"/>
          </a:xfrm>
          <a:prstGeom prst="line">
            <a:avLst/>
          </a:prstGeom>
          <a:noFill/>
          <a:ln w="22860">
            <a:solidFill>
              <a:srgbClr val="D16A25"/>
            </a:solidFill>
            <a:prstDash val="solid"/>
          </a:ln>
        </p:spPr>
      </p:sp>
      <p:sp>
        <p:nvSpPr>
          <p:cNvPr id="1120" name="object-121">
            <a:extLst>
              <a:ext uri="{FF2B5EF4-FFF2-40B4-BE49-F238E27FC236}">
                <a16:creationId xmlns:a16="http://schemas.microsoft.com/office/drawing/2014/main" id="{DC2BD96A-8414-4DFA-8B67-60C257085533}"/>
              </a:ext>
            </a:extLst>
          </p:cNvPr>
          <p:cNvSpPr>
            <a:spLocks noGrp="1"/>
          </p:cNvSpPr>
          <p:nvPr/>
        </p:nvSpPr>
        <p:spPr>
          <a:xfrm>
            <a:off x="5391150" y="6943725"/>
            <a:ext cx="114300" cy="133350"/>
          </a:xfrm>
          <a:prstGeom prst="downArrow">
            <a:avLst/>
          </a:prstGeom>
          <a:solidFill>
            <a:srgbClr val="D16A25"/>
          </a:solidFill>
          <a:ln w="0">
            <a:noFill/>
            <a:prstDash val="solid"/>
          </a:ln>
        </p:spPr>
      </p:sp>
      <p:sp>
        <p:nvSpPr>
          <p:cNvPr id="1121" name="object-122">
            <a:extLst>
              <a:ext uri="{FF2B5EF4-FFF2-40B4-BE49-F238E27FC236}">
                <a16:creationId xmlns:a16="http://schemas.microsoft.com/office/drawing/2014/main" id="{B4322FBB-9CBD-49D8-BA87-54A1D42F0756}"/>
              </a:ext>
            </a:extLst>
          </p:cNvPr>
          <p:cNvSpPr>
            <a:spLocks noGrp="1"/>
          </p:cNvSpPr>
          <p:nvPr/>
        </p:nvSpPr>
        <p:spPr>
          <a:xfrm>
            <a:off x="5162550" y="7077075"/>
            <a:ext cx="2181225" cy="533400"/>
          </a:xfrm>
          <a:prstGeom prst="roundRect">
            <a:avLst>
              <a:gd name="adj" fmla="val 14286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VSG / 电压电流环</a:t>
            </a:r>
          </a:p>
        </p:txBody>
      </p:sp>
      <p:sp>
        <p:nvSpPr>
          <p:cNvPr id="1122" name="object-123">
            <a:extLst>
              <a:ext uri="{FF2B5EF4-FFF2-40B4-BE49-F238E27FC236}">
                <a16:creationId xmlns:a16="http://schemas.microsoft.com/office/drawing/2014/main" id="{BF200F67-DD80-4759-B22A-968EF3278A28}"/>
              </a:ext>
            </a:extLst>
          </p:cNvPr>
          <p:cNvSpPr>
            <a:spLocks noGrp="1"/>
          </p:cNvSpPr>
          <p:nvPr/>
        </p:nvSpPr>
        <p:spPr>
          <a:xfrm>
            <a:off x="4943475" y="7324725"/>
            <a:ext cx="219075" cy="953"/>
          </a:xfrm>
          <a:prstGeom prst="line">
            <a:avLst/>
          </a:prstGeom>
          <a:noFill/>
          <a:ln w="22860">
            <a:solidFill>
              <a:srgbClr val="D16A25"/>
            </a:solidFill>
            <a:prstDash val="dash"/>
          </a:ln>
        </p:spPr>
      </p:sp>
      <p:sp>
        <p:nvSpPr>
          <p:cNvPr id="1123" name="object-124">
            <a:extLst>
              <a:ext uri="{FF2B5EF4-FFF2-40B4-BE49-F238E27FC236}">
                <a16:creationId xmlns:a16="http://schemas.microsoft.com/office/drawing/2014/main" id="{0391909F-8C0E-4046-84E2-2106F3734701}"/>
              </a:ext>
            </a:extLst>
          </p:cNvPr>
          <p:cNvSpPr>
            <a:spLocks noGrp="1"/>
          </p:cNvSpPr>
          <p:nvPr/>
        </p:nvSpPr>
        <p:spPr>
          <a:xfrm>
            <a:off x="4943475" y="6943725"/>
            <a:ext cx="953" cy="381000"/>
          </a:xfrm>
          <a:prstGeom prst="line">
            <a:avLst/>
          </a:prstGeom>
          <a:noFill/>
          <a:ln w="22860">
            <a:solidFill>
              <a:srgbClr val="D16A25"/>
            </a:solidFill>
            <a:prstDash val="dash"/>
          </a:ln>
        </p:spPr>
      </p:sp>
      <p:sp>
        <p:nvSpPr>
          <p:cNvPr id="1124" name="object-125">
            <a:extLst>
              <a:ext uri="{FF2B5EF4-FFF2-40B4-BE49-F238E27FC236}">
                <a16:creationId xmlns:a16="http://schemas.microsoft.com/office/drawing/2014/main" id="{226966B8-B73B-4ACF-8731-629770178895}"/>
              </a:ext>
            </a:extLst>
          </p:cNvPr>
          <p:cNvSpPr>
            <a:spLocks noGrp="1"/>
          </p:cNvSpPr>
          <p:nvPr/>
        </p:nvSpPr>
        <p:spPr>
          <a:xfrm>
            <a:off x="2076450" y="6943725"/>
            <a:ext cx="2867025" cy="953"/>
          </a:xfrm>
          <a:prstGeom prst="line">
            <a:avLst/>
          </a:prstGeom>
          <a:noFill/>
          <a:ln w="22860">
            <a:solidFill>
              <a:srgbClr val="D16A25"/>
            </a:solidFill>
            <a:prstDash val="dash"/>
          </a:ln>
        </p:spPr>
      </p:sp>
      <p:sp>
        <p:nvSpPr>
          <p:cNvPr id="1125" name="object-126">
            <a:extLst>
              <a:ext uri="{FF2B5EF4-FFF2-40B4-BE49-F238E27FC236}">
                <a16:creationId xmlns:a16="http://schemas.microsoft.com/office/drawing/2014/main" id="{453F1985-F6A3-472A-B4D5-A0DE8FFB1FCE}"/>
              </a:ext>
            </a:extLst>
          </p:cNvPr>
          <p:cNvSpPr>
            <a:spLocks noGrp="1"/>
          </p:cNvSpPr>
          <p:nvPr/>
        </p:nvSpPr>
        <p:spPr>
          <a:xfrm>
            <a:off x="2076450" y="6943725"/>
            <a:ext cx="953" cy="228600"/>
          </a:xfrm>
          <a:prstGeom prst="line">
            <a:avLst/>
          </a:prstGeom>
          <a:noFill/>
          <a:ln w="22860">
            <a:solidFill>
              <a:srgbClr val="D16A25"/>
            </a:solidFill>
            <a:prstDash val="dash"/>
          </a:ln>
        </p:spPr>
      </p:sp>
      <p:sp>
        <p:nvSpPr>
          <p:cNvPr id="1126" name="object-127">
            <a:extLst>
              <a:ext uri="{FF2B5EF4-FFF2-40B4-BE49-F238E27FC236}">
                <a16:creationId xmlns:a16="http://schemas.microsoft.com/office/drawing/2014/main" id="{7139A863-F959-475C-A1EB-A7988622303E}"/>
              </a:ext>
            </a:extLst>
          </p:cNvPr>
          <p:cNvSpPr>
            <a:spLocks noGrp="1"/>
          </p:cNvSpPr>
          <p:nvPr/>
        </p:nvSpPr>
        <p:spPr>
          <a:xfrm>
            <a:off x="2019300" y="7038975"/>
            <a:ext cx="114300" cy="133350"/>
          </a:xfrm>
          <a:prstGeom prst="downArrow">
            <a:avLst/>
          </a:prstGeom>
          <a:solidFill>
            <a:srgbClr val="D16A25"/>
          </a:solidFill>
          <a:ln w="0">
            <a:noFill/>
            <a:prstDash val="solid"/>
          </a:ln>
        </p:spPr>
      </p:sp>
      <p:sp>
        <p:nvSpPr>
          <p:cNvPr id="1127" name="object-128">
            <a:extLst>
              <a:ext uri="{FF2B5EF4-FFF2-40B4-BE49-F238E27FC236}">
                <a16:creationId xmlns:a16="http://schemas.microsoft.com/office/drawing/2014/main" id="{FCD757DC-7F7F-4DFC-91BF-5FDF9F11C83B}"/>
              </a:ext>
            </a:extLst>
          </p:cNvPr>
          <p:cNvSpPr>
            <a:spLocks noGrp="1"/>
          </p:cNvSpPr>
          <p:nvPr/>
        </p:nvSpPr>
        <p:spPr>
          <a:xfrm>
            <a:off x="4467225" y="6943725"/>
            <a:ext cx="953" cy="228600"/>
          </a:xfrm>
          <a:prstGeom prst="line">
            <a:avLst/>
          </a:prstGeom>
          <a:noFill/>
          <a:ln w="22860">
            <a:solidFill>
              <a:srgbClr val="D16A25"/>
            </a:solidFill>
            <a:prstDash val="dash"/>
          </a:ln>
        </p:spPr>
      </p:sp>
      <p:sp>
        <p:nvSpPr>
          <p:cNvPr id="1128" name="object-129">
            <a:extLst>
              <a:ext uri="{FF2B5EF4-FFF2-40B4-BE49-F238E27FC236}">
                <a16:creationId xmlns:a16="http://schemas.microsoft.com/office/drawing/2014/main" id="{C6BA825D-30BA-4479-A386-972A6AEAB52B}"/>
              </a:ext>
            </a:extLst>
          </p:cNvPr>
          <p:cNvSpPr>
            <a:spLocks noGrp="1"/>
          </p:cNvSpPr>
          <p:nvPr/>
        </p:nvSpPr>
        <p:spPr>
          <a:xfrm>
            <a:off x="4410075" y="7038975"/>
            <a:ext cx="114300" cy="133350"/>
          </a:xfrm>
          <a:prstGeom prst="downArrow">
            <a:avLst/>
          </a:prstGeom>
          <a:solidFill>
            <a:srgbClr val="D16A25"/>
          </a:solidFill>
          <a:ln w="0">
            <a:noFill/>
            <a:prstDash val="solid"/>
          </a:ln>
        </p:spPr>
      </p:sp>
      <p:sp>
        <p:nvSpPr>
          <p:cNvPr id="1129" name="object-130">
            <a:extLst>
              <a:ext uri="{FF2B5EF4-FFF2-40B4-BE49-F238E27FC236}">
                <a16:creationId xmlns:a16="http://schemas.microsoft.com/office/drawing/2014/main" id="{AC4B0A54-A824-4409-AD21-7F42F4BD2EAE}"/>
              </a:ext>
            </a:extLst>
          </p:cNvPr>
          <p:cNvSpPr>
            <a:spLocks noGrp="1"/>
          </p:cNvSpPr>
          <p:nvPr/>
        </p:nvSpPr>
        <p:spPr>
          <a:xfrm>
            <a:off x="8496300" y="7696200"/>
            <a:ext cx="953" cy="514350"/>
          </a:xfrm>
          <a:prstGeom prst="line">
            <a:avLst/>
          </a:prstGeom>
          <a:noFill/>
          <a:ln w="22860">
            <a:solidFill>
              <a:srgbClr val="087F8C"/>
            </a:solidFill>
            <a:prstDash val="dash"/>
          </a:ln>
        </p:spPr>
      </p:sp>
      <p:sp>
        <p:nvSpPr>
          <p:cNvPr id="1130" name="object-131">
            <a:extLst>
              <a:ext uri="{FF2B5EF4-FFF2-40B4-BE49-F238E27FC236}">
                <a16:creationId xmlns:a16="http://schemas.microsoft.com/office/drawing/2014/main" id="{BACF36E7-D35A-4528-9531-5D8628B9E9B3}"/>
              </a:ext>
            </a:extLst>
          </p:cNvPr>
          <p:cNvSpPr>
            <a:spLocks noGrp="1"/>
          </p:cNvSpPr>
          <p:nvPr/>
        </p:nvSpPr>
        <p:spPr>
          <a:xfrm>
            <a:off x="266700" y="8210550"/>
            <a:ext cx="8229600" cy="953"/>
          </a:xfrm>
          <a:prstGeom prst="line">
            <a:avLst/>
          </a:prstGeom>
          <a:noFill/>
          <a:ln w="22860">
            <a:solidFill>
              <a:srgbClr val="087F8C"/>
            </a:solidFill>
            <a:prstDash val="dash"/>
          </a:ln>
        </p:spPr>
      </p:sp>
      <p:sp>
        <p:nvSpPr>
          <p:cNvPr id="1131" name="object-132">
            <a:extLst>
              <a:ext uri="{FF2B5EF4-FFF2-40B4-BE49-F238E27FC236}">
                <a16:creationId xmlns:a16="http://schemas.microsoft.com/office/drawing/2014/main" id="{A8CFE510-795C-4BBD-9007-F817D6A7B4E4}"/>
              </a:ext>
            </a:extLst>
          </p:cNvPr>
          <p:cNvSpPr>
            <a:spLocks noGrp="1"/>
          </p:cNvSpPr>
          <p:nvPr/>
        </p:nvSpPr>
        <p:spPr>
          <a:xfrm>
            <a:off x="266700" y="2857500"/>
            <a:ext cx="953" cy="5353050"/>
          </a:xfrm>
          <a:prstGeom prst="line">
            <a:avLst/>
          </a:prstGeom>
          <a:noFill/>
          <a:ln w="22860">
            <a:solidFill>
              <a:srgbClr val="087F8C"/>
            </a:solidFill>
            <a:prstDash val="dash"/>
          </a:ln>
        </p:spPr>
      </p:sp>
      <p:sp>
        <p:nvSpPr>
          <p:cNvPr id="1132" name="object-133">
            <a:extLst>
              <a:ext uri="{FF2B5EF4-FFF2-40B4-BE49-F238E27FC236}">
                <a16:creationId xmlns:a16="http://schemas.microsoft.com/office/drawing/2014/main" id="{D1FB3044-C176-4BDE-85EC-1EF5AF3BCB33}"/>
              </a:ext>
            </a:extLst>
          </p:cNvPr>
          <p:cNvSpPr>
            <a:spLocks noGrp="1"/>
          </p:cNvSpPr>
          <p:nvPr/>
        </p:nvSpPr>
        <p:spPr>
          <a:xfrm>
            <a:off x="266700" y="2857500"/>
            <a:ext cx="2619375" cy="953"/>
          </a:xfrm>
          <a:prstGeom prst="line">
            <a:avLst/>
          </a:prstGeom>
          <a:noFill/>
          <a:ln w="22860">
            <a:solidFill>
              <a:srgbClr val="087F8C"/>
            </a:solidFill>
            <a:prstDash val="dash"/>
          </a:ln>
        </p:spPr>
      </p:sp>
      <p:sp>
        <p:nvSpPr>
          <p:cNvPr id="1133" name="object-134">
            <a:extLst>
              <a:ext uri="{FF2B5EF4-FFF2-40B4-BE49-F238E27FC236}">
                <a16:creationId xmlns:a16="http://schemas.microsoft.com/office/drawing/2014/main" id="{8C2BE51A-6EA9-4FA5-960E-78C8571F94AB}"/>
              </a:ext>
            </a:extLst>
          </p:cNvPr>
          <p:cNvSpPr>
            <a:spLocks noGrp="1"/>
          </p:cNvSpPr>
          <p:nvPr/>
        </p:nvSpPr>
        <p:spPr>
          <a:xfrm>
            <a:off x="2886075" y="2857500"/>
            <a:ext cx="953" cy="161925"/>
          </a:xfrm>
          <a:prstGeom prst="line">
            <a:avLst/>
          </a:prstGeom>
          <a:noFill/>
          <a:ln w="22860">
            <a:solidFill>
              <a:srgbClr val="087F8C"/>
            </a:solidFill>
            <a:prstDash val="dash"/>
          </a:ln>
        </p:spPr>
      </p:sp>
      <p:sp>
        <p:nvSpPr>
          <p:cNvPr id="1134" name="object-135">
            <a:extLst>
              <a:ext uri="{FF2B5EF4-FFF2-40B4-BE49-F238E27FC236}">
                <a16:creationId xmlns:a16="http://schemas.microsoft.com/office/drawing/2014/main" id="{3BA0E84B-BA7F-47AF-A820-0915C5FC1E45}"/>
              </a:ext>
            </a:extLst>
          </p:cNvPr>
          <p:cNvSpPr>
            <a:spLocks noGrp="1"/>
          </p:cNvSpPr>
          <p:nvPr/>
        </p:nvSpPr>
        <p:spPr>
          <a:xfrm>
            <a:off x="2828925" y="2886075"/>
            <a:ext cx="114300" cy="133350"/>
          </a:xfrm>
          <a:prstGeom prst="downArrow">
            <a:avLst/>
          </a:prstGeom>
          <a:solidFill>
            <a:srgbClr val="087F8C"/>
          </a:solidFill>
          <a:ln w="0">
            <a:noFill/>
            <a:prstDash val="solid"/>
          </a:ln>
        </p:spPr>
      </p:sp>
      <p:sp>
        <p:nvSpPr>
          <p:cNvPr id="1135" name="object-136">
            <a:extLst>
              <a:ext uri="{FF2B5EF4-FFF2-40B4-BE49-F238E27FC236}">
                <a16:creationId xmlns:a16="http://schemas.microsoft.com/office/drawing/2014/main" id="{6AE42533-3870-4B8C-9A00-8F3F2D05E0A4}"/>
              </a:ext>
            </a:extLst>
          </p:cNvPr>
          <p:cNvSpPr>
            <a:spLocks noGrp="1"/>
          </p:cNvSpPr>
          <p:nvPr/>
        </p:nvSpPr>
        <p:spPr>
          <a:xfrm>
            <a:off x="3743325" y="8010525"/>
            <a:ext cx="3829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4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P、f、SOC 测量反馈</a:t>
            </a:r>
          </a:p>
        </p:txBody>
      </p:sp>
      <p:sp>
        <p:nvSpPr>
          <p:cNvPr id="1136" name="object-137">
            <a:extLst>
              <a:ext uri="{FF2B5EF4-FFF2-40B4-BE49-F238E27FC236}">
                <a16:creationId xmlns:a16="http://schemas.microsoft.com/office/drawing/2014/main" id="{FA078093-F924-44BB-8F9C-59E5B484B65A}"/>
              </a:ext>
            </a:extLst>
          </p:cNvPr>
          <p:cNvSpPr>
            <a:spLocks noGrp="1"/>
          </p:cNvSpPr>
          <p:nvPr/>
        </p:nvSpPr>
        <p:spPr>
          <a:xfrm>
            <a:off x="8496300" y="7696200"/>
            <a:ext cx="953" cy="257175"/>
          </a:xfrm>
          <a:prstGeom prst="line">
            <a:avLst/>
          </a:prstGeom>
          <a:noFill/>
          <a:ln w="22860">
            <a:solidFill>
              <a:srgbClr val="087F8C"/>
            </a:solidFill>
            <a:prstDash val="dash"/>
          </a:ln>
        </p:spPr>
      </p:sp>
      <p:sp>
        <p:nvSpPr>
          <p:cNvPr id="1137" name="object-138">
            <a:extLst>
              <a:ext uri="{FF2B5EF4-FFF2-40B4-BE49-F238E27FC236}">
                <a16:creationId xmlns:a16="http://schemas.microsoft.com/office/drawing/2014/main" id="{FDDFF9BE-B841-4005-B75D-7FDC1A1D8850}"/>
              </a:ext>
            </a:extLst>
          </p:cNvPr>
          <p:cNvSpPr>
            <a:spLocks noGrp="1"/>
          </p:cNvSpPr>
          <p:nvPr/>
        </p:nvSpPr>
        <p:spPr>
          <a:xfrm>
            <a:off x="7439025" y="7953375"/>
            <a:ext cx="1057275" cy="953"/>
          </a:xfrm>
          <a:prstGeom prst="line">
            <a:avLst/>
          </a:prstGeom>
          <a:noFill/>
          <a:ln w="22860">
            <a:solidFill>
              <a:srgbClr val="087F8C"/>
            </a:solidFill>
            <a:prstDash val="dash"/>
          </a:ln>
        </p:spPr>
      </p:sp>
      <p:sp>
        <p:nvSpPr>
          <p:cNvPr id="1138" name="object-139">
            <a:extLst>
              <a:ext uri="{FF2B5EF4-FFF2-40B4-BE49-F238E27FC236}">
                <a16:creationId xmlns:a16="http://schemas.microsoft.com/office/drawing/2014/main" id="{55A2A737-FFDA-4E0A-BD20-ACAEF5CC52A6}"/>
              </a:ext>
            </a:extLst>
          </p:cNvPr>
          <p:cNvSpPr>
            <a:spLocks noGrp="1"/>
          </p:cNvSpPr>
          <p:nvPr/>
        </p:nvSpPr>
        <p:spPr>
          <a:xfrm>
            <a:off x="7439025" y="6362700"/>
            <a:ext cx="953" cy="1590675"/>
          </a:xfrm>
          <a:prstGeom prst="line">
            <a:avLst/>
          </a:prstGeom>
          <a:noFill/>
          <a:ln w="22860">
            <a:solidFill>
              <a:srgbClr val="087F8C"/>
            </a:solidFill>
            <a:prstDash val="dash"/>
          </a:ln>
        </p:spPr>
      </p:sp>
      <p:sp>
        <p:nvSpPr>
          <p:cNvPr id="1139" name="object-140">
            <a:extLst>
              <a:ext uri="{FF2B5EF4-FFF2-40B4-BE49-F238E27FC236}">
                <a16:creationId xmlns:a16="http://schemas.microsoft.com/office/drawing/2014/main" id="{4E81A496-53A9-4484-AE12-6C5B64AA41E5}"/>
              </a:ext>
            </a:extLst>
          </p:cNvPr>
          <p:cNvSpPr>
            <a:spLocks noGrp="1"/>
          </p:cNvSpPr>
          <p:nvPr/>
        </p:nvSpPr>
        <p:spPr>
          <a:xfrm>
            <a:off x="5924550" y="6362700"/>
            <a:ext cx="1514475" cy="953"/>
          </a:xfrm>
          <a:prstGeom prst="line">
            <a:avLst/>
          </a:prstGeom>
          <a:noFill/>
          <a:ln w="22860">
            <a:solidFill>
              <a:srgbClr val="087F8C"/>
            </a:solidFill>
            <a:prstDash val="dash"/>
          </a:ln>
        </p:spPr>
      </p:sp>
      <p:sp>
        <p:nvSpPr>
          <p:cNvPr id="1140" name="object-141">
            <a:extLst>
              <a:ext uri="{FF2B5EF4-FFF2-40B4-BE49-F238E27FC236}">
                <a16:creationId xmlns:a16="http://schemas.microsoft.com/office/drawing/2014/main" id="{7AACCE30-3826-49B0-995D-17530666A1B4}"/>
              </a:ext>
            </a:extLst>
          </p:cNvPr>
          <p:cNvSpPr>
            <a:spLocks noGrp="1"/>
          </p:cNvSpPr>
          <p:nvPr/>
        </p:nvSpPr>
        <p:spPr>
          <a:xfrm>
            <a:off x="5924550" y="6000750"/>
            <a:ext cx="953" cy="361950"/>
          </a:xfrm>
          <a:prstGeom prst="line">
            <a:avLst/>
          </a:prstGeom>
          <a:noFill/>
          <a:ln w="22860">
            <a:solidFill>
              <a:srgbClr val="087F8C"/>
            </a:solidFill>
            <a:prstDash val="dash"/>
          </a:ln>
        </p:spPr>
      </p:sp>
      <p:sp>
        <p:nvSpPr>
          <p:cNvPr id="1141" name="object-142">
            <a:extLst>
              <a:ext uri="{FF2B5EF4-FFF2-40B4-BE49-F238E27FC236}">
                <a16:creationId xmlns:a16="http://schemas.microsoft.com/office/drawing/2014/main" id="{CDE97CA5-904B-4E9D-A966-B180A7FF0003}"/>
              </a:ext>
            </a:extLst>
          </p:cNvPr>
          <p:cNvSpPr>
            <a:spLocks noGrp="1"/>
          </p:cNvSpPr>
          <p:nvPr/>
        </p:nvSpPr>
        <p:spPr>
          <a:xfrm>
            <a:off x="5867400" y="6000750"/>
            <a:ext cx="114300" cy="133350"/>
          </a:xfrm>
          <a:prstGeom prst="upArrow">
            <a:avLst/>
          </a:prstGeom>
          <a:solidFill>
            <a:srgbClr val="087F8C"/>
          </a:solidFill>
          <a:ln w="0">
            <a:noFill/>
            <a:prstDash val="solid"/>
          </a:ln>
        </p:spPr>
      </p:sp>
      <p:sp>
        <p:nvSpPr>
          <p:cNvPr id="1142" name="object-143">
            <a:extLst>
              <a:ext uri="{FF2B5EF4-FFF2-40B4-BE49-F238E27FC236}">
                <a16:creationId xmlns:a16="http://schemas.microsoft.com/office/drawing/2014/main" id="{D16FA83B-0E99-45D9-BF39-CC0620401EFA}"/>
              </a:ext>
            </a:extLst>
          </p:cNvPr>
          <p:cNvSpPr>
            <a:spLocks noGrp="1"/>
          </p:cNvSpPr>
          <p:nvPr/>
        </p:nvSpPr>
        <p:spPr>
          <a:xfrm>
            <a:off x="11182350" y="2724150"/>
            <a:ext cx="438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经济与安全共同确定运行点</a:t>
            </a:r>
          </a:p>
        </p:txBody>
      </p:sp>
      <p:pic>
        <p:nvPicPr>
          <p:cNvPr id="1143" name="">
            <a:extLst>
              <a:ext uri="{FF2B5EF4-FFF2-40B4-BE49-F238E27FC236}">
                <a16:creationId xmlns:a16="http://schemas.microsoft.com/office/drawing/2014/main" id="{54ADC194-6E0B-44BE-B51C-C3536A8605AC}"/>
              </a:ext>
            </a:extLst>
          </p:cNvPr>
          <p:cNvPicPr>
            <a:picLocks noChangeAspect="1"/>
          </p:cNvPicPr>
          <p:nvPr/>
        </p:nvPicPr>
        <p:blipFill>
          <a:blip r:embed="rId500">
            <a:extLst>
              <a:ext uri="{96DAC541-7B7A-43D3-8B79-37D633B846F1}">
                <asvg:svgBlip xmlns:asvg="http://schemas.microsoft.com/office/drawing/2016/SVG/main" r:embed="rId501"/>
              </a:ext>
            </a:extLst>
          </a:blip>
          <a:stretch/>
        </p:blipFill>
        <p:spPr>
          <a:xfrm>
            <a:off x="11239500" y="3319791"/>
            <a:ext cx="4333875" cy="237467"/>
          </a:xfrm>
          <a:prstGeom prst="rect">
            <a:avLst/>
          </a:prstGeom>
        </p:spPr>
      </p:pic>
      <p:sp>
        <p:nvSpPr>
          <p:cNvPr id="1144" name="object-144">
            <a:extLst>
              <a:ext uri="{FF2B5EF4-FFF2-40B4-BE49-F238E27FC236}">
                <a16:creationId xmlns:a16="http://schemas.microsoft.com/office/drawing/2014/main" id="{B6E655CC-7216-4DD5-A7FD-150D2203F433}"/>
              </a:ext>
            </a:extLst>
          </p:cNvPr>
          <p:cNvSpPr>
            <a:spLocks noGrp="1"/>
          </p:cNvSpPr>
          <p:nvPr/>
        </p:nvSpPr>
        <p:spPr>
          <a:xfrm>
            <a:off x="11182350" y="3781425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功率 / SOC 裕度 + SCR 修正</a:t>
            </a:r>
          </a:p>
        </p:txBody>
      </p:sp>
      <p:sp>
        <p:nvSpPr>
          <p:cNvPr id="1145" name="object-145">
            <a:extLst>
              <a:ext uri="{FF2B5EF4-FFF2-40B4-BE49-F238E27FC236}">
                <a16:creationId xmlns:a16="http://schemas.microsoft.com/office/drawing/2014/main" id="{6BCC42A0-F086-4586-A529-7B625D152FEB}"/>
              </a:ext>
            </a:extLst>
          </p:cNvPr>
          <p:cNvSpPr>
            <a:spLocks noGrp="1"/>
          </p:cNvSpPr>
          <p:nvPr/>
        </p:nvSpPr>
        <p:spPr>
          <a:xfrm>
            <a:off x="11182350" y="4314825"/>
            <a:ext cx="4381500" cy="953"/>
          </a:xfrm>
          <a:prstGeom prst="line">
            <a:avLst/>
          </a:prstGeom>
          <a:noFill/>
          <a:ln w="9525">
            <a:solidFill>
              <a:srgbClr val="66B7FA"/>
            </a:solidFill>
            <a:prstDash val="solid"/>
          </a:ln>
        </p:spPr>
      </p:sp>
      <p:sp>
        <p:nvSpPr>
          <p:cNvPr id="1146" name="object-146">
            <a:extLst>
              <a:ext uri="{FF2B5EF4-FFF2-40B4-BE49-F238E27FC236}">
                <a16:creationId xmlns:a16="http://schemas.microsoft.com/office/drawing/2014/main" id="{D1CBD86D-11E9-4C86-B7A0-4B1506BEE1AE}"/>
              </a:ext>
            </a:extLst>
          </p:cNvPr>
          <p:cNvSpPr>
            <a:spLocks noGrp="1"/>
          </p:cNvSpPr>
          <p:nvPr/>
        </p:nvSpPr>
        <p:spPr>
          <a:xfrm>
            <a:off x="11182350" y="4467225"/>
            <a:ext cx="438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目标功率由基础值与新增偏差组成</a:t>
            </a:r>
          </a:p>
        </p:txBody>
      </p:sp>
      <p:pic>
        <p:nvPicPr>
          <p:cNvPr id="1147" name="">
            <a:extLst>
              <a:ext uri="{FF2B5EF4-FFF2-40B4-BE49-F238E27FC236}">
                <a16:creationId xmlns:a16="http://schemas.microsoft.com/office/drawing/2014/main" id="{CB5E441D-3AEB-4271-84BC-67C6D3AF5290}"/>
              </a:ext>
            </a:extLst>
          </p:cNvPr>
          <p:cNvPicPr>
            <a:picLocks noChangeAspect="1"/>
          </p:cNvPicPr>
          <p:nvPr/>
        </p:nvPicPr>
        <p:blipFill>
          <a:blip r:embed="rId502">
            <a:extLst>
              <a:ext uri="{96DAC541-7B7A-43D3-8B79-37D633B846F1}">
                <asvg:svgBlip xmlns:asvg="http://schemas.microsoft.com/office/drawing/2016/SVG/main" r:embed="rId503"/>
              </a:ext>
            </a:extLst>
          </a:blip>
          <a:stretch/>
        </p:blipFill>
        <p:spPr>
          <a:xfrm>
            <a:off x="11249025" y="5134360"/>
            <a:ext cx="4267200" cy="370705"/>
          </a:xfrm>
          <a:prstGeom prst="rect">
            <a:avLst/>
          </a:prstGeom>
        </p:spPr>
      </p:pic>
      <p:sp>
        <p:nvSpPr>
          <p:cNvPr id="1148" name="object-147">
            <a:extLst>
              <a:ext uri="{FF2B5EF4-FFF2-40B4-BE49-F238E27FC236}">
                <a16:creationId xmlns:a16="http://schemas.microsoft.com/office/drawing/2014/main" id="{0FE39479-48CD-4A94-9F27-CFAB69DAB66A}"/>
              </a:ext>
            </a:extLst>
          </p:cNvPr>
          <p:cNvSpPr>
            <a:spLocks noGrp="1"/>
          </p:cNvSpPr>
          <p:nvPr/>
        </p:nvSpPr>
        <p:spPr>
          <a:xfrm>
            <a:off x="11182350" y="5867400"/>
            <a:ext cx="4381500" cy="953"/>
          </a:xfrm>
          <a:prstGeom prst="line">
            <a:avLst/>
          </a:prstGeom>
          <a:noFill/>
          <a:ln w="9525">
            <a:solidFill>
              <a:srgbClr val="66B7FA"/>
            </a:solidFill>
            <a:prstDash val="solid"/>
          </a:ln>
        </p:spPr>
      </p:sp>
      <p:sp>
        <p:nvSpPr>
          <p:cNvPr id="1149" name="object-148">
            <a:extLst>
              <a:ext uri="{FF2B5EF4-FFF2-40B4-BE49-F238E27FC236}">
                <a16:creationId xmlns:a16="http://schemas.microsoft.com/office/drawing/2014/main" id="{B7EF7DD1-ABE1-45CA-94E2-4AC81F3D0A49}"/>
              </a:ext>
            </a:extLst>
          </p:cNvPr>
          <p:cNvSpPr>
            <a:spLocks noGrp="1"/>
          </p:cNvSpPr>
          <p:nvPr/>
        </p:nvSpPr>
        <p:spPr>
          <a:xfrm>
            <a:off x="11182350" y="6019800"/>
            <a:ext cx="438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功率误差积分消除基准跟踪偏移</a:t>
            </a:r>
          </a:p>
        </p:txBody>
      </p:sp>
      <p:pic>
        <p:nvPicPr>
          <p:cNvPr id="1150" name="">
            <a:extLst>
              <a:ext uri="{FF2B5EF4-FFF2-40B4-BE49-F238E27FC236}">
                <a16:creationId xmlns:a16="http://schemas.microsoft.com/office/drawing/2014/main" id="{CA0D5C51-5BED-469E-B07E-F79B2D69340D}"/>
              </a:ext>
            </a:extLst>
          </p:cNvPr>
          <p:cNvPicPr>
            <a:picLocks noChangeAspect="1"/>
          </p:cNvPicPr>
          <p:nvPr/>
        </p:nvPicPr>
        <p:blipFill>
          <a:blip r:embed="rId504">
            <a:extLst>
              <a:ext uri="{96DAC541-7B7A-43D3-8B79-37D633B846F1}">
                <asvg:svgBlip xmlns:asvg="http://schemas.microsoft.com/office/drawing/2016/SVG/main" r:embed="rId505"/>
              </a:ext>
            </a:extLst>
          </a:blip>
          <a:stretch/>
        </p:blipFill>
        <p:spPr>
          <a:xfrm>
            <a:off x="11258550" y="6693947"/>
            <a:ext cx="4267200" cy="347156"/>
          </a:xfrm>
          <a:prstGeom prst="rect">
            <a:avLst/>
          </a:prstGeom>
        </p:spPr>
      </p:pic>
      <p:sp>
        <p:nvSpPr>
          <p:cNvPr id="1151" name="object-149">
            <a:extLst>
              <a:ext uri="{FF2B5EF4-FFF2-40B4-BE49-F238E27FC236}">
                <a16:creationId xmlns:a16="http://schemas.microsoft.com/office/drawing/2014/main" id="{3A24899A-25D1-4448-84CA-C49D6785738B}"/>
              </a:ext>
            </a:extLst>
          </p:cNvPr>
          <p:cNvSpPr>
            <a:spLocks noGrp="1"/>
          </p:cNvSpPr>
          <p:nvPr/>
        </p:nvSpPr>
        <p:spPr>
          <a:xfrm>
            <a:off x="11229975" y="7477125"/>
            <a:ext cx="4286250" cy="657225"/>
          </a:xfrm>
          <a:prstGeom prst="roundRect">
            <a:avLst>
              <a:gd name="adj" fmla="val 11594"/>
            </a:avLst>
          </a:prstGeom>
          <a:solidFill>
            <a:srgbClr val="EAF3E5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ΔP = 0：跟踪各机 EMS 基准</a:t>
            </a:r>
          </a:p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ΔP ≠ 0：按 ξ 分担新增功率</a:t>
            </a:r>
          </a:p>
        </p:txBody>
      </p:sp>
      <p:sp>
        <p:nvSpPr>
          <p:cNvPr id="1152" name="object-150">
            <a:extLst>
              <a:ext uri="{FF2B5EF4-FFF2-40B4-BE49-F238E27FC236}">
                <a16:creationId xmlns:a16="http://schemas.microsoft.com/office/drawing/2014/main" id="{CD66C4F8-17D8-452C-BE7C-425DF81FA80D}"/>
              </a:ext>
            </a:extLst>
          </p:cNvPr>
          <p:cNvSpPr>
            <a:spLocks noGrp="1"/>
          </p:cNvSpPr>
          <p:nvPr/>
        </p:nvSpPr>
        <p:spPr>
          <a:xfrm>
            <a:off x="171450" y="8410575"/>
            <a:ext cx="1558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稳态分配关系以闭环稳定且积分环节未饱和为前提；三级参考值和容许因子在调度周期内零阶保持</a:t>
            </a:r>
          </a:p>
        </p:txBody>
      </p:sp>
    </p:spTree>
    <p:extLst>
      <p:ext uri="{BB962C8B-B14F-4D97-AF65-F5344CB8AC3E}">
        <p14:creationId xmlns:p14="http://schemas.microsoft.com/office/powerpoint/2010/main" val="1975367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-title-rule-2">
            <a:extLst>
              <a:ext uri="{FF2B5EF4-FFF2-40B4-BE49-F238E27FC236}">
                <a16:creationId xmlns:a16="http://schemas.microsoft.com/office/drawing/2014/main" id="{475000D9-DDF8-4F89-A8C5-C49E649D8ED4}"/>
              </a:ext>
            </a:extLst>
          </p:cNvPr>
          <p:cNvSpPr>
            <a:spLocks noGrp="1"/>
          </p:cNvSpPr>
          <p:nvPr/>
        </p:nvSpPr>
        <p:spPr>
          <a:xfrm>
            <a:off x="152400" y="619125"/>
            <a:ext cx="15621000" cy="95"/>
          </a:xfrm>
          <a:custGeom>
            <a:avLst/>
            <a:gdLst/>
            <a:ahLst/>
            <a:cxnLst/>
            <a:rect l="0" t="0" r="0" b="0"/>
            <a:pathLst>
              <a:path w="15621000" h="95">
                <a:moveTo>
                  <a:pt x="0" y="0"/>
                </a:moveTo>
                <a:lnTo>
                  <a:pt x="15621000" y="0"/>
                </a:lnTo>
              </a:path>
            </a:pathLst>
          </a:custGeom>
          <a:noFill/>
          <a:ln w="30480">
            <a:solidFill>
              <a:srgbClr val="0753C6"/>
            </a:solidFill>
            <a:prstDash val="solid"/>
          </a:ln>
        </p:spPr>
      </p:sp>
      <p:sp>
        <p:nvSpPr>
          <p:cNvPr id="3" name="s2-summary-3">
            <a:extLst>
              <a:ext uri="{FF2B5EF4-FFF2-40B4-BE49-F238E27FC236}">
                <a16:creationId xmlns:a16="http://schemas.microsoft.com/office/drawing/2014/main" id="{C615AB92-2650-4DB0-883F-91B80A9D94CB}"/>
              </a:ext>
            </a:extLst>
          </p:cNvPr>
          <p:cNvSpPr>
            <a:spLocks noGrp="1"/>
          </p:cNvSpPr>
          <p:nvPr/>
        </p:nvSpPr>
        <p:spPr>
          <a:xfrm>
            <a:off x="171450" y="742950"/>
            <a:ext cx="15582900" cy="1343025"/>
          </a:xfrm>
          <a:prstGeom prst="roundRect">
            <a:avLst>
              <a:gd name="adj" fmla="val 11200"/>
            </a:avLst>
          </a:prstGeom>
          <a:gradFill>
            <a:gsLst>
              <a:gs pos="0">
                <a:srgbClr val="F0F8FF"/>
              </a:gs>
              <a:gs pos="100000">
                <a:srgbClr val="E2F1FF"/>
              </a:gs>
            </a:gsLst>
            <a:lin ang="5400000"/>
          </a:gradFill>
          <a:ln w="7620">
            <a:solidFill>
              <a:srgbClr val="66B7FA"/>
            </a:solidFill>
            <a:prstDash val="solid"/>
          </a:ln>
        </p:spPr>
      </p:sp>
      <p:sp>
        <p:nvSpPr>
          <p:cNvPr id="9" name="s2-left-panel-9">
            <a:extLst>
              <a:ext uri="{FF2B5EF4-FFF2-40B4-BE49-F238E27FC236}">
                <a16:creationId xmlns:a16="http://schemas.microsoft.com/office/drawing/2014/main" id="{F5116257-7643-42C0-9C92-758C9FA5CBC9}"/>
              </a:ext>
            </a:extLst>
          </p:cNvPr>
          <p:cNvSpPr>
            <a:spLocks noGrp="1"/>
          </p:cNvSpPr>
          <p:nvPr/>
        </p:nvSpPr>
        <p:spPr>
          <a:xfrm>
            <a:off x="171450" y="2190750"/>
            <a:ext cx="5105400" cy="6115050"/>
          </a:xfrm>
          <a:prstGeom prst="roundRect">
            <a:avLst>
              <a:gd name="adj" fmla="val 2218"/>
            </a:avLst>
          </a:prstGeom>
          <a:solidFill>
            <a:srgbClr val="FFFFFF"/>
          </a:solidFill>
          <a:ln w="9525">
            <a:solidFill>
              <a:srgbClr val="258CF6"/>
            </a:solidFill>
            <a:prstDash val="solid"/>
          </a:ln>
        </p:spPr>
      </p:sp>
      <p:sp>
        <p:nvSpPr>
          <p:cNvPr id="10" name="s2-center-panel-10">
            <a:extLst>
              <a:ext uri="{FF2B5EF4-FFF2-40B4-BE49-F238E27FC236}">
                <a16:creationId xmlns:a16="http://schemas.microsoft.com/office/drawing/2014/main" id="{9C57CAD0-940B-4BCC-8185-2251A58D0164}"/>
              </a:ext>
            </a:extLst>
          </p:cNvPr>
          <p:cNvSpPr>
            <a:spLocks noGrp="1"/>
          </p:cNvSpPr>
          <p:nvPr/>
        </p:nvSpPr>
        <p:spPr>
          <a:xfrm>
            <a:off x="5391150" y="2190750"/>
            <a:ext cx="5105400" cy="611505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258CF6"/>
            </a:solidFill>
            <a:prstDash val="solid"/>
          </a:ln>
        </p:spPr>
      </p:sp>
      <p:sp>
        <p:nvSpPr>
          <p:cNvPr id="11" name="s2-right-panel-11">
            <a:extLst>
              <a:ext uri="{FF2B5EF4-FFF2-40B4-BE49-F238E27FC236}">
                <a16:creationId xmlns:a16="http://schemas.microsoft.com/office/drawing/2014/main" id="{91B44ECF-F76A-4D0B-9FE9-33AE35449DAD}"/>
              </a:ext>
            </a:extLst>
          </p:cNvPr>
          <p:cNvSpPr>
            <a:spLocks noGrp="1"/>
          </p:cNvSpPr>
          <p:nvPr/>
        </p:nvSpPr>
        <p:spPr>
          <a:xfrm>
            <a:off x="10610850" y="2190750"/>
            <a:ext cx="5105400" cy="6115050"/>
          </a:xfrm>
          <a:prstGeom prst="roundRect">
            <a:avLst>
              <a:gd name="adj" fmla="val 2226"/>
            </a:avLst>
          </a:prstGeom>
          <a:solidFill>
            <a:srgbClr val="FFFFFF"/>
          </a:solidFill>
          <a:ln w="9525">
            <a:solidFill>
              <a:srgbClr val="258CF6"/>
            </a:solidFill>
            <a:prstDash val="solid"/>
          </a:ln>
        </p:spPr>
      </p:sp>
      <p:sp>
        <p:nvSpPr>
          <p:cNvPr id="896" name="object-37">
            <a:extLst>
              <a:ext uri="{FF2B5EF4-FFF2-40B4-BE49-F238E27FC236}">
                <a16:creationId xmlns:a16="http://schemas.microsoft.com/office/drawing/2014/main" id="{D8CC68E5-85EB-3B1B-05E1-44B4EC96E36A}"/>
              </a:ext>
            </a:extLst>
          </p:cNvPr>
          <p:cNvSpPr>
            <a:spLocks noGrp="1"/>
          </p:cNvSpPr>
          <p:nvPr/>
        </p:nvSpPr>
        <p:spPr>
          <a:xfrm>
            <a:off x="190500" y="9525"/>
            <a:ext cx="155257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36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6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2. 五节点算例：经济裕度、控制消融与硬件验证</a:t>
            </a:r>
          </a:p>
        </p:txBody>
      </p:sp>
      <p:sp>
        <p:nvSpPr>
          <p:cNvPr id="897" name="object-38">
            <a:extLst>
              <a:ext uri="{FF2B5EF4-FFF2-40B4-BE49-F238E27FC236}">
                <a16:creationId xmlns:a16="http://schemas.microsoft.com/office/drawing/2014/main" id="{2E21461F-ACBD-9359-E231-E07E67D01FAB}"/>
              </a:ext>
            </a:extLst>
          </p:cNvPr>
          <p:cNvSpPr>
            <a:spLocks noGrp="1"/>
          </p:cNvSpPr>
          <p:nvPr/>
        </p:nvSpPr>
        <p:spPr>
          <a:xfrm>
            <a:off x="171450" y="742950"/>
            <a:ext cx="15582900" cy="1343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所提 EMS 成本为 270 元，较无安全惩罚基准增加 8 元，同时提高最小功率裕度；</a:t>
            </a:r>
          </a:p>
          <a:p>
            <a:pPr algn="l">
              <a:def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消融与硬件结果分别检验基础功率跟踪和新增功率分配，二者不能互相替代。</a:t>
            </a:r>
          </a:p>
        </p:txBody>
      </p:sp>
      <p:sp>
        <p:nvSpPr>
          <p:cNvPr id="898" name="object-39">
            <a:extLst>
              <a:ext uri="{FF2B5EF4-FFF2-40B4-BE49-F238E27FC236}">
                <a16:creationId xmlns:a16="http://schemas.microsoft.com/office/drawing/2014/main" id="{5E525509-0AD8-5647-00CD-2FF6230F50F3}"/>
              </a:ext>
            </a:extLst>
          </p:cNvPr>
          <p:cNvSpPr>
            <a:spLocks noGrp="1"/>
          </p:cNvSpPr>
          <p:nvPr/>
        </p:nvSpPr>
        <p:spPr>
          <a:xfrm>
            <a:off x="257175" y="2247900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① 经济性与安全裕度</a:t>
            </a:r>
          </a:p>
        </p:txBody>
      </p:sp>
      <p:sp>
        <p:nvSpPr>
          <p:cNvPr id="899" name="object-40">
            <a:extLst>
              <a:ext uri="{FF2B5EF4-FFF2-40B4-BE49-F238E27FC236}">
                <a16:creationId xmlns:a16="http://schemas.microsoft.com/office/drawing/2014/main" id="{49893F15-7E98-4349-4942-13A7F81E0D71}"/>
              </a:ext>
            </a:extLst>
          </p:cNvPr>
          <p:cNvSpPr>
            <a:spLocks noGrp="1"/>
          </p:cNvSpPr>
          <p:nvPr/>
        </p:nvSpPr>
        <p:spPr>
          <a:xfrm>
            <a:off x="266700" y="2695575"/>
            <a:ext cx="4914900" cy="361950"/>
          </a:xfrm>
          <a:prstGeom prst="roundRect">
            <a:avLst>
              <a:gd name="adj" fmla="val 21053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两台储能：20/50 kW、200/400 kWh</a:t>
            </a:r>
          </a:p>
        </p:txBody>
      </p:sp>
      <p:sp>
        <p:nvSpPr>
          <p:cNvPr id="900" name="object-41">
            <a:extLst>
              <a:ext uri="{FF2B5EF4-FFF2-40B4-BE49-F238E27FC236}">
                <a16:creationId xmlns:a16="http://schemas.microsoft.com/office/drawing/2014/main" id="{19D50C1B-3133-065B-2A85-16515FB2E6B1}"/>
              </a:ext>
            </a:extLst>
          </p:cNvPr>
          <p:cNvSpPr>
            <a:spLocks noGrp="1"/>
          </p:cNvSpPr>
          <p:nvPr/>
        </p:nvSpPr>
        <p:spPr>
          <a:xfrm>
            <a:off x="285750" y="3152775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EMS 经济成本</a:t>
            </a:r>
          </a:p>
        </p:txBody>
      </p:sp>
      <p:graphicFrame>
        <p:nvGraphicFramePr>
          <p:cNvPr id="901" name="Chart">
            <a:extLst>
              <a:ext uri="{FF2B5EF4-FFF2-40B4-BE49-F238E27FC236}">
                <a16:creationId xmlns:a16="http://schemas.microsoft.com/office/drawing/2014/main" id="{CA9C5E8E-3D3A-63CD-2D35-911191A230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4955867"/>
              </p:ext>
            </p:extLst>
          </p:nvPr>
        </p:nvGraphicFramePr>
        <p:xfrm>
          <a:off x="266700" y="3505200"/>
          <a:ext cx="4914900" cy="203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02" name="object-42">
            <a:extLst>
              <a:ext uri="{FF2B5EF4-FFF2-40B4-BE49-F238E27FC236}">
                <a16:creationId xmlns:a16="http://schemas.microsoft.com/office/drawing/2014/main" id="{3C832CD3-24B6-72B0-4209-8373531CA5A8}"/>
              </a:ext>
            </a:extLst>
          </p:cNvPr>
          <p:cNvSpPr>
            <a:spLocks noGrp="1"/>
          </p:cNvSpPr>
          <p:nvPr/>
        </p:nvSpPr>
        <p:spPr>
          <a:xfrm>
            <a:off x="285750" y="5638800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最小运行裕度</a:t>
            </a:r>
          </a:p>
        </p:txBody>
      </p:sp>
      <p:graphicFrame>
        <p:nvGraphicFramePr>
          <p:cNvPr id="903" name="表格 902">
            <a:extLst>
              <a:ext uri="{FF2B5EF4-FFF2-40B4-BE49-F238E27FC236}">
                <a16:creationId xmlns:a16="http://schemas.microsoft.com/office/drawing/2014/main" id="{12C1128B-6C83-2C95-5BAB-FBA4004892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9072671"/>
              </p:ext>
            </p:extLst>
          </p:nvPr>
        </p:nvGraphicFramePr>
        <p:xfrm>
          <a:off x="285750" y="5972175"/>
          <a:ext cx="4876800" cy="1714500"/>
        </p:xfrm>
        <a:graphic>
          <a:graphicData uri="http://schemas.openxmlformats.org/drawingml/2006/table">
            <a:tbl>
              <a:tblPr/>
              <a:tblGrid>
                <a:gridCol w="195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上调/kW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下调/kW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所提方法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42.7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44.9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容量比例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4" name="object-43">
            <a:extLst>
              <a:ext uri="{FF2B5EF4-FFF2-40B4-BE49-F238E27FC236}">
                <a16:creationId xmlns:a16="http://schemas.microsoft.com/office/drawing/2014/main" id="{9C48DF66-3AD2-F328-4074-A5D865CB65EE}"/>
              </a:ext>
            </a:extLst>
          </p:cNvPr>
          <p:cNvSpPr>
            <a:spLocks noGrp="1"/>
          </p:cNvSpPr>
          <p:nvPr/>
        </p:nvSpPr>
        <p:spPr>
          <a:xfrm>
            <a:off x="285750" y="7772400"/>
            <a:ext cx="4876800" cy="485775"/>
          </a:xfrm>
          <a:prstGeom prst="roundRect">
            <a:avLst>
              <a:gd name="adj" fmla="val 15686"/>
            </a:avLst>
          </a:prstGeom>
          <a:solidFill>
            <a:srgbClr val="EAF5FF"/>
          </a:solidFill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较基准增加8元，换取更大功率裕度</a:t>
            </a:r>
          </a:p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较容量比例成本降低约14.0%</a:t>
            </a:r>
          </a:p>
        </p:txBody>
      </p:sp>
      <p:sp>
        <p:nvSpPr>
          <p:cNvPr id="905" name="object-44">
            <a:extLst>
              <a:ext uri="{FF2B5EF4-FFF2-40B4-BE49-F238E27FC236}">
                <a16:creationId xmlns:a16="http://schemas.microsoft.com/office/drawing/2014/main" id="{521B2331-ACF3-5599-B666-872CB21735B9}"/>
              </a:ext>
            </a:extLst>
          </p:cNvPr>
          <p:cNvSpPr>
            <a:spLocks noGrp="1"/>
          </p:cNvSpPr>
          <p:nvPr/>
        </p:nvSpPr>
        <p:spPr>
          <a:xfrm>
            <a:off x="5476875" y="2247900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② 功率跟踪与分配消融</a:t>
            </a:r>
          </a:p>
        </p:txBody>
      </p:sp>
      <p:sp>
        <p:nvSpPr>
          <p:cNvPr id="906" name="object-45">
            <a:extLst>
              <a:ext uri="{FF2B5EF4-FFF2-40B4-BE49-F238E27FC236}">
                <a16:creationId xmlns:a16="http://schemas.microsoft.com/office/drawing/2014/main" id="{C0FE5D96-4B8D-4AA5-9CCB-DE6B965E0EBF}"/>
              </a:ext>
            </a:extLst>
          </p:cNvPr>
          <p:cNvSpPr>
            <a:spLocks noGrp="1"/>
          </p:cNvSpPr>
          <p:nvPr/>
        </p:nvSpPr>
        <p:spPr>
          <a:xfrm>
            <a:off x="5486400" y="2695575"/>
            <a:ext cx="4914900" cy="361950"/>
          </a:xfrm>
          <a:prstGeom prst="roundRect">
            <a:avLst>
              <a:gd name="adj" fmla="val 21053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0.5 s 时负荷增加10 kW</a:t>
            </a:r>
          </a:p>
        </p:txBody>
      </p:sp>
      <p:sp>
        <p:nvSpPr>
          <p:cNvPr id="907" name="object-46">
            <a:extLst>
              <a:ext uri="{FF2B5EF4-FFF2-40B4-BE49-F238E27FC236}">
                <a16:creationId xmlns:a16="http://schemas.microsoft.com/office/drawing/2014/main" id="{E35F8081-DAB3-0548-D0FD-135010DAACE1}"/>
              </a:ext>
            </a:extLst>
          </p:cNvPr>
          <p:cNvSpPr>
            <a:spLocks noGrp="1"/>
          </p:cNvSpPr>
          <p:nvPr/>
        </p:nvSpPr>
        <p:spPr>
          <a:xfrm>
            <a:off x="5505450" y="3152775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稳态有功输出 GFM1 / GFM2</a:t>
            </a:r>
          </a:p>
        </p:txBody>
      </p:sp>
      <p:graphicFrame>
        <p:nvGraphicFramePr>
          <p:cNvPr id="908" name="表格 907">
            <a:extLst>
              <a:ext uri="{FF2B5EF4-FFF2-40B4-BE49-F238E27FC236}">
                <a16:creationId xmlns:a16="http://schemas.microsoft.com/office/drawing/2014/main" id="{DF22C143-145C-81B6-7E76-FB00A2B79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8273671"/>
              </p:ext>
            </p:extLst>
          </p:nvPr>
        </p:nvGraphicFramePr>
        <p:xfrm>
          <a:off x="5505450" y="3486150"/>
          <a:ext cx="4876800" cy="2038350"/>
        </p:xfrm>
        <a:graphic>
          <a:graphicData uri="http://schemas.openxmlformats.org/drawingml/2006/table">
            <a:tbl>
              <a:tblPr/>
              <a:tblGrid>
                <a:gridCol w="195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控制方案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扰动前/kW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扰动后/kW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/ 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 / 19.5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仅保留分配项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7.7 / 11.3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11.9 / 17.8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传统二级控制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7.7 / 11.3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12.8 / 16.9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9" name="object-47">
            <a:extLst>
              <a:ext uri="{FF2B5EF4-FFF2-40B4-BE49-F238E27FC236}">
                <a16:creationId xmlns:a16="http://schemas.microsoft.com/office/drawing/2014/main" id="{20696201-9EF3-D135-B5F0-CD914B6B3053}"/>
              </a:ext>
            </a:extLst>
          </p:cNvPr>
          <p:cNvSpPr>
            <a:spLocks noGrp="1"/>
          </p:cNvSpPr>
          <p:nvPr/>
        </p:nvSpPr>
        <p:spPr>
          <a:xfrm>
            <a:off x="5505450" y="5638800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两个控制目标的区别</a:t>
            </a:r>
          </a:p>
        </p:txBody>
      </p:sp>
      <p:graphicFrame>
        <p:nvGraphicFramePr>
          <p:cNvPr id="910" name="表格 909">
            <a:extLst>
              <a:ext uri="{FF2B5EF4-FFF2-40B4-BE49-F238E27FC236}">
                <a16:creationId xmlns:a16="http://schemas.microsoft.com/office/drawing/2014/main" id="{8EB41DCC-8E8A-FBA7-17F1-6713BC62FE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0062108"/>
              </p:ext>
            </p:extLst>
          </p:nvPr>
        </p:nvGraphicFramePr>
        <p:xfrm>
          <a:off x="5505450" y="5972175"/>
          <a:ext cx="4876800" cy="1714500"/>
        </p:xfrm>
        <a:graphic>
          <a:graphicData uri="http://schemas.openxmlformats.org/drawingml/2006/table">
            <a:tbl>
              <a:tblPr/>
              <a:tblGrid>
                <a:gridCol w="2243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关键环节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无总偏差时跟踪EMS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参考功率误差积分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有总偏差时按ξ分配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容许因子分配项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分配目标 ξ1 : ξ2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0.39 : 0.61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11" name="object-48">
            <a:extLst>
              <a:ext uri="{FF2B5EF4-FFF2-40B4-BE49-F238E27FC236}">
                <a16:creationId xmlns:a16="http://schemas.microsoft.com/office/drawing/2014/main" id="{F76B45B2-F5C5-6DF0-286D-80E0798F78D0}"/>
              </a:ext>
            </a:extLst>
          </p:cNvPr>
          <p:cNvSpPr>
            <a:spLocks noGrp="1"/>
          </p:cNvSpPr>
          <p:nvPr/>
        </p:nvSpPr>
        <p:spPr>
          <a:xfrm>
            <a:off x="5505450" y="7772400"/>
            <a:ext cx="4876800" cy="485775"/>
          </a:xfrm>
          <a:prstGeom prst="roundRect">
            <a:avLst>
              <a:gd name="adj" fmla="val 15686"/>
            </a:avLst>
          </a:prstGeom>
          <a:solidFill>
            <a:srgbClr val="EAF5FF"/>
          </a:solidFill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只有完整控制同时实现两项目标</a:t>
            </a:r>
          </a:p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仅按容许因子分配仍有基准偏移</a:t>
            </a:r>
          </a:p>
        </p:txBody>
      </p:sp>
      <p:sp>
        <p:nvSpPr>
          <p:cNvPr id="912" name="object-49">
            <a:extLst>
              <a:ext uri="{FF2B5EF4-FFF2-40B4-BE49-F238E27FC236}">
                <a16:creationId xmlns:a16="http://schemas.microsoft.com/office/drawing/2014/main" id="{225CF139-5C44-1E26-B688-693014504B8E}"/>
              </a:ext>
            </a:extLst>
          </p:cNvPr>
          <p:cNvSpPr>
            <a:spLocks noGrp="1"/>
          </p:cNvSpPr>
          <p:nvPr/>
        </p:nvSpPr>
        <p:spPr>
          <a:xfrm>
            <a:off x="10696575" y="2247900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③ 实时硬件与大扰动边界</a:t>
            </a:r>
          </a:p>
        </p:txBody>
      </p:sp>
      <p:sp>
        <p:nvSpPr>
          <p:cNvPr id="913" name="object-50">
            <a:extLst>
              <a:ext uri="{FF2B5EF4-FFF2-40B4-BE49-F238E27FC236}">
                <a16:creationId xmlns:a16="http://schemas.microsoft.com/office/drawing/2014/main" id="{4A7F555A-9E20-514C-D41E-97A94BD917F0}"/>
              </a:ext>
            </a:extLst>
          </p:cNvPr>
          <p:cNvSpPr>
            <a:spLocks noGrp="1"/>
          </p:cNvSpPr>
          <p:nvPr/>
        </p:nvSpPr>
        <p:spPr>
          <a:xfrm>
            <a:off x="10706100" y="2695575"/>
            <a:ext cx="4914900" cy="361950"/>
          </a:xfrm>
          <a:prstGeom prst="roundRect">
            <a:avLst>
              <a:gd name="adj" fmla="val 21053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两台20 kW变流器 · RTU平台</a:t>
            </a:r>
          </a:p>
        </p:txBody>
      </p:sp>
      <p:sp>
        <p:nvSpPr>
          <p:cNvPr id="914" name="object-51">
            <a:extLst>
              <a:ext uri="{FF2B5EF4-FFF2-40B4-BE49-F238E27FC236}">
                <a16:creationId xmlns:a16="http://schemas.microsoft.com/office/drawing/2014/main" id="{9F41987D-D245-DB04-425F-15B157DA78CB}"/>
              </a:ext>
            </a:extLst>
          </p:cNvPr>
          <p:cNvSpPr>
            <a:spLocks noGrp="1"/>
          </p:cNvSpPr>
          <p:nvPr/>
        </p:nvSpPr>
        <p:spPr>
          <a:xfrm>
            <a:off x="10725150" y="3152775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硬件实测稳态值</a:t>
            </a:r>
          </a:p>
        </p:txBody>
      </p:sp>
      <p:graphicFrame>
        <p:nvGraphicFramePr>
          <p:cNvPr id="915" name="表格 914">
            <a:extLst>
              <a:ext uri="{FF2B5EF4-FFF2-40B4-BE49-F238E27FC236}">
                <a16:creationId xmlns:a16="http://schemas.microsoft.com/office/drawing/2014/main" id="{F6150F0F-01B2-BE9A-2365-153BC091FB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5122345"/>
              </p:ext>
            </p:extLst>
          </p:nvPr>
        </p:nvGraphicFramePr>
        <p:xfrm>
          <a:off x="10725150" y="3486150"/>
          <a:ext cx="4876800" cy="2038350"/>
        </p:xfrm>
        <a:graphic>
          <a:graphicData uri="http://schemas.openxmlformats.org/drawingml/2006/table">
            <a:tbl>
              <a:tblPr/>
              <a:tblGrid>
                <a:gridCol w="195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GFM1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GFM2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扰动前/kW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扰动后/kW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5.10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9.75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增量分配比例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16" name="object-52">
            <a:extLst>
              <a:ext uri="{FF2B5EF4-FFF2-40B4-BE49-F238E27FC236}">
                <a16:creationId xmlns:a16="http://schemas.microsoft.com/office/drawing/2014/main" id="{0A197F69-3510-77A4-7915-ADD2C41CFAF5}"/>
              </a:ext>
            </a:extLst>
          </p:cNvPr>
          <p:cNvSpPr>
            <a:spLocks noGrp="1"/>
          </p:cNvSpPr>
          <p:nvPr/>
        </p:nvSpPr>
        <p:spPr>
          <a:xfrm>
            <a:off x="10725150" y="5638800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30 kW阶跃仿真</a:t>
            </a:r>
          </a:p>
        </p:txBody>
      </p:sp>
      <p:graphicFrame>
        <p:nvGraphicFramePr>
          <p:cNvPr id="917" name="表格 916">
            <a:extLst>
              <a:ext uri="{FF2B5EF4-FFF2-40B4-BE49-F238E27FC236}">
                <a16:creationId xmlns:a16="http://schemas.microsoft.com/office/drawing/2014/main" id="{21A3AD69-FB14-98F2-961A-F622AD8BFA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9300799"/>
              </p:ext>
            </p:extLst>
          </p:nvPr>
        </p:nvGraphicFramePr>
        <p:xfrm>
          <a:off x="10725150" y="5972175"/>
          <a:ext cx="4876800" cy="1714500"/>
        </p:xfrm>
        <a:graphic>
          <a:graphicData uri="http://schemas.openxmlformats.org/drawingml/2006/table">
            <a:tbl>
              <a:tblPr/>
              <a:tblGrid>
                <a:gridCol w="195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功率边界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SOC裕度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所提方法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未越界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基准EMS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过流切断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容量比例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未越界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18" name="object-53">
            <a:extLst>
              <a:ext uri="{FF2B5EF4-FFF2-40B4-BE49-F238E27FC236}">
                <a16:creationId xmlns:a16="http://schemas.microsoft.com/office/drawing/2014/main" id="{1D9005FD-96B8-7666-F6A7-EEF92E85AEF8}"/>
              </a:ext>
            </a:extLst>
          </p:cNvPr>
          <p:cNvSpPr>
            <a:spLocks noGrp="1"/>
          </p:cNvSpPr>
          <p:nvPr/>
        </p:nvSpPr>
        <p:spPr>
          <a:xfrm>
            <a:off x="10725150" y="7772400"/>
            <a:ext cx="4876800" cy="485775"/>
          </a:xfrm>
          <a:prstGeom prst="roundRect">
            <a:avLst>
              <a:gd name="adj" fmla="val 15686"/>
            </a:avLst>
          </a:prstGeom>
          <a:solidFill>
            <a:srgbClr val="EAF5FF"/>
          </a:solidFill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硬件增量分配接近0.39∶0.61</a:t>
            </a:r>
          </a:p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大扰动场景体现裕度预留作用</a:t>
            </a:r>
          </a:p>
        </p:txBody>
      </p:sp>
      <p:sp>
        <p:nvSpPr>
          <p:cNvPr id="919" name="object-54">
            <a:extLst>
              <a:ext uri="{FF2B5EF4-FFF2-40B4-BE49-F238E27FC236}">
                <a16:creationId xmlns:a16="http://schemas.microsoft.com/office/drawing/2014/main" id="{8018E8E3-CD19-5BBF-3126-943D949D6EEE}"/>
              </a:ext>
            </a:extLst>
          </p:cNvPr>
          <p:cNvSpPr>
            <a:spLocks noGrp="1"/>
          </p:cNvSpPr>
          <p:nvPr/>
        </p:nvSpPr>
        <p:spPr>
          <a:xfrm>
            <a:off x="171450" y="8410575"/>
            <a:ext cx="15582900" cy="438150"/>
          </a:xfrm>
          <a:prstGeom prst="roundRect">
            <a:avLst>
              <a:gd name="adj" fmla="val 17391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仿真与硬件均检验功率跟踪及偏差分配；结论限定于所测系统、运行点和扰动条件</a:t>
            </a:r>
          </a:p>
        </p:txBody>
      </p:sp>
    </p:spTree>
    <p:extLst>
      <p:ext uri="{BB962C8B-B14F-4D97-AF65-F5344CB8AC3E}">
        <p14:creationId xmlns:p14="http://schemas.microsoft.com/office/powerpoint/2010/main" val="8850338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1772</Words>
  <Application>Microsoft Office PowerPoint</Application>
  <DocSecurity>0</DocSecurity>
  <PresentationFormat>自定义</PresentationFormat>
  <Paragraphs>168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Microsoft YaHei</vt:lpstr>
      <vt:lpstr>Calibri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lenovo</cp:lastModifiedBy>
  <cp:revision>2</cp:revision>
  <dcterms:created xsi:type="dcterms:W3CDTF">2026-09-17T07:56:02Z</dcterms:created>
  <dcterms:modified xsi:type="dcterms:W3CDTF">2026-10-10T06:09:42Z</dcterms:modified>
</cp:coreProperties>
</file>