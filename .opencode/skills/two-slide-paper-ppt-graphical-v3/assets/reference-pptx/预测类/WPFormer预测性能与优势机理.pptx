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5925800" cy="896302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 val="0.0365591397849462"/>
          <c:y val="-0.103960396039604"/>
          <c:w val="0.946236559139785"/>
          <c:h val="0.73267326732673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预测误差</c:f>
              <c:strCache>
                <c:ptCount val="1"/>
                <c:pt idx="0">
                  <c:v>预测误差</c:v>
                </c:pt>
              </c:strCache>
            </c:strRef>
          </c:tx>
          <c:spPr>
            <a:solidFill>
              <a:srgbClr val="0046CB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0046CB"/>
              </a:solidFill>
              <a:ln w="0">
                <a:solidFill>
                  <a:srgbClr val="0046CB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ADADAD"/>
              </a:solidFill>
              <a:ln w="0">
                <a:solidFill>
                  <a:srgbClr val="ADADAD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ADADAD"/>
              </a:solidFill>
              <a:ln w="0">
                <a:solidFill>
                  <a:srgbClr val="ADADAD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ADADAD"/>
              </a:solidFill>
              <a:ln w="0">
                <a:solidFill>
                  <a:srgbClr val="ADADAD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ADADAD"/>
              </a:solidFill>
              <a:ln w="0">
                <a:solidFill>
                  <a:srgbClr val="ADADAD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ADADAD"/>
              </a:solidFill>
              <a:ln w="0">
                <a:solidFill>
                  <a:srgbClr val="ADADAD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ADADAD"/>
              </a:solidFill>
              <a:ln w="0">
                <a:solidFill>
                  <a:srgbClr val="ADADAD"/>
                </a:solidFill>
              </a:ln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Data'!$A$2:$A$8</c:f>
              <c:strCache>
                <c:ptCount val="7"/>
                <c:pt idx="0">
                  <c:v>完整
模型</c:v>
                </c:pt>
                <c:pt idx="1">
                  <c:v>w/o
WEDS</c:v>
                </c:pt>
                <c:pt idx="2">
                  <c:v>w/o
FEDS</c:v>
                </c:pt>
                <c:pt idx="3">
                  <c:v>w/o
AutoCorrelation</c:v>
                </c:pt>
                <c:pt idx="4">
                  <c:v>w/o
Multi-Head
Attention</c:v>
                </c:pt>
                <c:pt idx="5">
                  <c:v>w/o
GAT</c:v>
                </c:pt>
                <c:pt idx="6">
                  <c:v>w/o
POPtree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0.187</c:v>
                </c:pt>
                <c:pt idx="1">
                  <c:v>0.241</c:v>
                </c:pt>
                <c:pt idx="2">
                  <c:v>0.236</c:v>
                </c:pt>
                <c:pt idx="3">
                  <c:v>0.259</c:v>
                </c:pt>
                <c:pt idx="4">
                  <c:v>0.245</c:v>
                </c:pt>
                <c:pt idx="5">
                  <c:v>0.228</c:v>
                </c:pt>
                <c:pt idx="6">
                  <c:v>0.263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4000">
              <a:solidFill>
                <a:srgbClr val="D6D6D6"/>
              </a:solidFill>
              <a:prstDash val="dash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7620">
            <a:solidFill>
              <a:srgbClr val="60606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1010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5715">
              <a:solidFill>
                <a:srgbClr val="CBCBCB"/>
              </a:solidFill>
              <a:prstDash val="dash"/>
              <a:round/>
            </a:ln>
          </c:spPr>
        </c:majorGridlines>
        <c:numFmt formatCode="0.000" sourceLinked="1"/>
        <c:majorTickMark val="none"/>
        <c:minorTickMark val="none"/>
        <c:tickLblPos val="none"/>
        <c:spPr>
          <a:ln w="7620">
            <a:solidFill>
              <a:srgbClr val="60606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1010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7620">
          <a:solidFill>
            <a:srgbClr val="808080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5ba9eba4-ab24-4bf7-9796-321acec4b497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 val="0.0365591397849462"/>
          <c:y val="-0.0839160839160839"/>
          <c:w val="0.946236559139785"/>
          <c:h val="0.77622377622377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预测误差</c:f>
              <c:strCache>
                <c:ptCount val="1"/>
                <c:pt idx="0">
                  <c:v>预测误差</c:v>
                </c:pt>
              </c:strCache>
            </c:strRef>
          </c:tx>
          <c:spPr>
            <a:solidFill>
              <a:srgbClr val="ACACAC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ACACAC"/>
              </a:solidFill>
              <a:ln w="0">
                <a:solidFill>
                  <a:srgbClr val="ACACAC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F48A3C"/>
              </a:solidFill>
              <a:ln w="0">
                <a:solidFill>
                  <a:srgbClr val="F48A3C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387AFA"/>
              </a:solidFill>
              <a:ln w="0">
                <a:solidFill>
                  <a:srgbClr val="387AFA"/>
                </a:solidFill>
              </a:ln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Pearson</c:v>
                </c:pt>
                <c:pt idx="1">
                  <c:v>GBDT</c:v>
                </c:pt>
                <c:pt idx="2">
                  <c:v>FEDS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0.312</c:v>
                </c:pt>
                <c:pt idx="1">
                  <c:v>0.241</c:v>
                </c:pt>
                <c:pt idx="2">
                  <c:v>0.188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4000">
              <a:solidFill>
                <a:srgbClr val="D6D6D6"/>
              </a:solidFill>
              <a:prstDash val="dash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7620">
            <a:solidFill>
              <a:srgbClr val="60606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1010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w="5715">
              <a:solidFill>
                <a:srgbClr val="CBCBCB"/>
              </a:solidFill>
              <a:prstDash val="dash"/>
              <a:round/>
            </a:ln>
          </c:spPr>
        </c:majorGridlines>
        <c:numFmt formatCode="0.000" sourceLinked="1"/>
        <c:majorTickMark val="none"/>
        <c:minorTickMark val="none"/>
        <c:tickLblPos val="none"/>
        <c:spPr>
          <a:ln w="7620">
            <a:solidFill>
              <a:srgbClr val="60606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1010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7620">
          <a:solidFill>
            <a:srgbClr val="808080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445040bf-7a92-4aed-b618-ed2ca1617d3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视觉参考：用户提供的第1张截图。第一张采用工作区保存的未遮挡完整原图，其可见区域与本次截图逐像素一致。实验数字和结论按截图保留；没有底层数据的曲线为独立图片对象。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视觉参考：用户提供的第2张截图。第一张采用工作区保存的未遮挡完整原图，其可见区域与本次截图逐像素一致。实验数字和结论按截图保留；没有底层数据的曲线为独立图片对象。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7" Type="http://schemas.openxmlformats.org/officeDocument/2006/relationships/notesSlide" Target="../notesSlides/notesSlide1.xml"/><Relationship Id="rId36" Type="http://schemas.openxmlformats.org/officeDocument/2006/relationships/slideLayout" Target="../slideLayouts/slideLayout1.xml"/><Relationship Id="rId35" Type="http://schemas.openxmlformats.org/officeDocument/2006/relationships/image" Target="../media/image35.png"/><Relationship Id="rId34" Type="http://schemas.openxmlformats.org/officeDocument/2006/relationships/image" Target="../media/image34.sv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8" name="title"/>
          <p:cNvSpPr>
            <a:spLocks noGrp="1"/>
          </p:cNvSpPr>
          <p:nvPr/>
        </p:nvSpPr>
        <p:spPr>
          <a:xfrm>
            <a:off x="266700" y="142875"/>
            <a:ext cx="15487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7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论文原理与计算流程 --- WPFormer风电功率预测</a:t>
            </a:r>
            <a:endParaRPr sz="37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190500" y="762000"/>
            <a:ext cx="15544800" cy="38100"/>
          </a:xfrm>
          <a:prstGeom prst="rect">
            <a:avLst/>
          </a:prstGeom>
          <a:solidFill>
            <a:srgbClr val="073680"/>
          </a:solidFill>
          <a:ln w="0">
            <a:noFill/>
            <a:prstDash val="solid"/>
          </a:ln>
        </p:spPr>
      </p:sp>
      <p:sp>
        <p:nvSpPr>
          <p:cNvPr id="3" name="summary"/>
          <p:cNvSpPr>
            <a:spLocks noGrp="1"/>
          </p:cNvSpPr>
          <p:nvPr/>
        </p:nvSpPr>
        <p:spPr>
          <a:xfrm>
            <a:off x="190500" y="904875"/>
            <a:ext cx="15544800" cy="847725"/>
          </a:xfrm>
          <a:prstGeom prst="roundRect">
            <a:avLst>
              <a:gd name="adj" fmla="val 12360"/>
            </a:avLst>
          </a:prstGeom>
          <a:solidFill>
            <a:srgbClr val="E9F5FE"/>
          </a:solidFill>
          <a:ln w="0">
            <a:noFill/>
            <a:prstDash val="solid"/>
          </a:ln>
        </p:spPr>
      </p:sp>
      <p:sp>
        <p:nvSpPr>
          <p:cNvPr id="4" name="summary-dot-0"/>
          <p:cNvSpPr>
            <a:spLocks noGrp="1"/>
          </p:cNvSpPr>
          <p:nvPr/>
        </p:nvSpPr>
        <p:spPr>
          <a:xfrm>
            <a:off x="304800" y="1019175"/>
            <a:ext cx="200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2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ummary-0"/>
          <p:cNvSpPr>
            <a:spLocks noGrp="1"/>
          </p:cNvSpPr>
          <p:nvPr/>
        </p:nvSpPr>
        <p:spPr>
          <a:xfrm>
            <a:off x="609600" y="1133475"/>
            <a:ext cx="1495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3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073680"/>
                </a:solidFill>
              </a:rPr>
              <a:t>核心机制：针对风电数据“异常比例高、冗余特征多、</a:t>
            </a:r>
            <a:r>
              <a:rPr b="1">
                <a:solidFill>
                  <a:srgbClr val="EA161F"/>
                </a:solidFill>
              </a:rPr>
              <a:t>弱周期与强波动</a:t>
            </a:r>
            <a:r>
              <a:rPr b="0">
                <a:solidFill>
                  <a:srgbClr val="073680"/>
                </a:solidFill>
              </a:rPr>
              <a:t>”问题，依次通过WEDS</a:t>
            </a:r>
            <a:r>
              <a:rPr b="1">
                <a:solidFill>
                  <a:srgbClr val="EA161F"/>
                </a:solidFill>
              </a:rPr>
              <a:t>异常修复</a:t>
            </a:r>
            <a:r>
              <a:rPr b="0">
                <a:solidFill>
                  <a:srgbClr val="073680"/>
                </a:solidFill>
              </a:rPr>
              <a:t>、FEDS</a:t>
            </a:r>
            <a:r>
              <a:rPr b="1">
                <a:solidFill>
                  <a:srgbClr val="EA161F"/>
                </a:solidFill>
              </a:rPr>
              <a:t>特征筛选</a:t>
            </a:r>
            <a:r>
              <a:rPr b="0">
                <a:solidFill>
                  <a:srgbClr val="073680"/>
                </a:solidFill>
              </a:rPr>
              <a:t>、风机图空间建模以及“多头注意力 + 自相关 + 序列分解”完成时空预测。</a:t>
            </a:r>
            <a:endParaRPr b="0">
              <a:solidFill>
                <a:srgbClr val="073680"/>
              </a:solidFill>
            </a:endParaRPr>
          </a:p>
        </p:txBody>
      </p:sp>
      <p:sp>
        <p:nvSpPr>
          <p:cNvPr id="6" name="summary-dot-1"/>
          <p:cNvSpPr>
            <a:spLocks noGrp="1"/>
          </p:cNvSpPr>
          <p:nvPr/>
        </p:nvSpPr>
        <p:spPr>
          <a:xfrm>
            <a:off x="304800" y="1362075"/>
            <a:ext cx="200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42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ummary-1"/>
          <p:cNvSpPr>
            <a:spLocks noGrp="1"/>
          </p:cNvSpPr>
          <p:nvPr/>
        </p:nvSpPr>
        <p:spPr>
          <a:xfrm>
            <a:off x="609600" y="1466850"/>
            <a:ext cx="1495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073680"/>
                </a:solidFill>
              </a:rPr>
              <a:t>预测任务：利用134台风机历史SCADA时序与风机空间相关信息，预测全部风机</a:t>
            </a:r>
            <a:r>
              <a:rPr b="1">
                <a:solidFill>
                  <a:srgbClr val="EA161F"/>
                </a:solidFill>
              </a:rPr>
              <a:t>未来288点</a:t>
            </a:r>
            <a:r>
              <a:rPr b="0">
                <a:solidFill>
                  <a:srgbClr val="073680"/>
                </a:solidFill>
              </a:rPr>
              <a:t>时间点功率，并与POPtree支路结果进行集成。</a:t>
            </a:r>
            <a:endParaRPr b="0">
              <a:solidFill>
                <a:srgbClr val="073680"/>
              </a:solidFill>
            </a:endParaRPr>
          </a:p>
        </p:txBody>
      </p:sp>
      <p:sp>
        <p:nvSpPr>
          <p:cNvPr id="8" name="scada"/>
          <p:cNvSpPr>
            <a:spLocks noGrp="1"/>
          </p:cNvSpPr>
          <p:nvPr/>
        </p:nvSpPr>
        <p:spPr>
          <a:xfrm>
            <a:off x="152400" y="2076450"/>
            <a:ext cx="2038350" cy="6153150"/>
          </a:xfrm>
          <a:prstGeom prst="roundRect">
            <a:avLst>
              <a:gd name="adj" fmla="val 3271"/>
            </a:avLst>
          </a:prstGeom>
          <a:solidFill>
            <a:srgbClr val="F0F9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9" name="scada-title"/>
          <p:cNvSpPr>
            <a:spLocks noGrp="1"/>
          </p:cNvSpPr>
          <p:nvPr/>
        </p:nvSpPr>
        <p:spPr>
          <a:xfrm>
            <a:off x="228600" y="2114550"/>
            <a:ext cx="1885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历史多风机SCADA输入</a:t>
            </a:r>
            <a:endParaRPr sz="13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7" name="图片 38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50" y="2471701"/>
            <a:ext cx="1609725" cy="247723"/>
          </a:xfrm>
          <a:prstGeom prst="rect">
            <a:avLst/>
          </a:prstGeom>
        </p:spPr>
      </p:pic>
      <p:pic>
        <p:nvPicPr>
          <p:cNvPr id="388" name="图片 3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2828925"/>
            <a:ext cx="1819275" cy="3352800"/>
          </a:xfrm>
          <a:prstGeom prst="rect">
            <a:avLst/>
          </a:prstGeom>
        </p:spPr>
      </p:pic>
      <p:sp>
        <p:nvSpPr>
          <p:cNvPr id="12" name="input-size"/>
          <p:cNvSpPr>
            <a:spLocks noGrp="1"/>
          </p:cNvSpPr>
          <p:nvPr/>
        </p:nvSpPr>
        <p:spPr>
          <a:xfrm>
            <a:off x="371475" y="6238875"/>
            <a:ext cx="16097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134台风机</a:t>
            </a:r>
            <a:endParaRPr sz="142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= 36 / 72 / 144</a:t>
            </a:r>
            <a:endParaRPr sz="142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min采样</a:t>
            </a:r>
            <a:endParaRPr sz="142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ther-frame"/>
          <p:cNvSpPr>
            <a:spLocks noGrp="1"/>
          </p:cNvSpPr>
          <p:nvPr/>
        </p:nvSpPr>
        <p:spPr>
          <a:xfrm>
            <a:off x="276225" y="7191375"/>
            <a:ext cx="1762125" cy="619125"/>
          </a:xfrm>
          <a:prstGeom prst="roundRect">
            <a:avLst>
              <a:gd name="adj" fmla="val 6154"/>
            </a:avLst>
          </a:prstGeom>
          <a:solidFill>
            <a:srgbClr val="F7FB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14" name="other"/>
          <p:cNvSpPr>
            <a:spLocks noGrp="1"/>
          </p:cNvSpPr>
          <p:nvPr/>
        </p:nvSpPr>
        <p:spPr>
          <a:xfrm>
            <a:off x="295275" y="7191375"/>
            <a:ext cx="17240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其他SCADA特征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　 气压　 湿度　 …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eds"/>
          <p:cNvSpPr>
            <a:spLocks noGrp="1"/>
          </p:cNvSpPr>
          <p:nvPr/>
        </p:nvSpPr>
        <p:spPr>
          <a:xfrm>
            <a:off x="2219325" y="2076450"/>
            <a:ext cx="1819275" cy="3781425"/>
          </a:xfrm>
          <a:prstGeom prst="roundRect">
            <a:avLst>
              <a:gd name="adj" fmla="val 3665"/>
            </a:avLst>
          </a:prstGeom>
          <a:solidFill>
            <a:srgbClr val="FFF8F0"/>
          </a:solidFill>
          <a:ln w="9525">
            <a:solidFill>
              <a:srgbClr val="F0A066"/>
            </a:solidFill>
            <a:prstDash val="solid"/>
          </a:ln>
        </p:spPr>
      </p:sp>
      <p:sp>
        <p:nvSpPr>
          <p:cNvPr id="16" name="weds-title"/>
          <p:cNvSpPr>
            <a:spLocks noGrp="1"/>
          </p:cNvSpPr>
          <p:nvPr/>
        </p:nvSpPr>
        <p:spPr>
          <a:xfrm>
            <a:off x="2295525" y="2114550"/>
            <a:ext cx="1666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B82D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2D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WEDS异常检测与修复</a:t>
            </a:r>
            <a:endParaRPr sz="1350" b="1">
              <a:solidFill>
                <a:srgbClr val="B82D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0-frame"/>
          <p:cNvSpPr>
            <a:spLocks noGrp="1"/>
          </p:cNvSpPr>
          <p:nvPr/>
        </p:nvSpPr>
        <p:spPr>
          <a:xfrm>
            <a:off x="2314575" y="2495550"/>
            <a:ext cx="1628775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18" name="w0"/>
          <p:cNvSpPr>
            <a:spLocks noGrp="1"/>
          </p:cNvSpPr>
          <p:nvPr/>
        </p:nvSpPr>
        <p:spPr>
          <a:xfrm>
            <a:off x="2333625" y="2495550"/>
            <a:ext cx="15906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风速—功率关系 +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Isolation Forest初始标注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wnormal-frame"/>
          <p:cNvSpPr>
            <a:spLocks noGrp="1"/>
          </p:cNvSpPr>
          <p:nvPr/>
        </p:nvSpPr>
        <p:spPr>
          <a:xfrm>
            <a:off x="2314575" y="3114675"/>
            <a:ext cx="485775" cy="285750"/>
          </a:xfrm>
          <a:prstGeom prst="roundRect">
            <a:avLst>
              <a:gd name="adj" fmla="val 13333"/>
            </a:avLst>
          </a:prstGeom>
          <a:solidFill>
            <a:srgbClr val="E2F0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20" name="wnormal"/>
          <p:cNvSpPr>
            <a:spLocks noGrp="1"/>
          </p:cNvSpPr>
          <p:nvPr/>
        </p:nvSpPr>
        <p:spPr>
          <a:xfrm>
            <a:off x="2333625" y="3114675"/>
            <a:ext cx="447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 O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wanomaly-frame"/>
          <p:cNvSpPr>
            <a:spLocks noGrp="1"/>
          </p:cNvSpPr>
          <p:nvPr/>
        </p:nvSpPr>
        <p:spPr>
          <a:xfrm>
            <a:off x="2876550" y="3114675"/>
            <a:ext cx="485775" cy="285750"/>
          </a:xfrm>
          <a:prstGeom prst="roundRect">
            <a:avLst>
              <a:gd name="adj" fmla="val 13333"/>
            </a:avLst>
          </a:prstGeom>
          <a:solidFill>
            <a:srgbClr val="FBD9BA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22" name="wanomaly"/>
          <p:cNvSpPr>
            <a:spLocks noGrp="1"/>
          </p:cNvSpPr>
          <p:nvPr/>
        </p:nvSpPr>
        <p:spPr>
          <a:xfrm>
            <a:off x="2895600" y="3114675"/>
            <a:ext cx="447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 A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wunknown-frame"/>
          <p:cNvSpPr>
            <a:spLocks noGrp="1"/>
          </p:cNvSpPr>
          <p:nvPr/>
        </p:nvSpPr>
        <p:spPr>
          <a:xfrm>
            <a:off x="3429000" y="3114675"/>
            <a:ext cx="514350" cy="285750"/>
          </a:xfrm>
          <a:prstGeom prst="roundRect">
            <a:avLst>
              <a:gd name="adj" fmla="val 13333"/>
            </a:avLst>
          </a:prstGeom>
          <a:solidFill>
            <a:srgbClr val="F8EEDB"/>
          </a:solidFill>
          <a:ln w="9525">
            <a:solidFill>
              <a:srgbClr val="B9A991"/>
            </a:solidFill>
            <a:prstDash val="solid"/>
          </a:ln>
        </p:spPr>
      </p:sp>
      <p:sp>
        <p:nvSpPr>
          <p:cNvPr id="24" name="wunknown"/>
          <p:cNvSpPr>
            <a:spLocks noGrp="1"/>
          </p:cNvSpPr>
          <p:nvPr/>
        </p:nvSpPr>
        <p:spPr>
          <a:xfrm>
            <a:off x="3448050" y="31146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未标注 U</a:t>
            </a:r>
            <a:endParaRPr sz="10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wscore-frame"/>
          <p:cNvSpPr>
            <a:spLocks noGrp="1"/>
          </p:cNvSpPr>
          <p:nvPr/>
        </p:nvSpPr>
        <p:spPr>
          <a:xfrm>
            <a:off x="2381250" y="3638550"/>
            <a:ext cx="14763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26" name="wscore"/>
          <p:cNvSpPr>
            <a:spLocks noGrp="1"/>
          </p:cNvSpPr>
          <p:nvPr/>
        </p:nvSpPr>
        <p:spPr>
          <a:xfrm>
            <a:off x="2400300" y="3638550"/>
            <a:ext cx="1438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双流关系评分</a:t>
            </a:r>
            <a:endParaRPr sz="12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widentify-frame"/>
          <p:cNvSpPr>
            <a:spLocks noGrp="1"/>
          </p:cNvSpPr>
          <p:nvPr/>
        </p:nvSpPr>
        <p:spPr>
          <a:xfrm>
            <a:off x="2381250" y="4105275"/>
            <a:ext cx="14763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28" name="widentify"/>
          <p:cNvSpPr>
            <a:spLocks noGrp="1"/>
          </p:cNvSpPr>
          <p:nvPr/>
        </p:nvSpPr>
        <p:spPr>
          <a:xfrm>
            <a:off x="2400300" y="4105275"/>
            <a:ext cx="1438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异常识别</a:t>
            </a:r>
            <a:endParaRPr sz="12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wrepair-frame"/>
          <p:cNvSpPr>
            <a:spLocks noGrp="1"/>
          </p:cNvSpPr>
          <p:nvPr/>
        </p:nvSpPr>
        <p:spPr>
          <a:xfrm>
            <a:off x="2381250" y="4572000"/>
            <a:ext cx="1476375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30" name="wrepair"/>
          <p:cNvSpPr>
            <a:spLocks noGrp="1"/>
          </p:cNvSpPr>
          <p:nvPr/>
        </p:nvSpPr>
        <p:spPr>
          <a:xfrm>
            <a:off x="2400300" y="4572000"/>
            <a:ext cx="1438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LightGBM修复</a:t>
            </a:r>
            <a:endParaRPr sz="12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wclean-frame"/>
          <p:cNvSpPr>
            <a:spLocks noGrp="1"/>
          </p:cNvSpPr>
          <p:nvPr/>
        </p:nvSpPr>
        <p:spPr>
          <a:xfrm>
            <a:off x="2381250" y="5048250"/>
            <a:ext cx="1476375" cy="37147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32" name="wclean"/>
          <p:cNvSpPr>
            <a:spLocks noGrp="1"/>
          </p:cNvSpPr>
          <p:nvPr/>
        </p:nvSpPr>
        <p:spPr>
          <a:xfrm>
            <a:off x="2390775" y="5048250"/>
            <a:ext cx="10763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清洗后的时序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0" name="图片 40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704" y="5114925"/>
            <a:ext cx="192268" cy="228600"/>
          </a:xfrm>
          <a:prstGeom prst="rect">
            <a:avLst/>
          </a:prstGeom>
        </p:spPr>
      </p:pic>
      <p:sp>
        <p:nvSpPr>
          <p:cNvPr id="34" name="weds-0-1"/>
          <p:cNvSpPr>
            <a:spLocks noGrp="1"/>
          </p:cNvSpPr>
          <p:nvPr/>
        </p:nvSpPr>
        <p:spPr>
          <a:xfrm>
            <a:off x="3119438" y="2933700"/>
            <a:ext cx="9525" cy="180975"/>
          </a:xfrm>
          <a:custGeom>
            <a:avLst/>
            <a:gdLst/>
            <a:ahLst/>
            <a:cxnLst/>
            <a:pathLst>
              <a:path w="9525" h="180975">
                <a:moveTo>
                  <a:pt x="9525" y="0"/>
                </a:moveTo>
                <a:lnTo>
                  <a:pt x="0" y="180975"/>
                </a:lnTo>
              </a:path>
            </a:pathLst>
          </a:custGeom>
          <a:noFill/>
          <a:ln w="19050">
            <a:solidFill>
              <a:srgbClr val="103060"/>
            </a:solidFill>
            <a:prstDash val="solid"/>
          </a:ln>
        </p:spPr>
      </p:sp>
      <p:sp>
        <p:nvSpPr>
          <p:cNvPr id="35" name="weds-0-1-tip"/>
          <p:cNvSpPr>
            <a:spLocks noGrp="1"/>
          </p:cNvSpPr>
          <p:nvPr/>
        </p:nvSpPr>
        <p:spPr>
          <a:xfrm>
            <a:off x="3082091" y="3026866"/>
            <a:ext cx="83704" cy="87809"/>
          </a:xfrm>
          <a:custGeom>
            <a:avLst/>
            <a:gdLst/>
            <a:ahLst/>
            <a:cxnLst/>
            <a:pathLst>
              <a:path w="83704" h="87809">
                <a:moveTo>
                  <a:pt x="37346" y="87809"/>
                </a:moveTo>
                <a:lnTo>
                  <a:pt x="83704" y="4405"/>
                </a:lnTo>
                <a:lnTo>
                  <a:pt x="0" y="0"/>
                </a:lnTo>
                <a:close/>
              </a:path>
            </a:pathLst>
          </a:custGeom>
          <a:solidFill>
            <a:srgbClr val="103060"/>
          </a:solidFill>
          <a:ln w="0">
            <a:noFill/>
          </a:ln>
        </p:spPr>
      </p:sp>
      <p:sp>
        <p:nvSpPr>
          <p:cNvPr id="36" name="weds-1-2"/>
          <p:cNvSpPr>
            <a:spLocks noGrp="1"/>
          </p:cNvSpPr>
          <p:nvPr/>
        </p:nvSpPr>
        <p:spPr>
          <a:xfrm>
            <a:off x="3119438" y="3400425"/>
            <a:ext cx="953" cy="238125"/>
          </a:xfrm>
          <a:custGeom>
            <a:avLst/>
            <a:gdLst/>
            <a:ahLst/>
            <a:cxnLst/>
            <a:pathLst>
              <a:path w="953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9050">
            <a:solidFill>
              <a:srgbClr val="103060"/>
            </a:solidFill>
            <a:prstDash val="solid"/>
          </a:ln>
        </p:spPr>
      </p:sp>
      <p:sp>
        <p:nvSpPr>
          <p:cNvPr id="37" name="weds-1-2-tip"/>
          <p:cNvSpPr>
            <a:spLocks noGrp="1"/>
          </p:cNvSpPr>
          <p:nvPr/>
        </p:nvSpPr>
        <p:spPr>
          <a:xfrm>
            <a:off x="3077528" y="3552825"/>
            <a:ext cx="83820" cy="85725"/>
          </a:xfrm>
          <a:custGeom>
            <a:avLst/>
            <a:gdLst/>
            <a:ahLst/>
            <a:cxnLst/>
            <a:pathLst>
              <a:path w="83820" h="85725">
                <a:moveTo>
                  <a:pt x="41910" y="85725"/>
                </a:moveTo>
                <a:lnTo>
                  <a:pt x="83820" y="0"/>
                </a:lnTo>
                <a:lnTo>
                  <a:pt x="0" y="0"/>
                </a:lnTo>
                <a:close/>
              </a:path>
            </a:pathLst>
          </a:custGeom>
          <a:solidFill>
            <a:srgbClr val="103060"/>
          </a:solidFill>
          <a:ln w="0">
            <a:noFill/>
          </a:ln>
        </p:spPr>
      </p:sp>
      <p:sp>
        <p:nvSpPr>
          <p:cNvPr id="38" name="weds-2-3"/>
          <p:cNvSpPr>
            <a:spLocks noGrp="1"/>
          </p:cNvSpPr>
          <p:nvPr/>
        </p:nvSpPr>
        <p:spPr>
          <a:xfrm>
            <a:off x="3119438" y="3933825"/>
            <a:ext cx="953" cy="171450"/>
          </a:xfrm>
          <a:custGeom>
            <a:avLst/>
            <a:gdLst/>
            <a:ahLst/>
            <a:cxnLst/>
            <a:pathLst>
              <a:path w="953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9050">
            <a:solidFill>
              <a:srgbClr val="103060"/>
            </a:solidFill>
            <a:prstDash val="solid"/>
          </a:ln>
        </p:spPr>
      </p:sp>
      <p:sp>
        <p:nvSpPr>
          <p:cNvPr id="39" name="weds-2-3-tip"/>
          <p:cNvSpPr>
            <a:spLocks noGrp="1"/>
          </p:cNvSpPr>
          <p:nvPr/>
        </p:nvSpPr>
        <p:spPr>
          <a:xfrm>
            <a:off x="3077528" y="4019550"/>
            <a:ext cx="83820" cy="85725"/>
          </a:xfrm>
          <a:custGeom>
            <a:avLst/>
            <a:gdLst/>
            <a:ahLst/>
            <a:cxnLst/>
            <a:pathLst>
              <a:path w="83820" h="85725">
                <a:moveTo>
                  <a:pt x="41910" y="85725"/>
                </a:moveTo>
                <a:lnTo>
                  <a:pt x="83820" y="0"/>
                </a:lnTo>
                <a:lnTo>
                  <a:pt x="0" y="0"/>
                </a:lnTo>
                <a:close/>
              </a:path>
            </a:pathLst>
          </a:custGeom>
          <a:solidFill>
            <a:srgbClr val="103060"/>
          </a:solidFill>
          <a:ln w="0">
            <a:noFill/>
          </a:ln>
        </p:spPr>
      </p:sp>
      <p:sp>
        <p:nvSpPr>
          <p:cNvPr id="40" name="weds-3-4"/>
          <p:cNvSpPr>
            <a:spLocks noGrp="1"/>
          </p:cNvSpPr>
          <p:nvPr/>
        </p:nvSpPr>
        <p:spPr>
          <a:xfrm>
            <a:off x="3119438" y="4400550"/>
            <a:ext cx="953" cy="171450"/>
          </a:xfrm>
          <a:custGeom>
            <a:avLst/>
            <a:gdLst/>
            <a:ahLst/>
            <a:cxnLst/>
            <a:pathLst>
              <a:path w="953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9050">
            <a:solidFill>
              <a:srgbClr val="103060"/>
            </a:solidFill>
            <a:prstDash val="solid"/>
          </a:ln>
        </p:spPr>
      </p:sp>
      <p:sp>
        <p:nvSpPr>
          <p:cNvPr id="41" name="weds-3-4-tip"/>
          <p:cNvSpPr>
            <a:spLocks noGrp="1"/>
          </p:cNvSpPr>
          <p:nvPr/>
        </p:nvSpPr>
        <p:spPr>
          <a:xfrm>
            <a:off x="3077528" y="4486275"/>
            <a:ext cx="83820" cy="85725"/>
          </a:xfrm>
          <a:custGeom>
            <a:avLst/>
            <a:gdLst/>
            <a:ahLst/>
            <a:cxnLst/>
            <a:pathLst>
              <a:path w="83820" h="85725">
                <a:moveTo>
                  <a:pt x="41910" y="85725"/>
                </a:moveTo>
                <a:lnTo>
                  <a:pt x="83820" y="0"/>
                </a:lnTo>
                <a:lnTo>
                  <a:pt x="0" y="0"/>
                </a:lnTo>
                <a:close/>
              </a:path>
            </a:pathLst>
          </a:custGeom>
          <a:solidFill>
            <a:srgbClr val="103060"/>
          </a:solidFill>
          <a:ln w="0">
            <a:noFill/>
          </a:ln>
        </p:spPr>
      </p:sp>
      <p:sp>
        <p:nvSpPr>
          <p:cNvPr id="42" name="weds-4-5"/>
          <p:cNvSpPr>
            <a:spLocks noGrp="1"/>
          </p:cNvSpPr>
          <p:nvPr/>
        </p:nvSpPr>
        <p:spPr>
          <a:xfrm>
            <a:off x="3119438" y="4876800"/>
            <a:ext cx="953" cy="171450"/>
          </a:xfrm>
          <a:custGeom>
            <a:avLst/>
            <a:gdLst/>
            <a:ahLst/>
            <a:cxnLst/>
            <a:pathLst>
              <a:path w="953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9050">
            <a:solidFill>
              <a:srgbClr val="103060"/>
            </a:solidFill>
            <a:prstDash val="solid"/>
          </a:ln>
        </p:spPr>
      </p:sp>
      <p:sp>
        <p:nvSpPr>
          <p:cNvPr id="43" name="weds-4-5-tip"/>
          <p:cNvSpPr>
            <a:spLocks noGrp="1"/>
          </p:cNvSpPr>
          <p:nvPr/>
        </p:nvSpPr>
        <p:spPr>
          <a:xfrm>
            <a:off x="3077528" y="4962525"/>
            <a:ext cx="83820" cy="85725"/>
          </a:xfrm>
          <a:custGeom>
            <a:avLst/>
            <a:gdLst/>
            <a:ahLst/>
            <a:cxnLst/>
            <a:pathLst>
              <a:path w="83820" h="85725">
                <a:moveTo>
                  <a:pt x="41910" y="85725"/>
                </a:moveTo>
                <a:lnTo>
                  <a:pt x="83820" y="0"/>
                </a:lnTo>
                <a:lnTo>
                  <a:pt x="0" y="0"/>
                </a:lnTo>
                <a:close/>
              </a:path>
            </a:pathLst>
          </a:custGeom>
          <a:solidFill>
            <a:srgbClr val="103060"/>
          </a:solidFill>
          <a:ln w="0">
            <a:noFill/>
          </a:ln>
        </p:spPr>
      </p:sp>
      <p:sp>
        <p:nvSpPr>
          <p:cNvPr id="44" name="weds-note"/>
          <p:cNvSpPr>
            <a:spLocks noGrp="1"/>
          </p:cNvSpPr>
          <p:nvPr/>
        </p:nvSpPr>
        <p:spPr>
          <a:xfrm>
            <a:off x="2295525" y="552450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减少异常SCADA对预测模型的误导</a:t>
            </a:r>
            <a:endParaRPr sz="97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feds"/>
          <p:cNvSpPr>
            <a:spLocks noGrp="1"/>
          </p:cNvSpPr>
          <p:nvPr/>
        </p:nvSpPr>
        <p:spPr>
          <a:xfrm>
            <a:off x="4105275" y="2076450"/>
            <a:ext cx="1724025" cy="3781425"/>
          </a:xfrm>
          <a:prstGeom prst="roundRect">
            <a:avLst>
              <a:gd name="adj" fmla="val 3867"/>
            </a:avLst>
          </a:prstGeom>
          <a:solidFill>
            <a:srgbClr val="F0FAF0"/>
          </a:solidFill>
          <a:ln w="9525">
            <a:solidFill>
              <a:srgbClr val="7CC88A"/>
            </a:solidFill>
            <a:prstDash val="solid"/>
          </a:ln>
        </p:spPr>
      </p:sp>
      <p:sp>
        <p:nvSpPr>
          <p:cNvPr id="46" name="feds-title"/>
          <p:cNvSpPr>
            <a:spLocks noGrp="1"/>
          </p:cNvSpPr>
          <p:nvPr/>
        </p:nvSpPr>
        <p:spPr>
          <a:xfrm>
            <a:off x="4181475" y="2114550"/>
            <a:ext cx="1571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462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462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FEDS自注意力特征筛选</a:t>
            </a:r>
            <a:endParaRPr sz="1200" b="1">
              <a:solidFill>
                <a:srgbClr val="1462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f0-frame"/>
          <p:cNvSpPr>
            <a:spLocks noGrp="1"/>
          </p:cNvSpPr>
          <p:nvPr/>
        </p:nvSpPr>
        <p:spPr>
          <a:xfrm>
            <a:off x="4219575" y="2495550"/>
            <a:ext cx="1495425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7AC18B"/>
            </a:solidFill>
            <a:prstDash val="solid"/>
          </a:ln>
        </p:spPr>
      </p:sp>
      <p:sp>
        <p:nvSpPr>
          <p:cNvPr id="48" name="f0"/>
          <p:cNvSpPr>
            <a:spLocks noGrp="1"/>
          </p:cNvSpPr>
          <p:nvPr/>
        </p:nvSpPr>
        <p:spPr>
          <a:xfrm>
            <a:off x="4238625" y="2495550"/>
            <a:ext cx="14573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多维特征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（风功率、风速、风向…）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fq"/>
          <p:cNvSpPr>
            <a:spLocks noGrp="1"/>
          </p:cNvSpPr>
          <p:nvPr/>
        </p:nvSpPr>
        <p:spPr>
          <a:xfrm>
            <a:off x="4400550" y="3114675"/>
            <a:ext cx="1152525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AC18B"/>
            </a:solidFill>
            <a:prstDash val="solid"/>
          </a:ln>
        </p:spPr>
      </p:sp>
      <p:pic>
        <p:nvPicPr>
          <p:cNvPr id="427" name="图片 426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45454" y="3152775"/>
            <a:ext cx="862717" cy="209550"/>
          </a:xfrm>
          <a:prstGeom prst="rect">
            <a:avLst/>
          </a:prstGeom>
        </p:spPr>
      </p:pic>
      <p:sp>
        <p:nvSpPr>
          <p:cNvPr id="51" name="fattention-frame"/>
          <p:cNvSpPr>
            <a:spLocks noGrp="1"/>
          </p:cNvSpPr>
          <p:nvPr/>
        </p:nvSpPr>
        <p:spPr>
          <a:xfrm>
            <a:off x="4333875" y="3590925"/>
            <a:ext cx="1314450" cy="304800"/>
          </a:xfrm>
          <a:prstGeom prst="roundRect">
            <a:avLst>
              <a:gd name="adj" fmla="val 12500"/>
            </a:avLst>
          </a:prstGeom>
          <a:solidFill>
            <a:srgbClr val="DCEB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52" name="fattention"/>
          <p:cNvSpPr>
            <a:spLocks noGrp="1"/>
          </p:cNvSpPr>
          <p:nvPr/>
        </p:nvSpPr>
        <p:spPr>
          <a:xfrm>
            <a:off x="4352925" y="3590925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Self-Attention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fimportance-frame"/>
          <p:cNvSpPr>
            <a:spLocks noGrp="1"/>
          </p:cNvSpPr>
          <p:nvPr/>
        </p:nvSpPr>
        <p:spPr>
          <a:xfrm>
            <a:off x="4410075" y="4076700"/>
            <a:ext cx="11430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AC18B"/>
            </a:solidFill>
            <a:prstDash val="solid"/>
          </a:ln>
        </p:spPr>
      </p:sp>
      <p:sp>
        <p:nvSpPr>
          <p:cNvPr id="54" name="fimportance"/>
          <p:cNvSpPr>
            <a:spLocks noGrp="1"/>
          </p:cNvSpPr>
          <p:nvPr/>
        </p:nvSpPr>
        <p:spPr>
          <a:xfrm>
            <a:off x="4429125" y="4076700"/>
            <a:ext cx="110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特征重要性</a:t>
            </a:r>
            <a:endParaRPr sz="12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ftop-frame"/>
          <p:cNvSpPr>
            <a:spLocks noGrp="1"/>
          </p:cNvSpPr>
          <p:nvPr/>
        </p:nvSpPr>
        <p:spPr>
          <a:xfrm>
            <a:off x="4219575" y="4562475"/>
            <a:ext cx="1495425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7AC18B"/>
            </a:solidFill>
            <a:prstDash val="solid"/>
          </a:ln>
        </p:spPr>
      </p:sp>
      <p:sp>
        <p:nvSpPr>
          <p:cNvPr id="56" name="ftop"/>
          <p:cNvSpPr>
            <a:spLocks noGrp="1"/>
          </p:cNvSpPr>
          <p:nvPr/>
        </p:nvSpPr>
        <p:spPr>
          <a:xfrm>
            <a:off x="4229100" y="4562475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Top-K高贡献特征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4" name="图片 433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57825" y="4652613"/>
            <a:ext cx="190500" cy="105473"/>
          </a:xfrm>
          <a:prstGeom prst="rect">
            <a:avLst/>
          </a:prstGeom>
        </p:spPr>
      </p:pic>
      <p:sp>
        <p:nvSpPr>
          <p:cNvPr id="58" name="f-f0"/>
          <p:cNvSpPr>
            <a:spLocks noGrp="1"/>
          </p:cNvSpPr>
          <p:nvPr/>
        </p:nvSpPr>
        <p:spPr>
          <a:xfrm>
            <a:off x="4967288" y="2933700"/>
            <a:ext cx="9525" cy="180975"/>
          </a:xfrm>
          <a:custGeom>
            <a:avLst/>
            <a:gdLst/>
            <a:ahLst/>
            <a:cxnLst/>
            <a:pathLst>
              <a:path w="9525" h="180975">
                <a:moveTo>
                  <a:pt x="0" y="0"/>
                </a:moveTo>
                <a:lnTo>
                  <a:pt x="9525" y="180975"/>
                </a:lnTo>
              </a:path>
            </a:pathLst>
          </a:custGeom>
          <a:noFill/>
          <a:ln w="19050">
            <a:solidFill>
              <a:srgbClr val="103060"/>
            </a:solidFill>
            <a:prstDash val="solid"/>
          </a:ln>
        </p:spPr>
      </p:sp>
      <p:sp>
        <p:nvSpPr>
          <p:cNvPr id="59" name="f-f0-tip"/>
          <p:cNvSpPr>
            <a:spLocks noGrp="1"/>
          </p:cNvSpPr>
          <p:nvPr/>
        </p:nvSpPr>
        <p:spPr>
          <a:xfrm>
            <a:off x="4930455" y="3026866"/>
            <a:ext cx="83704" cy="87809"/>
          </a:xfrm>
          <a:custGeom>
            <a:avLst/>
            <a:gdLst/>
            <a:ahLst/>
            <a:cxnLst/>
            <a:pathLst>
              <a:path w="83704" h="87809">
                <a:moveTo>
                  <a:pt x="46358" y="87809"/>
                </a:moveTo>
                <a:lnTo>
                  <a:pt x="83704" y="0"/>
                </a:lnTo>
                <a:lnTo>
                  <a:pt x="0" y="4405"/>
                </a:lnTo>
                <a:close/>
              </a:path>
            </a:pathLst>
          </a:custGeom>
          <a:solidFill>
            <a:srgbClr val="103060"/>
          </a:solidFill>
          <a:ln w="0">
            <a:noFill/>
          </a:ln>
        </p:spPr>
      </p:sp>
      <p:sp>
        <p:nvSpPr>
          <p:cNvPr id="60" name="f-fq"/>
          <p:cNvSpPr>
            <a:spLocks noGrp="1"/>
          </p:cNvSpPr>
          <p:nvPr/>
        </p:nvSpPr>
        <p:spPr>
          <a:xfrm>
            <a:off x="4976813" y="3419475"/>
            <a:ext cx="14288" cy="171450"/>
          </a:xfrm>
          <a:custGeom>
            <a:avLst/>
            <a:gdLst/>
            <a:ahLst/>
            <a:cxnLst/>
            <a:pathLst>
              <a:path w="14288" h="171450">
                <a:moveTo>
                  <a:pt x="0" y="0"/>
                </a:moveTo>
                <a:lnTo>
                  <a:pt x="14288" y="171450"/>
                </a:lnTo>
              </a:path>
            </a:pathLst>
          </a:custGeom>
          <a:noFill/>
          <a:ln w="19050">
            <a:solidFill>
              <a:srgbClr val="103060"/>
            </a:solidFill>
            <a:prstDash val="solid"/>
          </a:ln>
        </p:spPr>
      </p:sp>
      <p:sp>
        <p:nvSpPr>
          <p:cNvPr id="61" name="f-fq-tip"/>
          <p:cNvSpPr>
            <a:spLocks noGrp="1"/>
          </p:cNvSpPr>
          <p:nvPr/>
        </p:nvSpPr>
        <p:spPr>
          <a:xfrm>
            <a:off x="4942216" y="3502016"/>
            <a:ext cx="83530" cy="88909"/>
          </a:xfrm>
          <a:custGeom>
            <a:avLst/>
            <a:gdLst/>
            <a:ahLst/>
            <a:cxnLst/>
            <a:pathLst>
              <a:path w="83530" h="88909">
                <a:moveTo>
                  <a:pt x="48884" y="88909"/>
                </a:moveTo>
                <a:lnTo>
                  <a:pt x="83530" y="0"/>
                </a:lnTo>
                <a:lnTo>
                  <a:pt x="0" y="6961"/>
                </a:lnTo>
                <a:close/>
              </a:path>
            </a:pathLst>
          </a:custGeom>
          <a:solidFill>
            <a:srgbClr val="103060"/>
          </a:solidFill>
          <a:ln w="0">
            <a:noFill/>
          </a:ln>
        </p:spPr>
      </p:sp>
      <p:sp>
        <p:nvSpPr>
          <p:cNvPr id="62" name="f-fattention"/>
          <p:cNvSpPr>
            <a:spLocks noGrp="1"/>
          </p:cNvSpPr>
          <p:nvPr/>
        </p:nvSpPr>
        <p:spPr>
          <a:xfrm>
            <a:off x="4981575" y="3895725"/>
            <a:ext cx="9525" cy="180975"/>
          </a:xfrm>
          <a:custGeom>
            <a:avLst/>
            <a:gdLst/>
            <a:ahLst/>
            <a:cxnLst/>
            <a:pathLst>
              <a:path w="9525" h="180975">
                <a:moveTo>
                  <a:pt x="9525" y="0"/>
                </a:moveTo>
                <a:lnTo>
                  <a:pt x="0" y="180975"/>
                </a:lnTo>
              </a:path>
            </a:pathLst>
          </a:custGeom>
          <a:noFill/>
          <a:ln w="19050">
            <a:solidFill>
              <a:srgbClr val="103060"/>
            </a:solidFill>
            <a:prstDash val="solid"/>
          </a:ln>
        </p:spPr>
      </p:sp>
      <p:sp>
        <p:nvSpPr>
          <p:cNvPr id="63" name="f-fattention-tip"/>
          <p:cNvSpPr>
            <a:spLocks noGrp="1"/>
          </p:cNvSpPr>
          <p:nvPr/>
        </p:nvSpPr>
        <p:spPr>
          <a:xfrm>
            <a:off x="4944229" y="3988891"/>
            <a:ext cx="83704" cy="87809"/>
          </a:xfrm>
          <a:custGeom>
            <a:avLst/>
            <a:gdLst/>
            <a:ahLst/>
            <a:cxnLst/>
            <a:pathLst>
              <a:path w="83704" h="87809">
                <a:moveTo>
                  <a:pt x="37346" y="87809"/>
                </a:moveTo>
                <a:lnTo>
                  <a:pt x="83704" y="4405"/>
                </a:lnTo>
                <a:lnTo>
                  <a:pt x="0" y="0"/>
                </a:lnTo>
                <a:close/>
              </a:path>
            </a:pathLst>
          </a:custGeom>
          <a:solidFill>
            <a:srgbClr val="103060"/>
          </a:solidFill>
          <a:ln w="0">
            <a:noFill/>
          </a:ln>
        </p:spPr>
      </p:sp>
      <p:sp>
        <p:nvSpPr>
          <p:cNvPr id="64" name="f-fimportance"/>
          <p:cNvSpPr>
            <a:spLocks noGrp="1"/>
          </p:cNvSpPr>
          <p:nvPr/>
        </p:nvSpPr>
        <p:spPr>
          <a:xfrm>
            <a:off x="4967288" y="4381500"/>
            <a:ext cx="14288" cy="180975"/>
          </a:xfrm>
          <a:custGeom>
            <a:avLst/>
            <a:gdLst/>
            <a:ahLst/>
            <a:cxnLst/>
            <a:pathLst>
              <a:path w="14288" h="180975">
                <a:moveTo>
                  <a:pt x="14288" y="0"/>
                </a:moveTo>
                <a:lnTo>
                  <a:pt x="0" y="180975"/>
                </a:lnTo>
              </a:path>
            </a:pathLst>
          </a:custGeom>
          <a:noFill/>
          <a:ln w="19050">
            <a:solidFill>
              <a:srgbClr val="103060"/>
            </a:solidFill>
            <a:prstDash val="solid"/>
          </a:ln>
        </p:spPr>
      </p:sp>
      <p:sp>
        <p:nvSpPr>
          <p:cNvPr id="65" name="f-fimportance-tip"/>
          <p:cNvSpPr>
            <a:spLocks noGrp="1"/>
          </p:cNvSpPr>
          <p:nvPr/>
        </p:nvSpPr>
        <p:spPr>
          <a:xfrm>
            <a:off x="4932254" y="4473717"/>
            <a:ext cx="83560" cy="88758"/>
          </a:xfrm>
          <a:custGeom>
            <a:avLst/>
            <a:gdLst/>
            <a:ahLst/>
            <a:cxnLst/>
            <a:pathLst>
              <a:path w="83560" h="88758">
                <a:moveTo>
                  <a:pt x="35033" y="88758"/>
                </a:moveTo>
                <a:lnTo>
                  <a:pt x="83560" y="6597"/>
                </a:lnTo>
                <a:lnTo>
                  <a:pt x="0" y="0"/>
                </a:lnTo>
                <a:close/>
              </a:path>
            </a:pathLst>
          </a:custGeom>
          <a:solidFill>
            <a:srgbClr val="103060"/>
          </a:solidFill>
          <a:ln w="0">
            <a:noFill/>
          </a:ln>
        </p:spPr>
      </p:sp>
      <p:pic>
        <p:nvPicPr>
          <p:cNvPr id="443" name="图片 442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00550" y="5032054"/>
            <a:ext cx="1181100" cy="308618"/>
          </a:xfrm>
          <a:prstGeom prst="rect">
            <a:avLst/>
          </a:prstGeom>
        </p:spPr>
      </p:pic>
      <p:sp>
        <p:nvSpPr>
          <p:cNvPr id="67" name="f-note"/>
          <p:cNvSpPr>
            <a:spLocks noGrp="1"/>
          </p:cNvSpPr>
          <p:nvPr/>
        </p:nvSpPr>
        <p:spPr>
          <a:xfrm>
            <a:off x="4219575" y="5486400"/>
            <a:ext cx="1495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1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同时考虑特征—标签关系</a:t>
            </a:r>
            <a:endParaRPr sz="101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1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与特征间关联</a:t>
            </a:r>
            <a:endParaRPr sz="101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input-weds"/>
          <p:cNvSpPr>
            <a:spLocks noGrp="1"/>
          </p:cNvSpPr>
          <p:nvPr/>
        </p:nvSpPr>
        <p:spPr>
          <a:xfrm>
            <a:off x="2038350" y="3867150"/>
            <a:ext cx="276225" cy="19050"/>
          </a:xfrm>
          <a:custGeom>
            <a:avLst/>
            <a:gdLst/>
            <a:ahLst/>
            <a:cxnLst/>
            <a:pathLst>
              <a:path w="276225" h="19050">
                <a:moveTo>
                  <a:pt x="0" y="19050"/>
                </a:moveTo>
                <a:lnTo>
                  <a:pt x="104775" y="19050"/>
                </a:lnTo>
                <a:lnTo>
                  <a:pt x="104775" y="0"/>
                </a:lnTo>
                <a:lnTo>
                  <a:pt x="276225" y="0"/>
                </a:lnTo>
              </a:path>
            </a:pathLst>
          </a:custGeom>
          <a:noFill/>
          <a:ln w="23813">
            <a:solidFill>
              <a:srgbClr val="0078C9"/>
            </a:solidFill>
            <a:prstDash val="solid"/>
          </a:ln>
        </p:spPr>
      </p:sp>
      <p:sp>
        <p:nvSpPr>
          <p:cNvPr id="69" name="input-weds-tip"/>
          <p:cNvSpPr>
            <a:spLocks noGrp="1"/>
          </p:cNvSpPr>
          <p:nvPr/>
        </p:nvSpPr>
        <p:spPr>
          <a:xfrm>
            <a:off x="2226469" y="3824288"/>
            <a:ext cx="88106" cy="85725"/>
          </a:xfrm>
          <a:custGeom>
            <a:avLst/>
            <a:gdLst/>
            <a:ahLst/>
            <a:cxnLst/>
            <a:pathLst>
              <a:path w="88106" h="85725">
                <a:moveTo>
                  <a:pt x="88106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70" name="clean-feds"/>
          <p:cNvSpPr>
            <a:spLocks noGrp="1"/>
          </p:cNvSpPr>
          <p:nvPr/>
        </p:nvSpPr>
        <p:spPr>
          <a:xfrm>
            <a:off x="3857625" y="3857625"/>
            <a:ext cx="361950" cy="1381125"/>
          </a:xfrm>
          <a:custGeom>
            <a:avLst/>
            <a:gdLst/>
            <a:ahLst/>
            <a:cxnLst/>
            <a:pathLst>
              <a:path w="361950" h="1381125">
                <a:moveTo>
                  <a:pt x="0" y="1381125"/>
                </a:moveTo>
                <a:lnTo>
                  <a:pt x="152400" y="1381125"/>
                </a:lnTo>
                <a:lnTo>
                  <a:pt x="152400" y="0"/>
                </a:lnTo>
                <a:lnTo>
                  <a:pt x="361950" y="0"/>
                </a:lnTo>
              </a:path>
            </a:pathLst>
          </a:custGeom>
          <a:noFill/>
          <a:ln w="22860">
            <a:solidFill>
              <a:srgbClr val="00A344"/>
            </a:solidFill>
            <a:prstDash val="solid"/>
          </a:ln>
        </p:spPr>
      </p:sp>
      <p:sp>
        <p:nvSpPr>
          <p:cNvPr id="71" name="clean-feds-tip"/>
          <p:cNvSpPr>
            <a:spLocks noGrp="1"/>
          </p:cNvSpPr>
          <p:nvPr/>
        </p:nvSpPr>
        <p:spPr>
          <a:xfrm>
            <a:off x="4131945" y="3814953"/>
            <a:ext cx="87630" cy="85344"/>
          </a:xfrm>
          <a:custGeom>
            <a:avLst/>
            <a:gdLst/>
            <a:ahLst/>
            <a:cxnLst/>
            <a:pathLst>
              <a:path w="87630" h="85344">
                <a:moveTo>
                  <a:pt x="87630" y="42672"/>
                </a:moveTo>
                <a:lnTo>
                  <a:pt x="0" y="0"/>
                </a:lnTo>
                <a:lnTo>
                  <a:pt x="0" y="85344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72" name="spatial"/>
          <p:cNvSpPr>
            <a:spLocks noGrp="1"/>
          </p:cNvSpPr>
          <p:nvPr/>
        </p:nvSpPr>
        <p:spPr>
          <a:xfrm>
            <a:off x="2219325" y="6000750"/>
            <a:ext cx="3533775" cy="1609725"/>
          </a:xfrm>
          <a:prstGeom prst="roundRect">
            <a:avLst>
              <a:gd name="adj" fmla="val 4142"/>
            </a:avLst>
          </a:prstGeom>
          <a:solidFill>
            <a:srgbClr val="F3FBF2"/>
          </a:solidFill>
          <a:ln w="9525">
            <a:solidFill>
              <a:srgbClr val="85CB8B"/>
            </a:solidFill>
            <a:prstDash val="solid"/>
          </a:ln>
        </p:spPr>
      </p:sp>
      <p:sp>
        <p:nvSpPr>
          <p:cNvPr id="73" name="spatial-title"/>
          <p:cNvSpPr>
            <a:spLocks noGrp="1"/>
          </p:cNvSpPr>
          <p:nvPr/>
        </p:nvSpPr>
        <p:spPr>
          <a:xfrm>
            <a:off x="2295525" y="6038850"/>
            <a:ext cx="33813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风机图构建（空间相关性）</a:t>
            </a:r>
            <a:endParaRPr sz="150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g-power-frame"/>
          <p:cNvSpPr>
            <a:spLocks noGrp="1"/>
          </p:cNvSpPr>
          <p:nvPr/>
        </p:nvSpPr>
        <p:spPr>
          <a:xfrm>
            <a:off x="2324100" y="6619875"/>
            <a:ext cx="666750" cy="5905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5" name="g-power"/>
          <p:cNvSpPr>
            <a:spLocks noGrp="1"/>
          </p:cNvSpPr>
          <p:nvPr/>
        </p:nvSpPr>
        <p:spPr>
          <a:xfrm>
            <a:off x="2343150" y="6619875"/>
            <a:ext cx="628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风机历史功率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(134 × T)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g-pearson-frame"/>
          <p:cNvSpPr>
            <a:spLocks noGrp="1"/>
          </p:cNvSpPr>
          <p:nvPr/>
        </p:nvSpPr>
        <p:spPr>
          <a:xfrm>
            <a:off x="3095625" y="6734175"/>
            <a:ext cx="657225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7" name="g-pearson"/>
          <p:cNvSpPr>
            <a:spLocks noGrp="1"/>
          </p:cNvSpPr>
          <p:nvPr/>
        </p:nvSpPr>
        <p:spPr>
          <a:xfrm>
            <a:off x="3114675" y="6734175"/>
            <a:ext cx="619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Pearson相关性</a:t>
            </a:r>
            <a:endParaRPr sz="9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g-top-frame"/>
          <p:cNvSpPr>
            <a:spLocks noGrp="1"/>
          </p:cNvSpPr>
          <p:nvPr/>
        </p:nvSpPr>
        <p:spPr>
          <a:xfrm>
            <a:off x="3848100" y="6619875"/>
            <a:ext cx="485775" cy="590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9" name="g-top"/>
          <p:cNvSpPr>
            <a:spLocks noGrp="1"/>
          </p:cNvSpPr>
          <p:nvPr/>
        </p:nvSpPr>
        <p:spPr>
          <a:xfrm>
            <a:off x="3867150" y="6619875"/>
            <a:ext cx="4476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Top-K</a:t>
            </a:r>
            <a:endParaRPr sz="10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相关邻居</a:t>
            </a:r>
            <a:endParaRPr sz="10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gp1"/>
          <p:cNvSpPr>
            <a:spLocks noGrp="1"/>
          </p:cNvSpPr>
          <p:nvPr/>
        </p:nvSpPr>
        <p:spPr>
          <a:xfrm>
            <a:off x="2990850" y="6915150"/>
            <a:ext cx="104775" cy="953"/>
          </a:xfrm>
          <a:custGeom>
            <a:avLst/>
            <a:gdLst/>
            <a:ahLst/>
            <a:cxnLst/>
            <a:pathLst>
              <a:path w="104775" h="953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81" name="gp1-tip"/>
          <p:cNvSpPr>
            <a:spLocks noGrp="1"/>
          </p:cNvSpPr>
          <p:nvPr/>
        </p:nvSpPr>
        <p:spPr>
          <a:xfrm>
            <a:off x="3009900" y="68732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82" name="gp2"/>
          <p:cNvSpPr>
            <a:spLocks noGrp="1"/>
          </p:cNvSpPr>
          <p:nvPr/>
        </p:nvSpPr>
        <p:spPr>
          <a:xfrm>
            <a:off x="3752850" y="6915150"/>
            <a:ext cx="95250" cy="953"/>
          </a:xfrm>
          <a:custGeom>
            <a:avLst/>
            <a:gdLst/>
            <a:ahLst/>
            <a:cxnLst/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83" name="gp2-tip"/>
          <p:cNvSpPr>
            <a:spLocks noGrp="1"/>
          </p:cNvSpPr>
          <p:nvPr/>
        </p:nvSpPr>
        <p:spPr>
          <a:xfrm>
            <a:off x="3762375" y="68732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84" name="g-visual"/>
          <p:cNvSpPr>
            <a:spLocks noGrp="1"/>
          </p:cNvSpPr>
          <p:nvPr/>
        </p:nvSpPr>
        <p:spPr>
          <a:xfrm>
            <a:off x="4448175" y="6334125"/>
            <a:ext cx="1228725" cy="120015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A8CBAA"/>
            </a:solidFill>
            <a:prstDash val="solid"/>
          </a:ln>
        </p:spPr>
      </p:sp>
      <p:pic>
        <p:nvPicPr>
          <p:cNvPr id="462" name="图片 46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0788" y="6372225"/>
            <a:ext cx="1021598" cy="209550"/>
          </a:xfrm>
          <a:prstGeom prst="rect">
            <a:avLst/>
          </a:prstGeom>
        </p:spPr>
      </p:pic>
      <p:sp>
        <p:nvSpPr>
          <p:cNvPr id="86" name="turbine-graph-edge-01"/>
          <p:cNvSpPr>
            <a:spLocks noGrp="1"/>
          </p:cNvSpPr>
          <p:nvPr/>
        </p:nvSpPr>
        <p:spPr>
          <a:xfrm>
            <a:off x="4695825" y="6629400"/>
            <a:ext cx="209550" cy="276225"/>
          </a:xfrm>
          <a:custGeom>
            <a:avLst/>
            <a:gdLst/>
            <a:ahLst/>
            <a:cxnLst/>
            <a:pathLst>
              <a:path w="209550" h="276225">
                <a:moveTo>
                  <a:pt x="209550" y="0"/>
                </a:moveTo>
                <a:lnTo>
                  <a:pt x="0" y="276225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87" name="turbine-graph-edge-02"/>
          <p:cNvSpPr>
            <a:spLocks noGrp="1"/>
          </p:cNvSpPr>
          <p:nvPr/>
        </p:nvSpPr>
        <p:spPr>
          <a:xfrm>
            <a:off x="4905375" y="6629400"/>
            <a:ext cx="142875" cy="285750"/>
          </a:xfrm>
          <a:custGeom>
            <a:avLst/>
            <a:gdLst/>
            <a:ahLst/>
            <a:cxnLst/>
            <a:pathLst>
              <a:path w="142875" h="285750">
                <a:moveTo>
                  <a:pt x="0" y="0"/>
                </a:moveTo>
                <a:lnTo>
                  <a:pt x="142875" y="285750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88" name="turbine-graph-edge-03"/>
          <p:cNvSpPr>
            <a:spLocks noGrp="1"/>
          </p:cNvSpPr>
          <p:nvPr/>
        </p:nvSpPr>
        <p:spPr>
          <a:xfrm>
            <a:off x="4905375" y="6629400"/>
            <a:ext cx="438150" cy="123825"/>
          </a:xfrm>
          <a:custGeom>
            <a:avLst/>
            <a:gdLst/>
            <a:ahLst/>
            <a:cxnLst/>
            <a:pathLst>
              <a:path w="438150" h="123825">
                <a:moveTo>
                  <a:pt x="0" y="0"/>
                </a:moveTo>
                <a:lnTo>
                  <a:pt x="438150" y="123825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89" name="turbine-graph-edge-12"/>
          <p:cNvSpPr>
            <a:spLocks noGrp="1"/>
          </p:cNvSpPr>
          <p:nvPr/>
        </p:nvSpPr>
        <p:spPr>
          <a:xfrm>
            <a:off x="4695825" y="6905625"/>
            <a:ext cx="352425" cy="9525"/>
          </a:xfrm>
          <a:custGeom>
            <a:avLst/>
            <a:gdLst/>
            <a:ahLst/>
            <a:cxnLst/>
            <a:pathLst>
              <a:path w="352425" h="9525">
                <a:moveTo>
                  <a:pt x="0" y="0"/>
                </a:moveTo>
                <a:lnTo>
                  <a:pt x="352425" y="9525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90" name="turbine-graph-edge-16"/>
          <p:cNvSpPr>
            <a:spLocks noGrp="1"/>
          </p:cNvSpPr>
          <p:nvPr/>
        </p:nvSpPr>
        <p:spPr>
          <a:xfrm>
            <a:off x="4695825" y="6905625"/>
            <a:ext cx="152400" cy="247650"/>
          </a:xfrm>
          <a:custGeom>
            <a:avLst/>
            <a:gdLst/>
            <a:ahLst/>
            <a:cxnLst/>
            <a:pathLst>
              <a:path w="152400" h="247650">
                <a:moveTo>
                  <a:pt x="0" y="0"/>
                </a:moveTo>
                <a:lnTo>
                  <a:pt x="152400" y="247650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91" name="turbine-graph-edge-23"/>
          <p:cNvSpPr>
            <a:spLocks noGrp="1"/>
          </p:cNvSpPr>
          <p:nvPr/>
        </p:nvSpPr>
        <p:spPr>
          <a:xfrm>
            <a:off x="5048250" y="6753225"/>
            <a:ext cx="295275" cy="161925"/>
          </a:xfrm>
          <a:custGeom>
            <a:avLst/>
            <a:gdLst/>
            <a:ahLst/>
            <a:cxnLst/>
            <a:pathLst>
              <a:path w="295275" h="161925">
                <a:moveTo>
                  <a:pt x="0" y="161925"/>
                </a:moveTo>
                <a:lnTo>
                  <a:pt x="295275" y="0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92" name="turbine-graph-edge-25"/>
          <p:cNvSpPr>
            <a:spLocks noGrp="1"/>
          </p:cNvSpPr>
          <p:nvPr/>
        </p:nvSpPr>
        <p:spPr>
          <a:xfrm>
            <a:off x="5048250" y="6915150"/>
            <a:ext cx="142875" cy="266700"/>
          </a:xfrm>
          <a:custGeom>
            <a:avLst/>
            <a:gdLst/>
            <a:ahLst/>
            <a:cxnLst/>
            <a:pathLst>
              <a:path w="142875" h="266700">
                <a:moveTo>
                  <a:pt x="0" y="0"/>
                </a:moveTo>
                <a:lnTo>
                  <a:pt x="142875" y="266700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93" name="turbine-graph-edge-26"/>
          <p:cNvSpPr>
            <a:spLocks noGrp="1"/>
          </p:cNvSpPr>
          <p:nvPr/>
        </p:nvSpPr>
        <p:spPr>
          <a:xfrm>
            <a:off x="4848225" y="6915150"/>
            <a:ext cx="200025" cy="238125"/>
          </a:xfrm>
          <a:custGeom>
            <a:avLst/>
            <a:gdLst/>
            <a:ahLst/>
            <a:cxnLst/>
            <a:pathLst>
              <a:path w="200025" h="238125">
                <a:moveTo>
                  <a:pt x="200025" y="0"/>
                </a:moveTo>
                <a:lnTo>
                  <a:pt x="0" y="238125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94" name="turbine-graph-edge-34"/>
          <p:cNvSpPr>
            <a:spLocks noGrp="1"/>
          </p:cNvSpPr>
          <p:nvPr/>
        </p:nvSpPr>
        <p:spPr>
          <a:xfrm>
            <a:off x="5343525" y="6753225"/>
            <a:ext cx="66675" cy="200025"/>
          </a:xfrm>
          <a:custGeom>
            <a:avLst/>
            <a:gdLst/>
            <a:ahLst/>
            <a:cxnLst/>
            <a:pathLst>
              <a:path w="66675" h="200025">
                <a:moveTo>
                  <a:pt x="0" y="0"/>
                </a:moveTo>
                <a:lnTo>
                  <a:pt x="66675" y="200025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95" name="turbine-graph-edge-45"/>
          <p:cNvSpPr>
            <a:spLocks noGrp="1"/>
          </p:cNvSpPr>
          <p:nvPr/>
        </p:nvSpPr>
        <p:spPr>
          <a:xfrm>
            <a:off x="5191125" y="6953250"/>
            <a:ext cx="219075" cy="228600"/>
          </a:xfrm>
          <a:custGeom>
            <a:avLst/>
            <a:gdLst/>
            <a:ahLst/>
            <a:cxnLst/>
            <a:pathLst>
              <a:path w="219075" h="228600">
                <a:moveTo>
                  <a:pt x="219075" y="0"/>
                </a:moveTo>
                <a:lnTo>
                  <a:pt x="0" y="228600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96" name="turbine-graph-edge-56"/>
          <p:cNvSpPr>
            <a:spLocks noGrp="1"/>
          </p:cNvSpPr>
          <p:nvPr/>
        </p:nvSpPr>
        <p:spPr>
          <a:xfrm>
            <a:off x="4848225" y="7153275"/>
            <a:ext cx="342900" cy="28575"/>
          </a:xfrm>
          <a:custGeom>
            <a:avLst/>
            <a:gdLst/>
            <a:ahLst/>
            <a:cxnLst/>
            <a:pathLst>
              <a:path w="342900" h="28575">
                <a:moveTo>
                  <a:pt x="342900" y="285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97" name="turbine-graph-node-0"/>
          <p:cNvSpPr>
            <a:spLocks noGrp="1"/>
          </p:cNvSpPr>
          <p:nvPr/>
        </p:nvSpPr>
        <p:spPr>
          <a:xfrm>
            <a:off x="4848225" y="6572250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98" name="turbine-graph-node-1"/>
          <p:cNvSpPr>
            <a:spLocks noGrp="1"/>
          </p:cNvSpPr>
          <p:nvPr/>
        </p:nvSpPr>
        <p:spPr>
          <a:xfrm>
            <a:off x="4638675" y="6848475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99" name="turbine-graph-node-2"/>
          <p:cNvSpPr>
            <a:spLocks noGrp="1"/>
          </p:cNvSpPr>
          <p:nvPr/>
        </p:nvSpPr>
        <p:spPr>
          <a:xfrm>
            <a:off x="4991100" y="6858000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100" name="turbine-graph-node-3"/>
          <p:cNvSpPr>
            <a:spLocks noGrp="1"/>
          </p:cNvSpPr>
          <p:nvPr/>
        </p:nvSpPr>
        <p:spPr>
          <a:xfrm>
            <a:off x="5286375" y="6696075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101" name="turbine-graph-node-4"/>
          <p:cNvSpPr>
            <a:spLocks noGrp="1"/>
          </p:cNvSpPr>
          <p:nvPr/>
        </p:nvSpPr>
        <p:spPr>
          <a:xfrm>
            <a:off x="5353050" y="6896100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102" name="turbine-graph-node-5"/>
          <p:cNvSpPr>
            <a:spLocks noGrp="1"/>
          </p:cNvSpPr>
          <p:nvPr/>
        </p:nvSpPr>
        <p:spPr>
          <a:xfrm>
            <a:off x="5133975" y="7124700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103" name="turbine-graph-node-6"/>
          <p:cNvSpPr>
            <a:spLocks noGrp="1"/>
          </p:cNvSpPr>
          <p:nvPr/>
        </p:nvSpPr>
        <p:spPr>
          <a:xfrm>
            <a:off x="4791075" y="7096125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104" name="g-key"/>
          <p:cNvSpPr>
            <a:spLocks noGrp="1"/>
          </p:cNvSpPr>
          <p:nvPr/>
        </p:nvSpPr>
        <p:spPr>
          <a:xfrm>
            <a:off x="4524375" y="7334250"/>
            <a:ext cx="10953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风机节点　→ 空间边</a:t>
            </a:r>
            <a:endParaRPr sz="86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gp3"/>
          <p:cNvSpPr>
            <a:spLocks noGrp="1"/>
          </p:cNvSpPr>
          <p:nvPr/>
        </p:nvSpPr>
        <p:spPr>
          <a:xfrm>
            <a:off x="4333875" y="6915150"/>
            <a:ext cx="114300" cy="19050"/>
          </a:xfrm>
          <a:custGeom>
            <a:avLst/>
            <a:gdLst/>
            <a:ahLst/>
            <a:cxnLst/>
            <a:pathLst>
              <a:path w="114300" h="19050">
                <a:moveTo>
                  <a:pt x="0" y="0"/>
                </a:moveTo>
                <a:lnTo>
                  <a:pt x="114300" y="1905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106" name="gp3-tip"/>
          <p:cNvSpPr>
            <a:spLocks noGrp="1"/>
          </p:cNvSpPr>
          <p:nvPr/>
        </p:nvSpPr>
        <p:spPr>
          <a:xfrm>
            <a:off x="4356726" y="6878767"/>
            <a:ext cx="91449" cy="82680"/>
          </a:xfrm>
          <a:custGeom>
            <a:avLst/>
            <a:gdLst/>
            <a:ahLst/>
            <a:cxnLst/>
            <a:pathLst>
              <a:path w="91449" h="82680">
                <a:moveTo>
                  <a:pt x="91449" y="55433"/>
                </a:moveTo>
                <a:lnTo>
                  <a:pt x="13780" y="0"/>
                </a:lnTo>
                <a:lnTo>
                  <a:pt x="0" y="8268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07" name="input-graph"/>
          <p:cNvSpPr>
            <a:spLocks noGrp="1"/>
          </p:cNvSpPr>
          <p:nvPr/>
        </p:nvSpPr>
        <p:spPr>
          <a:xfrm>
            <a:off x="2095500" y="3886200"/>
            <a:ext cx="228600" cy="3028950"/>
          </a:xfrm>
          <a:custGeom>
            <a:avLst/>
            <a:gdLst/>
            <a:ahLst/>
            <a:cxnLst/>
            <a:pathLst>
              <a:path w="228600" h="3028950">
                <a:moveTo>
                  <a:pt x="0" y="0"/>
                </a:moveTo>
                <a:lnTo>
                  <a:pt x="0" y="3028950"/>
                </a:lnTo>
                <a:lnTo>
                  <a:pt x="228600" y="302895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108" name="input-graph-tip"/>
          <p:cNvSpPr>
            <a:spLocks noGrp="1"/>
          </p:cNvSpPr>
          <p:nvPr/>
        </p:nvSpPr>
        <p:spPr>
          <a:xfrm>
            <a:off x="2238375" y="68732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09" name="encoding"/>
          <p:cNvSpPr>
            <a:spLocks noGrp="1"/>
          </p:cNvSpPr>
          <p:nvPr/>
        </p:nvSpPr>
        <p:spPr>
          <a:xfrm>
            <a:off x="5905500" y="2076450"/>
            <a:ext cx="1219200" cy="5086350"/>
          </a:xfrm>
          <a:prstGeom prst="roundRect">
            <a:avLst>
              <a:gd name="adj" fmla="val 5469"/>
            </a:avLst>
          </a:prstGeom>
          <a:solidFill>
            <a:srgbClr val="F7FBFF"/>
          </a:solidFill>
          <a:ln w="9525">
            <a:solidFill>
              <a:srgbClr val="AAA5F4"/>
            </a:solidFill>
            <a:prstDash val="solid"/>
          </a:ln>
        </p:spPr>
      </p:sp>
      <p:sp>
        <p:nvSpPr>
          <p:cNvPr id="110" name="encoding-title"/>
          <p:cNvSpPr>
            <a:spLocks noGrp="1"/>
          </p:cNvSpPr>
          <p:nvPr/>
        </p:nvSpPr>
        <p:spPr>
          <a:xfrm>
            <a:off x="5981700" y="2114550"/>
            <a:ext cx="1066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时空编码</a:t>
            </a:r>
            <a:endParaRPr sz="157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8" name="图片 487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00775" y="2531265"/>
            <a:ext cx="600075" cy="147644"/>
          </a:xfrm>
          <a:prstGeom prst="rect">
            <a:avLst/>
          </a:prstGeom>
        </p:spPr>
      </p:pic>
      <p:sp>
        <p:nvSpPr>
          <p:cNvPr id="112" name="gat-frame"/>
          <p:cNvSpPr>
            <a:spLocks noGrp="1"/>
          </p:cNvSpPr>
          <p:nvPr/>
        </p:nvSpPr>
        <p:spPr>
          <a:xfrm>
            <a:off x="6048375" y="2952750"/>
            <a:ext cx="923925" cy="952500"/>
          </a:xfrm>
          <a:prstGeom prst="roundRect">
            <a:avLst>
              <a:gd name="adj" fmla="val 4124"/>
            </a:avLst>
          </a:prstGeom>
          <a:solidFill>
            <a:srgbClr val="F7FC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113" name="gat"/>
          <p:cNvSpPr>
            <a:spLocks noGrp="1"/>
          </p:cNvSpPr>
          <p:nvPr/>
        </p:nvSpPr>
        <p:spPr>
          <a:xfrm>
            <a:off x="6076950" y="2962275"/>
            <a:ext cx="857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图注意力网络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gat-icon-edge-01"/>
          <p:cNvSpPr>
            <a:spLocks noGrp="1"/>
          </p:cNvSpPr>
          <p:nvPr/>
        </p:nvSpPr>
        <p:spPr>
          <a:xfrm>
            <a:off x="6229350" y="3448050"/>
            <a:ext cx="190500" cy="228600"/>
          </a:xfrm>
          <a:custGeom>
            <a:avLst/>
            <a:gdLst/>
            <a:ahLst/>
            <a:cxnLst/>
            <a:pathLst>
              <a:path w="190500" h="228600">
                <a:moveTo>
                  <a:pt x="0" y="22860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115" name="gat-icon-edge-03"/>
          <p:cNvSpPr>
            <a:spLocks noGrp="1"/>
          </p:cNvSpPr>
          <p:nvPr/>
        </p:nvSpPr>
        <p:spPr>
          <a:xfrm>
            <a:off x="6229350" y="3676650"/>
            <a:ext cx="285750" cy="85725"/>
          </a:xfrm>
          <a:custGeom>
            <a:avLst/>
            <a:gdLst/>
            <a:ahLst/>
            <a:cxnLst/>
            <a:pathLst>
              <a:path w="285750" h="85725">
                <a:moveTo>
                  <a:pt x="0" y="0"/>
                </a:moveTo>
                <a:lnTo>
                  <a:pt x="285750" y="85725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116" name="gat-icon-edge-12"/>
          <p:cNvSpPr>
            <a:spLocks noGrp="1"/>
          </p:cNvSpPr>
          <p:nvPr/>
        </p:nvSpPr>
        <p:spPr>
          <a:xfrm>
            <a:off x="6419850" y="3448050"/>
            <a:ext cx="276225" cy="85725"/>
          </a:xfrm>
          <a:custGeom>
            <a:avLst/>
            <a:gdLst/>
            <a:ahLst/>
            <a:cxnLst/>
            <a:pathLst>
              <a:path w="276225" h="85725">
                <a:moveTo>
                  <a:pt x="0" y="0"/>
                </a:moveTo>
                <a:lnTo>
                  <a:pt x="276225" y="85725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117" name="gat-icon-edge-13"/>
          <p:cNvSpPr>
            <a:spLocks noGrp="1"/>
          </p:cNvSpPr>
          <p:nvPr/>
        </p:nvSpPr>
        <p:spPr>
          <a:xfrm>
            <a:off x="6419850" y="3448050"/>
            <a:ext cx="95250" cy="314325"/>
          </a:xfrm>
          <a:custGeom>
            <a:avLst/>
            <a:gdLst/>
            <a:ahLst/>
            <a:cxnLst/>
            <a:pathLst>
              <a:path w="95250" h="314325">
                <a:moveTo>
                  <a:pt x="0" y="0"/>
                </a:moveTo>
                <a:lnTo>
                  <a:pt x="95250" y="314325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118" name="gat-icon-edge-23"/>
          <p:cNvSpPr>
            <a:spLocks noGrp="1"/>
          </p:cNvSpPr>
          <p:nvPr/>
        </p:nvSpPr>
        <p:spPr>
          <a:xfrm>
            <a:off x="6515100" y="3533775"/>
            <a:ext cx="180975" cy="228600"/>
          </a:xfrm>
          <a:custGeom>
            <a:avLst/>
            <a:gdLst/>
            <a:ahLst/>
            <a:cxnLst/>
            <a:pathLst>
              <a:path w="180975" h="228600">
                <a:moveTo>
                  <a:pt x="180975" y="0"/>
                </a:moveTo>
                <a:lnTo>
                  <a:pt x="0" y="228600"/>
                </a:lnTo>
              </a:path>
            </a:pathLst>
          </a:custGeom>
          <a:noFill/>
          <a:ln w="9525">
            <a:solidFill>
              <a:srgbClr val="0078C9"/>
            </a:solidFill>
            <a:prstDash val="solid"/>
          </a:ln>
        </p:spPr>
      </p:sp>
      <p:sp>
        <p:nvSpPr>
          <p:cNvPr id="119" name="gat-icon-node-0"/>
          <p:cNvSpPr>
            <a:spLocks noGrp="1"/>
          </p:cNvSpPr>
          <p:nvPr/>
        </p:nvSpPr>
        <p:spPr>
          <a:xfrm>
            <a:off x="6172200" y="3619500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120" name="gat-icon-node-1"/>
          <p:cNvSpPr>
            <a:spLocks noGrp="1"/>
          </p:cNvSpPr>
          <p:nvPr/>
        </p:nvSpPr>
        <p:spPr>
          <a:xfrm>
            <a:off x="6362700" y="3390900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121" name="gat-icon-node-2"/>
          <p:cNvSpPr>
            <a:spLocks noGrp="1"/>
          </p:cNvSpPr>
          <p:nvPr/>
        </p:nvSpPr>
        <p:spPr>
          <a:xfrm>
            <a:off x="6638925" y="3476625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122" name="gat-icon-node-3"/>
          <p:cNvSpPr>
            <a:spLocks noGrp="1"/>
          </p:cNvSpPr>
          <p:nvPr/>
        </p:nvSpPr>
        <p:spPr>
          <a:xfrm>
            <a:off x="6457950" y="3705225"/>
            <a:ext cx="114300" cy="114300"/>
          </a:xfrm>
          <a:prstGeom prst="ellipse">
            <a:avLst/>
          </a:prstGeom>
          <a:solidFill>
            <a:srgbClr val="88BFF7"/>
          </a:solidFill>
          <a:ln w="10478">
            <a:solidFill>
              <a:srgbClr val="1F5DD8"/>
            </a:solidFill>
          </a:ln>
        </p:spPr>
      </p:sp>
      <p:sp>
        <p:nvSpPr>
          <p:cNvPr id="123" name="xg-gat"/>
          <p:cNvSpPr>
            <a:spLocks noGrp="1"/>
          </p:cNvSpPr>
          <p:nvPr/>
        </p:nvSpPr>
        <p:spPr>
          <a:xfrm>
            <a:off x="6515100" y="2743200"/>
            <a:ext cx="953" cy="180975"/>
          </a:xfrm>
          <a:custGeom>
            <a:avLst/>
            <a:gdLst/>
            <a:ahLst/>
            <a:cxnLst/>
            <a:pathLst>
              <a:path w="953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7145">
            <a:solidFill>
              <a:srgbClr val="0078C9"/>
            </a:solidFill>
            <a:prstDash val="solid"/>
          </a:ln>
        </p:spPr>
      </p:sp>
      <p:sp>
        <p:nvSpPr>
          <p:cNvPr id="124" name="xg-gat-tip"/>
          <p:cNvSpPr>
            <a:spLocks noGrp="1"/>
          </p:cNvSpPr>
          <p:nvPr/>
        </p:nvSpPr>
        <p:spPr>
          <a:xfrm>
            <a:off x="6473571" y="2839403"/>
            <a:ext cx="83058" cy="84772"/>
          </a:xfrm>
          <a:custGeom>
            <a:avLst/>
            <a:gdLst/>
            <a:ahLst/>
            <a:cxnLst/>
            <a:pathLst>
              <a:path w="83058" h="84772">
                <a:moveTo>
                  <a:pt x="41529" y="84772"/>
                </a:moveTo>
                <a:lnTo>
                  <a:pt x="8305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25" name="gat-desc"/>
          <p:cNvSpPr>
            <a:spLocks noGrp="1"/>
          </p:cNvSpPr>
          <p:nvPr/>
        </p:nvSpPr>
        <p:spPr>
          <a:xfrm>
            <a:off x="6057900" y="3971925"/>
            <a:ext cx="914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聚合相关风机</a:t>
            </a:r>
            <a:endParaRPr sz="1050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空间信息</a:t>
            </a:r>
            <a:endParaRPr sz="1050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conv1d-frame"/>
          <p:cNvSpPr>
            <a:spLocks noGrp="1"/>
          </p:cNvSpPr>
          <p:nvPr/>
        </p:nvSpPr>
        <p:spPr>
          <a:xfrm>
            <a:off x="6048375" y="4514850"/>
            <a:ext cx="933450" cy="781050"/>
          </a:xfrm>
          <a:prstGeom prst="roundRect">
            <a:avLst>
              <a:gd name="adj" fmla="val 4878"/>
            </a:avLst>
          </a:prstGeom>
          <a:solidFill>
            <a:srgbClr val="EFF8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127" name="conv1d"/>
          <p:cNvSpPr>
            <a:spLocks noGrp="1"/>
          </p:cNvSpPr>
          <p:nvPr/>
        </p:nvSpPr>
        <p:spPr>
          <a:xfrm>
            <a:off x="6057900" y="45243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一维卷积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Conv1D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conv-grid-top"/>
          <p:cNvSpPr>
            <a:spLocks noGrp="1"/>
          </p:cNvSpPr>
          <p:nvPr/>
        </p:nvSpPr>
        <p:spPr>
          <a:xfrm>
            <a:off x="6172200" y="4924425"/>
            <a:ext cx="600075" cy="142875"/>
          </a:xfrm>
          <a:custGeom>
            <a:avLst/>
            <a:gdLst/>
            <a:ahLst/>
            <a:cxnLst/>
            <a:pathLst>
              <a:path w="600075" h="142875">
                <a:moveTo>
                  <a:pt x="0" y="142875"/>
                </a:moveTo>
                <a:lnTo>
                  <a:pt x="142875" y="0"/>
                </a:lnTo>
                <a:lnTo>
                  <a:pt x="600075" y="0"/>
                </a:lnTo>
                <a:lnTo>
                  <a:pt x="457200" y="142875"/>
                </a:lnTo>
                <a:close/>
              </a:path>
            </a:pathLst>
          </a:custGeom>
          <a:solidFill>
            <a:srgbClr val="D7EFFD"/>
          </a:solidFill>
          <a:ln w="7620">
            <a:solidFill>
              <a:srgbClr val="0078C9"/>
            </a:solidFill>
          </a:ln>
        </p:spPr>
      </p:sp>
      <p:sp>
        <p:nvSpPr>
          <p:cNvPr id="129" name="conv-grid-side"/>
          <p:cNvSpPr>
            <a:spLocks noGrp="1"/>
          </p:cNvSpPr>
          <p:nvPr/>
        </p:nvSpPr>
        <p:spPr>
          <a:xfrm>
            <a:off x="6629400" y="4924425"/>
            <a:ext cx="142875" cy="257175"/>
          </a:xfrm>
          <a:custGeom>
            <a:avLst/>
            <a:gdLst/>
            <a:ahLst/>
            <a:cxnLst/>
            <a:pathLst>
              <a:path w="142875" h="257175">
                <a:moveTo>
                  <a:pt x="0" y="142875"/>
                </a:moveTo>
                <a:lnTo>
                  <a:pt x="142875" y="0"/>
                </a:lnTo>
                <a:lnTo>
                  <a:pt x="142875" y="114300"/>
                </a:lnTo>
                <a:lnTo>
                  <a:pt x="0" y="257175"/>
                </a:lnTo>
                <a:close/>
              </a:path>
            </a:pathLst>
          </a:custGeom>
          <a:solidFill>
            <a:srgbClr val="B6EBC9"/>
          </a:solidFill>
          <a:ln w="7620">
            <a:solidFill>
              <a:srgbClr val="0078C9"/>
            </a:solidFill>
          </a:ln>
        </p:spPr>
      </p:sp>
      <p:sp>
        <p:nvSpPr>
          <p:cNvPr id="130" name="conv-grid-0-0"/>
          <p:cNvSpPr>
            <a:spLocks noGrp="1"/>
          </p:cNvSpPr>
          <p:nvPr/>
        </p:nvSpPr>
        <p:spPr>
          <a:xfrm>
            <a:off x="6172200" y="5067300"/>
            <a:ext cx="114300" cy="114300"/>
          </a:xfrm>
          <a:prstGeom prst="rect">
            <a:avLst/>
          </a:prstGeom>
          <a:solidFill>
            <a:srgbClr val="F6E8A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31" name="conv-grid-1-0"/>
          <p:cNvSpPr>
            <a:spLocks noGrp="1"/>
          </p:cNvSpPr>
          <p:nvPr/>
        </p:nvSpPr>
        <p:spPr>
          <a:xfrm>
            <a:off x="6286500" y="5067300"/>
            <a:ext cx="114300" cy="11430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32" name="conv-grid-2-0"/>
          <p:cNvSpPr>
            <a:spLocks noGrp="1"/>
          </p:cNvSpPr>
          <p:nvPr/>
        </p:nvSpPr>
        <p:spPr>
          <a:xfrm>
            <a:off x="6400800" y="5067300"/>
            <a:ext cx="114300" cy="11430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33" name="conv-grid-3-0"/>
          <p:cNvSpPr>
            <a:spLocks noGrp="1"/>
          </p:cNvSpPr>
          <p:nvPr/>
        </p:nvSpPr>
        <p:spPr>
          <a:xfrm>
            <a:off x="6515100" y="5067300"/>
            <a:ext cx="114300" cy="114300"/>
          </a:xfrm>
          <a:prstGeom prst="rect">
            <a:avLst/>
          </a:prstGeom>
          <a:solidFill>
            <a:srgbClr val="F6E8A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34" name="conv-grid-topgrid-1"/>
          <p:cNvSpPr>
            <a:spLocks noGrp="1"/>
          </p:cNvSpPr>
          <p:nvPr/>
        </p:nvSpPr>
        <p:spPr>
          <a:xfrm>
            <a:off x="6286500" y="4924425"/>
            <a:ext cx="142875" cy="142875"/>
          </a:xfrm>
          <a:custGeom>
            <a:avLst/>
            <a:gdLst/>
            <a:ahLst/>
            <a:cxnLst/>
            <a:pathLst>
              <a:path w="142875" h="142875">
                <a:moveTo>
                  <a:pt x="0" y="142875"/>
                </a:moveTo>
                <a:lnTo>
                  <a:pt x="14287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135" name="conv-grid-topgrid-2"/>
          <p:cNvSpPr>
            <a:spLocks noGrp="1"/>
          </p:cNvSpPr>
          <p:nvPr/>
        </p:nvSpPr>
        <p:spPr>
          <a:xfrm>
            <a:off x="6400800" y="4924425"/>
            <a:ext cx="142875" cy="142875"/>
          </a:xfrm>
          <a:custGeom>
            <a:avLst/>
            <a:gdLst/>
            <a:ahLst/>
            <a:cxnLst/>
            <a:pathLst>
              <a:path w="142875" h="142875">
                <a:moveTo>
                  <a:pt x="0" y="142875"/>
                </a:moveTo>
                <a:lnTo>
                  <a:pt x="14287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136" name="conv-grid-topgrid-3"/>
          <p:cNvSpPr>
            <a:spLocks noGrp="1"/>
          </p:cNvSpPr>
          <p:nvPr/>
        </p:nvSpPr>
        <p:spPr>
          <a:xfrm>
            <a:off x="6515100" y="4924425"/>
            <a:ext cx="142875" cy="142875"/>
          </a:xfrm>
          <a:custGeom>
            <a:avLst/>
            <a:gdLst/>
            <a:ahLst/>
            <a:cxnLst/>
            <a:pathLst>
              <a:path w="142875" h="142875">
                <a:moveTo>
                  <a:pt x="0" y="142875"/>
                </a:moveTo>
                <a:lnTo>
                  <a:pt x="14287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137" name="gat-conv"/>
          <p:cNvSpPr>
            <a:spLocks noGrp="1"/>
          </p:cNvSpPr>
          <p:nvPr/>
        </p:nvSpPr>
        <p:spPr>
          <a:xfrm>
            <a:off x="6515100" y="4286250"/>
            <a:ext cx="953" cy="200025"/>
          </a:xfrm>
          <a:custGeom>
            <a:avLst/>
            <a:gdLst/>
            <a:ahLst/>
            <a:cxnLst/>
            <a:pathLst>
              <a:path w="953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7145">
            <a:solidFill>
              <a:srgbClr val="0078C9"/>
            </a:solidFill>
            <a:prstDash val="solid"/>
          </a:ln>
        </p:spPr>
      </p:sp>
      <p:sp>
        <p:nvSpPr>
          <p:cNvPr id="138" name="gat-conv-tip"/>
          <p:cNvSpPr>
            <a:spLocks noGrp="1"/>
          </p:cNvSpPr>
          <p:nvPr/>
        </p:nvSpPr>
        <p:spPr>
          <a:xfrm>
            <a:off x="6473571" y="4401503"/>
            <a:ext cx="83058" cy="84772"/>
          </a:xfrm>
          <a:custGeom>
            <a:avLst/>
            <a:gdLst/>
            <a:ahLst/>
            <a:cxnLst/>
            <a:pathLst>
              <a:path w="83058" h="84772">
                <a:moveTo>
                  <a:pt x="41529" y="84772"/>
                </a:moveTo>
                <a:lnTo>
                  <a:pt x="8305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39" name="conv-desc"/>
          <p:cNvSpPr>
            <a:spLocks noGrp="1"/>
          </p:cNvSpPr>
          <p:nvPr/>
        </p:nvSpPr>
        <p:spPr>
          <a:xfrm>
            <a:off x="5962650" y="5334000"/>
            <a:ext cx="10572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提取局部时间模式</a:t>
            </a:r>
            <a:endParaRPr sz="1000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conv-repr"/>
          <p:cNvSpPr>
            <a:spLocks noGrp="1"/>
          </p:cNvSpPr>
          <p:nvPr/>
        </p:nvSpPr>
        <p:spPr>
          <a:xfrm>
            <a:off x="6515100" y="5581650"/>
            <a:ext cx="953" cy="219075"/>
          </a:xfrm>
          <a:custGeom>
            <a:avLst/>
            <a:gdLst/>
            <a:ahLst/>
            <a:cxnLst/>
            <a:pathLst>
              <a:path w="953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7145">
            <a:solidFill>
              <a:srgbClr val="0078C9"/>
            </a:solidFill>
            <a:prstDash val="solid"/>
          </a:ln>
        </p:spPr>
      </p:sp>
      <p:sp>
        <p:nvSpPr>
          <p:cNvPr id="141" name="conv-repr-tip"/>
          <p:cNvSpPr>
            <a:spLocks noGrp="1"/>
          </p:cNvSpPr>
          <p:nvPr/>
        </p:nvSpPr>
        <p:spPr>
          <a:xfrm>
            <a:off x="6473571" y="5715953"/>
            <a:ext cx="83058" cy="84772"/>
          </a:xfrm>
          <a:custGeom>
            <a:avLst/>
            <a:gdLst/>
            <a:ahLst/>
            <a:cxnLst/>
            <a:pathLst>
              <a:path w="83058" h="84772">
                <a:moveTo>
                  <a:pt x="41529" y="84772"/>
                </a:moveTo>
                <a:lnTo>
                  <a:pt x="8305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42" name="repr-label"/>
          <p:cNvSpPr>
            <a:spLocks noGrp="1"/>
          </p:cNvSpPr>
          <p:nvPr/>
        </p:nvSpPr>
        <p:spPr>
          <a:xfrm>
            <a:off x="6057900" y="5800725"/>
            <a:ext cx="933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时空表示</a:t>
            </a:r>
            <a:endParaRPr sz="150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0" name="图片 519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24541" y="6067425"/>
            <a:ext cx="362069" cy="247650"/>
          </a:xfrm>
          <a:prstGeom prst="rect">
            <a:avLst/>
          </a:prstGeom>
        </p:spPr>
      </p:pic>
      <p:sp>
        <p:nvSpPr>
          <p:cNvPr id="144" name="input-tensor-top"/>
          <p:cNvSpPr>
            <a:spLocks noGrp="1"/>
          </p:cNvSpPr>
          <p:nvPr/>
        </p:nvSpPr>
        <p:spPr>
          <a:xfrm>
            <a:off x="6257925" y="6324600"/>
            <a:ext cx="619125" cy="161925"/>
          </a:xfrm>
          <a:custGeom>
            <a:avLst/>
            <a:gdLst/>
            <a:ahLst/>
            <a:cxnLst/>
            <a:pathLst>
              <a:path w="619125" h="161925">
                <a:moveTo>
                  <a:pt x="0" y="161925"/>
                </a:moveTo>
                <a:lnTo>
                  <a:pt x="161925" y="0"/>
                </a:lnTo>
                <a:lnTo>
                  <a:pt x="619125" y="0"/>
                </a:lnTo>
                <a:lnTo>
                  <a:pt x="457200" y="161925"/>
                </a:lnTo>
                <a:close/>
              </a:path>
            </a:pathLst>
          </a:custGeom>
          <a:solidFill>
            <a:srgbClr val="D7EFFD"/>
          </a:solidFill>
          <a:ln w="7620">
            <a:solidFill>
              <a:srgbClr val="0078C9"/>
            </a:solidFill>
          </a:ln>
        </p:spPr>
      </p:sp>
      <p:sp>
        <p:nvSpPr>
          <p:cNvPr id="145" name="input-tensor-side"/>
          <p:cNvSpPr>
            <a:spLocks noGrp="1"/>
          </p:cNvSpPr>
          <p:nvPr/>
        </p:nvSpPr>
        <p:spPr>
          <a:xfrm>
            <a:off x="6715125" y="6324600"/>
            <a:ext cx="161925" cy="504825"/>
          </a:xfrm>
          <a:custGeom>
            <a:avLst/>
            <a:gdLst/>
            <a:ahLst/>
            <a:cxnLst/>
            <a:pathLst>
              <a:path w="161925" h="504825">
                <a:moveTo>
                  <a:pt x="0" y="161925"/>
                </a:moveTo>
                <a:lnTo>
                  <a:pt x="161925" y="0"/>
                </a:lnTo>
                <a:lnTo>
                  <a:pt x="161925" y="342900"/>
                </a:lnTo>
                <a:lnTo>
                  <a:pt x="0" y="504825"/>
                </a:lnTo>
                <a:close/>
              </a:path>
            </a:pathLst>
          </a:custGeom>
          <a:solidFill>
            <a:srgbClr val="B6EBC9"/>
          </a:solidFill>
          <a:ln w="7620">
            <a:solidFill>
              <a:srgbClr val="0078C9"/>
            </a:solidFill>
          </a:ln>
        </p:spPr>
      </p:sp>
      <p:sp>
        <p:nvSpPr>
          <p:cNvPr id="146" name="input-tensor-0-0"/>
          <p:cNvSpPr>
            <a:spLocks noGrp="1"/>
          </p:cNvSpPr>
          <p:nvPr/>
        </p:nvSpPr>
        <p:spPr>
          <a:xfrm>
            <a:off x="6257925" y="6486525"/>
            <a:ext cx="114300" cy="114300"/>
          </a:xfrm>
          <a:prstGeom prst="rect">
            <a:avLst/>
          </a:prstGeom>
          <a:solidFill>
            <a:srgbClr val="F6E8A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47" name="input-tensor-0-1"/>
          <p:cNvSpPr>
            <a:spLocks noGrp="1"/>
          </p:cNvSpPr>
          <p:nvPr/>
        </p:nvSpPr>
        <p:spPr>
          <a:xfrm>
            <a:off x="6257925" y="6600825"/>
            <a:ext cx="114300" cy="11430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48" name="input-tensor-0-2"/>
          <p:cNvSpPr>
            <a:spLocks noGrp="1"/>
          </p:cNvSpPr>
          <p:nvPr/>
        </p:nvSpPr>
        <p:spPr>
          <a:xfrm>
            <a:off x="6257925" y="6715125"/>
            <a:ext cx="114300" cy="11430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49" name="input-tensor-1-0"/>
          <p:cNvSpPr>
            <a:spLocks noGrp="1"/>
          </p:cNvSpPr>
          <p:nvPr/>
        </p:nvSpPr>
        <p:spPr>
          <a:xfrm>
            <a:off x="6372225" y="6486525"/>
            <a:ext cx="114300" cy="11430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50" name="input-tensor-1-1"/>
          <p:cNvSpPr>
            <a:spLocks noGrp="1"/>
          </p:cNvSpPr>
          <p:nvPr/>
        </p:nvSpPr>
        <p:spPr>
          <a:xfrm>
            <a:off x="6372225" y="6600825"/>
            <a:ext cx="114300" cy="11430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51" name="input-tensor-1-2"/>
          <p:cNvSpPr>
            <a:spLocks noGrp="1"/>
          </p:cNvSpPr>
          <p:nvPr/>
        </p:nvSpPr>
        <p:spPr>
          <a:xfrm>
            <a:off x="6372225" y="6715125"/>
            <a:ext cx="114300" cy="114300"/>
          </a:xfrm>
          <a:prstGeom prst="rect">
            <a:avLst/>
          </a:prstGeom>
          <a:solidFill>
            <a:srgbClr val="F6E8A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52" name="input-tensor-2-0"/>
          <p:cNvSpPr>
            <a:spLocks noGrp="1"/>
          </p:cNvSpPr>
          <p:nvPr/>
        </p:nvSpPr>
        <p:spPr>
          <a:xfrm>
            <a:off x="6486525" y="6486525"/>
            <a:ext cx="114300" cy="11430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53" name="input-tensor-2-1"/>
          <p:cNvSpPr>
            <a:spLocks noGrp="1"/>
          </p:cNvSpPr>
          <p:nvPr/>
        </p:nvSpPr>
        <p:spPr>
          <a:xfrm>
            <a:off x="6486525" y="6600825"/>
            <a:ext cx="114300" cy="114300"/>
          </a:xfrm>
          <a:prstGeom prst="rect">
            <a:avLst/>
          </a:prstGeom>
          <a:solidFill>
            <a:srgbClr val="F6E8A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54" name="input-tensor-2-2"/>
          <p:cNvSpPr>
            <a:spLocks noGrp="1"/>
          </p:cNvSpPr>
          <p:nvPr/>
        </p:nvSpPr>
        <p:spPr>
          <a:xfrm>
            <a:off x="6486525" y="6715125"/>
            <a:ext cx="114300" cy="11430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55" name="input-tensor-3-0"/>
          <p:cNvSpPr>
            <a:spLocks noGrp="1"/>
          </p:cNvSpPr>
          <p:nvPr/>
        </p:nvSpPr>
        <p:spPr>
          <a:xfrm>
            <a:off x="6600825" y="6486525"/>
            <a:ext cx="114300" cy="114300"/>
          </a:xfrm>
          <a:prstGeom prst="rect">
            <a:avLst/>
          </a:prstGeom>
          <a:solidFill>
            <a:srgbClr val="F6E8A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56" name="input-tensor-3-1"/>
          <p:cNvSpPr>
            <a:spLocks noGrp="1"/>
          </p:cNvSpPr>
          <p:nvPr/>
        </p:nvSpPr>
        <p:spPr>
          <a:xfrm>
            <a:off x="6600825" y="6600825"/>
            <a:ext cx="114300" cy="11430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57" name="input-tensor-3-2"/>
          <p:cNvSpPr>
            <a:spLocks noGrp="1"/>
          </p:cNvSpPr>
          <p:nvPr/>
        </p:nvSpPr>
        <p:spPr>
          <a:xfrm>
            <a:off x="6600825" y="6715125"/>
            <a:ext cx="114300" cy="11430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158" name="input-tensor-topgrid-1"/>
          <p:cNvSpPr>
            <a:spLocks noGrp="1"/>
          </p:cNvSpPr>
          <p:nvPr/>
        </p:nvSpPr>
        <p:spPr>
          <a:xfrm>
            <a:off x="6372225" y="6324600"/>
            <a:ext cx="161925" cy="161925"/>
          </a:xfrm>
          <a:custGeom>
            <a:avLst/>
            <a:gdLst/>
            <a:ahLst/>
            <a:cxnLst/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159" name="input-tensor-topgrid-2"/>
          <p:cNvSpPr>
            <a:spLocks noGrp="1"/>
          </p:cNvSpPr>
          <p:nvPr/>
        </p:nvSpPr>
        <p:spPr>
          <a:xfrm>
            <a:off x="6486525" y="6324600"/>
            <a:ext cx="161925" cy="161925"/>
          </a:xfrm>
          <a:custGeom>
            <a:avLst/>
            <a:gdLst/>
            <a:ahLst/>
            <a:cxnLst/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160" name="input-tensor-topgrid-3"/>
          <p:cNvSpPr>
            <a:spLocks noGrp="1"/>
          </p:cNvSpPr>
          <p:nvPr/>
        </p:nvSpPr>
        <p:spPr>
          <a:xfrm>
            <a:off x="6600825" y="6324600"/>
            <a:ext cx="161925" cy="161925"/>
          </a:xfrm>
          <a:custGeom>
            <a:avLst/>
            <a:gdLst/>
            <a:ahLst/>
            <a:cxnLst/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161" name="input-tensor-sidegrid-1"/>
          <p:cNvSpPr>
            <a:spLocks noGrp="1"/>
          </p:cNvSpPr>
          <p:nvPr/>
        </p:nvSpPr>
        <p:spPr>
          <a:xfrm>
            <a:off x="6715125" y="6438900"/>
            <a:ext cx="161925" cy="161925"/>
          </a:xfrm>
          <a:custGeom>
            <a:avLst/>
            <a:gdLst/>
            <a:ahLst/>
            <a:cxnLst/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162" name="input-tensor-sidegrid-2"/>
          <p:cNvSpPr>
            <a:spLocks noGrp="1"/>
          </p:cNvSpPr>
          <p:nvPr/>
        </p:nvSpPr>
        <p:spPr>
          <a:xfrm>
            <a:off x="6715125" y="6553200"/>
            <a:ext cx="161925" cy="161925"/>
          </a:xfrm>
          <a:custGeom>
            <a:avLst/>
            <a:gdLst/>
            <a:ahLst/>
            <a:cxnLst/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163" name="tensor-N"/>
          <p:cNvSpPr>
            <a:spLocks noGrp="1"/>
          </p:cNvSpPr>
          <p:nvPr/>
        </p:nvSpPr>
        <p:spPr>
          <a:xfrm>
            <a:off x="6467475" y="6924675"/>
            <a:ext cx="1809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0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tensor-T"/>
          <p:cNvSpPr>
            <a:spLocks noGrp="1"/>
          </p:cNvSpPr>
          <p:nvPr/>
        </p:nvSpPr>
        <p:spPr>
          <a:xfrm>
            <a:off x="6838950" y="6734175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0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tensor-F"/>
          <p:cNvSpPr>
            <a:spLocks noGrp="1"/>
          </p:cNvSpPr>
          <p:nvPr/>
        </p:nvSpPr>
        <p:spPr>
          <a:xfrm>
            <a:off x="6048375" y="6534150"/>
            <a:ext cx="133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0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feds-encoding"/>
          <p:cNvSpPr>
            <a:spLocks noGrp="1"/>
          </p:cNvSpPr>
          <p:nvPr/>
        </p:nvSpPr>
        <p:spPr>
          <a:xfrm>
            <a:off x="5715000" y="3857625"/>
            <a:ext cx="190500" cy="866775"/>
          </a:xfrm>
          <a:custGeom>
            <a:avLst/>
            <a:gdLst/>
            <a:ahLst/>
            <a:cxnLst/>
            <a:pathLst>
              <a:path w="190500" h="866775">
                <a:moveTo>
                  <a:pt x="0" y="866775"/>
                </a:moveTo>
                <a:lnTo>
                  <a:pt x="66675" y="866775"/>
                </a:lnTo>
                <a:lnTo>
                  <a:pt x="66675" y="0"/>
                </a:lnTo>
                <a:lnTo>
                  <a:pt x="190500" y="0"/>
                </a:lnTo>
              </a:path>
            </a:pathLst>
          </a:custGeom>
          <a:noFill/>
          <a:ln w="23813">
            <a:solidFill>
              <a:srgbClr val="00A344"/>
            </a:solidFill>
            <a:prstDash val="solid"/>
          </a:ln>
        </p:spPr>
      </p:sp>
      <p:sp>
        <p:nvSpPr>
          <p:cNvPr id="167" name="feds-encoding-tip"/>
          <p:cNvSpPr>
            <a:spLocks noGrp="1"/>
          </p:cNvSpPr>
          <p:nvPr/>
        </p:nvSpPr>
        <p:spPr>
          <a:xfrm>
            <a:off x="5817394" y="3814763"/>
            <a:ext cx="88106" cy="85725"/>
          </a:xfrm>
          <a:custGeom>
            <a:avLst/>
            <a:gdLst/>
            <a:ahLst/>
            <a:cxnLst/>
            <a:pathLst>
              <a:path w="88106" h="85725">
                <a:moveTo>
                  <a:pt x="88106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168" name="graph-encoding"/>
          <p:cNvSpPr>
            <a:spLocks noGrp="1"/>
          </p:cNvSpPr>
          <p:nvPr/>
        </p:nvSpPr>
        <p:spPr>
          <a:xfrm>
            <a:off x="5686425" y="6648450"/>
            <a:ext cx="228600" cy="953"/>
          </a:xfrm>
          <a:custGeom>
            <a:avLst/>
            <a:gdLst/>
            <a:ahLst/>
            <a:cxnLst/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169" name="graph-encoding-tip"/>
          <p:cNvSpPr>
            <a:spLocks noGrp="1"/>
          </p:cNvSpPr>
          <p:nvPr/>
        </p:nvSpPr>
        <p:spPr>
          <a:xfrm>
            <a:off x="5829300" y="66065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70" name="core"/>
          <p:cNvSpPr>
            <a:spLocks noGrp="1"/>
          </p:cNvSpPr>
          <p:nvPr/>
        </p:nvSpPr>
        <p:spPr>
          <a:xfrm>
            <a:off x="7181850" y="2076450"/>
            <a:ext cx="6257925" cy="4972050"/>
          </a:xfrm>
          <a:prstGeom prst="roundRect">
            <a:avLst>
              <a:gd name="adj" fmla="val 1341"/>
            </a:avLst>
          </a:prstGeom>
          <a:solidFill>
            <a:srgbClr val="F7F3FF"/>
          </a:solidFill>
          <a:ln w="9525">
            <a:solidFill>
              <a:srgbClr val="AA8AF8"/>
            </a:solidFill>
            <a:prstDash val="solid"/>
          </a:ln>
        </p:spPr>
      </p:sp>
      <p:sp>
        <p:nvSpPr>
          <p:cNvPr id="171" name="core-title"/>
          <p:cNvSpPr>
            <a:spLocks noGrp="1"/>
          </p:cNvSpPr>
          <p:nvPr/>
        </p:nvSpPr>
        <p:spPr>
          <a:xfrm>
            <a:off x="7334250" y="20955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4721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4721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WPFormer核心时空预测</a:t>
            </a:r>
            <a:endParaRPr sz="1650" b="1">
              <a:solidFill>
                <a:srgbClr val="4721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encoder"/>
          <p:cNvSpPr>
            <a:spLocks noGrp="1"/>
          </p:cNvSpPr>
          <p:nvPr/>
        </p:nvSpPr>
        <p:spPr>
          <a:xfrm>
            <a:off x="7267575" y="2457450"/>
            <a:ext cx="6067425" cy="2000250"/>
          </a:xfrm>
          <a:prstGeom prst="roundRect">
            <a:avLst>
              <a:gd name="adj" fmla="val 2381"/>
            </a:avLst>
          </a:prstGeom>
          <a:solidFill>
            <a:srgbClr val="FBFAFF"/>
          </a:solidFill>
          <a:ln w="9525">
            <a:solidFill>
              <a:srgbClr val="B9A3FA"/>
            </a:solidFill>
            <a:prstDash val="dash"/>
          </a:ln>
        </p:spPr>
      </p:sp>
      <p:sp>
        <p:nvSpPr>
          <p:cNvPr id="173" name="encoder-head"/>
          <p:cNvSpPr>
            <a:spLocks noGrp="1"/>
          </p:cNvSpPr>
          <p:nvPr/>
        </p:nvSpPr>
        <p:spPr>
          <a:xfrm>
            <a:off x="7429500" y="2476500"/>
            <a:ext cx="2676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4D25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D25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编码器（时空特征提取）</a:t>
            </a:r>
            <a:endParaRPr sz="1200" b="1">
              <a:solidFill>
                <a:srgbClr val="4D25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51" name="图片 550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15200" y="3366118"/>
            <a:ext cx="295275" cy="201964"/>
          </a:xfrm>
          <a:prstGeom prst="rect">
            <a:avLst/>
          </a:prstGeom>
        </p:spPr>
      </p:pic>
      <p:sp>
        <p:nvSpPr>
          <p:cNvPr id="175" name="enc-mha-frame"/>
          <p:cNvSpPr>
            <a:spLocks noGrp="1"/>
          </p:cNvSpPr>
          <p:nvPr/>
        </p:nvSpPr>
        <p:spPr>
          <a:xfrm>
            <a:off x="7877175" y="2790825"/>
            <a:ext cx="1123950" cy="619125"/>
          </a:xfrm>
          <a:prstGeom prst="roundRect">
            <a:avLst>
              <a:gd name="adj" fmla="val 6154"/>
            </a:avLst>
          </a:prstGeom>
          <a:solidFill>
            <a:srgbClr val="DDEAFF"/>
          </a:solidFill>
          <a:ln w="9525">
            <a:solidFill>
              <a:srgbClr val="5B9FFE"/>
            </a:solidFill>
            <a:prstDash val="solid"/>
          </a:ln>
        </p:spPr>
      </p:sp>
      <p:sp>
        <p:nvSpPr>
          <p:cNvPr id="176" name="enc-mha"/>
          <p:cNvSpPr>
            <a:spLocks noGrp="1"/>
          </p:cNvSpPr>
          <p:nvPr/>
        </p:nvSpPr>
        <p:spPr>
          <a:xfrm>
            <a:off x="7896225" y="2790825"/>
            <a:ext cx="10858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多头注意力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捕获短周期点级依赖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enc-auto-frame"/>
          <p:cNvSpPr>
            <a:spLocks noGrp="1"/>
          </p:cNvSpPr>
          <p:nvPr/>
        </p:nvSpPr>
        <p:spPr>
          <a:xfrm>
            <a:off x="7877175" y="3648075"/>
            <a:ext cx="1123950" cy="523875"/>
          </a:xfrm>
          <a:prstGeom prst="roundRect">
            <a:avLst>
              <a:gd name="adj" fmla="val 7273"/>
            </a:avLst>
          </a:prstGeom>
          <a:solidFill>
            <a:srgbClr val="F2E9FF"/>
          </a:solidFill>
          <a:ln w="9525">
            <a:solidFill>
              <a:srgbClr val="A778EE"/>
            </a:solidFill>
            <a:prstDash val="solid"/>
          </a:ln>
        </p:spPr>
      </p:sp>
      <p:sp>
        <p:nvSpPr>
          <p:cNvPr id="178" name="enc-auto"/>
          <p:cNvSpPr>
            <a:spLocks noGrp="1"/>
          </p:cNvSpPr>
          <p:nvPr/>
        </p:nvSpPr>
        <p:spPr>
          <a:xfrm>
            <a:off x="7896225" y="3648075"/>
            <a:ext cx="10858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583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3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自相关机制</a:t>
            </a:r>
            <a:endParaRPr sz="975" b="0">
              <a:solidFill>
                <a:srgbClr val="583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583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3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捕获长周期序列级</a:t>
            </a:r>
            <a:endParaRPr sz="975" b="0">
              <a:solidFill>
                <a:srgbClr val="583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75" b="0">
                <a:solidFill>
                  <a:srgbClr val="583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3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周期/相似模式</a:t>
            </a:r>
            <a:endParaRPr sz="975" b="0">
              <a:solidFill>
                <a:srgbClr val="583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enc-split-up"/>
          <p:cNvSpPr>
            <a:spLocks noGrp="1"/>
          </p:cNvSpPr>
          <p:nvPr/>
        </p:nvSpPr>
        <p:spPr>
          <a:xfrm>
            <a:off x="7620000" y="3095625"/>
            <a:ext cx="257175" cy="390525"/>
          </a:xfrm>
          <a:custGeom>
            <a:avLst/>
            <a:gdLst/>
            <a:ahLst/>
            <a:cxnLst/>
            <a:pathLst>
              <a:path w="257175" h="390525">
                <a:moveTo>
                  <a:pt x="0" y="390525"/>
                </a:moveTo>
                <a:lnTo>
                  <a:pt x="95250" y="390525"/>
                </a:lnTo>
                <a:lnTo>
                  <a:pt x="95250" y="0"/>
                </a:lnTo>
                <a:lnTo>
                  <a:pt x="257175" y="0"/>
                </a:lnTo>
              </a:path>
            </a:pathLst>
          </a:custGeom>
          <a:noFill/>
          <a:ln w="18098">
            <a:solidFill>
              <a:srgbClr val="0078C9"/>
            </a:solidFill>
            <a:prstDash val="solid"/>
          </a:ln>
        </p:spPr>
      </p:sp>
      <p:sp>
        <p:nvSpPr>
          <p:cNvPr id="180" name="enc-split-up-tip"/>
          <p:cNvSpPr>
            <a:spLocks noGrp="1"/>
          </p:cNvSpPr>
          <p:nvPr/>
        </p:nvSpPr>
        <p:spPr>
          <a:xfrm>
            <a:off x="7791926" y="3053906"/>
            <a:ext cx="85249" cy="83439"/>
          </a:xfrm>
          <a:custGeom>
            <a:avLst/>
            <a:gdLst/>
            <a:ahLst/>
            <a:cxnLst/>
            <a:pathLst>
              <a:path w="85249" h="83439">
                <a:moveTo>
                  <a:pt x="85249" y="41719"/>
                </a:moveTo>
                <a:lnTo>
                  <a:pt x="0" y="0"/>
                </a:lnTo>
                <a:lnTo>
                  <a:pt x="0" y="83439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81" name="enc-split-down"/>
          <p:cNvSpPr>
            <a:spLocks noGrp="1"/>
          </p:cNvSpPr>
          <p:nvPr/>
        </p:nvSpPr>
        <p:spPr>
          <a:xfrm>
            <a:off x="7715250" y="3486150"/>
            <a:ext cx="161925" cy="419100"/>
          </a:xfrm>
          <a:custGeom>
            <a:avLst/>
            <a:gdLst/>
            <a:ahLst/>
            <a:cxnLst/>
            <a:pathLst>
              <a:path w="161925" h="419100">
                <a:moveTo>
                  <a:pt x="0" y="0"/>
                </a:moveTo>
                <a:lnTo>
                  <a:pt x="0" y="419100"/>
                </a:lnTo>
                <a:lnTo>
                  <a:pt x="161925" y="419100"/>
                </a:lnTo>
              </a:path>
            </a:pathLst>
          </a:custGeom>
          <a:noFill/>
          <a:ln w="18098">
            <a:solidFill>
              <a:srgbClr val="0078C9"/>
            </a:solidFill>
            <a:prstDash val="solid"/>
          </a:ln>
        </p:spPr>
      </p:sp>
      <p:sp>
        <p:nvSpPr>
          <p:cNvPr id="182" name="enc-split-down-tip"/>
          <p:cNvSpPr>
            <a:spLocks noGrp="1"/>
          </p:cNvSpPr>
          <p:nvPr/>
        </p:nvSpPr>
        <p:spPr>
          <a:xfrm>
            <a:off x="7791926" y="3863531"/>
            <a:ext cx="85249" cy="83439"/>
          </a:xfrm>
          <a:custGeom>
            <a:avLst/>
            <a:gdLst/>
            <a:ahLst/>
            <a:cxnLst/>
            <a:pathLst>
              <a:path w="85249" h="83439">
                <a:moveTo>
                  <a:pt x="85249" y="41719"/>
                </a:moveTo>
                <a:lnTo>
                  <a:pt x="0" y="0"/>
                </a:lnTo>
                <a:lnTo>
                  <a:pt x="0" y="83439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83" name="residual-frame"/>
          <p:cNvSpPr>
            <a:spLocks noGrp="1"/>
          </p:cNvSpPr>
          <p:nvPr/>
        </p:nvSpPr>
        <p:spPr>
          <a:xfrm>
            <a:off x="9267825" y="3286125"/>
            <a:ext cx="53340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84" name="residual"/>
          <p:cNvSpPr>
            <a:spLocks noGrp="1"/>
          </p:cNvSpPr>
          <p:nvPr/>
        </p:nvSpPr>
        <p:spPr>
          <a:xfrm>
            <a:off x="9286875" y="3286125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相加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enc-join-up"/>
          <p:cNvSpPr>
            <a:spLocks noGrp="1"/>
          </p:cNvSpPr>
          <p:nvPr/>
        </p:nvSpPr>
        <p:spPr>
          <a:xfrm>
            <a:off x="9001125" y="3095625"/>
            <a:ext cx="266700" cy="400050"/>
          </a:xfrm>
          <a:custGeom>
            <a:avLst/>
            <a:gdLst/>
            <a:ahLst/>
            <a:cxnLst/>
            <a:pathLst>
              <a:path w="266700" h="400050">
                <a:moveTo>
                  <a:pt x="0" y="0"/>
                </a:moveTo>
                <a:lnTo>
                  <a:pt x="123825" y="0"/>
                </a:lnTo>
                <a:lnTo>
                  <a:pt x="123825" y="400050"/>
                </a:lnTo>
                <a:lnTo>
                  <a:pt x="266700" y="400050"/>
                </a:lnTo>
              </a:path>
            </a:pathLst>
          </a:custGeom>
          <a:noFill/>
          <a:ln w="18098">
            <a:solidFill>
              <a:srgbClr val="0078C9"/>
            </a:solidFill>
            <a:prstDash val="solid"/>
          </a:ln>
        </p:spPr>
      </p:sp>
      <p:sp>
        <p:nvSpPr>
          <p:cNvPr id="186" name="enc-join-up-tip"/>
          <p:cNvSpPr>
            <a:spLocks noGrp="1"/>
          </p:cNvSpPr>
          <p:nvPr/>
        </p:nvSpPr>
        <p:spPr>
          <a:xfrm>
            <a:off x="9182576" y="3453956"/>
            <a:ext cx="85249" cy="83439"/>
          </a:xfrm>
          <a:custGeom>
            <a:avLst/>
            <a:gdLst/>
            <a:ahLst/>
            <a:cxnLst/>
            <a:pathLst>
              <a:path w="85249" h="83439">
                <a:moveTo>
                  <a:pt x="85249" y="41719"/>
                </a:moveTo>
                <a:lnTo>
                  <a:pt x="0" y="0"/>
                </a:lnTo>
                <a:lnTo>
                  <a:pt x="0" y="83439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87" name="enc-join-down"/>
          <p:cNvSpPr>
            <a:spLocks noGrp="1"/>
          </p:cNvSpPr>
          <p:nvPr/>
        </p:nvSpPr>
        <p:spPr>
          <a:xfrm>
            <a:off x="9001125" y="3495675"/>
            <a:ext cx="123825" cy="409575"/>
          </a:xfrm>
          <a:custGeom>
            <a:avLst/>
            <a:gdLst/>
            <a:ahLst/>
            <a:cxnLst/>
            <a:pathLst>
              <a:path w="123825" h="409575">
                <a:moveTo>
                  <a:pt x="0" y="409575"/>
                </a:moveTo>
                <a:lnTo>
                  <a:pt x="123825" y="409575"/>
                </a:lnTo>
                <a:lnTo>
                  <a:pt x="123825" y="0"/>
                </a:lnTo>
              </a:path>
            </a:pathLst>
          </a:custGeom>
          <a:noFill/>
          <a:ln w="18098">
            <a:solidFill>
              <a:srgbClr val="0078C9"/>
            </a:solidFill>
            <a:prstDash val="solid"/>
          </a:ln>
        </p:spPr>
      </p:sp>
      <p:sp>
        <p:nvSpPr>
          <p:cNvPr id="188" name="enc-join-down-tip"/>
          <p:cNvSpPr>
            <a:spLocks noGrp="1"/>
          </p:cNvSpPr>
          <p:nvPr/>
        </p:nvSpPr>
        <p:spPr>
          <a:xfrm>
            <a:off x="9083231" y="3495675"/>
            <a:ext cx="83439" cy="85249"/>
          </a:xfrm>
          <a:custGeom>
            <a:avLst/>
            <a:gdLst/>
            <a:ahLst/>
            <a:cxnLst/>
            <a:pathLst>
              <a:path w="83439" h="85249">
                <a:moveTo>
                  <a:pt x="41719" y="0"/>
                </a:moveTo>
                <a:lnTo>
                  <a:pt x="0" y="85249"/>
                </a:lnTo>
                <a:lnTo>
                  <a:pt x="83439" y="85249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89" name="decomp1-frame"/>
          <p:cNvSpPr>
            <a:spLocks noGrp="1"/>
          </p:cNvSpPr>
          <p:nvPr/>
        </p:nvSpPr>
        <p:spPr>
          <a:xfrm>
            <a:off x="9906000" y="3009900"/>
            <a:ext cx="809625" cy="88582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190" name="decomp1"/>
          <p:cNvSpPr>
            <a:spLocks noGrp="1"/>
          </p:cNvSpPr>
          <p:nvPr/>
        </p:nvSpPr>
        <p:spPr>
          <a:xfrm>
            <a:off x="9925050" y="3009900"/>
            <a:ext cx="771525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/>
        </p:txBody>
      </p:sp>
      <p:sp>
        <p:nvSpPr>
          <p:cNvPr id="191" name="decomp1-label"/>
          <p:cNvSpPr>
            <a:spLocks noGrp="1"/>
          </p:cNvSpPr>
          <p:nvPr/>
        </p:nvSpPr>
        <p:spPr>
          <a:xfrm>
            <a:off x="9934575" y="3019425"/>
            <a:ext cx="7524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sz="86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</a:t>
            </a:r>
            <a:endParaRPr sz="86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decomp1-season-frame"/>
          <p:cNvSpPr>
            <a:spLocks noGrp="1"/>
          </p:cNvSpPr>
          <p:nvPr/>
        </p:nvSpPr>
        <p:spPr>
          <a:xfrm>
            <a:off x="9972675" y="3295650"/>
            <a:ext cx="676275" cy="219075"/>
          </a:xfrm>
          <a:prstGeom prst="roundRect">
            <a:avLst>
              <a:gd name="adj" fmla="val 17391"/>
            </a:avLst>
          </a:prstGeom>
          <a:solidFill>
            <a:srgbClr val="DDF0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193" name="decomp1-season"/>
          <p:cNvSpPr>
            <a:spLocks noGrp="1"/>
          </p:cNvSpPr>
          <p:nvPr/>
        </p:nvSpPr>
        <p:spPr>
          <a:xfrm>
            <a:off x="9991725" y="3295650"/>
            <a:ext cx="638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季节项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" name="decomp1-trend-frame"/>
          <p:cNvSpPr>
            <a:spLocks noGrp="1"/>
          </p:cNvSpPr>
          <p:nvPr/>
        </p:nvSpPr>
        <p:spPr>
          <a:xfrm>
            <a:off x="9972675" y="3552825"/>
            <a:ext cx="676275" cy="219075"/>
          </a:xfrm>
          <a:prstGeom prst="roundRect">
            <a:avLst>
              <a:gd name="adj" fmla="val 17391"/>
            </a:avLst>
          </a:prstGeom>
          <a:solidFill>
            <a:srgbClr val="FFF2E6"/>
          </a:solidFill>
          <a:ln w="9525">
            <a:solidFill>
              <a:srgbClr val="F1AA79"/>
            </a:solidFill>
            <a:prstDash val="solid"/>
          </a:ln>
        </p:spPr>
      </p:sp>
      <p:sp>
        <p:nvSpPr>
          <p:cNvPr id="195" name="decomp1-trend"/>
          <p:cNvSpPr>
            <a:spLocks noGrp="1"/>
          </p:cNvSpPr>
          <p:nvPr/>
        </p:nvSpPr>
        <p:spPr>
          <a:xfrm>
            <a:off x="9991725" y="3552825"/>
            <a:ext cx="638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DA69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DA69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趋势项</a:t>
            </a:r>
            <a:endParaRPr sz="940" b="0">
              <a:solidFill>
                <a:srgbClr val="DA69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feed-forward-frame"/>
          <p:cNvSpPr>
            <a:spLocks noGrp="1"/>
          </p:cNvSpPr>
          <p:nvPr/>
        </p:nvSpPr>
        <p:spPr>
          <a:xfrm>
            <a:off x="10848975" y="3286125"/>
            <a:ext cx="523875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97" name="feed-forward"/>
          <p:cNvSpPr>
            <a:spLocks noGrp="1"/>
          </p:cNvSpPr>
          <p:nvPr/>
        </p:nvSpPr>
        <p:spPr>
          <a:xfrm>
            <a:off x="10868025" y="3286125"/>
            <a:ext cx="4857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前馈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" name="decomp2-frame"/>
          <p:cNvSpPr>
            <a:spLocks noGrp="1"/>
          </p:cNvSpPr>
          <p:nvPr/>
        </p:nvSpPr>
        <p:spPr>
          <a:xfrm>
            <a:off x="11487150" y="3009900"/>
            <a:ext cx="819150" cy="88582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199" name="decomp2"/>
          <p:cNvSpPr>
            <a:spLocks noGrp="1"/>
          </p:cNvSpPr>
          <p:nvPr/>
        </p:nvSpPr>
        <p:spPr>
          <a:xfrm>
            <a:off x="11506200" y="3009900"/>
            <a:ext cx="78105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/>
        </p:txBody>
      </p:sp>
      <p:sp>
        <p:nvSpPr>
          <p:cNvPr id="200" name="decomp2-label"/>
          <p:cNvSpPr>
            <a:spLocks noGrp="1"/>
          </p:cNvSpPr>
          <p:nvPr/>
        </p:nvSpPr>
        <p:spPr>
          <a:xfrm>
            <a:off x="11515725" y="3019425"/>
            <a:ext cx="762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sz="86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</a:t>
            </a:r>
            <a:endParaRPr sz="86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" name="decomp2-season-frame"/>
          <p:cNvSpPr>
            <a:spLocks noGrp="1"/>
          </p:cNvSpPr>
          <p:nvPr/>
        </p:nvSpPr>
        <p:spPr>
          <a:xfrm>
            <a:off x="11553825" y="3295650"/>
            <a:ext cx="685800" cy="219075"/>
          </a:xfrm>
          <a:prstGeom prst="roundRect">
            <a:avLst>
              <a:gd name="adj" fmla="val 17391"/>
            </a:avLst>
          </a:prstGeom>
          <a:solidFill>
            <a:srgbClr val="DDF0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202" name="decomp2-season"/>
          <p:cNvSpPr>
            <a:spLocks noGrp="1"/>
          </p:cNvSpPr>
          <p:nvPr/>
        </p:nvSpPr>
        <p:spPr>
          <a:xfrm>
            <a:off x="11572875" y="3295650"/>
            <a:ext cx="6477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季节项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" name="decomp2-trend-frame"/>
          <p:cNvSpPr>
            <a:spLocks noGrp="1"/>
          </p:cNvSpPr>
          <p:nvPr/>
        </p:nvSpPr>
        <p:spPr>
          <a:xfrm>
            <a:off x="11553825" y="3552825"/>
            <a:ext cx="685800" cy="219075"/>
          </a:xfrm>
          <a:prstGeom prst="roundRect">
            <a:avLst>
              <a:gd name="adj" fmla="val 17391"/>
            </a:avLst>
          </a:prstGeom>
          <a:solidFill>
            <a:srgbClr val="FFF2E6"/>
          </a:solidFill>
          <a:ln w="9525">
            <a:solidFill>
              <a:srgbClr val="F1AA79"/>
            </a:solidFill>
            <a:prstDash val="solid"/>
          </a:ln>
        </p:spPr>
      </p:sp>
      <p:sp>
        <p:nvSpPr>
          <p:cNvPr id="204" name="decomp2-trend"/>
          <p:cNvSpPr>
            <a:spLocks noGrp="1"/>
          </p:cNvSpPr>
          <p:nvPr/>
        </p:nvSpPr>
        <p:spPr>
          <a:xfrm>
            <a:off x="11572875" y="3552825"/>
            <a:ext cx="6477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DA69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DA69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趋势项</a:t>
            </a:r>
            <a:endParaRPr sz="940" b="0">
              <a:solidFill>
                <a:srgbClr val="DA69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" name="enc-r-d"/>
          <p:cNvSpPr>
            <a:spLocks noGrp="1"/>
          </p:cNvSpPr>
          <p:nvPr/>
        </p:nvSpPr>
        <p:spPr>
          <a:xfrm>
            <a:off x="9801225" y="3452813"/>
            <a:ext cx="104775" cy="42863"/>
          </a:xfrm>
          <a:custGeom>
            <a:avLst/>
            <a:gdLst/>
            <a:ahLst/>
            <a:cxnLst/>
            <a:pathLst>
              <a:path w="104775" h="42863">
                <a:moveTo>
                  <a:pt x="0" y="42863"/>
                </a:moveTo>
                <a:lnTo>
                  <a:pt x="104775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06" name="enc-r-d-tip"/>
          <p:cNvSpPr>
            <a:spLocks noGrp="1"/>
          </p:cNvSpPr>
          <p:nvPr/>
        </p:nvSpPr>
        <p:spPr>
          <a:xfrm>
            <a:off x="9810789" y="3446481"/>
            <a:ext cx="95211" cy="77579"/>
          </a:xfrm>
          <a:custGeom>
            <a:avLst/>
            <a:gdLst/>
            <a:ahLst/>
            <a:cxnLst/>
            <a:pathLst>
              <a:path w="95211" h="77579">
                <a:moveTo>
                  <a:pt x="95211" y="6331"/>
                </a:moveTo>
                <a:lnTo>
                  <a:pt x="0" y="0"/>
                </a:lnTo>
                <a:lnTo>
                  <a:pt x="31737" y="77579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07" name="enc-d-f"/>
          <p:cNvSpPr>
            <a:spLocks noGrp="1"/>
          </p:cNvSpPr>
          <p:nvPr/>
        </p:nvSpPr>
        <p:spPr>
          <a:xfrm>
            <a:off x="10715625" y="3452813"/>
            <a:ext cx="133350" cy="42863"/>
          </a:xfrm>
          <a:custGeom>
            <a:avLst/>
            <a:gdLst/>
            <a:ahLst/>
            <a:cxnLst/>
            <a:pathLst>
              <a:path w="133350" h="42863">
                <a:moveTo>
                  <a:pt x="0" y="0"/>
                </a:moveTo>
                <a:lnTo>
                  <a:pt x="133350" y="42863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08" name="enc-d-f-tip"/>
          <p:cNvSpPr>
            <a:spLocks noGrp="1"/>
          </p:cNvSpPr>
          <p:nvPr/>
        </p:nvSpPr>
        <p:spPr>
          <a:xfrm>
            <a:off x="10754538" y="3429543"/>
            <a:ext cx="94437" cy="79799"/>
          </a:xfrm>
          <a:custGeom>
            <a:avLst/>
            <a:gdLst/>
            <a:ahLst/>
            <a:cxnLst/>
            <a:pathLst>
              <a:path w="94437" h="79799">
                <a:moveTo>
                  <a:pt x="94437" y="66132"/>
                </a:moveTo>
                <a:lnTo>
                  <a:pt x="25650" y="0"/>
                </a:lnTo>
                <a:lnTo>
                  <a:pt x="0" y="79799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09" name="enc-f-d"/>
          <p:cNvSpPr>
            <a:spLocks noGrp="1"/>
          </p:cNvSpPr>
          <p:nvPr/>
        </p:nvSpPr>
        <p:spPr>
          <a:xfrm>
            <a:off x="11372850" y="3452813"/>
            <a:ext cx="114300" cy="42863"/>
          </a:xfrm>
          <a:custGeom>
            <a:avLst/>
            <a:gdLst/>
            <a:ahLst/>
            <a:cxnLst/>
            <a:pathLst>
              <a:path w="114300" h="42863">
                <a:moveTo>
                  <a:pt x="0" y="42863"/>
                </a:moveTo>
                <a:lnTo>
                  <a:pt x="11430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10" name="enc-f-d-tip"/>
          <p:cNvSpPr>
            <a:spLocks noGrp="1"/>
          </p:cNvSpPr>
          <p:nvPr/>
        </p:nvSpPr>
        <p:spPr>
          <a:xfrm>
            <a:off x="11392168" y="3443671"/>
            <a:ext cx="94982" cy="78483"/>
          </a:xfrm>
          <a:custGeom>
            <a:avLst/>
            <a:gdLst/>
            <a:ahLst/>
            <a:cxnLst/>
            <a:pathLst>
              <a:path w="94982" h="78483">
                <a:moveTo>
                  <a:pt x="94982" y="9141"/>
                </a:moveTo>
                <a:lnTo>
                  <a:pt x="0" y="0"/>
                </a:lnTo>
                <a:lnTo>
                  <a:pt x="29431" y="78483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11" name="h-label"/>
          <p:cNvSpPr>
            <a:spLocks noGrp="1"/>
          </p:cNvSpPr>
          <p:nvPr/>
        </p:nvSpPr>
        <p:spPr>
          <a:xfrm>
            <a:off x="12439650" y="2981325"/>
            <a:ext cx="838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1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编码器</a:t>
            </a:r>
            <a:endParaRPr sz="940" b="1">
              <a:solidFill>
                <a:srgbClr val="007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1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</a:t>
            </a:r>
            <a:endParaRPr sz="940" b="1">
              <a:solidFill>
                <a:srgbClr val="007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2" name="encoder-tensor-top"/>
          <p:cNvSpPr>
            <a:spLocks noGrp="1"/>
          </p:cNvSpPr>
          <p:nvPr/>
        </p:nvSpPr>
        <p:spPr>
          <a:xfrm>
            <a:off x="12592050" y="3295650"/>
            <a:ext cx="542925" cy="161925"/>
          </a:xfrm>
          <a:custGeom>
            <a:avLst/>
            <a:gdLst/>
            <a:ahLst/>
            <a:cxnLst/>
            <a:pathLst>
              <a:path w="542925" h="161925">
                <a:moveTo>
                  <a:pt x="0" y="161925"/>
                </a:moveTo>
                <a:lnTo>
                  <a:pt x="161925" y="0"/>
                </a:lnTo>
                <a:lnTo>
                  <a:pt x="542925" y="0"/>
                </a:lnTo>
                <a:lnTo>
                  <a:pt x="381000" y="161925"/>
                </a:lnTo>
                <a:close/>
              </a:path>
            </a:pathLst>
          </a:custGeom>
          <a:solidFill>
            <a:srgbClr val="D7EFFD"/>
          </a:solidFill>
          <a:ln w="7620">
            <a:solidFill>
              <a:srgbClr val="0078C9"/>
            </a:solidFill>
          </a:ln>
        </p:spPr>
      </p:sp>
      <p:sp>
        <p:nvSpPr>
          <p:cNvPr id="213" name="encoder-tensor-side"/>
          <p:cNvSpPr>
            <a:spLocks noGrp="1"/>
          </p:cNvSpPr>
          <p:nvPr/>
        </p:nvSpPr>
        <p:spPr>
          <a:xfrm>
            <a:off x="12973050" y="3295650"/>
            <a:ext cx="161925" cy="447675"/>
          </a:xfrm>
          <a:custGeom>
            <a:avLst/>
            <a:gdLst/>
            <a:ahLst/>
            <a:cxnLst/>
            <a:pathLst>
              <a:path w="161925" h="447675">
                <a:moveTo>
                  <a:pt x="0" y="161925"/>
                </a:moveTo>
                <a:lnTo>
                  <a:pt x="161925" y="0"/>
                </a:lnTo>
                <a:lnTo>
                  <a:pt x="161925" y="285750"/>
                </a:lnTo>
                <a:lnTo>
                  <a:pt x="0" y="447675"/>
                </a:lnTo>
                <a:close/>
              </a:path>
            </a:pathLst>
          </a:custGeom>
          <a:solidFill>
            <a:srgbClr val="B6EBC9"/>
          </a:solidFill>
          <a:ln w="7620">
            <a:solidFill>
              <a:srgbClr val="0078C9"/>
            </a:solidFill>
          </a:ln>
        </p:spPr>
      </p:sp>
      <p:sp>
        <p:nvSpPr>
          <p:cNvPr id="214" name="encoder-tensor-0-0"/>
          <p:cNvSpPr>
            <a:spLocks noGrp="1"/>
          </p:cNvSpPr>
          <p:nvPr/>
        </p:nvSpPr>
        <p:spPr>
          <a:xfrm>
            <a:off x="12592050" y="3457575"/>
            <a:ext cx="95250" cy="95250"/>
          </a:xfrm>
          <a:prstGeom prst="rect">
            <a:avLst/>
          </a:prstGeom>
          <a:solidFill>
            <a:srgbClr val="F6E8A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15" name="encoder-tensor-0-1"/>
          <p:cNvSpPr>
            <a:spLocks noGrp="1"/>
          </p:cNvSpPr>
          <p:nvPr/>
        </p:nvSpPr>
        <p:spPr>
          <a:xfrm>
            <a:off x="12592050" y="3552825"/>
            <a:ext cx="95250" cy="9525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16" name="encoder-tensor-0-2"/>
          <p:cNvSpPr>
            <a:spLocks noGrp="1"/>
          </p:cNvSpPr>
          <p:nvPr/>
        </p:nvSpPr>
        <p:spPr>
          <a:xfrm>
            <a:off x="12592050" y="3648075"/>
            <a:ext cx="95250" cy="9525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17" name="encoder-tensor-1-0"/>
          <p:cNvSpPr>
            <a:spLocks noGrp="1"/>
          </p:cNvSpPr>
          <p:nvPr/>
        </p:nvSpPr>
        <p:spPr>
          <a:xfrm>
            <a:off x="12687300" y="3457575"/>
            <a:ext cx="95250" cy="9525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18" name="encoder-tensor-1-1"/>
          <p:cNvSpPr>
            <a:spLocks noGrp="1"/>
          </p:cNvSpPr>
          <p:nvPr/>
        </p:nvSpPr>
        <p:spPr>
          <a:xfrm>
            <a:off x="12687300" y="3552825"/>
            <a:ext cx="95250" cy="9525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19" name="encoder-tensor-1-2"/>
          <p:cNvSpPr>
            <a:spLocks noGrp="1"/>
          </p:cNvSpPr>
          <p:nvPr/>
        </p:nvSpPr>
        <p:spPr>
          <a:xfrm>
            <a:off x="12687300" y="3648075"/>
            <a:ext cx="95250" cy="95250"/>
          </a:xfrm>
          <a:prstGeom prst="rect">
            <a:avLst/>
          </a:prstGeom>
          <a:solidFill>
            <a:srgbClr val="F6E8A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20" name="encoder-tensor-2-0"/>
          <p:cNvSpPr>
            <a:spLocks noGrp="1"/>
          </p:cNvSpPr>
          <p:nvPr/>
        </p:nvSpPr>
        <p:spPr>
          <a:xfrm>
            <a:off x="12782550" y="3457575"/>
            <a:ext cx="95250" cy="9525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21" name="encoder-tensor-2-1"/>
          <p:cNvSpPr>
            <a:spLocks noGrp="1"/>
          </p:cNvSpPr>
          <p:nvPr/>
        </p:nvSpPr>
        <p:spPr>
          <a:xfrm>
            <a:off x="12782550" y="3552825"/>
            <a:ext cx="95250" cy="95250"/>
          </a:xfrm>
          <a:prstGeom prst="rect">
            <a:avLst/>
          </a:prstGeom>
          <a:solidFill>
            <a:srgbClr val="F6E8A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22" name="encoder-tensor-2-2"/>
          <p:cNvSpPr>
            <a:spLocks noGrp="1"/>
          </p:cNvSpPr>
          <p:nvPr/>
        </p:nvSpPr>
        <p:spPr>
          <a:xfrm>
            <a:off x="12782550" y="3648075"/>
            <a:ext cx="95250" cy="9525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23" name="encoder-tensor-3-0"/>
          <p:cNvSpPr>
            <a:spLocks noGrp="1"/>
          </p:cNvSpPr>
          <p:nvPr/>
        </p:nvSpPr>
        <p:spPr>
          <a:xfrm>
            <a:off x="12877800" y="3457575"/>
            <a:ext cx="95250" cy="95250"/>
          </a:xfrm>
          <a:prstGeom prst="rect">
            <a:avLst/>
          </a:prstGeom>
          <a:solidFill>
            <a:srgbClr val="F6E8A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24" name="encoder-tensor-3-1"/>
          <p:cNvSpPr>
            <a:spLocks noGrp="1"/>
          </p:cNvSpPr>
          <p:nvPr/>
        </p:nvSpPr>
        <p:spPr>
          <a:xfrm>
            <a:off x="12877800" y="3552825"/>
            <a:ext cx="95250" cy="9525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25" name="encoder-tensor-3-2"/>
          <p:cNvSpPr>
            <a:spLocks noGrp="1"/>
          </p:cNvSpPr>
          <p:nvPr/>
        </p:nvSpPr>
        <p:spPr>
          <a:xfrm>
            <a:off x="12877800" y="3648075"/>
            <a:ext cx="95250" cy="95250"/>
          </a:xfrm>
          <a:prstGeom prst="rect">
            <a:avLst/>
          </a:prstGeom>
          <a:solidFill>
            <a:srgbClr val="C5E5F8"/>
          </a:solidFill>
          <a:ln w="5715">
            <a:solidFill>
              <a:srgbClr val="0078C9"/>
            </a:solidFill>
            <a:prstDash val="solid"/>
          </a:ln>
        </p:spPr>
      </p:sp>
      <p:sp>
        <p:nvSpPr>
          <p:cNvPr id="226" name="encoder-tensor-topgrid-1"/>
          <p:cNvSpPr>
            <a:spLocks noGrp="1"/>
          </p:cNvSpPr>
          <p:nvPr/>
        </p:nvSpPr>
        <p:spPr>
          <a:xfrm>
            <a:off x="12687300" y="3295650"/>
            <a:ext cx="161925" cy="161925"/>
          </a:xfrm>
          <a:custGeom>
            <a:avLst/>
            <a:gdLst/>
            <a:ahLst/>
            <a:cxnLst/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227" name="encoder-tensor-topgrid-2"/>
          <p:cNvSpPr>
            <a:spLocks noGrp="1"/>
          </p:cNvSpPr>
          <p:nvPr/>
        </p:nvSpPr>
        <p:spPr>
          <a:xfrm>
            <a:off x="12782550" y="3295650"/>
            <a:ext cx="161925" cy="161925"/>
          </a:xfrm>
          <a:custGeom>
            <a:avLst/>
            <a:gdLst/>
            <a:ahLst/>
            <a:cxnLst/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228" name="encoder-tensor-topgrid-3"/>
          <p:cNvSpPr>
            <a:spLocks noGrp="1"/>
          </p:cNvSpPr>
          <p:nvPr/>
        </p:nvSpPr>
        <p:spPr>
          <a:xfrm>
            <a:off x="12877800" y="3295650"/>
            <a:ext cx="161925" cy="161925"/>
          </a:xfrm>
          <a:custGeom>
            <a:avLst/>
            <a:gdLst/>
            <a:ahLst/>
            <a:cxnLst/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229" name="encoder-tensor-sidegrid-1"/>
          <p:cNvSpPr>
            <a:spLocks noGrp="1"/>
          </p:cNvSpPr>
          <p:nvPr/>
        </p:nvSpPr>
        <p:spPr>
          <a:xfrm>
            <a:off x="12973050" y="3390900"/>
            <a:ext cx="161925" cy="161925"/>
          </a:xfrm>
          <a:custGeom>
            <a:avLst/>
            <a:gdLst/>
            <a:ahLst/>
            <a:cxnLst/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sp>
        <p:nvSpPr>
          <p:cNvPr id="230" name="encoder-tensor-sidegrid-2"/>
          <p:cNvSpPr>
            <a:spLocks noGrp="1"/>
          </p:cNvSpPr>
          <p:nvPr/>
        </p:nvSpPr>
        <p:spPr>
          <a:xfrm>
            <a:off x="12973050" y="3486150"/>
            <a:ext cx="161925" cy="161925"/>
          </a:xfrm>
          <a:custGeom>
            <a:avLst/>
            <a:gdLst/>
            <a:ahLst/>
            <a:cxnLst/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/>
          <a:ln w="5715">
            <a:solidFill>
              <a:srgbClr val="0078C9"/>
            </a:solidFill>
            <a:prstDash val="solid"/>
          </a:ln>
        </p:spPr>
      </p:sp>
      <p:pic>
        <p:nvPicPr>
          <p:cNvPr id="608" name="图片 607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677775" y="3918710"/>
            <a:ext cx="400050" cy="201680"/>
          </a:xfrm>
          <a:prstGeom prst="rect">
            <a:avLst/>
          </a:prstGeom>
        </p:spPr>
      </p:pic>
      <p:sp>
        <p:nvSpPr>
          <p:cNvPr id="232" name="enc-last"/>
          <p:cNvSpPr>
            <a:spLocks noGrp="1"/>
          </p:cNvSpPr>
          <p:nvPr/>
        </p:nvSpPr>
        <p:spPr>
          <a:xfrm>
            <a:off x="12306300" y="3457575"/>
            <a:ext cx="266700" cy="953"/>
          </a:xfrm>
          <a:custGeom>
            <a:avLst/>
            <a:gdLst/>
            <a:ahLst/>
            <a:cxnLst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7145">
            <a:solidFill>
              <a:srgbClr val="0078C9"/>
            </a:solidFill>
            <a:prstDash val="solid"/>
          </a:ln>
        </p:spPr>
      </p:sp>
      <p:sp>
        <p:nvSpPr>
          <p:cNvPr id="233" name="enc-last-tip"/>
          <p:cNvSpPr>
            <a:spLocks noGrp="1"/>
          </p:cNvSpPr>
          <p:nvPr/>
        </p:nvSpPr>
        <p:spPr>
          <a:xfrm>
            <a:off x="12488228" y="3416046"/>
            <a:ext cx="84773" cy="83058"/>
          </a:xfrm>
          <a:custGeom>
            <a:avLst/>
            <a:gdLst/>
            <a:ahLst/>
            <a:cxnLst/>
            <a:pathLst>
              <a:path w="84773" h="83058">
                <a:moveTo>
                  <a:pt x="84773" y="41529"/>
                </a:moveTo>
                <a:lnTo>
                  <a:pt x="0" y="0"/>
                </a:lnTo>
                <a:lnTo>
                  <a:pt x="0" y="83058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pic>
        <p:nvPicPr>
          <p:cNvPr id="611" name="图片 610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232197" y="4219575"/>
            <a:ext cx="1357131" cy="180975"/>
          </a:xfrm>
          <a:prstGeom prst="rect">
            <a:avLst/>
          </a:prstGeom>
        </p:spPr>
      </p:pic>
      <p:sp>
        <p:nvSpPr>
          <p:cNvPr id="235" name="decoder"/>
          <p:cNvSpPr>
            <a:spLocks noGrp="1"/>
          </p:cNvSpPr>
          <p:nvPr/>
        </p:nvSpPr>
        <p:spPr>
          <a:xfrm>
            <a:off x="7267575" y="4524375"/>
            <a:ext cx="6067425" cy="2095500"/>
          </a:xfrm>
          <a:prstGeom prst="roundRect">
            <a:avLst>
              <a:gd name="adj" fmla="val 2273"/>
            </a:avLst>
          </a:prstGeom>
          <a:solidFill>
            <a:srgbClr val="FBFAFF"/>
          </a:solidFill>
          <a:ln w="9525">
            <a:solidFill>
              <a:srgbClr val="B9A3FA"/>
            </a:solidFill>
            <a:prstDash val="dash"/>
          </a:ln>
        </p:spPr>
      </p:sp>
      <p:sp>
        <p:nvSpPr>
          <p:cNvPr id="236" name="decoder-head"/>
          <p:cNvSpPr>
            <a:spLocks noGrp="1"/>
          </p:cNvSpPr>
          <p:nvPr/>
        </p:nvSpPr>
        <p:spPr>
          <a:xfrm>
            <a:off x="7429500" y="4562475"/>
            <a:ext cx="2847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4D25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D25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解码器（时序生成与预测）</a:t>
            </a:r>
            <a:endParaRPr sz="1200" b="1">
              <a:solidFill>
                <a:srgbClr val="4D25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7" name="history-dec-frame"/>
          <p:cNvSpPr>
            <a:spLocks noGrp="1"/>
          </p:cNvSpPr>
          <p:nvPr/>
        </p:nvSpPr>
        <p:spPr>
          <a:xfrm>
            <a:off x="7362825" y="4924425"/>
            <a:ext cx="666750" cy="457200"/>
          </a:xfrm>
          <a:prstGeom prst="roundRect">
            <a:avLst>
              <a:gd name="adj" fmla="val 8333"/>
            </a:avLst>
          </a:prstGeom>
          <a:solidFill>
            <a:srgbClr val="E0EE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238" name="history-dec"/>
          <p:cNvSpPr>
            <a:spLocks noGrp="1"/>
          </p:cNvSpPr>
          <p:nvPr/>
        </p:nvSpPr>
        <p:spPr>
          <a:xfrm>
            <a:off x="7381875" y="49244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历史序列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16" name="图片 615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534275" y="5182500"/>
            <a:ext cx="342900" cy="150601"/>
          </a:xfrm>
          <a:prstGeom prst="rect">
            <a:avLst/>
          </a:prstGeom>
        </p:spPr>
      </p:pic>
      <p:sp>
        <p:nvSpPr>
          <p:cNvPr id="240" name="avgpool-frame"/>
          <p:cNvSpPr>
            <a:spLocks noGrp="1"/>
          </p:cNvSpPr>
          <p:nvPr/>
        </p:nvSpPr>
        <p:spPr>
          <a:xfrm>
            <a:off x="7343775" y="5562600"/>
            <a:ext cx="676275" cy="37147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9B9B9B"/>
            </a:solidFill>
            <a:prstDash val="solid"/>
          </a:ln>
        </p:spPr>
      </p:sp>
      <p:sp>
        <p:nvSpPr>
          <p:cNvPr id="241" name="avgpool"/>
          <p:cNvSpPr>
            <a:spLocks noGrp="1"/>
          </p:cNvSpPr>
          <p:nvPr/>
        </p:nvSpPr>
        <p:spPr>
          <a:xfrm>
            <a:off x="7362825" y="5562600"/>
            <a:ext cx="6381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平均池化 /</a:t>
            </a:r>
            <a:endParaRPr sz="8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序列分解</a:t>
            </a:r>
            <a:endParaRPr sz="8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2" name="init-frame"/>
          <p:cNvSpPr>
            <a:spLocks noGrp="1"/>
          </p:cNvSpPr>
          <p:nvPr/>
        </p:nvSpPr>
        <p:spPr>
          <a:xfrm>
            <a:off x="8115300" y="547687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FFF8ED"/>
          </a:solidFill>
          <a:ln w="9525">
            <a:solidFill>
              <a:srgbClr val="ACACAC"/>
            </a:solidFill>
            <a:prstDash val="solid"/>
          </a:ln>
        </p:spPr>
      </p:sp>
      <p:sp>
        <p:nvSpPr>
          <p:cNvPr id="243" name="init"/>
          <p:cNvSpPr>
            <a:spLocks noGrp="1"/>
          </p:cNvSpPr>
          <p:nvPr/>
        </p:nvSpPr>
        <p:spPr>
          <a:xfrm>
            <a:off x="8134350" y="5476875"/>
            <a:ext cx="495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季节项初值</a:t>
            </a:r>
            <a:endParaRPr sz="8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8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趋势项初值</a:t>
            </a:r>
            <a:endParaRPr sz="8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4" name="hist-avg"/>
          <p:cNvSpPr>
            <a:spLocks noGrp="1"/>
          </p:cNvSpPr>
          <p:nvPr/>
        </p:nvSpPr>
        <p:spPr>
          <a:xfrm>
            <a:off x="7696200" y="5381625"/>
            <a:ext cx="953" cy="161925"/>
          </a:xfrm>
          <a:custGeom>
            <a:avLst/>
            <a:gdLst/>
            <a:ahLst/>
            <a:cxnLst/>
            <a:pathLst>
              <a:path w="953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7145">
            <a:solidFill>
              <a:srgbClr val="0078C9"/>
            </a:solidFill>
            <a:prstDash val="solid"/>
          </a:ln>
        </p:spPr>
      </p:sp>
      <p:sp>
        <p:nvSpPr>
          <p:cNvPr id="245" name="hist-avg-tip"/>
          <p:cNvSpPr>
            <a:spLocks noGrp="1"/>
          </p:cNvSpPr>
          <p:nvPr/>
        </p:nvSpPr>
        <p:spPr>
          <a:xfrm>
            <a:off x="7654671" y="5458778"/>
            <a:ext cx="83058" cy="84772"/>
          </a:xfrm>
          <a:custGeom>
            <a:avLst/>
            <a:gdLst/>
            <a:ahLst/>
            <a:cxnLst/>
            <a:pathLst>
              <a:path w="83058" h="84772">
                <a:moveTo>
                  <a:pt x="41529" y="84772"/>
                </a:moveTo>
                <a:lnTo>
                  <a:pt x="8305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46" name="avg-init"/>
          <p:cNvSpPr>
            <a:spLocks noGrp="1"/>
          </p:cNvSpPr>
          <p:nvPr/>
        </p:nvSpPr>
        <p:spPr>
          <a:xfrm>
            <a:off x="8020050" y="5743575"/>
            <a:ext cx="95250" cy="4763"/>
          </a:xfrm>
          <a:custGeom>
            <a:avLst/>
            <a:gdLst/>
            <a:ahLst/>
            <a:cxnLst/>
            <a:pathLst>
              <a:path w="95250" h="4763">
                <a:moveTo>
                  <a:pt x="0" y="4763"/>
                </a:moveTo>
                <a:lnTo>
                  <a:pt x="952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47" name="avg-init-tip"/>
          <p:cNvSpPr>
            <a:spLocks noGrp="1"/>
          </p:cNvSpPr>
          <p:nvPr/>
        </p:nvSpPr>
        <p:spPr>
          <a:xfrm>
            <a:off x="8027589" y="5705998"/>
            <a:ext cx="87711" cy="83715"/>
          </a:xfrm>
          <a:custGeom>
            <a:avLst/>
            <a:gdLst/>
            <a:ahLst/>
            <a:cxnLst/>
            <a:pathLst>
              <a:path w="87711" h="83715">
                <a:moveTo>
                  <a:pt x="87711" y="37577"/>
                </a:moveTo>
                <a:lnTo>
                  <a:pt x="0" y="0"/>
                </a:lnTo>
                <a:lnTo>
                  <a:pt x="4186" y="83715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48" name="dec-0-frame"/>
          <p:cNvSpPr>
            <a:spLocks noGrp="1"/>
          </p:cNvSpPr>
          <p:nvPr/>
        </p:nvSpPr>
        <p:spPr>
          <a:xfrm>
            <a:off x="8772525" y="4914900"/>
            <a:ext cx="685800" cy="495300"/>
          </a:xfrm>
          <a:prstGeom prst="roundRect">
            <a:avLst>
              <a:gd name="adj" fmla="val 7692"/>
            </a:avLst>
          </a:prstGeom>
          <a:solidFill>
            <a:srgbClr val="E8F3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249" name="dec-0"/>
          <p:cNvSpPr>
            <a:spLocks noGrp="1"/>
          </p:cNvSpPr>
          <p:nvPr/>
        </p:nvSpPr>
        <p:spPr>
          <a:xfrm>
            <a:off x="8791575" y="4914900"/>
            <a:ext cx="647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1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自注意力</a:t>
            </a:r>
            <a:endParaRPr sz="71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1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自相关</a:t>
            </a:r>
            <a:endParaRPr sz="71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dec-1-frame"/>
          <p:cNvSpPr>
            <a:spLocks noGrp="1"/>
          </p:cNvSpPr>
          <p:nvPr/>
        </p:nvSpPr>
        <p:spPr>
          <a:xfrm>
            <a:off x="9572625" y="4914900"/>
            <a:ext cx="447675" cy="4953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1" name="dec-1"/>
          <p:cNvSpPr>
            <a:spLocks noGrp="1"/>
          </p:cNvSpPr>
          <p:nvPr/>
        </p:nvSpPr>
        <p:spPr>
          <a:xfrm>
            <a:off x="9591675" y="4914900"/>
            <a:ext cx="4095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sz="7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分解①</a:t>
            </a:r>
            <a:endParaRPr sz="7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2" name="dec-link-1"/>
          <p:cNvSpPr>
            <a:spLocks noGrp="1"/>
          </p:cNvSpPr>
          <p:nvPr/>
        </p:nvSpPr>
        <p:spPr>
          <a:xfrm>
            <a:off x="9458325" y="5162550"/>
            <a:ext cx="114300" cy="953"/>
          </a:xfrm>
          <a:custGeom>
            <a:avLst/>
            <a:gdLst/>
            <a:ahLst/>
            <a:cxnLst/>
            <a:pathLst>
              <a:path w="114300" h="953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53" name="dec-link-1-tip"/>
          <p:cNvSpPr>
            <a:spLocks noGrp="1"/>
          </p:cNvSpPr>
          <p:nvPr/>
        </p:nvSpPr>
        <p:spPr>
          <a:xfrm>
            <a:off x="9486900" y="51206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54" name="dec-2-frame"/>
          <p:cNvSpPr>
            <a:spLocks noGrp="1"/>
          </p:cNvSpPr>
          <p:nvPr/>
        </p:nvSpPr>
        <p:spPr>
          <a:xfrm>
            <a:off x="10134600" y="4914900"/>
            <a:ext cx="752475" cy="495300"/>
          </a:xfrm>
          <a:prstGeom prst="roundRect">
            <a:avLst>
              <a:gd name="adj" fmla="val 7692"/>
            </a:avLst>
          </a:prstGeom>
          <a:solidFill>
            <a:srgbClr val="E8F3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255" name="dec-2"/>
          <p:cNvSpPr>
            <a:spLocks noGrp="1"/>
          </p:cNvSpPr>
          <p:nvPr/>
        </p:nvSpPr>
        <p:spPr>
          <a:xfrm>
            <a:off x="10153650" y="4914900"/>
            <a:ext cx="714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交叉注意力</a:t>
            </a:r>
            <a:endParaRPr sz="7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自相关</a:t>
            </a:r>
            <a:endParaRPr sz="7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6" name="dec-link-2"/>
          <p:cNvSpPr>
            <a:spLocks noGrp="1"/>
          </p:cNvSpPr>
          <p:nvPr/>
        </p:nvSpPr>
        <p:spPr>
          <a:xfrm>
            <a:off x="10020300" y="5162550"/>
            <a:ext cx="114300" cy="953"/>
          </a:xfrm>
          <a:custGeom>
            <a:avLst/>
            <a:gdLst/>
            <a:ahLst/>
            <a:cxnLst/>
            <a:pathLst>
              <a:path w="114300" h="953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57" name="dec-link-2-tip"/>
          <p:cNvSpPr>
            <a:spLocks noGrp="1"/>
          </p:cNvSpPr>
          <p:nvPr/>
        </p:nvSpPr>
        <p:spPr>
          <a:xfrm>
            <a:off x="10048875" y="51206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58" name="dec-3-frame"/>
          <p:cNvSpPr>
            <a:spLocks noGrp="1"/>
          </p:cNvSpPr>
          <p:nvPr/>
        </p:nvSpPr>
        <p:spPr>
          <a:xfrm>
            <a:off x="10982325" y="4914900"/>
            <a:ext cx="438150" cy="495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9" name="dec-3"/>
          <p:cNvSpPr>
            <a:spLocks noGrp="1"/>
          </p:cNvSpPr>
          <p:nvPr/>
        </p:nvSpPr>
        <p:spPr>
          <a:xfrm>
            <a:off x="11001375" y="4914900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sz="7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分解②</a:t>
            </a:r>
            <a:endParaRPr sz="7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0" name="dec-link-3"/>
          <p:cNvSpPr>
            <a:spLocks noGrp="1"/>
          </p:cNvSpPr>
          <p:nvPr/>
        </p:nvSpPr>
        <p:spPr>
          <a:xfrm>
            <a:off x="10887075" y="5162550"/>
            <a:ext cx="95250" cy="953"/>
          </a:xfrm>
          <a:custGeom>
            <a:avLst/>
            <a:gdLst/>
            <a:ahLst/>
            <a:cxnLst/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61" name="dec-link-3-tip"/>
          <p:cNvSpPr>
            <a:spLocks noGrp="1"/>
          </p:cNvSpPr>
          <p:nvPr/>
        </p:nvSpPr>
        <p:spPr>
          <a:xfrm>
            <a:off x="10896600" y="51206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62" name="dec-4-frame"/>
          <p:cNvSpPr>
            <a:spLocks noGrp="1"/>
          </p:cNvSpPr>
          <p:nvPr/>
        </p:nvSpPr>
        <p:spPr>
          <a:xfrm>
            <a:off x="11515725" y="4914900"/>
            <a:ext cx="419100" cy="495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63" name="dec-4"/>
          <p:cNvSpPr>
            <a:spLocks noGrp="1"/>
          </p:cNvSpPr>
          <p:nvPr/>
        </p:nvSpPr>
        <p:spPr>
          <a:xfrm>
            <a:off x="11534775" y="4914900"/>
            <a:ext cx="38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前馈</a:t>
            </a:r>
            <a:endParaRPr sz="7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sz="7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dec-link-4"/>
          <p:cNvSpPr>
            <a:spLocks noGrp="1"/>
          </p:cNvSpPr>
          <p:nvPr/>
        </p:nvSpPr>
        <p:spPr>
          <a:xfrm>
            <a:off x="11420475" y="5162550"/>
            <a:ext cx="95250" cy="953"/>
          </a:xfrm>
          <a:custGeom>
            <a:avLst/>
            <a:gdLst/>
            <a:ahLst/>
            <a:cxnLst/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65" name="dec-link-4-tip"/>
          <p:cNvSpPr>
            <a:spLocks noGrp="1"/>
          </p:cNvSpPr>
          <p:nvPr/>
        </p:nvSpPr>
        <p:spPr>
          <a:xfrm>
            <a:off x="11430000" y="51206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66" name="dec-5-frame"/>
          <p:cNvSpPr>
            <a:spLocks noGrp="1"/>
          </p:cNvSpPr>
          <p:nvPr/>
        </p:nvSpPr>
        <p:spPr>
          <a:xfrm>
            <a:off x="12030075" y="4914900"/>
            <a:ext cx="438150" cy="495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67" name="dec-5"/>
          <p:cNvSpPr>
            <a:spLocks noGrp="1"/>
          </p:cNvSpPr>
          <p:nvPr/>
        </p:nvSpPr>
        <p:spPr>
          <a:xfrm>
            <a:off x="12049125" y="4914900"/>
            <a:ext cx="40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sz="7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分解③</a:t>
            </a:r>
            <a:endParaRPr sz="7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8" name="dec-link-5"/>
          <p:cNvSpPr>
            <a:spLocks noGrp="1"/>
          </p:cNvSpPr>
          <p:nvPr/>
        </p:nvSpPr>
        <p:spPr>
          <a:xfrm>
            <a:off x="11934825" y="5162550"/>
            <a:ext cx="95250" cy="953"/>
          </a:xfrm>
          <a:custGeom>
            <a:avLst/>
            <a:gdLst/>
            <a:ahLst/>
            <a:cxnLst/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69" name="dec-link-5-tip"/>
          <p:cNvSpPr>
            <a:spLocks noGrp="1"/>
          </p:cNvSpPr>
          <p:nvPr/>
        </p:nvSpPr>
        <p:spPr>
          <a:xfrm>
            <a:off x="11944350" y="51206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70" name="dec-6-frame"/>
          <p:cNvSpPr>
            <a:spLocks noGrp="1"/>
          </p:cNvSpPr>
          <p:nvPr/>
        </p:nvSpPr>
        <p:spPr>
          <a:xfrm>
            <a:off x="12573000" y="4914900"/>
            <a:ext cx="457200" cy="495300"/>
          </a:xfrm>
          <a:prstGeom prst="roundRect">
            <a:avLst>
              <a:gd name="adj" fmla="val 8333"/>
            </a:avLst>
          </a:prstGeom>
          <a:solidFill>
            <a:srgbClr val="E8F3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271" name="dec-6"/>
          <p:cNvSpPr>
            <a:spLocks noGrp="1"/>
          </p:cNvSpPr>
          <p:nvPr/>
        </p:nvSpPr>
        <p:spPr>
          <a:xfrm>
            <a:off x="12592050" y="4914900"/>
            <a:ext cx="419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季节项</a:t>
            </a:r>
            <a:endParaRPr sz="8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8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2" name="dec-link-6"/>
          <p:cNvSpPr>
            <a:spLocks noGrp="1"/>
          </p:cNvSpPr>
          <p:nvPr/>
        </p:nvSpPr>
        <p:spPr>
          <a:xfrm>
            <a:off x="12468225" y="5162550"/>
            <a:ext cx="104775" cy="953"/>
          </a:xfrm>
          <a:custGeom>
            <a:avLst/>
            <a:gdLst/>
            <a:ahLst/>
            <a:cxnLst/>
            <a:pathLst>
              <a:path w="104775" h="953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73" name="dec-link-6-tip"/>
          <p:cNvSpPr>
            <a:spLocks noGrp="1"/>
          </p:cNvSpPr>
          <p:nvPr/>
        </p:nvSpPr>
        <p:spPr>
          <a:xfrm>
            <a:off x="12487275" y="51206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74" name="init-dec"/>
          <p:cNvSpPr>
            <a:spLocks noGrp="1"/>
          </p:cNvSpPr>
          <p:nvPr/>
        </p:nvSpPr>
        <p:spPr>
          <a:xfrm>
            <a:off x="8648700" y="5162550"/>
            <a:ext cx="123825" cy="504825"/>
          </a:xfrm>
          <a:custGeom>
            <a:avLst/>
            <a:gdLst/>
            <a:ahLst/>
            <a:cxnLst/>
            <a:pathLst>
              <a:path w="123825" h="504825">
                <a:moveTo>
                  <a:pt x="0" y="504825"/>
                </a:moveTo>
                <a:lnTo>
                  <a:pt x="66675" y="504825"/>
                </a:lnTo>
                <a:lnTo>
                  <a:pt x="66675" y="0"/>
                </a:lnTo>
                <a:lnTo>
                  <a:pt x="123825" y="0"/>
                </a:lnTo>
              </a:path>
            </a:pathLst>
          </a:custGeom>
          <a:noFill/>
          <a:ln w="16193">
            <a:solidFill>
              <a:srgbClr val="0078C9"/>
            </a:solidFill>
            <a:prstDash val="solid"/>
          </a:ln>
        </p:spPr>
      </p:sp>
      <p:sp>
        <p:nvSpPr>
          <p:cNvPr id="275" name="init-dec-tip"/>
          <p:cNvSpPr>
            <a:spLocks noGrp="1"/>
          </p:cNvSpPr>
          <p:nvPr/>
        </p:nvSpPr>
        <p:spPr>
          <a:xfrm>
            <a:off x="8688229" y="5121212"/>
            <a:ext cx="84296" cy="82677"/>
          </a:xfrm>
          <a:custGeom>
            <a:avLst/>
            <a:gdLst/>
            <a:ahLst/>
            <a:cxnLst/>
            <a:pathLst>
              <a:path w="84296" h="82677">
                <a:moveTo>
                  <a:pt x="84296" y="41339"/>
                </a:moveTo>
                <a:lnTo>
                  <a:pt x="0" y="0"/>
                </a:lnTo>
                <a:lnTo>
                  <a:pt x="0" y="82677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76" name="encoder-cross"/>
          <p:cNvSpPr>
            <a:spLocks noGrp="1"/>
          </p:cNvSpPr>
          <p:nvPr/>
        </p:nvSpPr>
        <p:spPr>
          <a:xfrm>
            <a:off x="10506075" y="4124325"/>
            <a:ext cx="2362200" cy="790575"/>
          </a:xfrm>
          <a:custGeom>
            <a:avLst/>
            <a:gdLst/>
            <a:ahLst/>
            <a:cxnLst/>
            <a:pathLst>
              <a:path w="2362200" h="790575">
                <a:moveTo>
                  <a:pt x="2362200" y="0"/>
                </a:moveTo>
                <a:lnTo>
                  <a:pt x="2362200" y="514350"/>
                </a:lnTo>
                <a:lnTo>
                  <a:pt x="0" y="514350"/>
                </a:lnTo>
                <a:lnTo>
                  <a:pt x="0" y="790575"/>
                </a:lnTo>
              </a:path>
            </a:pathLst>
          </a:custGeom>
          <a:noFill/>
          <a:ln w="17145">
            <a:solidFill>
              <a:srgbClr val="0078C9"/>
            </a:solidFill>
            <a:prstDash val="solid"/>
          </a:ln>
        </p:spPr>
      </p:sp>
      <p:sp>
        <p:nvSpPr>
          <p:cNvPr id="277" name="encoder-cross-tip"/>
          <p:cNvSpPr>
            <a:spLocks noGrp="1"/>
          </p:cNvSpPr>
          <p:nvPr/>
        </p:nvSpPr>
        <p:spPr>
          <a:xfrm>
            <a:off x="10464546" y="4830128"/>
            <a:ext cx="83058" cy="84772"/>
          </a:xfrm>
          <a:custGeom>
            <a:avLst/>
            <a:gdLst/>
            <a:ahLst/>
            <a:cxnLst/>
            <a:pathLst>
              <a:path w="83058" h="84772">
                <a:moveTo>
                  <a:pt x="41529" y="84772"/>
                </a:moveTo>
                <a:lnTo>
                  <a:pt x="8305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78" name="trend-0-frame"/>
          <p:cNvSpPr>
            <a:spLocks noGrp="1"/>
          </p:cNvSpPr>
          <p:nvPr/>
        </p:nvSpPr>
        <p:spPr>
          <a:xfrm>
            <a:off x="8772525" y="6010275"/>
            <a:ext cx="542925" cy="333375"/>
          </a:xfrm>
          <a:prstGeom prst="roundRect">
            <a:avLst>
              <a:gd name="adj" fmla="val 11429"/>
            </a:avLst>
          </a:prstGeom>
          <a:solidFill>
            <a:srgbClr val="FFF2E6"/>
          </a:solidFill>
          <a:ln w="9525">
            <a:solidFill>
              <a:srgbClr val="D99762"/>
            </a:solidFill>
            <a:prstDash val="solid"/>
          </a:ln>
        </p:spPr>
      </p:sp>
      <p:sp>
        <p:nvSpPr>
          <p:cNvPr id="279" name="trend-0"/>
          <p:cNvSpPr>
            <a:spLocks noGrp="1"/>
          </p:cNvSpPr>
          <p:nvPr/>
        </p:nvSpPr>
        <p:spPr>
          <a:xfrm>
            <a:off x="8791575" y="6010275"/>
            <a:ext cx="5048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90" b="0">
                <a:solidFill>
                  <a:srgbClr val="AC54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AC54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趋势项初值</a:t>
            </a:r>
            <a:endParaRPr sz="790" b="0">
              <a:solidFill>
                <a:srgbClr val="AC54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0" name="trend-1-frame"/>
          <p:cNvSpPr>
            <a:spLocks noGrp="1"/>
          </p:cNvSpPr>
          <p:nvPr/>
        </p:nvSpPr>
        <p:spPr>
          <a:xfrm>
            <a:off x="9515475" y="6010275"/>
            <a:ext cx="542925" cy="333375"/>
          </a:xfrm>
          <a:prstGeom prst="roundRect">
            <a:avLst>
              <a:gd name="adj" fmla="val 11429"/>
            </a:avLst>
          </a:prstGeom>
          <a:solidFill>
            <a:srgbClr val="FFF2E6"/>
          </a:solidFill>
          <a:ln w="9525">
            <a:solidFill>
              <a:srgbClr val="D99762"/>
            </a:solidFill>
            <a:prstDash val="solid"/>
          </a:ln>
        </p:spPr>
      </p:sp>
      <p:sp>
        <p:nvSpPr>
          <p:cNvPr id="281" name="trend-1"/>
          <p:cNvSpPr>
            <a:spLocks noGrp="1"/>
          </p:cNvSpPr>
          <p:nvPr/>
        </p:nvSpPr>
        <p:spPr>
          <a:xfrm>
            <a:off x="9534525" y="6010275"/>
            <a:ext cx="5048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 b="0">
                <a:solidFill>
                  <a:srgbClr val="AC54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C54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趋势项①</a:t>
            </a:r>
            <a:endParaRPr sz="825" b="0">
              <a:solidFill>
                <a:srgbClr val="AC54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2" name="plus-1"/>
          <p:cNvSpPr>
            <a:spLocks noGrp="1"/>
          </p:cNvSpPr>
          <p:nvPr/>
        </p:nvSpPr>
        <p:spPr>
          <a:xfrm>
            <a:off x="9315450" y="6038850"/>
            <a:ext cx="180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1950" b="1">
              <a:solidFill>
                <a:srgbClr val="007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3" name="trend-2-frame"/>
          <p:cNvSpPr>
            <a:spLocks noGrp="1"/>
          </p:cNvSpPr>
          <p:nvPr/>
        </p:nvSpPr>
        <p:spPr>
          <a:xfrm>
            <a:off x="10248900" y="6010275"/>
            <a:ext cx="542925" cy="333375"/>
          </a:xfrm>
          <a:prstGeom prst="roundRect">
            <a:avLst>
              <a:gd name="adj" fmla="val 11429"/>
            </a:avLst>
          </a:prstGeom>
          <a:solidFill>
            <a:srgbClr val="FFF2E6"/>
          </a:solidFill>
          <a:ln w="9525">
            <a:solidFill>
              <a:srgbClr val="D99762"/>
            </a:solidFill>
            <a:prstDash val="solid"/>
          </a:ln>
        </p:spPr>
      </p:sp>
      <p:sp>
        <p:nvSpPr>
          <p:cNvPr id="284" name="trend-2"/>
          <p:cNvSpPr>
            <a:spLocks noGrp="1"/>
          </p:cNvSpPr>
          <p:nvPr/>
        </p:nvSpPr>
        <p:spPr>
          <a:xfrm>
            <a:off x="10267950" y="6010275"/>
            <a:ext cx="5048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 b="0">
                <a:solidFill>
                  <a:srgbClr val="AC54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C54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趋势项②</a:t>
            </a:r>
            <a:endParaRPr sz="825" b="0">
              <a:solidFill>
                <a:srgbClr val="AC54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5" name="plus-2"/>
          <p:cNvSpPr>
            <a:spLocks noGrp="1"/>
          </p:cNvSpPr>
          <p:nvPr/>
        </p:nvSpPr>
        <p:spPr>
          <a:xfrm>
            <a:off x="10048875" y="6038850"/>
            <a:ext cx="180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1950" b="1">
              <a:solidFill>
                <a:srgbClr val="007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6" name="trend-3-frame"/>
          <p:cNvSpPr>
            <a:spLocks noGrp="1"/>
          </p:cNvSpPr>
          <p:nvPr/>
        </p:nvSpPr>
        <p:spPr>
          <a:xfrm>
            <a:off x="10982325" y="6010275"/>
            <a:ext cx="542925" cy="333375"/>
          </a:xfrm>
          <a:prstGeom prst="roundRect">
            <a:avLst>
              <a:gd name="adj" fmla="val 11429"/>
            </a:avLst>
          </a:prstGeom>
          <a:solidFill>
            <a:srgbClr val="FFF2E6"/>
          </a:solidFill>
          <a:ln w="9525">
            <a:solidFill>
              <a:srgbClr val="D99762"/>
            </a:solidFill>
            <a:prstDash val="solid"/>
          </a:ln>
        </p:spPr>
      </p:sp>
      <p:sp>
        <p:nvSpPr>
          <p:cNvPr id="287" name="trend-3"/>
          <p:cNvSpPr>
            <a:spLocks noGrp="1"/>
          </p:cNvSpPr>
          <p:nvPr/>
        </p:nvSpPr>
        <p:spPr>
          <a:xfrm>
            <a:off x="11001375" y="6010275"/>
            <a:ext cx="5048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25" b="0">
                <a:solidFill>
                  <a:srgbClr val="AC54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AC54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趋势项③</a:t>
            </a:r>
            <a:endParaRPr sz="825" b="0">
              <a:solidFill>
                <a:srgbClr val="AC54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8" name="plus-3"/>
          <p:cNvSpPr>
            <a:spLocks noGrp="1"/>
          </p:cNvSpPr>
          <p:nvPr/>
        </p:nvSpPr>
        <p:spPr>
          <a:xfrm>
            <a:off x="10782300" y="6038850"/>
            <a:ext cx="180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1950" b="1">
              <a:solidFill>
                <a:srgbClr val="007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9" name="init-trend"/>
          <p:cNvSpPr>
            <a:spLocks noGrp="1"/>
          </p:cNvSpPr>
          <p:nvPr/>
        </p:nvSpPr>
        <p:spPr>
          <a:xfrm>
            <a:off x="8382000" y="6019800"/>
            <a:ext cx="390525" cy="161925"/>
          </a:xfrm>
          <a:custGeom>
            <a:avLst/>
            <a:gdLst/>
            <a:ahLst/>
            <a:cxnLst/>
            <a:pathLst>
              <a:path w="390525" h="161925">
                <a:moveTo>
                  <a:pt x="0" y="0"/>
                </a:moveTo>
                <a:lnTo>
                  <a:pt x="0" y="161925"/>
                </a:lnTo>
                <a:lnTo>
                  <a:pt x="390525" y="161925"/>
                </a:lnTo>
              </a:path>
            </a:pathLst>
          </a:custGeom>
          <a:noFill/>
          <a:ln w="17145">
            <a:solidFill>
              <a:srgbClr val="0078C9"/>
            </a:solidFill>
            <a:prstDash val="solid"/>
          </a:ln>
        </p:spPr>
      </p:sp>
      <p:sp>
        <p:nvSpPr>
          <p:cNvPr id="290" name="init-trend-tip"/>
          <p:cNvSpPr>
            <a:spLocks noGrp="1"/>
          </p:cNvSpPr>
          <p:nvPr/>
        </p:nvSpPr>
        <p:spPr>
          <a:xfrm>
            <a:off x="8687753" y="6140196"/>
            <a:ext cx="84772" cy="83058"/>
          </a:xfrm>
          <a:custGeom>
            <a:avLst/>
            <a:gdLst/>
            <a:ahLst/>
            <a:cxnLst/>
            <a:pathLst>
              <a:path w="84772" h="83058">
                <a:moveTo>
                  <a:pt x="84772" y="41529"/>
                </a:moveTo>
                <a:lnTo>
                  <a:pt x="0" y="0"/>
                </a:lnTo>
                <a:lnTo>
                  <a:pt x="0" y="83058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91" name="trend-output-frame"/>
          <p:cNvSpPr>
            <a:spLocks noGrp="1"/>
          </p:cNvSpPr>
          <p:nvPr/>
        </p:nvSpPr>
        <p:spPr>
          <a:xfrm>
            <a:off x="11658600" y="6010275"/>
            <a:ext cx="962025" cy="333375"/>
          </a:xfrm>
          <a:prstGeom prst="roundRect">
            <a:avLst>
              <a:gd name="adj" fmla="val 11429"/>
            </a:avLst>
          </a:prstGeom>
          <a:solidFill>
            <a:srgbClr val="FFF2E6"/>
          </a:solidFill>
          <a:ln w="9525">
            <a:solidFill>
              <a:srgbClr val="D99762"/>
            </a:solidFill>
            <a:prstDash val="solid"/>
          </a:ln>
        </p:spPr>
      </p:sp>
      <p:sp>
        <p:nvSpPr>
          <p:cNvPr id="292" name="trend-output"/>
          <p:cNvSpPr>
            <a:spLocks noGrp="1"/>
          </p:cNvSpPr>
          <p:nvPr/>
        </p:nvSpPr>
        <p:spPr>
          <a:xfrm>
            <a:off x="11677650" y="6010275"/>
            <a:ext cx="923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AC54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AC54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趋势项输出</a:t>
            </a:r>
            <a:endParaRPr sz="940" b="0">
              <a:solidFill>
                <a:srgbClr val="AC54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3" name="trend-final"/>
          <p:cNvSpPr>
            <a:spLocks noGrp="1"/>
          </p:cNvSpPr>
          <p:nvPr/>
        </p:nvSpPr>
        <p:spPr>
          <a:xfrm>
            <a:off x="11525250" y="6176963"/>
            <a:ext cx="133350" cy="953"/>
          </a:xfrm>
          <a:custGeom>
            <a:avLst/>
            <a:gdLst/>
            <a:ahLst/>
            <a:cxnLst/>
            <a:pathLst>
              <a:path w="133350" h="953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294" name="trend-final-tip"/>
          <p:cNvSpPr>
            <a:spLocks noGrp="1"/>
          </p:cNvSpPr>
          <p:nvPr/>
        </p:nvSpPr>
        <p:spPr>
          <a:xfrm>
            <a:off x="11572875" y="6135053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295" name="decoder-pred-frame"/>
          <p:cNvSpPr>
            <a:spLocks noGrp="1"/>
          </p:cNvSpPr>
          <p:nvPr/>
        </p:nvSpPr>
        <p:spPr>
          <a:xfrm>
            <a:off x="12668250" y="5524500"/>
            <a:ext cx="619125" cy="457200"/>
          </a:xfrm>
          <a:prstGeom prst="roundRect">
            <a:avLst>
              <a:gd name="adj" fmla="val 8333"/>
            </a:avLst>
          </a:prstGeom>
          <a:solidFill>
            <a:srgbClr val="EDF5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296" name="decoder-pred"/>
          <p:cNvSpPr>
            <a:spLocks noGrp="1"/>
          </p:cNvSpPr>
          <p:nvPr/>
        </p:nvSpPr>
        <p:spPr>
          <a:xfrm>
            <a:off x="12687300" y="5524500"/>
            <a:ext cx="5810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WPFormer预测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74" name="图片 673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34642" y="5762625"/>
            <a:ext cx="295866" cy="190500"/>
          </a:xfrm>
          <a:prstGeom prst="rect">
            <a:avLst/>
          </a:prstGeom>
        </p:spPr>
      </p:pic>
      <p:sp>
        <p:nvSpPr>
          <p:cNvPr id="298" name="prediction-sum"/>
          <p:cNvSpPr>
            <a:spLocks noGrp="1"/>
          </p:cNvSpPr>
          <p:nvPr/>
        </p:nvSpPr>
        <p:spPr>
          <a:xfrm>
            <a:off x="13020675" y="5381625"/>
            <a:ext cx="190500" cy="1905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78C9"/>
            </a:solidFill>
          </a:ln>
        </p:spPr>
      </p:sp>
      <p:sp>
        <p:nvSpPr>
          <p:cNvPr id="299" name="prediction-sum-txt"/>
          <p:cNvSpPr>
            <a:spLocks noGrp="1"/>
          </p:cNvSpPr>
          <p:nvPr/>
        </p:nvSpPr>
        <p:spPr>
          <a:xfrm>
            <a:off x="13020675" y="538162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7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1500" b="0">
              <a:solidFill>
                <a:srgbClr val="007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" name="season-sum"/>
          <p:cNvSpPr>
            <a:spLocks noGrp="1"/>
          </p:cNvSpPr>
          <p:nvPr/>
        </p:nvSpPr>
        <p:spPr>
          <a:xfrm>
            <a:off x="13030200" y="5162550"/>
            <a:ext cx="85725" cy="219075"/>
          </a:xfrm>
          <a:custGeom>
            <a:avLst/>
            <a:gdLst/>
            <a:ahLst/>
            <a:cxnLst/>
            <a:pathLst>
              <a:path w="85725" h="219075">
                <a:moveTo>
                  <a:pt x="0" y="0"/>
                </a:moveTo>
                <a:lnTo>
                  <a:pt x="85725" y="0"/>
                </a:lnTo>
                <a:lnTo>
                  <a:pt x="85725" y="219075"/>
                </a:lnTo>
              </a:path>
            </a:pathLst>
          </a:custGeom>
          <a:noFill/>
          <a:ln w="17145">
            <a:solidFill>
              <a:srgbClr val="0078C9"/>
            </a:solidFill>
            <a:prstDash val="solid"/>
          </a:ln>
        </p:spPr>
      </p:sp>
      <p:sp>
        <p:nvSpPr>
          <p:cNvPr id="301" name="season-sum-tip"/>
          <p:cNvSpPr>
            <a:spLocks noGrp="1"/>
          </p:cNvSpPr>
          <p:nvPr/>
        </p:nvSpPr>
        <p:spPr>
          <a:xfrm>
            <a:off x="13074396" y="5296853"/>
            <a:ext cx="83058" cy="84772"/>
          </a:xfrm>
          <a:custGeom>
            <a:avLst/>
            <a:gdLst/>
            <a:ahLst/>
            <a:cxnLst/>
            <a:pathLst>
              <a:path w="83058" h="84772">
                <a:moveTo>
                  <a:pt x="41529" y="84772"/>
                </a:moveTo>
                <a:lnTo>
                  <a:pt x="8305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302" name="trend-sum"/>
          <p:cNvSpPr>
            <a:spLocks noGrp="1"/>
          </p:cNvSpPr>
          <p:nvPr/>
        </p:nvSpPr>
        <p:spPr>
          <a:xfrm>
            <a:off x="12620625" y="5981700"/>
            <a:ext cx="495300" cy="200025"/>
          </a:xfrm>
          <a:custGeom>
            <a:avLst/>
            <a:gdLst/>
            <a:ahLst/>
            <a:cxnLst/>
            <a:pathLst>
              <a:path w="495300" h="200025">
                <a:moveTo>
                  <a:pt x="0" y="200025"/>
                </a:moveTo>
                <a:lnTo>
                  <a:pt x="495300" y="200025"/>
                </a:lnTo>
                <a:lnTo>
                  <a:pt x="495300" y="0"/>
                </a:lnTo>
              </a:path>
            </a:pathLst>
          </a:custGeom>
          <a:noFill/>
          <a:ln w="17145">
            <a:solidFill>
              <a:srgbClr val="0078C9"/>
            </a:solidFill>
            <a:prstDash val="solid"/>
          </a:ln>
        </p:spPr>
      </p:sp>
      <p:sp>
        <p:nvSpPr>
          <p:cNvPr id="303" name="trend-sum-tip"/>
          <p:cNvSpPr>
            <a:spLocks noGrp="1"/>
          </p:cNvSpPr>
          <p:nvPr/>
        </p:nvSpPr>
        <p:spPr>
          <a:xfrm>
            <a:off x="13074396" y="5981700"/>
            <a:ext cx="83058" cy="84772"/>
          </a:xfrm>
          <a:custGeom>
            <a:avLst/>
            <a:gdLst/>
            <a:ahLst/>
            <a:cxnLst/>
            <a:pathLst>
              <a:path w="83058" h="84772">
                <a:moveTo>
                  <a:pt x="41529" y="0"/>
                </a:moveTo>
                <a:lnTo>
                  <a:pt x="0" y="84772"/>
                </a:lnTo>
                <a:lnTo>
                  <a:pt x="83058" y="84772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304" name="core-note"/>
          <p:cNvSpPr>
            <a:spLocks noGrp="1"/>
          </p:cNvSpPr>
          <p:nvPr/>
        </p:nvSpPr>
        <p:spPr>
          <a:xfrm>
            <a:off x="7419975" y="6724650"/>
            <a:ext cx="5819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多头注意力学习局部突变，自相关建模长时依赖，多次分解抑制随机波动并提取趋势。</a:t>
            </a:r>
            <a:endParaRPr sz="112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5" name="encoding-core"/>
          <p:cNvSpPr>
            <a:spLocks noGrp="1"/>
          </p:cNvSpPr>
          <p:nvPr/>
        </p:nvSpPr>
        <p:spPr>
          <a:xfrm>
            <a:off x="6867525" y="3514725"/>
            <a:ext cx="400050" cy="3381375"/>
          </a:xfrm>
          <a:custGeom>
            <a:avLst/>
            <a:gdLst/>
            <a:ahLst/>
            <a:cxnLst/>
            <a:pathLst>
              <a:path w="400050" h="3381375">
                <a:moveTo>
                  <a:pt x="0" y="3381375"/>
                </a:moveTo>
                <a:lnTo>
                  <a:pt x="200025" y="3381375"/>
                </a:lnTo>
                <a:lnTo>
                  <a:pt x="200025" y="0"/>
                </a:lnTo>
                <a:lnTo>
                  <a:pt x="400050" y="0"/>
                </a:lnTo>
              </a:path>
            </a:pathLst>
          </a:custGeom>
          <a:noFill/>
          <a:ln w="28575">
            <a:solidFill>
              <a:srgbClr val="00AAA4"/>
            </a:solidFill>
            <a:prstDash val="solid"/>
          </a:ln>
        </p:spPr>
      </p:sp>
      <p:sp>
        <p:nvSpPr>
          <p:cNvPr id="306" name="encoding-core-tip"/>
          <p:cNvSpPr>
            <a:spLocks noGrp="1"/>
          </p:cNvSpPr>
          <p:nvPr/>
        </p:nvSpPr>
        <p:spPr>
          <a:xfrm>
            <a:off x="7177088" y="3470910"/>
            <a:ext cx="90488" cy="87630"/>
          </a:xfrm>
          <a:custGeom>
            <a:avLst/>
            <a:gdLst/>
            <a:ahLst/>
            <a:cxnLst/>
            <a:pathLst>
              <a:path w="90488" h="87630">
                <a:moveTo>
                  <a:pt x="90488" y="43815"/>
                </a:moveTo>
                <a:lnTo>
                  <a:pt x="0" y="0"/>
                </a:lnTo>
                <a:lnTo>
                  <a:pt x="0" y="87630"/>
                </a:lnTo>
                <a:close/>
              </a:path>
            </a:pathLst>
          </a:custGeom>
          <a:solidFill>
            <a:srgbClr val="00AAA4"/>
          </a:solidFill>
          <a:ln w="0">
            <a:noFill/>
          </a:ln>
        </p:spPr>
      </p:sp>
      <p:sp>
        <p:nvSpPr>
          <p:cNvPr id="307" name="pop"/>
          <p:cNvSpPr>
            <a:spLocks noGrp="1"/>
          </p:cNvSpPr>
          <p:nvPr/>
        </p:nvSpPr>
        <p:spPr>
          <a:xfrm>
            <a:off x="5943600" y="7229475"/>
            <a:ext cx="7486650" cy="1076325"/>
          </a:xfrm>
          <a:prstGeom prst="roundRect">
            <a:avLst>
              <a:gd name="adj" fmla="val 6195"/>
            </a:avLst>
          </a:prstGeom>
          <a:solidFill>
            <a:srgbClr val="F0FCFF"/>
          </a:solidFill>
          <a:ln w="9525">
            <a:solidFill>
              <a:srgbClr val="77CCEC"/>
            </a:solidFill>
            <a:prstDash val="solid"/>
          </a:ln>
        </p:spPr>
      </p:sp>
      <p:sp>
        <p:nvSpPr>
          <p:cNvPr id="308" name="pop-title"/>
          <p:cNvSpPr>
            <a:spLocks noGrp="1"/>
          </p:cNvSpPr>
          <p:nvPr/>
        </p:nvSpPr>
        <p:spPr>
          <a:xfrm>
            <a:off x="6019800" y="7267575"/>
            <a:ext cx="733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POPtree并行预测（辅助集成）</a:t>
            </a:r>
            <a:endParaRPr sz="13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9" name="pop-0-frame"/>
          <p:cNvSpPr>
            <a:spLocks noGrp="1"/>
          </p:cNvSpPr>
          <p:nvPr/>
        </p:nvSpPr>
        <p:spPr>
          <a:xfrm>
            <a:off x="6076950" y="7553325"/>
            <a:ext cx="714375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98A8B0"/>
            </a:solidFill>
            <a:prstDash val="solid"/>
          </a:ln>
        </p:spPr>
      </p:sp>
      <p:sp>
        <p:nvSpPr>
          <p:cNvPr id="310" name="pop-0"/>
          <p:cNvSpPr>
            <a:spLocks noGrp="1"/>
          </p:cNvSpPr>
          <p:nvPr/>
        </p:nvSpPr>
        <p:spPr>
          <a:xfrm>
            <a:off x="6096000" y="7553325"/>
            <a:ext cx="676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历史风功率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(134 × T)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1" name="pop-1-frame"/>
          <p:cNvSpPr>
            <a:spLocks noGrp="1"/>
          </p:cNvSpPr>
          <p:nvPr/>
        </p:nvSpPr>
        <p:spPr>
          <a:xfrm>
            <a:off x="6981825" y="7553325"/>
            <a:ext cx="1038225" cy="67627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98A8B0"/>
            </a:solidFill>
            <a:prstDash val="solid"/>
          </a:ln>
        </p:spPr>
      </p:sp>
      <p:sp>
        <p:nvSpPr>
          <p:cNvPr id="312" name="pop-1"/>
          <p:cNvSpPr>
            <a:spLocks noGrp="1"/>
          </p:cNvSpPr>
          <p:nvPr/>
        </p:nvSpPr>
        <p:spPr>
          <a:xfrm>
            <a:off x="6981825" y="7591425"/>
            <a:ext cx="103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K-shape聚类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134台 → 39类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3" name="poplink-1"/>
          <p:cNvSpPr>
            <a:spLocks noGrp="1"/>
          </p:cNvSpPr>
          <p:nvPr/>
        </p:nvSpPr>
        <p:spPr>
          <a:xfrm>
            <a:off x="6791325" y="7800975"/>
            <a:ext cx="190500" cy="90488"/>
          </a:xfrm>
          <a:custGeom>
            <a:avLst/>
            <a:gdLst/>
            <a:ahLst/>
            <a:cxnLst/>
            <a:pathLst>
              <a:path w="190500" h="90488">
                <a:moveTo>
                  <a:pt x="0" y="0"/>
                </a:moveTo>
                <a:lnTo>
                  <a:pt x="190500" y="90488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314" name="poplink-1-tip"/>
          <p:cNvSpPr>
            <a:spLocks noGrp="1"/>
          </p:cNvSpPr>
          <p:nvPr/>
        </p:nvSpPr>
        <p:spPr>
          <a:xfrm>
            <a:off x="6886410" y="7816825"/>
            <a:ext cx="95415" cy="75713"/>
          </a:xfrm>
          <a:custGeom>
            <a:avLst/>
            <a:gdLst/>
            <a:ahLst/>
            <a:cxnLst/>
            <a:pathLst>
              <a:path w="95415" h="75713">
                <a:moveTo>
                  <a:pt x="95415" y="74637"/>
                </a:moveTo>
                <a:lnTo>
                  <a:pt x="35964" y="0"/>
                </a:lnTo>
                <a:lnTo>
                  <a:pt x="0" y="75713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315" name="pop-2-frame"/>
          <p:cNvSpPr>
            <a:spLocks noGrp="1"/>
          </p:cNvSpPr>
          <p:nvPr/>
        </p:nvSpPr>
        <p:spPr>
          <a:xfrm>
            <a:off x="8210550" y="7553325"/>
            <a:ext cx="923925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98A8B0"/>
            </a:solidFill>
            <a:prstDash val="solid"/>
          </a:ln>
        </p:spPr>
      </p:sp>
      <p:sp>
        <p:nvSpPr>
          <p:cNvPr id="316" name="pop-2"/>
          <p:cNvSpPr>
            <a:spLocks noGrp="1"/>
          </p:cNvSpPr>
          <p:nvPr/>
        </p:nvSpPr>
        <p:spPr>
          <a:xfrm>
            <a:off x="8229600" y="7553325"/>
            <a:ext cx="8858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相关辅助风机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统计特征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7" name="poplink-2"/>
          <p:cNvSpPr>
            <a:spLocks noGrp="1"/>
          </p:cNvSpPr>
          <p:nvPr/>
        </p:nvSpPr>
        <p:spPr>
          <a:xfrm>
            <a:off x="8020050" y="7800975"/>
            <a:ext cx="190500" cy="90488"/>
          </a:xfrm>
          <a:custGeom>
            <a:avLst/>
            <a:gdLst/>
            <a:ahLst/>
            <a:cxnLst/>
            <a:pathLst>
              <a:path w="190500" h="90488">
                <a:moveTo>
                  <a:pt x="0" y="90488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318" name="poplink-2-tip"/>
          <p:cNvSpPr>
            <a:spLocks noGrp="1"/>
          </p:cNvSpPr>
          <p:nvPr/>
        </p:nvSpPr>
        <p:spPr>
          <a:xfrm>
            <a:off x="8115135" y="7799900"/>
            <a:ext cx="95415" cy="75713"/>
          </a:xfrm>
          <a:custGeom>
            <a:avLst/>
            <a:gdLst/>
            <a:ahLst/>
            <a:cxnLst/>
            <a:pathLst>
              <a:path w="95415" h="75713">
                <a:moveTo>
                  <a:pt x="95415" y="1075"/>
                </a:moveTo>
                <a:lnTo>
                  <a:pt x="0" y="0"/>
                </a:lnTo>
                <a:lnTo>
                  <a:pt x="35964" y="75713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319" name="pop-3-frame"/>
          <p:cNvSpPr>
            <a:spLocks noGrp="1"/>
          </p:cNvSpPr>
          <p:nvPr/>
        </p:nvSpPr>
        <p:spPr>
          <a:xfrm>
            <a:off x="9344025" y="7553325"/>
            <a:ext cx="1057275" cy="67627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98A8B0"/>
            </a:solidFill>
            <a:prstDash val="solid"/>
          </a:ln>
        </p:spPr>
      </p:sp>
      <p:sp>
        <p:nvSpPr>
          <p:cNvPr id="320" name="pop-3"/>
          <p:cNvSpPr>
            <a:spLocks noGrp="1"/>
          </p:cNvSpPr>
          <p:nvPr/>
        </p:nvSpPr>
        <p:spPr>
          <a:xfrm>
            <a:off x="9344025" y="7591425"/>
            <a:ext cx="10572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72个预测时段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（未来288点）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1" name="poplink-3"/>
          <p:cNvSpPr>
            <a:spLocks noGrp="1"/>
          </p:cNvSpPr>
          <p:nvPr/>
        </p:nvSpPr>
        <p:spPr>
          <a:xfrm>
            <a:off x="9134475" y="7800975"/>
            <a:ext cx="209550" cy="90488"/>
          </a:xfrm>
          <a:custGeom>
            <a:avLst/>
            <a:gdLst/>
            <a:ahLst/>
            <a:cxnLst/>
            <a:pathLst>
              <a:path w="209550" h="90488">
                <a:moveTo>
                  <a:pt x="0" y="0"/>
                </a:moveTo>
                <a:lnTo>
                  <a:pt x="209550" y="90488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322" name="poplink-3-tip"/>
          <p:cNvSpPr>
            <a:spLocks noGrp="1"/>
          </p:cNvSpPr>
          <p:nvPr/>
        </p:nvSpPr>
        <p:spPr>
          <a:xfrm>
            <a:off x="9248709" y="7819002"/>
            <a:ext cx="95316" cy="76952"/>
          </a:xfrm>
          <a:custGeom>
            <a:avLst/>
            <a:gdLst/>
            <a:ahLst/>
            <a:cxnLst/>
            <a:pathLst>
              <a:path w="95316" h="76952">
                <a:moveTo>
                  <a:pt x="95316" y="72460"/>
                </a:moveTo>
                <a:lnTo>
                  <a:pt x="33229" y="0"/>
                </a:lnTo>
                <a:lnTo>
                  <a:pt x="0" y="76952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323" name="pop-4-frame"/>
          <p:cNvSpPr>
            <a:spLocks noGrp="1"/>
          </p:cNvSpPr>
          <p:nvPr/>
        </p:nvSpPr>
        <p:spPr>
          <a:xfrm>
            <a:off x="10572750" y="7553325"/>
            <a:ext cx="1419225" cy="67627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98A8B0"/>
            </a:solidFill>
            <a:prstDash val="solid"/>
          </a:ln>
        </p:spPr>
      </p:sp>
      <p:sp>
        <p:nvSpPr>
          <p:cNvPr id="324" name="pop-4"/>
          <p:cNvSpPr>
            <a:spLocks noGrp="1"/>
          </p:cNvSpPr>
          <p:nvPr/>
        </p:nvSpPr>
        <p:spPr>
          <a:xfrm>
            <a:off x="10572750" y="7591425"/>
            <a:ext cx="1419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 × 72 = 2,808个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LightGBM子模型</a:t>
            </a:r>
            <a:endParaRPr sz="94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5" name="poplink-4"/>
          <p:cNvSpPr>
            <a:spLocks noGrp="1"/>
          </p:cNvSpPr>
          <p:nvPr/>
        </p:nvSpPr>
        <p:spPr>
          <a:xfrm>
            <a:off x="10401300" y="7891463"/>
            <a:ext cx="171450" cy="953"/>
          </a:xfrm>
          <a:custGeom>
            <a:avLst/>
            <a:gdLst/>
            <a:ahLst/>
            <a:cxnLst/>
            <a:pathLst>
              <a:path w="171450" h="953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326" name="poplink-4-tip"/>
          <p:cNvSpPr>
            <a:spLocks noGrp="1"/>
          </p:cNvSpPr>
          <p:nvPr/>
        </p:nvSpPr>
        <p:spPr>
          <a:xfrm>
            <a:off x="10487025" y="7849553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327" name="pop-5-frame"/>
          <p:cNvSpPr>
            <a:spLocks noGrp="1"/>
          </p:cNvSpPr>
          <p:nvPr/>
        </p:nvSpPr>
        <p:spPr>
          <a:xfrm>
            <a:off x="12230100" y="7553325"/>
            <a:ext cx="1057275" cy="495300"/>
          </a:xfrm>
          <a:prstGeom prst="roundRect">
            <a:avLst>
              <a:gd name="adj" fmla="val 7692"/>
            </a:avLst>
          </a:prstGeom>
          <a:solidFill>
            <a:srgbClr val="E0F5D9"/>
          </a:solidFill>
          <a:ln w="9525">
            <a:solidFill>
              <a:srgbClr val="00A344"/>
            </a:solidFill>
            <a:prstDash val="solid"/>
          </a:ln>
        </p:spPr>
      </p:sp>
      <p:sp>
        <p:nvSpPr>
          <p:cNvPr id="328" name="pop-5"/>
          <p:cNvSpPr>
            <a:spLocks noGrp="1"/>
          </p:cNvSpPr>
          <p:nvPr/>
        </p:nvSpPr>
        <p:spPr>
          <a:xfrm>
            <a:off x="12249150" y="7553325"/>
            <a:ext cx="1019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POPtree预测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9" name="poplink-5"/>
          <p:cNvSpPr>
            <a:spLocks noGrp="1"/>
          </p:cNvSpPr>
          <p:nvPr/>
        </p:nvSpPr>
        <p:spPr>
          <a:xfrm>
            <a:off x="11991975" y="7800975"/>
            <a:ext cx="238125" cy="90488"/>
          </a:xfrm>
          <a:custGeom>
            <a:avLst/>
            <a:gdLst/>
            <a:ahLst/>
            <a:cxnLst/>
            <a:pathLst>
              <a:path w="238125" h="90488">
                <a:moveTo>
                  <a:pt x="0" y="90488"/>
                </a:moveTo>
                <a:lnTo>
                  <a:pt x="238125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330" name="poplink-5-tip"/>
          <p:cNvSpPr>
            <a:spLocks noGrp="1"/>
          </p:cNvSpPr>
          <p:nvPr/>
        </p:nvSpPr>
        <p:spPr>
          <a:xfrm>
            <a:off x="12135079" y="7792249"/>
            <a:ext cx="95021" cy="78354"/>
          </a:xfrm>
          <a:custGeom>
            <a:avLst/>
            <a:gdLst/>
            <a:ahLst/>
            <a:cxnLst/>
            <a:pathLst>
              <a:path w="95021" h="78354">
                <a:moveTo>
                  <a:pt x="95021" y="8726"/>
                </a:moveTo>
                <a:lnTo>
                  <a:pt x="0" y="0"/>
                </a:lnTo>
                <a:lnTo>
                  <a:pt x="29774" y="78354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pic>
        <p:nvPicPr>
          <p:cNvPr id="708" name="图片 707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86497" y="7886700"/>
            <a:ext cx="363530" cy="200025"/>
          </a:xfrm>
          <a:prstGeom prst="rect">
            <a:avLst/>
          </a:prstGeom>
        </p:spPr>
      </p:pic>
      <p:pic>
        <p:nvPicPr>
          <p:cNvPr id="709" name="图片 70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81825" y="7915275"/>
            <a:ext cx="962025" cy="276225"/>
          </a:xfrm>
          <a:prstGeom prst="rect">
            <a:avLst/>
          </a:prstGeom>
        </p:spPr>
      </p:pic>
      <p:pic>
        <p:nvPicPr>
          <p:cNvPr id="710" name="图片 70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82125" y="7905750"/>
            <a:ext cx="819150" cy="295275"/>
          </a:xfrm>
          <a:prstGeom prst="rect">
            <a:avLst/>
          </a:prstGeom>
        </p:spPr>
      </p:pic>
      <p:sp>
        <p:nvSpPr>
          <p:cNvPr id="334" name="history-pop"/>
          <p:cNvSpPr>
            <a:spLocks noGrp="1"/>
          </p:cNvSpPr>
          <p:nvPr/>
        </p:nvSpPr>
        <p:spPr>
          <a:xfrm>
            <a:off x="4133850" y="7610475"/>
            <a:ext cx="1943100" cy="238125"/>
          </a:xfrm>
          <a:custGeom>
            <a:avLst/>
            <a:gdLst/>
            <a:ahLst/>
            <a:cxnLst/>
            <a:pathLst>
              <a:path w="1943100" h="238125">
                <a:moveTo>
                  <a:pt x="0" y="0"/>
                </a:moveTo>
                <a:lnTo>
                  <a:pt x="0" y="238125"/>
                </a:lnTo>
                <a:lnTo>
                  <a:pt x="1943100" y="238125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335" name="history-pop-tip"/>
          <p:cNvSpPr>
            <a:spLocks noGrp="1"/>
          </p:cNvSpPr>
          <p:nvPr/>
        </p:nvSpPr>
        <p:spPr>
          <a:xfrm>
            <a:off x="5991225" y="780669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336" name="tree-edge-01"/>
          <p:cNvSpPr>
            <a:spLocks noGrp="1"/>
          </p:cNvSpPr>
          <p:nvPr/>
        </p:nvSpPr>
        <p:spPr>
          <a:xfrm>
            <a:off x="11068050" y="7915275"/>
            <a:ext cx="123825" cy="114300"/>
          </a:xfrm>
          <a:custGeom>
            <a:avLst/>
            <a:gdLst/>
            <a:ahLst/>
            <a:cxnLst/>
            <a:pathLst>
              <a:path w="123825" h="114300">
                <a:moveTo>
                  <a:pt x="123825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00A344"/>
            </a:solidFill>
            <a:prstDash val="solid"/>
          </a:ln>
        </p:spPr>
      </p:sp>
      <p:sp>
        <p:nvSpPr>
          <p:cNvPr id="337" name="tree-edge-02"/>
          <p:cNvSpPr>
            <a:spLocks noGrp="1"/>
          </p:cNvSpPr>
          <p:nvPr/>
        </p:nvSpPr>
        <p:spPr>
          <a:xfrm>
            <a:off x="11191875" y="7915275"/>
            <a:ext cx="142875" cy="114300"/>
          </a:xfrm>
          <a:custGeom>
            <a:avLst/>
            <a:gdLst/>
            <a:ahLst/>
            <a:cxnLst/>
            <a:pathLst>
              <a:path w="142875" h="114300">
                <a:moveTo>
                  <a:pt x="0" y="0"/>
                </a:moveTo>
                <a:lnTo>
                  <a:pt x="142875" y="114300"/>
                </a:lnTo>
              </a:path>
            </a:pathLst>
          </a:custGeom>
          <a:noFill/>
          <a:ln w="9525">
            <a:solidFill>
              <a:srgbClr val="00A344"/>
            </a:solidFill>
            <a:prstDash val="solid"/>
          </a:ln>
        </p:spPr>
      </p:sp>
      <p:sp>
        <p:nvSpPr>
          <p:cNvPr id="338" name="tree-edge-13"/>
          <p:cNvSpPr>
            <a:spLocks noGrp="1"/>
          </p:cNvSpPr>
          <p:nvPr/>
        </p:nvSpPr>
        <p:spPr>
          <a:xfrm>
            <a:off x="10972800" y="80295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9525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00A344"/>
            </a:solidFill>
            <a:prstDash val="solid"/>
          </a:ln>
        </p:spPr>
      </p:sp>
      <p:sp>
        <p:nvSpPr>
          <p:cNvPr id="339" name="tree-edge-14"/>
          <p:cNvSpPr>
            <a:spLocks noGrp="1"/>
          </p:cNvSpPr>
          <p:nvPr/>
        </p:nvSpPr>
        <p:spPr>
          <a:xfrm>
            <a:off x="11068050" y="80295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0" y="0"/>
                </a:moveTo>
                <a:lnTo>
                  <a:pt x="95250" y="114300"/>
                </a:lnTo>
              </a:path>
            </a:pathLst>
          </a:custGeom>
          <a:noFill/>
          <a:ln w="9525">
            <a:solidFill>
              <a:srgbClr val="00A344"/>
            </a:solidFill>
            <a:prstDash val="solid"/>
          </a:ln>
        </p:spPr>
      </p:sp>
      <p:sp>
        <p:nvSpPr>
          <p:cNvPr id="340" name="tree-edge-25"/>
          <p:cNvSpPr>
            <a:spLocks noGrp="1"/>
          </p:cNvSpPr>
          <p:nvPr/>
        </p:nvSpPr>
        <p:spPr>
          <a:xfrm>
            <a:off x="11296650" y="8029575"/>
            <a:ext cx="38100" cy="114300"/>
          </a:xfrm>
          <a:custGeom>
            <a:avLst/>
            <a:gdLst/>
            <a:ahLst/>
            <a:cxnLst/>
            <a:pathLst>
              <a:path w="38100" h="114300">
                <a:moveTo>
                  <a:pt x="3810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00A344"/>
            </a:solidFill>
            <a:prstDash val="solid"/>
          </a:ln>
        </p:spPr>
      </p:sp>
      <p:sp>
        <p:nvSpPr>
          <p:cNvPr id="341" name="tree-edge-26"/>
          <p:cNvSpPr>
            <a:spLocks noGrp="1"/>
          </p:cNvSpPr>
          <p:nvPr/>
        </p:nvSpPr>
        <p:spPr>
          <a:xfrm>
            <a:off x="11334750" y="80295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0"/>
                </a:moveTo>
                <a:lnTo>
                  <a:pt x="114300" y="114300"/>
                </a:lnTo>
              </a:path>
            </a:pathLst>
          </a:custGeom>
          <a:noFill/>
          <a:ln w="9525">
            <a:solidFill>
              <a:srgbClr val="00A344"/>
            </a:solidFill>
            <a:prstDash val="solid"/>
          </a:ln>
        </p:spPr>
      </p:sp>
      <p:sp>
        <p:nvSpPr>
          <p:cNvPr id="342" name="tree-node-0"/>
          <p:cNvSpPr>
            <a:spLocks noGrp="1"/>
          </p:cNvSpPr>
          <p:nvPr/>
        </p:nvSpPr>
        <p:spPr>
          <a:xfrm>
            <a:off x="11144250" y="7867650"/>
            <a:ext cx="95250" cy="95250"/>
          </a:xfrm>
          <a:prstGeom prst="ellipse">
            <a:avLst/>
          </a:prstGeom>
          <a:solidFill>
            <a:srgbClr val="397DDE"/>
          </a:solidFill>
          <a:ln w="6668">
            <a:solidFill>
              <a:srgbClr val="097D7A"/>
            </a:solidFill>
          </a:ln>
        </p:spPr>
      </p:sp>
      <p:sp>
        <p:nvSpPr>
          <p:cNvPr id="343" name="tree-node-1"/>
          <p:cNvSpPr>
            <a:spLocks noGrp="1"/>
          </p:cNvSpPr>
          <p:nvPr/>
        </p:nvSpPr>
        <p:spPr>
          <a:xfrm>
            <a:off x="11020425" y="7981950"/>
            <a:ext cx="95250" cy="95250"/>
          </a:xfrm>
          <a:prstGeom prst="ellipse">
            <a:avLst/>
          </a:prstGeom>
          <a:solidFill>
            <a:srgbClr val="25B09B"/>
          </a:solidFill>
          <a:ln w="6668">
            <a:solidFill>
              <a:srgbClr val="097D7A"/>
            </a:solidFill>
          </a:ln>
        </p:spPr>
      </p:sp>
      <p:sp>
        <p:nvSpPr>
          <p:cNvPr id="344" name="tree-node-2"/>
          <p:cNvSpPr>
            <a:spLocks noGrp="1"/>
          </p:cNvSpPr>
          <p:nvPr/>
        </p:nvSpPr>
        <p:spPr>
          <a:xfrm>
            <a:off x="11287125" y="7981950"/>
            <a:ext cx="95250" cy="95250"/>
          </a:xfrm>
          <a:prstGeom prst="ellipse">
            <a:avLst/>
          </a:prstGeom>
          <a:solidFill>
            <a:srgbClr val="397DDE"/>
          </a:solidFill>
          <a:ln w="6668">
            <a:solidFill>
              <a:srgbClr val="097D7A"/>
            </a:solidFill>
          </a:ln>
        </p:spPr>
      </p:sp>
      <p:sp>
        <p:nvSpPr>
          <p:cNvPr id="345" name="tree-node-3"/>
          <p:cNvSpPr>
            <a:spLocks noGrp="1"/>
          </p:cNvSpPr>
          <p:nvPr/>
        </p:nvSpPr>
        <p:spPr>
          <a:xfrm>
            <a:off x="10925175" y="8096250"/>
            <a:ext cx="95250" cy="95250"/>
          </a:xfrm>
          <a:prstGeom prst="ellipse">
            <a:avLst/>
          </a:prstGeom>
          <a:solidFill>
            <a:srgbClr val="25B09B"/>
          </a:solidFill>
          <a:ln w="6668">
            <a:solidFill>
              <a:srgbClr val="097D7A"/>
            </a:solidFill>
          </a:ln>
        </p:spPr>
      </p:sp>
      <p:sp>
        <p:nvSpPr>
          <p:cNvPr id="346" name="tree-node-4"/>
          <p:cNvSpPr>
            <a:spLocks noGrp="1"/>
          </p:cNvSpPr>
          <p:nvPr/>
        </p:nvSpPr>
        <p:spPr>
          <a:xfrm>
            <a:off x="11115675" y="8096250"/>
            <a:ext cx="95250" cy="95250"/>
          </a:xfrm>
          <a:prstGeom prst="ellipse">
            <a:avLst/>
          </a:prstGeom>
          <a:solidFill>
            <a:srgbClr val="397DDE"/>
          </a:solidFill>
          <a:ln w="6668">
            <a:solidFill>
              <a:srgbClr val="097D7A"/>
            </a:solidFill>
          </a:ln>
        </p:spPr>
      </p:sp>
      <p:sp>
        <p:nvSpPr>
          <p:cNvPr id="347" name="tree-node-5"/>
          <p:cNvSpPr>
            <a:spLocks noGrp="1"/>
          </p:cNvSpPr>
          <p:nvPr/>
        </p:nvSpPr>
        <p:spPr>
          <a:xfrm>
            <a:off x="11249025" y="8096250"/>
            <a:ext cx="95250" cy="95250"/>
          </a:xfrm>
          <a:prstGeom prst="ellipse">
            <a:avLst/>
          </a:prstGeom>
          <a:solidFill>
            <a:srgbClr val="25B09B"/>
          </a:solidFill>
          <a:ln w="6668">
            <a:solidFill>
              <a:srgbClr val="097D7A"/>
            </a:solidFill>
          </a:ln>
        </p:spPr>
      </p:sp>
      <p:sp>
        <p:nvSpPr>
          <p:cNvPr id="348" name="tree-node-6"/>
          <p:cNvSpPr>
            <a:spLocks noGrp="1"/>
          </p:cNvSpPr>
          <p:nvPr/>
        </p:nvSpPr>
        <p:spPr>
          <a:xfrm>
            <a:off x="11401425" y="8096250"/>
            <a:ext cx="95250" cy="95250"/>
          </a:xfrm>
          <a:prstGeom prst="ellipse">
            <a:avLst/>
          </a:prstGeom>
          <a:solidFill>
            <a:srgbClr val="397DDE"/>
          </a:solidFill>
          <a:ln w="6668">
            <a:solidFill>
              <a:srgbClr val="097D7A"/>
            </a:solidFill>
          </a:ln>
        </p:spPr>
      </p:sp>
      <p:sp>
        <p:nvSpPr>
          <p:cNvPr id="349" name="pop-note"/>
          <p:cNvSpPr>
            <a:spLocks noGrp="1"/>
          </p:cNvSpPr>
          <p:nvPr/>
        </p:nvSpPr>
        <p:spPr>
          <a:xfrm>
            <a:off x="11601450" y="8115300"/>
            <a:ext cx="17240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模型数减少约92.7%</a:t>
            </a:r>
            <a:endParaRPr sz="1000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0" name="out"/>
          <p:cNvSpPr>
            <a:spLocks noGrp="1"/>
          </p:cNvSpPr>
          <p:nvPr/>
        </p:nvSpPr>
        <p:spPr>
          <a:xfrm>
            <a:off x="13535025" y="2076450"/>
            <a:ext cx="2238375" cy="6153150"/>
          </a:xfrm>
          <a:prstGeom prst="roundRect">
            <a:avLst>
              <a:gd name="adj" fmla="val 2979"/>
            </a:avLst>
          </a:prstGeom>
          <a:solidFill>
            <a:srgbClr val="F0FCFE"/>
          </a:solidFill>
          <a:ln w="9525">
            <a:solidFill>
              <a:srgbClr val="65CFEE"/>
            </a:solidFill>
            <a:prstDash val="solid"/>
          </a:ln>
        </p:spPr>
      </p:sp>
      <p:sp>
        <p:nvSpPr>
          <p:cNvPr id="351" name="out-title"/>
          <p:cNvSpPr>
            <a:spLocks noGrp="1"/>
          </p:cNvSpPr>
          <p:nvPr/>
        </p:nvSpPr>
        <p:spPr>
          <a:xfrm>
            <a:off x="13611225" y="2114550"/>
            <a:ext cx="2085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预测集成与结果输出</a:t>
            </a:r>
            <a:endParaRPr sz="150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2" name="wpout-frame"/>
          <p:cNvSpPr>
            <a:spLocks noGrp="1"/>
          </p:cNvSpPr>
          <p:nvPr/>
        </p:nvSpPr>
        <p:spPr>
          <a:xfrm>
            <a:off x="13744575" y="2609850"/>
            <a:ext cx="1152525" cy="533400"/>
          </a:xfrm>
          <a:prstGeom prst="roundRect">
            <a:avLst>
              <a:gd name="adj" fmla="val 7143"/>
            </a:avLst>
          </a:prstGeom>
          <a:solidFill>
            <a:srgbClr val="E3F0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353" name="wpout"/>
          <p:cNvSpPr>
            <a:spLocks noGrp="1"/>
          </p:cNvSpPr>
          <p:nvPr/>
        </p:nvSpPr>
        <p:spPr>
          <a:xfrm>
            <a:off x="13744575" y="2667000"/>
            <a:ext cx="11525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WPFormer预测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31" name="图片 730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4133793" y="2886075"/>
            <a:ext cx="355040" cy="228600"/>
          </a:xfrm>
          <a:prstGeom prst="rect">
            <a:avLst/>
          </a:prstGeom>
        </p:spPr>
      </p:pic>
      <p:sp>
        <p:nvSpPr>
          <p:cNvPr id="355" name="popout-frame"/>
          <p:cNvSpPr>
            <a:spLocks noGrp="1"/>
          </p:cNvSpPr>
          <p:nvPr/>
        </p:nvSpPr>
        <p:spPr>
          <a:xfrm>
            <a:off x="13744575" y="3552825"/>
            <a:ext cx="1152525" cy="514350"/>
          </a:xfrm>
          <a:prstGeom prst="roundRect">
            <a:avLst>
              <a:gd name="adj" fmla="val 7407"/>
            </a:avLst>
          </a:prstGeom>
          <a:solidFill>
            <a:srgbClr val="E3F7DC"/>
          </a:solidFill>
          <a:ln w="9525">
            <a:solidFill>
              <a:srgbClr val="00A344"/>
            </a:solidFill>
            <a:prstDash val="solid"/>
          </a:ln>
        </p:spPr>
      </p:sp>
      <p:sp>
        <p:nvSpPr>
          <p:cNvPr id="356" name="popout"/>
          <p:cNvSpPr>
            <a:spLocks noGrp="1"/>
          </p:cNvSpPr>
          <p:nvPr/>
        </p:nvSpPr>
        <p:spPr>
          <a:xfrm>
            <a:off x="13744575" y="3590925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POPtree预测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34" name="图片 733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129547" y="3838575"/>
            <a:ext cx="363530" cy="200025"/>
          </a:xfrm>
          <a:prstGeom prst="rect">
            <a:avLst/>
          </a:prstGeom>
        </p:spPr>
      </p:pic>
      <p:sp>
        <p:nvSpPr>
          <p:cNvPr id="358" name="ensemble-frame"/>
          <p:cNvSpPr>
            <a:spLocks noGrp="1"/>
          </p:cNvSpPr>
          <p:nvPr/>
        </p:nvSpPr>
        <p:spPr>
          <a:xfrm>
            <a:off x="14992350" y="3238500"/>
            <a:ext cx="685800" cy="342900"/>
          </a:xfrm>
          <a:prstGeom prst="roundRect">
            <a:avLst>
              <a:gd name="adj" fmla="val 11111"/>
            </a:avLst>
          </a:prstGeom>
          <a:solidFill>
            <a:srgbClr val="E9F4FE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359" name="ensemble"/>
          <p:cNvSpPr>
            <a:spLocks noGrp="1"/>
          </p:cNvSpPr>
          <p:nvPr/>
        </p:nvSpPr>
        <p:spPr>
          <a:xfrm>
            <a:off x="15011400" y="3238500"/>
            <a:ext cx="647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预测集成</a:t>
            </a:r>
            <a:endParaRPr sz="120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0" name="output-main"/>
          <p:cNvSpPr>
            <a:spLocks noGrp="1"/>
          </p:cNvSpPr>
          <p:nvPr/>
        </p:nvSpPr>
        <p:spPr>
          <a:xfrm>
            <a:off x="13287375" y="2876550"/>
            <a:ext cx="457200" cy="2876550"/>
          </a:xfrm>
          <a:custGeom>
            <a:avLst/>
            <a:gdLst/>
            <a:ahLst/>
            <a:cxnLst/>
            <a:pathLst>
              <a:path w="457200" h="2876550">
                <a:moveTo>
                  <a:pt x="0" y="2876550"/>
                </a:moveTo>
                <a:lnTo>
                  <a:pt x="209550" y="2876550"/>
                </a:lnTo>
                <a:lnTo>
                  <a:pt x="209550" y="0"/>
                </a:lnTo>
                <a:lnTo>
                  <a:pt x="457200" y="0"/>
                </a:lnTo>
              </a:path>
            </a:pathLst>
          </a:custGeom>
          <a:noFill/>
          <a:ln w="23813">
            <a:solidFill>
              <a:srgbClr val="065DCF"/>
            </a:solidFill>
            <a:prstDash val="solid"/>
          </a:ln>
        </p:spPr>
      </p:sp>
      <p:sp>
        <p:nvSpPr>
          <p:cNvPr id="361" name="output-main-tip"/>
          <p:cNvSpPr>
            <a:spLocks noGrp="1"/>
          </p:cNvSpPr>
          <p:nvPr/>
        </p:nvSpPr>
        <p:spPr>
          <a:xfrm>
            <a:off x="13656469" y="2833688"/>
            <a:ext cx="88106" cy="85725"/>
          </a:xfrm>
          <a:custGeom>
            <a:avLst/>
            <a:gdLst/>
            <a:ahLst/>
            <a:cxnLst/>
            <a:pathLst>
              <a:path w="88106" h="85725">
                <a:moveTo>
                  <a:pt x="88106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065DCF"/>
          </a:solidFill>
          <a:ln w="0">
            <a:noFill/>
          </a:ln>
        </p:spPr>
      </p:sp>
      <p:sp>
        <p:nvSpPr>
          <p:cNvPr id="362" name="output-pop"/>
          <p:cNvSpPr>
            <a:spLocks noGrp="1"/>
          </p:cNvSpPr>
          <p:nvPr/>
        </p:nvSpPr>
        <p:spPr>
          <a:xfrm>
            <a:off x="13287375" y="3810000"/>
            <a:ext cx="457200" cy="4029075"/>
          </a:xfrm>
          <a:custGeom>
            <a:avLst/>
            <a:gdLst/>
            <a:ahLst/>
            <a:cxnLst/>
            <a:pathLst>
              <a:path w="457200" h="4029075">
                <a:moveTo>
                  <a:pt x="0" y="4029075"/>
                </a:moveTo>
                <a:lnTo>
                  <a:pt x="295275" y="4029075"/>
                </a:lnTo>
                <a:lnTo>
                  <a:pt x="295275" y="0"/>
                </a:lnTo>
                <a:lnTo>
                  <a:pt x="457200" y="0"/>
                </a:lnTo>
              </a:path>
            </a:pathLst>
          </a:custGeom>
          <a:noFill/>
          <a:ln w="22860">
            <a:solidFill>
              <a:srgbClr val="00A344"/>
            </a:solidFill>
            <a:prstDash val="solid"/>
          </a:ln>
        </p:spPr>
      </p:sp>
      <p:sp>
        <p:nvSpPr>
          <p:cNvPr id="363" name="output-pop-tip"/>
          <p:cNvSpPr>
            <a:spLocks noGrp="1"/>
          </p:cNvSpPr>
          <p:nvPr/>
        </p:nvSpPr>
        <p:spPr>
          <a:xfrm>
            <a:off x="13656945" y="3767328"/>
            <a:ext cx="87630" cy="85344"/>
          </a:xfrm>
          <a:custGeom>
            <a:avLst/>
            <a:gdLst/>
            <a:ahLst/>
            <a:cxnLst/>
            <a:pathLst>
              <a:path w="87630" h="85344">
                <a:moveTo>
                  <a:pt x="87630" y="42672"/>
                </a:moveTo>
                <a:lnTo>
                  <a:pt x="0" y="0"/>
                </a:lnTo>
                <a:lnTo>
                  <a:pt x="0" y="85344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364" name="merge-wp"/>
          <p:cNvSpPr>
            <a:spLocks noGrp="1"/>
          </p:cNvSpPr>
          <p:nvPr/>
        </p:nvSpPr>
        <p:spPr>
          <a:xfrm>
            <a:off x="14897100" y="2876550"/>
            <a:ext cx="438150" cy="361950"/>
          </a:xfrm>
          <a:custGeom>
            <a:avLst/>
            <a:gdLst/>
            <a:ahLst/>
            <a:cxnLst/>
            <a:pathLst>
              <a:path w="438150" h="361950">
                <a:moveTo>
                  <a:pt x="0" y="0"/>
                </a:moveTo>
                <a:lnTo>
                  <a:pt x="438150" y="0"/>
                </a:lnTo>
                <a:lnTo>
                  <a:pt x="438150" y="361950"/>
                </a:lnTo>
              </a:path>
            </a:pathLst>
          </a:custGeom>
          <a:noFill/>
          <a:ln w="19050">
            <a:solidFill>
              <a:srgbClr val="00A344"/>
            </a:solidFill>
            <a:prstDash val="solid"/>
          </a:ln>
        </p:spPr>
      </p:sp>
      <p:sp>
        <p:nvSpPr>
          <p:cNvPr id="365" name="merge-wp-tip"/>
          <p:cNvSpPr>
            <a:spLocks noGrp="1"/>
          </p:cNvSpPr>
          <p:nvPr/>
        </p:nvSpPr>
        <p:spPr>
          <a:xfrm>
            <a:off x="15293340" y="3152775"/>
            <a:ext cx="83820" cy="85725"/>
          </a:xfrm>
          <a:custGeom>
            <a:avLst/>
            <a:gdLst/>
            <a:ahLst/>
            <a:cxnLst/>
            <a:pathLst>
              <a:path w="83820" h="85725">
                <a:moveTo>
                  <a:pt x="41910" y="85725"/>
                </a:moveTo>
                <a:lnTo>
                  <a:pt x="838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366" name="merge-pop"/>
          <p:cNvSpPr>
            <a:spLocks noGrp="1"/>
          </p:cNvSpPr>
          <p:nvPr/>
        </p:nvSpPr>
        <p:spPr>
          <a:xfrm>
            <a:off x="14897100" y="3581400"/>
            <a:ext cx="438150" cy="228600"/>
          </a:xfrm>
          <a:custGeom>
            <a:avLst/>
            <a:gdLst/>
            <a:ahLst/>
            <a:cxnLst/>
            <a:pathLst>
              <a:path w="438150" h="228600">
                <a:moveTo>
                  <a:pt x="0" y="228600"/>
                </a:moveTo>
                <a:lnTo>
                  <a:pt x="438150" y="228600"/>
                </a:lnTo>
                <a:lnTo>
                  <a:pt x="438150" y="0"/>
                </a:lnTo>
              </a:path>
            </a:pathLst>
          </a:custGeom>
          <a:noFill/>
          <a:ln w="19050">
            <a:solidFill>
              <a:srgbClr val="00A344"/>
            </a:solidFill>
            <a:prstDash val="solid"/>
          </a:ln>
        </p:spPr>
      </p:sp>
      <p:sp>
        <p:nvSpPr>
          <p:cNvPr id="367" name="merge-pop-tip"/>
          <p:cNvSpPr>
            <a:spLocks noGrp="1"/>
          </p:cNvSpPr>
          <p:nvPr/>
        </p:nvSpPr>
        <p:spPr>
          <a:xfrm>
            <a:off x="15293340" y="3581400"/>
            <a:ext cx="83820" cy="85725"/>
          </a:xfrm>
          <a:custGeom>
            <a:avLst/>
            <a:gdLst/>
            <a:ahLst/>
            <a:cxnLst/>
            <a:pathLst>
              <a:path w="83820" h="85725">
                <a:moveTo>
                  <a:pt x="41910" y="0"/>
                </a:moveTo>
                <a:lnTo>
                  <a:pt x="0" y="85725"/>
                </a:lnTo>
                <a:lnTo>
                  <a:pt x="83820" y="85725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368" name="forecast-frame"/>
          <p:cNvSpPr>
            <a:spLocks noGrp="1"/>
          </p:cNvSpPr>
          <p:nvPr/>
        </p:nvSpPr>
        <p:spPr>
          <a:xfrm>
            <a:off x="13687425" y="4314825"/>
            <a:ext cx="2057400" cy="657225"/>
          </a:xfrm>
          <a:prstGeom prst="roundRect">
            <a:avLst>
              <a:gd name="adj" fmla="val 5797"/>
            </a:avLst>
          </a:prstGeom>
          <a:solidFill>
            <a:srgbClr val="2365B4"/>
          </a:solidFill>
          <a:ln w="9525">
            <a:solidFill>
              <a:srgbClr val="2365B4"/>
            </a:solidFill>
            <a:prstDash val="solid"/>
          </a:ln>
        </p:spPr>
      </p:sp>
      <p:sp>
        <p:nvSpPr>
          <p:cNvPr id="369" name="forecast"/>
          <p:cNvSpPr>
            <a:spLocks noGrp="1"/>
          </p:cNvSpPr>
          <p:nvPr/>
        </p:nvSpPr>
        <p:spPr>
          <a:xfrm>
            <a:off x="13773150" y="4371975"/>
            <a:ext cx="1876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未来风功率预测</a:t>
            </a:r>
            <a:endParaRPr sz="15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7" name="图片 746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4601552" y="4638675"/>
            <a:ext cx="181521" cy="257175"/>
          </a:xfrm>
          <a:prstGeom prst="rect">
            <a:avLst/>
          </a:prstGeom>
        </p:spPr>
      </p:pic>
      <p:sp>
        <p:nvSpPr>
          <p:cNvPr id="371" name="ensemble-final"/>
          <p:cNvSpPr>
            <a:spLocks noGrp="1"/>
          </p:cNvSpPr>
          <p:nvPr/>
        </p:nvSpPr>
        <p:spPr>
          <a:xfrm>
            <a:off x="14668500" y="4067175"/>
            <a:ext cx="953" cy="247650"/>
          </a:xfrm>
          <a:custGeom>
            <a:avLst/>
            <a:gdLst/>
            <a:ahLst/>
            <a:cxnLst/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00A344"/>
            </a:solidFill>
            <a:prstDash val="solid"/>
          </a:ln>
        </p:spPr>
      </p:sp>
      <p:sp>
        <p:nvSpPr>
          <p:cNvPr id="372" name="ensemble-final-tip"/>
          <p:cNvSpPr>
            <a:spLocks noGrp="1"/>
          </p:cNvSpPr>
          <p:nvPr/>
        </p:nvSpPr>
        <p:spPr>
          <a:xfrm>
            <a:off x="14626590" y="4229100"/>
            <a:ext cx="83820" cy="85725"/>
          </a:xfrm>
          <a:custGeom>
            <a:avLst/>
            <a:gdLst/>
            <a:ahLst/>
            <a:cxnLst/>
            <a:pathLst>
              <a:path w="83820" h="85725">
                <a:moveTo>
                  <a:pt x="41910" y="85725"/>
                </a:moveTo>
                <a:lnTo>
                  <a:pt x="838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373" name="horizon"/>
          <p:cNvSpPr>
            <a:spLocks noGrp="1"/>
          </p:cNvSpPr>
          <p:nvPr/>
        </p:nvSpPr>
        <p:spPr>
          <a:xfrm>
            <a:off x="13649325" y="5095875"/>
            <a:ext cx="2095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73680"/>
                </a:solidFill>
              </a:rPr>
              <a:t>134台风机 × </a:t>
            </a:r>
            <a:r>
              <a:rPr b="1">
                <a:solidFill>
                  <a:srgbClr val="EA161F"/>
                </a:solidFill>
              </a:rPr>
              <a:t>未来288点</a:t>
            </a:r>
            <a:r>
              <a:rPr b="1">
                <a:solidFill>
                  <a:srgbClr val="073680"/>
                </a:solidFill>
              </a:rPr>
              <a:t>
10 min / 点 ≈ 未来48 h</a:t>
            </a:r>
            <a:endParaRPr b="1">
              <a:solidFill>
                <a:srgbClr val="073680"/>
              </a:solidFill>
            </a:endParaRPr>
          </a:p>
        </p:txBody>
      </p:sp>
      <p:sp>
        <p:nvSpPr>
          <p:cNvPr id="374" name="out-chart-title"/>
          <p:cNvSpPr>
            <a:spLocks noGrp="1"/>
          </p:cNvSpPr>
          <p:nvPr/>
        </p:nvSpPr>
        <p:spPr>
          <a:xfrm>
            <a:off x="13725525" y="5695950"/>
            <a:ext cx="1857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单台风机预测结果示例</a:t>
            </a:r>
            <a:endParaRPr sz="10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52" name="图片 75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706475" y="5905500"/>
            <a:ext cx="1971675" cy="1819275"/>
          </a:xfrm>
          <a:prstGeom prst="rect">
            <a:avLst/>
          </a:prstGeom>
        </p:spPr>
      </p:pic>
      <p:sp>
        <p:nvSpPr>
          <p:cNvPr id="376" name="other-turbines"/>
          <p:cNvSpPr>
            <a:spLocks noGrp="1"/>
          </p:cNvSpPr>
          <p:nvPr/>
        </p:nvSpPr>
        <p:spPr>
          <a:xfrm>
            <a:off x="13725525" y="7848600"/>
            <a:ext cx="19716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……（其余133台风机结果类似）</a:t>
            </a:r>
            <a:endParaRPr sz="1000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7" name="bottom-conclusion"/>
          <p:cNvSpPr>
            <a:spLocks noGrp="1"/>
          </p:cNvSpPr>
          <p:nvPr/>
        </p:nvSpPr>
        <p:spPr>
          <a:xfrm>
            <a:off x="200025" y="8401050"/>
            <a:ext cx="15525750" cy="457200"/>
          </a:xfrm>
          <a:prstGeom prst="roundRect">
            <a:avLst>
              <a:gd name="adj" fmla="val 16667"/>
            </a:avLst>
          </a:prstGeom>
          <a:solidFill>
            <a:srgbClr val="E1EFFC"/>
          </a:solidFill>
          <a:ln w="9525">
            <a:solidFill>
              <a:srgbClr val="80C7F8"/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WEDS与FEDS解决输入质量问题，风机图补充空间关联，Attention + AutoCorrelation + Series Decomposition 共同建模弱周期、高波动风功率，POPtree进一步补充集成预测。</a:t>
            </a:r>
            <a:endParaRPr sz="140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8" name="title"/>
          <p:cNvSpPr>
            <a:spLocks noGrp="1"/>
          </p:cNvSpPr>
          <p:nvPr/>
        </p:nvSpPr>
        <p:spPr>
          <a:xfrm>
            <a:off x="247650" y="76200"/>
            <a:ext cx="15487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7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对比算例与实验结果 --- WPFormer预测性能与优势机理</a:t>
            </a:r>
            <a:endParaRPr sz="37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ule"/>
          <p:cNvSpPr>
            <a:spLocks noGrp="1"/>
          </p:cNvSpPr>
          <p:nvPr/>
        </p:nvSpPr>
        <p:spPr>
          <a:xfrm>
            <a:off x="180975" y="733425"/>
            <a:ext cx="15554325" cy="38100"/>
          </a:xfrm>
          <a:prstGeom prst="rect">
            <a:avLst/>
          </a:prstGeom>
          <a:solidFill>
            <a:srgbClr val="073680"/>
          </a:solidFill>
          <a:ln w="0">
            <a:noFill/>
            <a:prstDash val="solid"/>
          </a:ln>
        </p:spPr>
      </p:sp>
      <p:sp>
        <p:nvSpPr>
          <p:cNvPr id="3" name="summary"/>
          <p:cNvSpPr>
            <a:spLocks noGrp="1"/>
          </p:cNvSpPr>
          <p:nvPr/>
        </p:nvSpPr>
        <p:spPr>
          <a:xfrm>
            <a:off x="180975" y="876300"/>
            <a:ext cx="15554325" cy="866775"/>
          </a:xfrm>
          <a:prstGeom prst="roundRect">
            <a:avLst>
              <a:gd name="adj" fmla="val 10989"/>
            </a:avLst>
          </a:prstGeom>
          <a:solidFill>
            <a:srgbClr val="E5F3FD"/>
          </a:solidFill>
          <a:ln w="0">
            <a:noFill/>
            <a:prstDash val="solid"/>
          </a:ln>
        </p:spPr>
      </p:sp>
      <p:sp>
        <p:nvSpPr>
          <p:cNvPr id="4" name="dot-0"/>
          <p:cNvSpPr>
            <a:spLocks noGrp="1"/>
          </p:cNvSpPr>
          <p:nvPr/>
        </p:nvSpPr>
        <p:spPr>
          <a:xfrm>
            <a:off x="304800" y="981075"/>
            <a:ext cx="238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50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ummary-0"/>
          <p:cNvSpPr>
            <a:spLocks noGrp="1"/>
          </p:cNvSpPr>
          <p:nvPr/>
        </p:nvSpPr>
        <p:spPr>
          <a:xfrm>
            <a:off x="619125" y="981075"/>
            <a:ext cx="1491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073680"/>
                </a:solidFill>
              </a:rPr>
              <a:t>整体性能：WPFormer在有序测试集和随机测试集、不同输入长度下均取得最佳综合预测性能，有序测试平均Score改善约 </a:t>
            </a:r>
            <a:r>
              <a:rPr b="1">
                <a:solidFill>
                  <a:srgbClr val="EA161F"/>
                </a:solidFill>
              </a:rPr>
              <a:t>10.4%</a:t>
            </a:r>
            <a:r>
              <a:rPr b="0">
                <a:solidFill>
                  <a:srgbClr val="073680"/>
                </a:solidFill>
              </a:rPr>
              <a:t>，随机测试平均改善约 </a:t>
            </a:r>
            <a:r>
              <a:rPr b="1">
                <a:solidFill>
                  <a:srgbClr val="EA161F"/>
                </a:solidFill>
              </a:rPr>
              <a:t>9.7%</a:t>
            </a:r>
            <a:r>
              <a:rPr b="0">
                <a:solidFill>
                  <a:srgbClr val="073680"/>
                </a:solidFill>
              </a:rPr>
              <a:t>。</a:t>
            </a:r>
            <a:endParaRPr b="0">
              <a:solidFill>
                <a:srgbClr val="073680"/>
              </a:solidFill>
            </a:endParaRPr>
          </a:p>
        </p:txBody>
      </p:sp>
      <p:sp>
        <p:nvSpPr>
          <p:cNvPr id="6" name="dot-1"/>
          <p:cNvSpPr>
            <a:spLocks noGrp="1"/>
          </p:cNvSpPr>
          <p:nvPr/>
        </p:nvSpPr>
        <p:spPr>
          <a:xfrm>
            <a:off x="304800" y="1333500"/>
            <a:ext cx="238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50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ummary-1"/>
          <p:cNvSpPr>
            <a:spLocks noGrp="1"/>
          </p:cNvSpPr>
          <p:nvPr/>
        </p:nvSpPr>
        <p:spPr>
          <a:xfrm>
            <a:off x="619125" y="1333500"/>
            <a:ext cx="1491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073680"/>
                </a:solidFill>
              </a:rPr>
              <a:t>优势来源：性能提升并非来自单一模块，而是“</a:t>
            </a:r>
            <a:r>
              <a:rPr b="1">
                <a:solidFill>
                  <a:srgbClr val="EA161F"/>
                </a:solidFill>
              </a:rPr>
              <a:t>异常数据修复</a:t>
            </a:r>
            <a:r>
              <a:rPr b="0">
                <a:solidFill>
                  <a:srgbClr val="073680"/>
                </a:solidFill>
              </a:rPr>
              <a:t> + 有效特征筛选 + 风机</a:t>
            </a:r>
            <a:r>
              <a:rPr b="1">
                <a:solidFill>
                  <a:srgbClr val="EA161F"/>
                </a:solidFill>
              </a:rPr>
              <a:t>空间关联</a:t>
            </a:r>
            <a:r>
              <a:rPr b="0">
                <a:solidFill>
                  <a:srgbClr val="073680"/>
                </a:solidFill>
              </a:rPr>
              <a:t> + 长短期时序依赖 + </a:t>
            </a:r>
            <a:r>
              <a:rPr b="1">
                <a:solidFill>
                  <a:srgbClr val="EA161F"/>
                </a:solidFill>
              </a:rPr>
              <a:t>趋势分解</a:t>
            </a:r>
            <a:r>
              <a:rPr b="0">
                <a:solidFill>
                  <a:srgbClr val="073680"/>
                </a:solidFill>
              </a:rPr>
              <a:t>”的共同作用。</a:t>
            </a:r>
            <a:endParaRPr b="0">
              <a:solidFill>
                <a:srgbClr val="073680"/>
              </a:solidFill>
            </a:endParaRPr>
          </a:p>
        </p:txBody>
      </p:sp>
      <p:sp>
        <p:nvSpPr>
          <p:cNvPr id="8" name="column-0"/>
          <p:cNvSpPr>
            <a:spLocks noGrp="1"/>
          </p:cNvSpPr>
          <p:nvPr/>
        </p:nvSpPr>
        <p:spPr>
          <a:xfrm>
            <a:off x="152400" y="1847850"/>
            <a:ext cx="5200650" cy="6953250"/>
          </a:xfrm>
          <a:prstGeom prst="roundRect">
            <a:avLst>
              <a:gd name="adj" fmla="val 1282"/>
            </a:avLst>
          </a:prstGeom>
          <a:solidFill>
            <a:srgbClr val="FAFD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9" name="column-1"/>
          <p:cNvSpPr>
            <a:spLocks noGrp="1"/>
          </p:cNvSpPr>
          <p:nvPr/>
        </p:nvSpPr>
        <p:spPr>
          <a:xfrm>
            <a:off x="5448300" y="1847850"/>
            <a:ext cx="5029200" cy="6953250"/>
          </a:xfrm>
          <a:prstGeom prst="roundRect">
            <a:avLst>
              <a:gd name="adj" fmla="val 1326"/>
            </a:avLst>
          </a:prstGeom>
          <a:solidFill>
            <a:srgbClr val="FAFD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10" name="column-2"/>
          <p:cNvSpPr>
            <a:spLocks noGrp="1"/>
          </p:cNvSpPr>
          <p:nvPr/>
        </p:nvSpPr>
        <p:spPr>
          <a:xfrm>
            <a:off x="10572750" y="1847850"/>
            <a:ext cx="5200650" cy="6953250"/>
          </a:xfrm>
          <a:prstGeom prst="roundRect">
            <a:avLst>
              <a:gd name="adj" fmla="val 1282"/>
            </a:avLst>
          </a:prstGeom>
          <a:solidFill>
            <a:srgbClr val="FAFD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11" name="heading-0"/>
          <p:cNvSpPr>
            <a:spLocks noGrp="1"/>
          </p:cNvSpPr>
          <p:nvPr/>
        </p:nvSpPr>
        <p:spPr>
          <a:xfrm>
            <a:off x="257175" y="1924050"/>
            <a:ext cx="4981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多测试集预测精度领先</a:t>
            </a:r>
            <a:endParaRPr sz="217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heading-1"/>
          <p:cNvSpPr>
            <a:spLocks noGrp="1"/>
          </p:cNvSpPr>
          <p:nvPr/>
        </p:nvSpPr>
        <p:spPr>
          <a:xfrm>
            <a:off x="5562600" y="1924050"/>
            <a:ext cx="480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关键模块均产生有效增益</a:t>
            </a:r>
            <a:endParaRPr sz="217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heading-2"/>
          <p:cNvSpPr>
            <a:spLocks noGrp="1"/>
          </p:cNvSpPr>
          <p:nvPr/>
        </p:nvSpPr>
        <p:spPr>
          <a:xfrm>
            <a:off x="10725150" y="1924050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强波动区间仍保持趋势跟踪</a:t>
            </a:r>
            <a:endParaRPr sz="217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left-charts"/>
          <p:cNvSpPr>
            <a:spLocks noGrp="1"/>
          </p:cNvSpPr>
          <p:nvPr/>
        </p:nvSpPr>
        <p:spPr>
          <a:xfrm>
            <a:off x="200025" y="2352675"/>
            <a:ext cx="5095875" cy="4962525"/>
          </a:xfrm>
          <a:prstGeom prst="roundRect">
            <a:avLst>
              <a:gd name="adj" fmla="val 960"/>
            </a:avLst>
          </a:prstGeom>
          <a:solidFill>
            <a:srgbClr val="FFFFFF"/>
          </a:solidFill>
          <a:ln w="6668">
            <a:solidFill>
              <a:srgbClr val="D3EAFC"/>
            </a:solidFill>
            <a:prstDash val="solid"/>
          </a:ln>
        </p:spPr>
      </p:sp>
      <p:sp>
        <p:nvSpPr>
          <p:cNvPr id="15" name="mid-charts"/>
          <p:cNvSpPr>
            <a:spLocks noGrp="1"/>
          </p:cNvSpPr>
          <p:nvPr/>
        </p:nvSpPr>
        <p:spPr>
          <a:xfrm>
            <a:off x="5524500" y="2352675"/>
            <a:ext cx="4905375" cy="4105275"/>
          </a:xfrm>
          <a:prstGeom prst="roundRect">
            <a:avLst>
              <a:gd name="adj" fmla="val 1160"/>
            </a:avLst>
          </a:prstGeom>
          <a:solidFill>
            <a:srgbClr val="FFFFFF"/>
          </a:solidFill>
          <a:ln w="6668">
            <a:solidFill>
              <a:srgbClr val="D3EAFC"/>
            </a:solidFill>
            <a:prstDash val="solid"/>
          </a:ln>
        </p:spPr>
      </p:sp>
      <p:sp>
        <p:nvSpPr>
          <p:cNvPr id="16" name="right-chart"/>
          <p:cNvSpPr>
            <a:spLocks noGrp="1"/>
          </p:cNvSpPr>
          <p:nvPr/>
        </p:nvSpPr>
        <p:spPr>
          <a:xfrm>
            <a:off x="10648950" y="2352675"/>
            <a:ext cx="5048250" cy="378142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6668">
            <a:solidFill>
              <a:srgbClr val="D3EAFC"/>
            </a:solidFill>
            <a:prstDash val="solid"/>
          </a:ln>
        </p:spPr>
      </p:sp>
      <p:sp>
        <p:nvSpPr>
          <p:cNvPr id="17" name="ordered-title"/>
          <p:cNvSpPr>
            <a:spLocks noGrp="1"/>
          </p:cNvSpPr>
          <p:nvPr/>
        </p:nvSpPr>
        <p:spPr>
          <a:xfrm>
            <a:off x="1028700" y="2371725"/>
            <a:ext cx="4086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有序测试集（Ordered Test）</a:t>
            </a:r>
            <a:endParaRPr sz="142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5" name="图片 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2619375"/>
            <a:ext cx="4953000" cy="1828800"/>
          </a:xfrm>
          <a:prstGeom prst="rect">
            <a:avLst/>
          </a:prstGeom>
        </p:spPr>
      </p:pic>
      <p:sp>
        <p:nvSpPr>
          <p:cNvPr id="19" name="ordered-gain-box"/>
          <p:cNvSpPr>
            <a:spLocks noGrp="1"/>
          </p:cNvSpPr>
          <p:nvPr/>
        </p:nvSpPr>
        <p:spPr>
          <a:xfrm>
            <a:off x="400050" y="4505325"/>
            <a:ext cx="4733925" cy="304800"/>
          </a:xfrm>
          <a:prstGeom prst="roundRect">
            <a:avLst>
              <a:gd name="adj" fmla="val 12500"/>
            </a:avLst>
          </a:prstGeom>
          <a:solidFill>
            <a:srgbClr val="F8FCFF"/>
          </a:solidFill>
          <a:ln w="9525">
            <a:solidFill>
              <a:srgbClr val="0078C9"/>
            </a:solidFill>
            <a:prstDash val="dash"/>
          </a:ln>
        </p:spPr>
      </p:sp>
      <p:sp>
        <p:nvSpPr>
          <p:cNvPr id="20" name="ordered-gain"/>
          <p:cNvSpPr>
            <a:spLocks noGrp="1"/>
          </p:cNvSpPr>
          <p:nvPr/>
        </p:nvSpPr>
        <p:spPr>
          <a:xfrm>
            <a:off x="457200" y="4524375"/>
            <a:ext cx="4619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73680"/>
                </a:solidFill>
              </a:rPr>
              <a:t>Ordered：平均提升 </a:t>
            </a:r>
            <a:r>
              <a:rPr b="1">
                <a:solidFill>
                  <a:srgbClr val="EA161F"/>
                </a:solidFill>
              </a:rPr>
              <a:t>10.4%</a:t>
            </a:r>
            <a:r>
              <a:rPr b="1">
                <a:solidFill>
                  <a:srgbClr val="073680"/>
                </a:solidFill>
              </a:rPr>
              <a:t> / 最大提升 </a:t>
            </a:r>
            <a:r>
              <a:rPr b="1">
                <a:solidFill>
                  <a:srgbClr val="EA161F"/>
                </a:solidFill>
              </a:rPr>
              <a:t>18.6%</a:t>
            </a:r>
            <a:endParaRPr b="1">
              <a:solidFill>
                <a:srgbClr val="EA161F"/>
              </a:solidFill>
            </a:endParaRPr>
          </a:p>
        </p:txBody>
      </p:sp>
      <p:sp>
        <p:nvSpPr>
          <p:cNvPr id="21" name="random-title"/>
          <p:cNvSpPr>
            <a:spLocks noGrp="1"/>
          </p:cNvSpPr>
          <p:nvPr/>
        </p:nvSpPr>
        <p:spPr>
          <a:xfrm>
            <a:off x="1000125" y="4895850"/>
            <a:ext cx="4105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(b) 随机测试集（Random Test）</a:t>
            </a:r>
            <a:endParaRPr sz="142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9" name="图片 1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" y="5133975"/>
            <a:ext cx="4962525" cy="1800225"/>
          </a:xfrm>
          <a:prstGeom prst="rect">
            <a:avLst/>
          </a:prstGeom>
        </p:spPr>
      </p:pic>
      <p:sp>
        <p:nvSpPr>
          <p:cNvPr id="23" name="random-gain-box"/>
          <p:cNvSpPr>
            <a:spLocks noGrp="1"/>
          </p:cNvSpPr>
          <p:nvPr/>
        </p:nvSpPr>
        <p:spPr>
          <a:xfrm>
            <a:off x="400050" y="6981825"/>
            <a:ext cx="4733925" cy="304800"/>
          </a:xfrm>
          <a:prstGeom prst="roundRect">
            <a:avLst>
              <a:gd name="adj" fmla="val 12500"/>
            </a:avLst>
          </a:prstGeom>
          <a:solidFill>
            <a:srgbClr val="F8FCFF"/>
          </a:solidFill>
          <a:ln w="9525">
            <a:solidFill>
              <a:srgbClr val="0078C9"/>
            </a:solidFill>
            <a:prstDash val="dash"/>
          </a:ln>
        </p:spPr>
      </p:sp>
      <p:sp>
        <p:nvSpPr>
          <p:cNvPr id="24" name="random-gain"/>
          <p:cNvSpPr>
            <a:spLocks noGrp="1"/>
          </p:cNvSpPr>
          <p:nvPr/>
        </p:nvSpPr>
        <p:spPr>
          <a:xfrm>
            <a:off x="457200" y="7000875"/>
            <a:ext cx="4619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73680"/>
                </a:solidFill>
              </a:rPr>
              <a:t>Random：平均提升 </a:t>
            </a:r>
            <a:r>
              <a:rPr b="1">
                <a:solidFill>
                  <a:srgbClr val="EA161F"/>
                </a:solidFill>
              </a:rPr>
              <a:t>9.7%</a:t>
            </a:r>
            <a:r>
              <a:rPr b="1">
                <a:solidFill>
                  <a:srgbClr val="073680"/>
                </a:solidFill>
              </a:rPr>
              <a:t> / 最大提升 </a:t>
            </a:r>
            <a:r>
              <a:rPr b="1">
                <a:solidFill>
                  <a:srgbClr val="EA161F"/>
                </a:solidFill>
              </a:rPr>
              <a:t>17.1%</a:t>
            </a:r>
            <a:endParaRPr b="1">
              <a:solidFill>
                <a:srgbClr val="EA161F"/>
              </a:solidFill>
            </a:endParaRPr>
          </a:p>
        </p:txBody>
      </p:sp>
      <p:sp>
        <p:nvSpPr>
          <p:cNvPr id="25" name="left-explanation"/>
          <p:cNvSpPr>
            <a:spLocks noGrp="1"/>
          </p:cNvSpPr>
          <p:nvPr/>
        </p:nvSpPr>
        <p:spPr>
          <a:xfrm>
            <a:off x="238125" y="7381875"/>
            <a:ext cx="5019675" cy="1343025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6668">
            <a:solidFill>
              <a:srgbClr val="D3EAFC"/>
            </a:solidFill>
            <a:prstDash val="solid"/>
          </a:ln>
        </p:spPr>
      </p:sp>
      <p:sp>
        <p:nvSpPr>
          <p:cNvPr id="26" name="left-why"/>
          <p:cNvSpPr>
            <a:spLocks noGrp="1"/>
          </p:cNvSpPr>
          <p:nvPr/>
        </p:nvSpPr>
        <p:spPr>
          <a:xfrm>
            <a:off x="295275" y="7419975"/>
            <a:ext cx="4905375" cy="266700"/>
          </a:xfrm>
          <a:prstGeom prst="rect">
            <a:avLst/>
          </a:prstGeom>
          <a:solidFill>
            <a:srgbClr val="E6F3FD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为什么WPFormer整体误差更低？</a:t>
            </a:r>
            <a:endParaRPr sz="142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why-0"/>
          <p:cNvSpPr>
            <a:spLocks noGrp="1"/>
          </p:cNvSpPr>
          <p:nvPr/>
        </p:nvSpPr>
        <p:spPr>
          <a:xfrm>
            <a:off x="323850" y="7705725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6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传统时序模型：缺少风机间空间信息</a:t>
            </a:r>
            <a:endParaRPr sz="116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why-1"/>
          <p:cNvSpPr>
            <a:spLocks noGrp="1"/>
          </p:cNvSpPr>
          <p:nvPr/>
        </p:nvSpPr>
        <p:spPr>
          <a:xfrm>
            <a:off x="323850" y="7924800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6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普通时空模型：难以处理风功率弱周期与强随机波动</a:t>
            </a:r>
            <a:endParaRPr sz="116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why-2"/>
          <p:cNvSpPr>
            <a:spLocks noGrp="1"/>
          </p:cNvSpPr>
          <p:nvPr/>
        </p:nvSpPr>
        <p:spPr>
          <a:xfrm>
            <a:off x="323850" y="8143875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6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WPFormer：同时利用空间图结构 + 长短期依赖 + 趋势分解</a:t>
            </a:r>
            <a:endParaRPr sz="116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left-conclusion"/>
          <p:cNvSpPr>
            <a:spLocks noGrp="1"/>
          </p:cNvSpPr>
          <p:nvPr/>
        </p:nvSpPr>
        <p:spPr>
          <a:xfrm>
            <a:off x="371475" y="8382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因此不仅拟合局部变化，也能保持长预测区间趋势稳定。</a:t>
            </a:r>
            <a:endParaRPr sz="157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ablation-title"/>
          <p:cNvSpPr>
            <a:spLocks noGrp="1"/>
          </p:cNvSpPr>
          <p:nvPr/>
        </p:nvSpPr>
        <p:spPr>
          <a:xfrm>
            <a:off x="6486525" y="2419350"/>
            <a:ext cx="3267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消融实验结果对比</a:t>
            </a:r>
            <a:endParaRPr sz="150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9" name="Chart"/>
          <p:cNvGraphicFramePr/>
          <p:nvPr/>
        </p:nvGraphicFramePr>
        <p:xfrm>
          <a:off x="5905500" y="2743200"/>
          <a:ext cx="4429125" cy="1924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3" name="wp-ablation-category-0"/>
          <p:cNvSpPr>
            <a:spLocks noGrp="1"/>
          </p:cNvSpPr>
          <p:nvPr/>
        </p:nvSpPr>
        <p:spPr>
          <a:xfrm>
            <a:off x="6076950" y="4257675"/>
            <a:ext cx="655864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wp-ablation-category-1"/>
          <p:cNvSpPr>
            <a:spLocks noGrp="1"/>
          </p:cNvSpPr>
          <p:nvPr/>
        </p:nvSpPr>
        <p:spPr>
          <a:xfrm>
            <a:off x="6675664" y="4257675"/>
            <a:ext cx="655864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w/o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WEDS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wp-ablation-category-2"/>
          <p:cNvSpPr>
            <a:spLocks noGrp="1"/>
          </p:cNvSpPr>
          <p:nvPr/>
        </p:nvSpPr>
        <p:spPr>
          <a:xfrm>
            <a:off x="7274379" y="4257675"/>
            <a:ext cx="655864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w/o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FEDS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wp-ablation-category-3"/>
          <p:cNvSpPr>
            <a:spLocks noGrp="1"/>
          </p:cNvSpPr>
          <p:nvPr/>
        </p:nvSpPr>
        <p:spPr>
          <a:xfrm>
            <a:off x="7873093" y="4257675"/>
            <a:ext cx="655864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w/o</a:t>
            </a:r>
            <a:endParaRPr sz="75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5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AutoCorrelation</a:t>
            </a:r>
            <a:endParaRPr sz="75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wp-ablation-category-4"/>
          <p:cNvSpPr>
            <a:spLocks noGrp="1"/>
          </p:cNvSpPr>
          <p:nvPr/>
        </p:nvSpPr>
        <p:spPr>
          <a:xfrm>
            <a:off x="8471807" y="4257675"/>
            <a:ext cx="655864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w/o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Multi-Head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wp-ablation-category-5"/>
          <p:cNvSpPr>
            <a:spLocks noGrp="1"/>
          </p:cNvSpPr>
          <p:nvPr/>
        </p:nvSpPr>
        <p:spPr>
          <a:xfrm>
            <a:off x="9070521" y="4257675"/>
            <a:ext cx="655864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w/o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wp-ablation-category-6"/>
          <p:cNvSpPr>
            <a:spLocks noGrp="1"/>
          </p:cNvSpPr>
          <p:nvPr/>
        </p:nvSpPr>
        <p:spPr>
          <a:xfrm>
            <a:off x="9669236" y="4257675"/>
            <a:ext cx="655864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w/o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POPtree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wp-ablation-ytick-0"/>
          <p:cNvSpPr>
            <a:spLocks noGrp="1"/>
          </p:cNvSpPr>
          <p:nvPr/>
        </p:nvSpPr>
        <p:spPr>
          <a:xfrm>
            <a:off x="5686425" y="41148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wp-ablation-ytick-1"/>
          <p:cNvSpPr>
            <a:spLocks noGrp="1"/>
          </p:cNvSpPr>
          <p:nvPr/>
        </p:nvSpPr>
        <p:spPr>
          <a:xfrm>
            <a:off x="5686425" y="383286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wp-ablation-ytick-2"/>
          <p:cNvSpPr>
            <a:spLocks noGrp="1"/>
          </p:cNvSpPr>
          <p:nvPr/>
        </p:nvSpPr>
        <p:spPr>
          <a:xfrm>
            <a:off x="5686425" y="355092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wp-ablation-ytick-3"/>
          <p:cNvSpPr>
            <a:spLocks noGrp="1"/>
          </p:cNvSpPr>
          <p:nvPr/>
        </p:nvSpPr>
        <p:spPr>
          <a:xfrm>
            <a:off x="5686425" y="326898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wp-ablation-ytick-4"/>
          <p:cNvSpPr>
            <a:spLocks noGrp="1"/>
          </p:cNvSpPr>
          <p:nvPr/>
        </p:nvSpPr>
        <p:spPr>
          <a:xfrm>
            <a:off x="5686425" y="298704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wp-ablation-ytick-5"/>
          <p:cNvSpPr>
            <a:spLocks noGrp="1"/>
          </p:cNvSpPr>
          <p:nvPr/>
        </p:nvSpPr>
        <p:spPr>
          <a:xfrm>
            <a:off x="5686425" y="27051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ablation-y"/>
          <p:cNvSpPr>
            <a:spLocks noGrp="1"/>
          </p:cNvSpPr>
          <p:nvPr/>
        </p:nvSpPr>
        <p:spPr>
          <a:xfrm rot="16200000">
            <a:off x="5572125" y="3152775"/>
            <a:ext cx="2381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预测误差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feds-title"/>
          <p:cNvSpPr>
            <a:spLocks noGrp="1"/>
          </p:cNvSpPr>
          <p:nvPr/>
        </p:nvSpPr>
        <p:spPr>
          <a:xfrm>
            <a:off x="6810375" y="4772025"/>
            <a:ext cx="2724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特征选择方法对比</a:t>
            </a:r>
            <a:endParaRPr sz="150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5" name="Chart"/>
          <p:cNvGraphicFramePr/>
          <p:nvPr/>
        </p:nvGraphicFramePr>
        <p:xfrm>
          <a:off x="5905500" y="5029200"/>
          <a:ext cx="4429125" cy="1362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9" name="feature-ablation-category-0"/>
          <p:cNvSpPr>
            <a:spLocks noGrp="1"/>
          </p:cNvSpPr>
          <p:nvPr/>
        </p:nvSpPr>
        <p:spPr>
          <a:xfrm>
            <a:off x="6076950" y="6172200"/>
            <a:ext cx="145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Pearson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feature-ablation-category-1"/>
          <p:cNvSpPr>
            <a:spLocks noGrp="1"/>
          </p:cNvSpPr>
          <p:nvPr/>
        </p:nvSpPr>
        <p:spPr>
          <a:xfrm>
            <a:off x="7473950" y="6172200"/>
            <a:ext cx="145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GBDT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feature-ablation-category-2"/>
          <p:cNvSpPr>
            <a:spLocks noGrp="1"/>
          </p:cNvSpPr>
          <p:nvPr/>
        </p:nvSpPr>
        <p:spPr>
          <a:xfrm>
            <a:off x="8870950" y="6172200"/>
            <a:ext cx="145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FEDS</a:t>
            </a:r>
            <a:endParaRPr sz="90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feature-ablation-ytick-0"/>
          <p:cNvSpPr>
            <a:spLocks noGrp="1"/>
          </p:cNvSpPr>
          <p:nvPr/>
        </p:nvSpPr>
        <p:spPr>
          <a:xfrm>
            <a:off x="5686425" y="602932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feature-ablation-ytick-1"/>
          <p:cNvSpPr>
            <a:spLocks noGrp="1"/>
          </p:cNvSpPr>
          <p:nvPr/>
        </p:nvSpPr>
        <p:spPr>
          <a:xfrm>
            <a:off x="5686425" y="5765006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feature-ablation-ytick-2"/>
          <p:cNvSpPr>
            <a:spLocks noGrp="1"/>
          </p:cNvSpPr>
          <p:nvPr/>
        </p:nvSpPr>
        <p:spPr>
          <a:xfrm>
            <a:off x="5686425" y="5500688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feature-ablation-ytick-3"/>
          <p:cNvSpPr>
            <a:spLocks noGrp="1"/>
          </p:cNvSpPr>
          <p:nvPr/>
        </p:nvSpPr>
        <p:spPr>
          <a:xfrm>
            <a:off x="5686425" y="5236369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feature-ablation-ytick-4"/>
          <p:cNvSpPr>
            <a:spLocks noGrp="1"/>
          </p:cNvSpPr>
          <p:nvPr/>
        </p:nvSpPr>
        <p:spPr>
          <a:xfrm>
            <a:off x="5686425" y="49720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</a:t>
            </a:r>
            <a:endParaRPr sz="97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feature-y"/>
          <p:cNvSpPr>
            <a:spLocks noGrp="1"/>
          </p:cNvSpPr>
          <p:nvPr/>
        </p:nvSpPr>
        <p:spPr>
          <a:xfrm rot="16200000">
            <a:off x="5572125" y="5248275"/>
            <a:ext cx="2381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预测误差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gain-box"/>
          <p:cNvSpPr>
            <a:spLocks noGrp="1"/>
          </p:cNvSpPr>
          <p:nvPr/>
        </p:nvSpPr>
        <p:spPr>
          <a:xfrm>
            <a:off x="5534025" y="6562725"/>
            <a:ext cx="4848225" cy="2162175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6668">
            <a:solidFill>
              <a:srgbClr val="D3EAFC"/>
            </a:solidFill>
            <a:prstDash val="solid"/>
          </a:ln>
        </p:spPr>
      </p:sp>
      <p:sp>
        <p:nvSpPr>
          <p:cNvPr id="59" name="gain-head"/>
          <p:cNvSpPr>
            <a:spLocks noGrp="1"/>
          </p:cNvSpPr>
          <p:nvPr/>
        </p:nvSpPr>
        <p:spPr>
          <a:xfrm>
            <a:off x="5619750" y="6600825"/>
            <a:ext cx="4705350" cy="276225"/>
          </a:xfrm>
          <a:prstGeom prst="rect">
            <a:avLst/>
          </a:prstGeom>
          <a:solidFill>
            <a:srgbClr val="E8F5FE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性能增益来自哪里？</a:t>
            </a:r>
            <a:endParaRPr sz="150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gain-label-0-frame"/>
          <p:cNvSpPr>
            <a:spLocks noGrp="1"/>
          </p:cNvSpPr>
          <p:nvPr/>
        </p:nvSpPr>
        <p:spPr>
          <a:xfrm>
            <a:off x="5629275" y="6915150"/>
            <a:ext cx="1371600" cy="219075"/>
          </a:xfrm>
          <a:prstGeom prst="roundRect">
            <a:avLst>
              <a:gd name="adj" fmla="val 17391"/>
            </a:avLst>
          </a:prstGeom>
          <a:solidFill>
            <a:srgbClr val="D2ECFD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61" name="gain-label-0"/>
          <p:cNvSpPr>
            <a:spLocks noGrp="1"/>
          </p:cNvSpPr>
          <p:nvPr/>
        </p:nvSpPr>
        <p:spPr>
          <a:xfrm>
            <a:off x="5648325" y="6915150"/>
            <a:ext cx="1333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WEDS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gain-text-0"/>
          <p:cNvSpPr>
            <a:spLocks noGrp="1"/>
          </p:cNvSpPr>
          <p:nvPr/>
        </p:nvSpPr>
        <p:spPr>
          <a:xfrm>
            <a:off x="7086600" y="6915150"/>
            <a:ext cx="3209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1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 异常比例高，先修复可避免错误SCADA污染训练</a:t>
            </a:r>
            <a:endParaRPr sz="101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gain-label-1-frame"/>
          <p:cNvSpPr>
            <a:spLocks noGrp="1"/>
          </p:cNvSpPr>
          <p:nvPr/>
        </p:nvSpPr>
        <p:spPr>
          <a:xfrm>
            <a:off x="5629275" y="7172325"/>
            <a:ext cx="1371600" cy="219075"/>
          </a:xfrm>
          <a:prstGeom prst="roundRect">
            <a:avLst>
              <a:gd name="adj" fmla="val 17391"/>
            </a:avLst>
          </a:prstGeom>
          <a:solidFill>
            <a:srgbClr val="D2ECFD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64" name="gain-label-1"/>
          <p:cNvSpPr>
            <a:spLocks noGrp="1"/>
          </p:cNvSpPr>
          <p:nvPr/>
        </p:nvSpPr>
        <p:spPr>
          <a:xfrm>
            <a:off x="5648325" y="7172325"/>
            <a:ext cx="1333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FEDS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gain-text-1"/>
          <p:cNvSpPr>
            <a:spLocks noGrp="1"/>
          </p:cNvSpPr>
          <p:nvPr/>
        </p:nvSpPr>
        <p:spPr>
          <a:xfrm>
            <a:off x="7086600" y="7172325"/>
            <a:ext cx="3209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 学习特征间联合贡献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gain-label-2-frame"/>
          <p:cNvSpPr>
            <a:spLocks noGrp="1"/>
          </p:cNvSpPr>
          <p:nvPr/>
        </p:nvSpPr>
        <p:spPr>
          <a:xfrm>
            <a:off x="5629275" y="7429500"/>
            <a:ext cx="1371600" cy="219075"/>
          </a:xfrm>
          <a:prstGeom prst="roundRect">
            <a:avLst>
              <a:gd name="adj" fmla="val 17391"/>
            </a:avLst>
          </a:prstGeom>
          <a:solidFill>
            <a:srgbClr val="D2ECFD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67" name="gain-label-2"/>
          <p:cNvSpPr>
            <a:spLocks noGrp="1"/>
          </p:cNvSpPr>
          <p:nvPr/>
        </p:nvSpPr>
        <p:spPr>
          <a:xfrm>
            <a:off x="5648325" y="7429500"/>
            <a:ext cx="1333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gain-text-2"/>
          <p:cNvSpPr>
            <a:spLocks noGrp="1"/>
          </p:cNvSpPr>
          <p:nvPr/>
        </p:nvSpPr>
        <p:spPr>
          <a:xfrm>
            <a:off x="7086600" y="7429500"/>
            <a:ext cx="3209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 利用风机空间相关性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gain-label-3-frame"/>
          <p:cNvSpPr>
            <a:spLocks noGrp="1"/>
          </p:cNvSpPr>
          <p:nvPr/>
        </p:nvSpPr>
        <p:spPr>
          <a:xfrm>
            <a:off x="5629275" y="7686675"/>
            <a:ext cx="1371600" cy="219075"/>
          </a:xfrm>
          <a:prstGeom prst="roundRect">
            <a:avLst>
              <a:gd name="adj" fmla="val 17391"/>
            </a:avLst>
          </a:prstGeom>
          <a:solidFill>
            <a:srgbClr val="D2ECFD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70" name="gain-label-3"/>
          <p:cNvSpPr>
            <a:spLocks noGrp="1"/>
          </p:cNvSpPr>
          <p:nvPr/>
        </p:nvSpPr>
        <p:spPr>
          <a:xfrm>
            <a:off x="5648325" y="7686675"/>
            <a:ext cx="1333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AutoCorrelation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gain-text-3"/>
          <p:cNvSpPr>
            <a:spLocks noGrp="1"/>
          </p:cNvSpPr>
          <p:nvPr/>
        </p:nvSpPr>
        <p:spPr>
          <a:xfrm>
            <a:off x="7086600" y="7686675"/>
            <a:ext cx="3209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 适合长时序相似模式与弱周期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gain-label-4-frame"/>
          <p:cNvSpPr>
            <a:spLocks noGrp="1"/>
          </p:cNvSpPr>
          <p:nvPr/>
        </p:nvSpPr>
        <p:spPr>
          <a:xfrm>
            <a:off x="5629275" y="7943850"/>
            <a:ext cx="1371600" cy="219075"/>
          </a:xfrm>
          <a:prstGeom prst="roundRect">
            <a:avLst>
              <a:gd name="adj" fmla="val 17391"/>
            </a:avLst>
          </a:prstGeom>
          <a:solidFill>
            <a:srgbClr val="D2ECFD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73" name="gain-label-4"/>
          <p:cNvSpPr>
            <a:spLocks noGrp="1"/>
          </p:cNvSpPr>
          <p:nvPr/>
        </p:nvSpPr>
        <p:spPr>
          <a:xfrm>
            <a:off x="5648325" y="7943850"/>
            <a:ext cx="1333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Multi-Head Attention</a:t>
            </a:r>
            <a:endParaRPr sz="97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gain-text-4"/>
          <p:cNvSpPr>
            <a:spLocks noGrp="1"/>
          </p:cNvSpPr>
          <p:nvPr/>
        </p:nvSpPr>
        <p:spPr>
          <a:xfrm>
            <a:off x="7086600" y="7943850"/>
            <a:ext cx="3209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 补充局部突变与短期依赖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gain-label-5-frame"/>
          <p:cNvSpPr>
            <a:spLocks noGrp="1"/>
          </p:cNvSpPr>
          <p:nvPr/>
        </p:nvSpPr>
        <p:spPr>
          <a:xfrm>
            <a:off x="5629275" y="8201025"/>
            <a:ext cx="1371600" cy="219075"/>
          </a:xfrm>
          <a:prstGeom prst="roundRect">
            <a:avLst>
              <a:gd name="adj" fmla="val 17391"/>
            </a:avLst>
          </a:prstGeom>
          <a:solidFill>
            <a:srgbClr val="D2ECFD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76" name="gain-label-5"/>
          <p:cNvSpPr>
            <a:spLocks noGrp="1"/>
          </p:cNvSpPr>
          <p:nvPr/>
        </p:nvSpPr>
        <p:spPr>
          <a:xfrm>
            <a:off x="5648325" y="8201025"/>
            <a:ext cx="1333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POPtree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gain-text-5"/>
          <p:cNvSpPr>
            <a:spLocks noGrp="1"/>
          </p:cNvSpPr>
          <p:nvPr/>
        </p:nvSpPr>
        <p:spPr>
          <a:xfrm>
            <a:off x="7086600" y="8201025"/>
            <a:ext cx="3209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 聚类辅助提高集成稳定性</a:t>
            </a:r>
            <a:endParaRPr sz="112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race-title"/>
          <p:cNvSpPr>
            <a:spLocks noGrp="1"/>
          </p:cNvSpPr>
          <p:nvPr/>
        </p:nvSpPr>
        <p:spPr>
          <a:xfrm>
            <a:off x="11258550" y="2409825"/>
            <a:ext cx="39147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典型时段风功率预测结果</a:t>
            </a:r>
            <a:endParaRPr sz="150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6" name="图片 18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8475" y="2733675"/>
            <a:ext cx="4991100" cy="3371850"/>
          </a:xfrm>
          <a:prstGeom prst="rect">
            <a:avLst/>
          </a:prstGeom>
        </p:spPr>
      </p:pic>
      <p:sp>
        <p:nvSpPr>
          <p:cNvPr id="80" name="phenomena-box"/>
          <p:cNvSpPr>
            <a:spLocks noGrp="1"/>
          </p:cNvSpPr>
          <p:nvPr/>
        </p:nvSpPr>
        <p:spPr>
          <a:xfrm>
            <a:off x="10677525" y="6229350"/>
            <a:ext cx="4972050" cy="1733550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6668">
            <a:solidFill>
              <a:srgbClr val="D3EAFC"/>
            </a:solidFill>
            <a:prstDash val="solid"/>
          </a:ln>
        </p:spPr>
      </p:sp>
      <p:sp>
        <p:nvSpPr>
          <p:cNvPr id="81" name="phenomena-head"/>
          <p:cNvSpPr>
            <a:spLocks noGrp="1"/>
          </p:cNvSpPr>
          <p:nvPr/>
        </p:nvSpPr>
        <p:spPr>
          <a:xfrm>
            <a:off x="10772775" y="6267450"/>
            <a:ext cx="4676775" cy="276225"/>
          </a:xfrm>
          <a:prstGeom prst="rect">
            <a:avLst/>
          </a:prstGeom>
          <a:solidFill>
            <a:srgbClr val="EAF6FE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  →  原因</a:t>
            </a:r>
            <a:endParaRPr sz="157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phen-left-0-frame"/>
          <p:cNvSpPr>
            <a:spLocks noGrp="1"/>
          </p:cNvSpPr>
          <p:nvPr/>
        </p:nvSpPr>
        <p:spPr>
          <a:xfrm>
            <a:off x="10753725" y="6572250"/>
            <a:ext cx="1504950" cy="276225"/>
          </a:xfrm>
          <a:prstGeom prst="roundRect">
            <a:avLst>
              <a:gd name="adj" fmla="val 13793"/>
            </a:avLst>
          </a:prstGeom>
          <a:solidFill>
            <a:srgbClr val="D6ED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83" name="phen-left-0"/>
          <p:cNvSpPr>
            <a:spLocks noGrp="1"/>
          </p:cNvSpPr>
          <p:nvPr/>
        </p:nvSpPr>
        <p:spPr>
          <a:xfrm>
            <a:off x="10772775" y="6572250"/>
            <a:ext cx="1466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局部骤变跟踪更准</a:t>
            </a:r>
            <a:endParaRPr sz="109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phen-right-0-frame"/>
          <p:cNvSpPr>
            <a:spLocks noGrp="1"/>
          </p:cNvSpPr>
          <p:nvPr/>
        </p:nvSpPr>
        <p:spPr>
          <a:xfrm>
            <a:off x="12658725" y="6572250"/>
            <a:ext cx="2924175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0AFE9"/>
            </a:solidFill>
            <a:prstDash val="solid"/>
          </a:ln>
        </p:spPr>
      </p:sp>
      <p:sp>
        <p:nvSpPr>
          <p:cNvPr id="85" name="phen-right-0"/>
          <p:cNvSpPr>
            <a:spLocks noGrp="1"/>
          </p:cNvSpPr>
          <p:nvPr/>
        </p:nvSpPr>
        <p:spPr>
          <a:xfrm>
            <a:off x="12677775" y="6572250"/>
            <a:ext cx="28860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Multi-Head Attention捕获点级依赖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phen-arrow-0"/>
          <p:cNvSpPr>
            <a:spLocks noGrp="1"/>
          </p:cNvSpPr>
          <p:nvPr/>
        </p:nvSpPr>
        <p:spPr>
          <a:xfrm>
            <a:off x="12258675" y="6710363"/>
            <a:ext cx="400050" cy="953"/>
          </a:xfrm>
          <a:custGeom>
            <a:avLst/>
            <a:gdLst/>
            <a:ahLst/>
            <a:cxnLst/>
            <a:pathLst>
              <a:path w="400050" h="953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87" name="phen-arrow-0-tip"/>
          <p:cNvSpPr>
            <a:spLocks noGrp="1"/>
          </p:cNvSpPr>
          <p:nvPr/>
        </p:nvSpPr>
        <p:spPr>
          <a:xfrm>
            <a:off x="12573000" y="6668453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88" name="phen-left-1-frame"/>
          <p:cNvSpPr>
            <a:spLocks noGrp="1"/>
          </p:cNvSpPr>
          <p:nvPr/>
        </p:nvSpPr>
        <p:spPr>
          <a:xfrm>
            <a:off x="10753725" y="6919913"/>
            <a:ext cx="1504950" cy="276225"/>
          </a:xfrm>
          <a:prstGeom prst="roundRect">
            <a:avLst>
              <a:gd name="adj" fmla="val 13793"/>
            </a:avLst>
          </a:prstGeom>
          <a:solidFill>
            <a:srgbClr val="D6ED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89" name="phen-left-1"/>
          <p:cNvSpPr>
            <a:spLocks noGrp="1"/>
          </p:cNvSpPr>
          <p:nvPr/>
        </p:nvSpPr>
        <p:spPr>
          <a:xfrm>
            <a:off x="10772775" y="6919913"/>
            <a:ext cx="1466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长区间趋势偏移更小</a:t>
            </a:r>
            <a:endParaRPr sz="109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phen-right-1-frame"/>
          <p:cNvSpPr>
            <a:spLocks noGrp="1"/>
          </p:cNvSpPr>
          <p:nvPr/>
        </p:nvSpPr>
        <p:spPr>
          <a:xfrm>
            <a:off x="12658725" y="6919913"/>
            <a:ext cx="2924175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0AFE9"/>
            </a:solidFill>
            <a:prstDash val="solid"/>
          </a:ln>
        </p:spPr>
      </p:sp>
      <p:sp>
        <p:nvSpPr>
          <p:cNvPr id="91" name="phen-right-1"/>
          <p:cNvSpPr>
            <a:spLocks noGrp="1"/>
          </p:cNvSpPr>
          <p:nvPr/>
        </p:nvSpPr>
        <p:spPr>
          <a:xfrm>
            <a:off x="12677775" y="6919913"/>
            <a:ext cx="28860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AutoCorrelation聚合相似时间模式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phen-arrow-1"/>
          <p:cNvSpPr>
            <a:spLocks noGrp="1"/>
          </p:cNvSpPr>
          <p:nvPr/>
        </p:nvSpPr>
        <p:spPr>
          <a:xfrm>
            <a:off x="12258675" y="7058025"/>
            <a:ext cx="400050" cy="953"/>
          </a:xfrm>
          <a:custGeom>
            <a:avLst/>
            <a:gdLst/>
            <a:ahLst/>
            <a:cxnLst/>
            <a:pathLst>
              <a:path w="400050" h="953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93" name="phen-arrow-1-tip"/>
          <p:cNvSpPr>
            <a:spLocks noGrp="1"/>
          </p:cNvSpPr>
          <p:nvPr/>
        </p:nvSpPr>
        <p:spPr>
          <a:xfrm>
            <a:off x="12573000" y="7016115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94" name="phen-left-2-frame"/>
          <p:cNvSpPr>
            <a:spLocks noGrp="1"/>
          </p:cNvSpPr>
          <p:nvPr/>
        </p:nvSpPr>
        <p:spPr>
          <a:xfrm>
            <a:off x="10753725" y="7267575"/>
            <a:ext cx="1504950" cy="276225"/>
          </a:xfrm>
          <a:prstGeom prst="roundRect">
            <a:avLst>
              <a:gd name="adj" fmla="val 13793"/>
            </a:avLst>
          </a:prstGeom>
          <a:solidFill>
            <a:srgbClr val="D6ED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95" name="phen-left-2"/>
          <p:cNvSpPr>
            <a:spLocks noGrp="1"/>
          </p:cNvSpPr>
          <p:nvPr/>
        </p:nvSpPr>
        <p:spPr>
          <a:xfrm>
            <a:off x="10772775" y="7267575"/>
            <a:ext cx="1466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高波动下预测更平稳</a:t>
            </a:r>
            <a:endParaRPr sz="109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phen-right-2-frame"/>
          <p:cNvSpPr>
            <a:spLocks noGrp="1"/>
          </p:cNvSpPr>
          <p:nvPr/>
        </p:nvSpPr>
        <p:spPr>
          <a:xfrm>
            <a:off x="12658725" y="7267575"/>
            <a:ext cx="2924175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0AFE9"/>
            </a:solidFill>
            <a:prstDash val="solid"/>
          </a:ln>
        </p:spPr>
      </p:sp>
      <p:sp>
        <p:nvSpPr>
          <p:cNvPr id="97" name="phen-right-2"/>
          <p:cNvSpPr>
            <a:spLocks noGrp="1"/>
          </p:cNvSpPr>
          <p:nvPr/>
        </p:nvSpPr>
        <p:spPr>
          <a:xfrm>
            <a:off x="12677775" y="7267575"/>
            <a:ext cx="28860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多次Seasonal/Trend分解降低随机扰动影响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phen-arrow-2"/>
          <p:cNvSpPr>
            <a:spLocks noGrp="1"/>
          </p:cNvSpPr>
          <p:nvPr/>
        </p:nvSpPr>
        <p:spPr>
          <a:xfrm>
            <a:off x="12258675" y="7405688"/>
            <a:ext cx="400050" cy="953"/>
          </a:xfrm>
          <a:custGeom>
            <a:avLst/>
            <a:gdLst/>
            <a:ahLst/>
            <a:cxnLst/>
            <a:pathLst>
              <a:path w="400050" h="953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99" name="phen-arrow-2-tip"/>
          <p:cNvSpPr>
            <a:spLocks noGrp="1"/>
          </p:cNvSpPr>
          <p:nvPr/>
        </p:nvSpPr>
        <p:spPr>
          <a:xfrm>
            <a:off x="12573000" y="7363778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00" name="phen-left-3-frame"/>
          <p:cNvSpPr>
            <a:spLocks noGrp="1"/>
          </p:cNvSpPr>
          <p:nvPr/>
        </p:nvSpPr>
        <p:spPr>
          <a:xfrm>
            <a:off x="10753725" y="7615238"/>
            <a:ext cx="1504950" cy="276225"/>
          </a:xfrm>
          <a:prstGeom prst="roundRect">
            <a:avLst>
              <a:gd name="adj" fmla="val 13793"/>
            </a:avLst>
          </a:prstGeom>
          <a:solidFill>
            <a:srgbClr val="D6ED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101" name="phen-left-3"/>
          <p:cNvSpPr>
            <a:spLocks noGrp="1"/>
          </p:cNvSpPr>
          <p:nvPr/>
        </p:nvSpPr>
        <p:spPr>
          <a:xfrm>
            <a:off x="10772775" y="7615238"/>
            <a:ext cx="1466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多风机信息利用更充分</a:t>
            </a:r>
            <a:endParaRPr sz="109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phen-right-3-frame"/>
          <p:cNvSpPr>
            <a:spLocks noGrp="1"/>
          </p:cNvSpPr>
          <p:nvPr/>
        </p:nvSpPr>
        <p:spPr>
          <a:xfrm>
            <a:off x="12658725" y="7615238"/>
            <a:ext cx="2924175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0AFE9"/>
            </a:solidFill>
            <a:prstDash val="solid"/>
          </a:ln>
        </p:spPr>
      </p:sp>
      <p:sp>
        <p:nvSpPr>
          <p:cNvPr id="103" name="phen-right-3"/>
          <p:cNvSpPr>
            <a:spLocks noGrp="1"/>
          </p:cNvSpPr>
          <p:nvPr/>
        </p:nvSpPr>
        <p:spPr>
          <a:xfrm>
            <a:off x="12677775" y="7615238"/>
            <a:ext cx="28860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GAT聚合相关风机信息</a:t>
            </a:r>
            <a:endParaRPr sz="10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phen-arrow-3"/>
          <p:cNvSpPr>
            <a:spLocks noGrp="1"/>
          </p:cNvSpPr>
          <p:nvPr/>
        </p:nvSpPr>
        <p:spPr>
          <a:xfrm>
            <a:off x="12258675" y="7753350"/>
            <a:ext cx="400050" cy="953"/>
          </a:xfrm>
          <a:custGeom>
            <a:avLst/>
            <a:gdLst/>
            <a:ahLst/>
            <a:cxnLst/>
            <a:pathLst>
              <a:path w="400050" h="953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9050">
            <a:solidFill>
              <a:srgbClr val="0078C9"/>
            </a:solidFill>
            <a:prstDash val="solid"/>
          </a:ln>
        </p:spPr>
      </p:sp>
      <p:sp>
        <p:nvSpPr>
          <p:cNvPr id="105" name="phen-arrow-3-tip"/>
          <p:cNvSpPr>
            <a:spLocks noGrp="1"/>
          </p:cNvSpPr>
          <p:nvPr/>
        </p:nvSpPr>
        <p:spPr>
          <a:xfrm>
            <a:off x="12573000" y="7711440"/>
            <a:ext cx="85725" cy="83820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06" name="trace-conclusion-box"/>
          <p:cNvSpPr>
            <a:spLocks noGrp="1"/>
          </p:cNvSpPr>
          <p:nvPr/>
        </p:nvSpPr>
        <p:spPr>
          <a:xfrm>
            <a:off x="10668000" y="8039100"/>
            <a:ext cx="4972050" cy="638175"/>
          </a:xfrm>
          <a:prstGeom prst="roundRect">
            <a:avLst>
              <a:gd name="adj" fmla="val 5970"/>
            </a:avLst>
          </a:prstGeom>
          <a:solidFill>
            <a:srgbClr val="F8FCFF"/>
          </a:solidFill>
          <a:ln w="9525">
            <a:solidFill>
              <a:srgbClr val="0078C9"/>
            </a:solidFill>
            <a:prstDash val="dash"/>
          </a:ln>
        </p:spPr>
      </p:sp>
      <p:sp>
        <p:nvSpPr>
          <p:cNvPr id="107" name="trace-conclusion"/>
          <p:cNvSpPr>
            <a:spLocks noGrp="1"/>
          </p:cNvSpPr>
          <p:nvPr/>
        </p:nvSpPr>
        <p:spPr>
          <a:xfrm>
            <a:off x="10801350" y="8077200"/>
            <a:ext cx="47244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73680"/>
                </a:solidFill>
              </a:rPr>
              <a:t>WPFormer的优势不仅表现为平均误差下降，更体现在
</a:t>
            </a:r>
            <a:r>
              <a:rPr b="1">
                <a:solidFill>
                  <a:srgbClr val="EA161F"/>
                </a:solidFill>
              </a:rPr>
              <a:t>长预测区间内对趋势、峰谷与剧烈波动的稳定跟踪。</a:t>
            </a:r>
            <a:endParaRPr b="1">
              <a:solidFill>
                <a:srgbClr val="EA161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2062</Words>
  <Application>WPS 演示</Application>
  <PresentationFormat>Converted Presentation</PresentationFormat>
  <Paragraphs>354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－≡ Mr.Right ≡－</cp:lastModifiedBy>
  <cp:revision>1</cp:revision>
  <dcterms:created xsi:type="dcterms:W3CDTF">2026-09-20T06:19:32Z</dcterms:created>
  <dcterms:modified xsi:type="dcterms:W3CDTF">2026-09-20T06:19:32Z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27B2CA8856184B07A0CE9D15A06A22F6_13</vt:lpwstr>
  </property>
  <property fmtid="{D5CDD505-2E9C-101B-9397-08002B2CF9AE}" pid="3" name="KSOProductBuildVer">
    <vt:lpwstr>2052-12.1.0.28505</vt:lpwstr>
  </property>
</Properties>
</file>