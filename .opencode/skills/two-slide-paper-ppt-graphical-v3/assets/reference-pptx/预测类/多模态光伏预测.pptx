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7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2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35.svg" ContentType="image/svg+xml"/>
  <Override PartName="/ppt/media/image36.svg" ContentType="image/svg+xml"/>
  <Override PartName="/ppt/media/image37.svg" ContentType="image/svg+xml"/>
  <Override PartName="/ppt/media/image38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 val="0.0167714884696017"/>
          <c:y val="-0.146551724137931"/>
          <c:w val="0.962264150943396"/>
          <c:h val="0.689655172413793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预测误差</c:f>
              <c:strCache>
                <c:ptCount val="1"/>
                <c:pt idx="0">
                  <c:v>预测误差</c:v>
                </c:pt>
              </c:strCache>
            </c:strRef>
          </c:tx>
          <c:spPr>
            <a:solidFill>
              <a:srgbClr val="0041B8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0041B8"/>
              </a:solidFill>
              <a:ln w="0">
                <a:solidFill>
                  <a:srgbClr val="0041B8"/>
                </a:solidFill>
              </a:ln>
            </c:spPr>
          </c:dPt>
          <c:dPt>
            <c:idx val="1"/>
            <c:invertIfNegative val="0"/>
            <c:bubble3D val="0"/>
            <c:spPr>
              <a:solidFill>
                <a:srgbClr val="99BCEE"/>
              </a:solidFill>
              <a:ln w="0">
                <a:solidFill>
                  <a:srgbClr val="99BCEE"/>
                </a:solidFill>
              </a:ln>
            </c:spPr>
          </c:dPt>
          <c:dPt>
            <c:idx val="2"/>
            <c:invertIfNegative val="0"/>
            <c:bubble3D val="0"/>
            <c:spPr>
              <a:solidFill>
                <a:srgbClr val="99BCEE"/>
              </a:solidFill>
              <a:ln w="0">
                <a:solidFill>
                  <a:srgbClr val="99BCEE"/>
                </a:solidFill>
              </a:ln>
            </c:spPr>
          </c:dPt>
          <c:dPt>
            <c:idx val="3"/>
            <c:invertIfNegative val="0"/>
            <c:bubble3D val="0"/>
            <c:spPr>
              <a:solidFill>
                <a:srgbClr val="99BCEE"/>
              </a:solidFill>
              <a:ln w="0">
                <a:solidFill>
                  <a:srgbClr val="99BCEE"/>
                </a:solidFill>
              </a:ln>
            </c:spPr>
          </c:dPt>
          <c:dPt>
            <c:idx val="4"/>
            <c:invertIfNegative val="0"/>
            <c:bubble3D val="0"/>
            <c:spPr>
              <a:solidFill>
                <a:srgbClr val="99BCEE"/>
              </a:solidFill>
              <a:ln w="0">
                <a:solidFill>
                  <a:srgbClr val="99BCEE"/>
                </a:solidFill>
              </a:ln>
            </c:spPr>
          </c:dPt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Data'!$A$2:$A$6</c:f>
              <c:strCache>
                <c:ptCount val="5"/>
                <c:pt idx="0">
                  <c:v>Full model
(DCCA-LF)</c:v>
                </c:pt>
                <c:pt idx="1">
                  <c:v>w/o ConvLSTM-
RICNN</c:v>
                </c:pt>
                <c:pt idx="2">
                  <c:v>w/o ConvLSTM</c:v>
                </c:pt>
                <c:pt idx="3">
                  <c:v>w/o RoI</c:v>
                </c:pt>
                <c:pt idx="4">
                  <c:v>w/o DCCA</c:v>
                </c:pt>
              </c:strCache>
            </c:strRef>
          </c:cat>
          <c:val>
            <c:numRef>
              <c:f>'Chart Data'!$B$2:$B$6</c:f>
              <c:numCache>
                <c:formatCode>0.00000</c:formatCode>
                <c:ptCount val="5"/>
                <c:pt idx="0">
                  <c:v>0.00199</c:v>
                </c:pt>
                <c:pt idx="1">
                  <c:v>0.00438</c:v>
                </c:pt>
                <c:pt idx="2">
                  <c:v>0.00562</c:v>
                </c:pt>
                <c:pt idx="3">
                  <c:v>0.00495</c:v>
                </c:pt>
                <c:pt idx="4">
                  <c:v>0.00387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w="4000" cap="flat" cmpd="sng" algn="ctr">
              <a:solidFill>
                <a:srgbClr val="D6D6D6"/>
              </a:solidFill>
              <a:prstDash val="dash"/>
              <a:round/>
            </a:ln>
          </c:spPr>
        </c:majorGridlines>
        <c:numFmt formatCode="General" sourceLinked="1"/>
        <c:majorTickMark val="none"/>
        <c:minorTickMark val="none"/>
        <c:tickLblPos val="none"/>
        <c:spPr>
          <a:ln w="7620" cap="flat" cmpd="sng" algn="ctr">
            <a:solidFill>
              <a:srgbClr val="60606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10102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72768"/>
        <c:crossesAt val="0.0001"/>
        <c:auto val="1"/>
        <c:lblAlgn val="ctr"/>
        <c:lblOffset val="100"/>
        <c:noMultiLvlLbl val="0"/>
      </c:catAx>
      <c:valAx>
        <c:axId val="48672768"/>
        <c:scaling>
          <c:logBase val="10"/>
          <c:orientation val="minMax"/>
          <c:max val="0.1"/>
          <c:min val="0.0001"/>
        </c:scaling>
        <c:delete val="0"/>
        <c:axPos val="l"/>
        <c:majorGridlines>
          <c:spPr>
            <a:ln w="5715" cap="flat" cmpd="sng" algn="ctr">
              <a:solidFill>
                <a:srgbClr val="CBCBCB"/>
              </a:solidFill>
              <a:prstDash val="dash"/>
              <a:round/>
            </a:ln>
          </c:spPr>
        </c:majorGridlines>
        <c:numFmt formatCode="0.00000" sourceLinked="1"/>
        <c:majorTickMark val="none"/>
        <c:minorTickMark val="none"/>
        <c:tickLblPos val="none"/>
        <c:spPr>
          <a:ln w="7620" cap="flat" cmpd="sng" algn="ctr">
            <a:solidFill>
              <a:srgbClr val="606060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975" b="0" i="0" u="none" strike="noStrike" kern="1200" baseline="0">
                <a:solidFill>
                  <a:srgbClr val="10102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</a:p>
        </c:txPr>
        <c:crossAx val="48650112"/>
        <c:crossesAt val="0.0001"/>
        <c:crossBetween val="between"/>
      </c:valAx>
      <c:spPr>
        <a:solidFill>
          <a:srgbClr val="FFFFFF"/>
        </a:solidFill>
        <a:ln w="7620">
          <a:solidFill>
            <a:srgbClr val="808080"/>
          </a:solidFill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2d8c22e8-261b-4fd6-a713-1ac9ca1227bf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视觉参考：用户提供的第3张截图。第一张采用工作区保存的未遮挡完整原图，其可见区域与本次截图逐像素一致。实验数字和结论按截图保留；没有底层数据的曲线为独立图片对象。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视觉参考：用户提供的第4张截图。第一张采用工作区保存的未遮挡完整原图，其可见区域与本次截图逐像素一致。实验数字和结论按截图保留；没有底层数据的曲线为独立图片对象。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0" Type="http://schemas.openxmlformats.org/officeDocument/2006/relationships/notesSlide" Target="../notesSlides/notesSlide1.xml"/><Relationship Id="rId4" Type="http://schemas.openxmlformats.org/officeDocument/2006/relationships/image" Target="../media/image4.svg"/><Relationship Id="rId39" Type="http://schemas.openxmlformats.org/officeDocument/2006/relationships/slideLayout" Target="../slideLayouts/slideLayout1.xml"/><Relationship Id="rId38" Type="http://schemas.openxmlformats.org/officeDocument/2006/relationships/image" Target="../media/image38.svg"/><Relationship Id="rId37" Type="http://schemas.openxmlformats.org/officeDocument/2006/relationships/image" Target="../media/image37.svg"/><Relationship Id="rId36" Type="http://schemas.openxmlformats.org/officeDocument/2006/relationships/image" Target="../media/image36.svg"/><Relationship Id="rId35" Type="http://schemas.openxmlformats.org/officeDocument/2006/relationships/image" Target="../media/image35.svg"/><Relationship Id="rId34" Type="http://schemas.openxmlformats.org/officeDocument/2006/relationships/image" Target="../media/image34.svg"/><Relationship Id="rId33" Type="http://schemas.openxmlformats.org/officeDocument/2006/relationships/image" Target="../media/image33.svg"/><Relationship Id="rId32" Type="http://schemas.openxmlformats.org/officeDocument/2006/relationships/image" Target="../media/image32.svg"/><Relationship Id="rId31" Type="http://schemas.openxmlformats.org/officeDocument/2006/relationships/image" Target="../media/image31.svg"/><Relationship Id="rId30" Type="http://schemas.openxmlformats.org/officeDocument/2006/relationships/image" Target="../media/image30.svg"/><Relationship Id="rId3" Type="http://schemas.openxmlformats.org/officeDocument/2006/relationships/image" Target="../media/image3.png"/><Relationship Id="rId29" Type="http://schemas.openxmlformats.org/officeDocument/2006/relationships/image" Target="../media/image29.svg"/><Relationship Id="rId28" Type="http://schemas.openxmlformats.org/officeDocument/2006/relationships/image" Target="../media/image28.svg"/><Relationship Id="rId27" Type="http://schemas.openxmlformats.org/officeDocument/2006/relationships/image" Target="../media/image27.svg"/><Relationship Id="rId26" Type="http://schemas.openxmlformats.org/officeDocument/2006/relationships/image" Target="../media/image26.sv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svg"/><Relationship Id="rId21" Type="http://schemas.openxmlformats.org/officeDocument/2006/relationships/image" Target="../media/image21.svg"/><Relationship Id="rId20" Type="http://schemas.openxmlformats.org/officeDocument/2006/relationships/image" Target="../media/image20.png"/><Relationship Id="rId2" Type="http://schemas.openxmlformats.org/officeDocument/2006/relationships/image" Target="../media/image2.svg"/><Relationship Id="rId19" Type="http://schemas.openxmlformats.org/officeDocument/2006/relationships/image" Target="../media/image19.svg"/><Relationship Id="rId18" Type="http://schemas.openxmlformats.org/officeDocument/2006/relationships/image" Target="../media/image18.png"/><Relationship Id="rId17" Type="http://schemas.openxmlformats.org/officeDocument/2006/relationships/image" Target="../media/image17.sv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6" name="title"/>
          <p:cNvSpPr>
            <a:spLocks noGrp="1"/>
          </p:cNvSpPr>
          <p:nvPr/>
        </p:nvSpPr>
        <p:spPr>
          <a:xfrm>
            <a:off x="192727" y="87456"/>
            <a:ext cx="11850274" cy="46643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7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7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论文原理与计算流程 --- 卫星图像与时序数据多模态光伏预测</a:t>
            </a:r>
            <a:endParaRPr sz="287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148999" y="583039"/>
            <a:ext cx="11894002" cy="29152"/>
          </a:xfrm>
          <a:prstGeom prst="rect">
            <a:avLst/>
          </a:prstGeom>
          <a:solidFill>
            <a:srgbClr val="073680"/>
          </a:solidFill>
          <a:ln w="0">
            <a:noFill/>
            <a:prstDash val="solid"/>
          </a:ln>
        </p:spPr>
      </p:sp>
      <p:sp>
        <p:nvSpPr>
          <p:cNvPr id="3" name="summary"/>
          <p:cNvSpPr>
            <a:spLocks noGrp="1"/>
          </p:cNvSpPr>
          <p:nvPr/>
        </p:nvSpPr>
        <p:spPr>
          <a:xfrm>
            <a:off x="148999" y="692359"/>
            <a:ext cx="11894002" cy="648631"/>
          </a:xfrm>
          <a:prstGeom prst="roundRect">
            <a:avLst>
              <a:gd name="adj" fmla="val 12360"/>
            </a:avLst>
          </a:prstGeom>
          <a:solidFill>
            <a:srgbClr val="E9F5FE"/>
          </a:solidFill>
          <a:ln w="0">
            <a:noFill/>
            <a:prstDash val="solid"/>
          </a:ln>
        </p:spPr>
      </p:sp>
      <p:sp>
        <p:nvSpPr>
          <p:cNvPr id="4" name="summary-dot-0"/>
          <p:cNvSpPr>
            <a:spLocks noGrp="1"/>
          </p:cNvSpPr>
          <p:nvPr/>
        </p:nvSpPr>
        <p:spPr>
          <a:xfrm>
            <a:off x="236455" y="779815"/>
            <a:ext cx="153048" cy="225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09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ummary-0"/>
          <p:cNvSpPr>
            <a:spLocks noGrp="1"/>
          </p:cNvSpPr>
          <p:nvPr/>
        </p:nvSpPr>
        <p:spPr>
          <a:xfrm>
            <a:off x="455095" y="779815"/>
            <a:ext cx="11405707" cy="225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80" b="0">
                <a:solidFill>
                  <a:srgbClr val="073680"/>
                </a:solidFill>
              </a:rPr>
              <a:t>核心机制：同时利用卫星图像的云层空间演化与历史PV时序信息，分别通过</a:t>
            </a:r>
            <a:r>
              <a:rPr sz="1180" b="1">
                <a:solidFill>
                  <a:srgbClr val="EA161F"/>
                </a:solidFill>
              </a:rPr>
              <a:t>ConvLSTM-RICNN</a:t>
            </a:r>
            <a:r>
              <a:rPr sz="1180" b="0">
                <a:solidFill>
                  <a:srgbClr val="073680"/>
                </a:solidFill>
              </a:rPr>
              <a:t>和</a:t>
            </a:r>
            <a:r>
              <a:rPr sz="1180" b="1">
                <a:solidFill>
                  <a:srgbClr val="EA161F"/>
                </a:solidFill>
              </a:rPr>
              <a:t>GRU</a:t>
            </a:r>
            <a:r>
              <a:rPr sz="1180" b="0">
                <a:solidFill>
                  <a:srgbClr val="073680"/>
                </a:solidFill>
              </a:rPr>
              <a:t>进行编码，再通过</a:t>
            </a:r>
            <a:r>
              <a:rPr sz="1180" b="1">
                <a:solidFill>
                  <a:srgbClr val="EA161F"/>
                </a:solidFill>
              </a:rPr>
              <a:t>DCCA-LF</a:t>
            </a:r>
            <a:r>
              <a:rPr sz="1180" b="0">
                <a:solidFill>
                  <a:srgbClr val="073680"/>
                </a:solidFill>
              </a:rPr>
              <a:t>完成跨模态特征融合与相关性约束。</a:t>
            </a:r>
            <a:endParaRPr sz="1180" b="0">
              <a:solidFill>
                <a:srgbClr val="073680"/>
              </a:solidFill>
            </a:endParaRPr>
          </a:p>
        </p:txBody>
      </p:sp>
      <p:sp>
        <p:nvSpPr>
          <p:cNvPr id="6" name="summary-dot-1"/>
          <p:cNvSpPr>
            <a:spLocks noGrp="1"/>
          </p:cNvSpPr>
          <p:nvPr/>
        </p:nvSpPr>
        <p:spPr>
          <a:xfrm>
            <a:off x="236455" y="1042183"/>
            <a:ext cx="153048" cy="225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09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ummary-1"/>
          <p:cNvSpPr>
            <a:spLocks noGrp="1"/>
          </p:cNvSpPr>
          <p:nvPr/>
        </p:nvSpPr>
        <p:spPr>
          <a:xfrm>
            <a:off x="455095" y="1042183"/>
            <a:ext cx="11405707" cy="22592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4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80" b="0">
                <a:solidFill>
                  <a:srgbClr val="073680"/>
                </a:solidFill>
              </a:rPr>
              <a:t>输入输出：使用</a:t>
            </a:r>
            <a:r>
              <a:rPr sz="1180" b="1">
                <a:solidFill>
                  <a:srgbClr val="EA161F"/>
                </a:solidFill>
              </a:rPr>
              <a:t>过去4小时</a:t>
            </a:r>
            <a:r>
              <a:rPr sz="1180" b="0">
                <a:solidFill>
                  <a:srgbClr val="073680"/>
                </a:solidFill>
              </a:rPr>
              <a:t>、</a:t>
            </a:r>
            <a:r>
              <a:rPr sz="1180" b="1">
                <a:solidFill>
                  <a:srgbClr val="EA161F"/>
                </a:solidFill>
              </a:rPr>
              <a:t>16个时间点</a:t>
            </a:r>
            <a:r>
              <a:rPr sz="1180" b="0">
                <a:solidFill>
                  <a:srgbClr val="073680"/>
                </a:solidFill>
              </a:rPr>
              <a:t>的卫星图像与PV时序数据，直接预测</a:t>
            </a:r>
            <a:r>
              <a:rPr sz="1180" b="1">
                <a:solidFill>
                  <a:srgbClr val="EA161F"/>
                </a:solidFill>
              </a:rPr>
              <a:t>未来1小时的4个PV功率点</a:t>
            </a:r>
            <a:r>
              <a:rPr sz="1180" b="0">
                <a:solidFill>
                  <a:srgbClr val="073680"/>
                </a:solidFill>
              </a:rPr>
              <a:t>。</a:t>
            </a:r>
            <a:endParaRPr sz="1180" b="0">
              <a:solidFill>
                <a:srgbClr val="073680"/>
              </a:solidFill>
            </a:endParaRPr>
          </a:p>
        </p:txBody>
      </p:sp>
      <p:sp>
        <p:nvSpPr>
          <p:cNvPr id="8" name="satellite-input"/>
          <p:cNvSpPr>
            <a:spLocks noGrp="1"/>
          </p:cNvSpPr>
          <p:nvPr/>
        </p:nvSpPr>
        <p:spPr>
          <a:xfrm>
            <a:off x="134423" y="1421158"/>
            <a:ext cx="2565373" cy="2062502"/>
          </a:xfrm>
          <a:prstGeom prst="roundRect">
            <a:avLst>
              <a:gd name="adj" fmla="val 2473"/>
            </a:avLst>
          </a:prstGeom>
          <a:solidFill>
            <a:srgbClr val="EFF8FF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9" name="satellite-input-title"/>
          <p:cNvSpPr>
            <a:spLocks noGrp="1"/>
          </p:cNvSpPr>
          <p:nvPr/>
        </p:nvSpPr>
        <p:spPr>
          <a:xfrm>
            <a:off x="192727" y="1450310"/>
            <a:ext cx="2448765" cy="211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2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历史卫星图像（空间模态）</a:t>
            </a:r>
            <a:endParaRPr sz="132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at-hist"/>
          <p:cNvSpPr>
            <a:spLocks noGrp="1"/>
          </p:cNvSpPr>
          <p:nvPr/>
        </p:nvSpPr>
        <p:spPr>
          <a:xfrm>
            <a:off x="353063" y="1749118"/>
            <a:ext cx="1085911" cy="18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16帧 / 过去4 h：</a:t>
            </a:r>
            <a:endParaRPr sz="115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6" name="图片 22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53549" y="1766491"/>
            <a:ext cx="1042183" cy="176605"/>
          </a:xfrm>
          <a:prstGeom prst="rect">
            <a:avLst/>
          </a:prstGeom>
        </p:spPr>
      </p:pic>
      <p:pic>
        <p:nvPicPr>
          <p:cNvPr id="227" name="图片 2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31" y="2018774"/>
            <a:ext cx="386264" cy="386264"/>
          </a:xfrm>
          <a:prstGeom prst="rect">
            <a:avLst/>
          </a:prstGeom>
        </p:spPr>
      </p:pic>
      <p:pic>
        <p:nvPicPr>
          <p:cNvPr id="228" name="图片 22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031" y="2445447"/>
            <a:ext cx="386264" cy="159682"/>
          </a:xfrm>
          <a:prstGeom prst="rect">
            <a:avLst/>
          </a:prstGeom>
        </p:spPr>
      </p:pic>
      <p:pic>
        <p:nvPicPr>
          <p:cNvPr id="229" name="图片 2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022" y="2018774"/>
            <a:ext cx="386264" cy="386264"/>
          </a:xfrm>
          <a:prstGeom prst="rect">
            <a:avLst/>
          </a:prstGeom>
        </p:spPr>
      </p:pic>
      <p:pic>
        <p:nvPicPr>
          <p:cNvPr id="230" name="图片 22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022" y="2445447"/>
            <a:ext cx="386264" cy="159682"/>
          </a:xfrm>
          <a:prstGeom prst="rect">
            <a:avLst/>
          </a:prstGeom>
        </p:spPr>
      </p:pic>
      <p:pic>
        <p:nvPicPr>
          <p:cNvPr id="231" name="图片 2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302" y="2018774"/>
            <a:ext cx="386264" cy="386264"/>
          </a:xfrm>
          <a:prstGeom prst="rect">
            <a:avLst/>
          </a:prstGeom>
        </p:spPr>
      </p:pic>
      <p:pic>
        <p:nvPicPr>
          <p:cNvPr id="232" name="图片 23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8302" y="2445447"/>
            <a:ext cx="386264" cy="159682"/>
          </a:xfrm>
          <a:prstGeom prst="rect">
            <a:avLst/>
          </a:prstGeom>
        </p:spPr>
      </p:pic>
      <p:pic>
        <p:nvPicPr>
          <p:cNvPr id="233" name="图片 2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1509" y="2018774"/>
            <a:ext cx="386264" cy="386264"/>
          </a:xfrm>
          <a:prstGeom prst="rect">
            <a:avLst/>
          </a:prstGeom>
        </p:spPr>
      </p:pic>
      <p:pic>
        <p:nvPicPr>
          <p:cNvPr id="234" name="图片 23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04364" y="2441477"/>
            <a:ext cx="340554" cy="167624"/>
          </a:xfrm>
          <a:prstGeom prst="rect">
            <a:avLst/>
          </a:prstGeom>
        </p:spPr>
      </p:pic>
      <p:pic>
        <p:nvPicPr>
          <p:cNvPr id="235" name="图片 23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4213" y="2018774"/>
            <a:ext cx="386264" cy="386264"/>
          </a:xfrm>
          <a:prstGeom prst="rect">
            <a:avLst/>
          </a:prstGeom>
        </p:spPr>
      </p:pic>
      <p:pic>
        <p:nvPicPr>
          <p:cNvPr id="236" name="图片 23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04935" y="2441477"/>
            <a:ext cx="184817" cy="167624"/>
          </a:xfrm>
          <a:prstGeom prst="rect">
            <a:avLst/>
          </a:prstGeom>
        </p:spPr>
      </p:pic>
      <p:sp>
        <p:nvSpPr>
          <p:cNvPr id="22" name="ellipsis"/>
          <p:cNvSpPr>
            <a:spLocks noGrp="1"/>
          </p:cNvSpPr>
          <p:nvPr/>
        </p:nvSpPr>
        <p:spPr>
          <a:xfrm>
            <a:off x="1541005" y="2120806"/>
            <a:ext cx="167624" cy="211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3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sz="143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plant-region"/>
          <p:cNvSpPr>
            <a:spLocks noGrp="1"/>
          </p:cNvSpPr>
          <p:nvPr/>
        </p:nvSpPr>
        <p:spPr>
          <a:xfrm>
            <a:off x="229167" y="2652829"/>
            <a:ext cx="2368597" cy="787103"/>
          </a:xfrm>
          <a:prstGeom prst="roundRect">
            <a:avLst>
              <a:gd name="adj" fmla="val 3704"/>
            </a:avLst>
          </a:prstGeom>
          <a:solidFill>
            <a:srgbClr val="F9FCFF"/>
          </a:solidFill>
          <a:ln w="9525">
            <a:solidFill>
              <a:srgbClr val="96CFFC"/>
            </a:solidFill>
            <a:prstDash val="dash"/>
          </a:ln>
        </p:spPr>
      </p:sp>
      <p:pic>
        <p:nvPicPr>
          <p:cNvPr id="239" name="图片 2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4759" y="2703845"/>
            <a:ext cx="1020319" cy="663207"/>
          </a:xfrm>
          <a:prstGeom prst="rect">
            <a:avLst/>
          </a:prstGeom>
        </p:spPr>
      </p:pic>
      <p:sp>
        <p:nvSpPr>
          <p:cNvPr id="25" name="plant-label"/>
          <p:cNvSpPr>
            <a:spLocks noGrp="1"/>
          </p:cNvSpPr>
          <p:nvPr/>
        </p:nvSpPr>
        <p:spPr>
          <a:xfrm>
            <a:off x="1402533" y="2776725"/>
            <a:ext cx="889135" cy="167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9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3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目标PV电站位置</a:t>
            </a:r>
            <a:endParaRPr sz="83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1" name="图片 24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55228" y="2809613"/>
            <a:ext cx="276944" cy="109135"/>
          </a:xfrm>
          <a:prstGeom prst="rect">
            <a:avLst/>
          </a:prstGeom>
        </p:spPr>
      </p:pic>
      <p:sp>
        <p:nvSpPr>
          <p:cNvPr id="27" name="latlon"/>
          <p:cNvSpPr>
            <a:spLocks noGrp="1"/>
          </p:cNvSpPr>
          <p:nvPr/>
        </p:nvSpPr>
        <p:spPr>
          <a:xfrm>
            <a:off x="1599309" y="2995365"/>
            <a:ext cx="750663" cy="1967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(lat, lon)</a:t>
            </a:r>
            <a:endParaRPr sz="103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satellite-encoder"/>
          <p:cNvSpPr>
            <a:spLocks noGrp="1"/>
          </p:cNvSpPr>
          <p:nvPr/>
        </p:nvSpPr>
        <p:spPr>
          <a:xfrm>
            <a:off x="2954876" y="1421158"/>
            <a:ext cx="4649739" cy="1873014"/>
          </a:xfrm>
          <a:prstGeom prst="roundRect">
            <a:avLst>
              <a:gd name="adj" fmla="val 2724"/>
            </a:avLst>
          </a:prstGeom>
          <a:solidFill>
            <a:srgbClr val="F1F9FF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29" name="satellite-encoder-title"/>
          <p:cNvSpPr>
            <a:spLocks noGrp="1"/>
          </p:cNvSpPr>
          <p:nvPr/>
        </p:nvSpPr>
        <p:spPr>
          <a:xfrm>
            <a:off x="3013180" y="1450310"/>
            <a:ext cx="4533131" cy="211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2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卫星图像特征编码（ConvLSTM-RICNN）</a:t>
            </a:r>
            <a:endParaRPr sz="132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5" name="图片 2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86060" y="2055214"/>
            <a:ext cx="728799" cy="663207"/>
          </a:xfrm>
          <a:prstGeom prst="rect">
            <a:avLst/>
          </a:prstGeom>
        </p:spPr>
      </p:pic>
      <p:pic>
        <p:nvPicPr>
          <p:cNvPr id="246" name="图片 245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020468" y="2860838"/>
            <a:ext cx="801679" cy="79567"/>
          </a:xfrm>
          <a:prstGeom prst="rect">
            <a:avLst/>
          </a:prstGeom>
        </p:spPr>
      </p:pic>
      <p:sp>
        <p:nvSpPr>
          <p:cNvPr id="32" name="convlstm-block"/>
          <p:cNvSpPr>
            <a:spLocks noGrp="1"/>
          </p:cNvSpPr>
          <p:nvPr/>
        </p:nvSpPr>
        <p:spPr>
          <a:xfrm>
            <a:off x="3967906" y="1843862"/>
            <a:ext cx="881847" cy="998455"/>
          </a:xfrm>
          <a:custGeom>
            <a:avLst/>
            <a:gdLst/>
            <a:ahLst/>
            <a:cxnLst/>
            <a:pathLst>
              <a:path w="1152525" h="1304925">
                <a:moveTo>
                  <a:pt x="0" y="0"/>
                </a:moveTo>
                <a:lnTo>
                  <a:pt x="1152525" y="247650"/>
                </a:lnTo>
                <a:lnTo>
                  <a:pt x="1152525" y="1047750"/>
                </a:lnTo>
                <a:lnTo>
                  <a:pt x="0" y="1304925"/>
                </a:lnTo>
                <a:close/>
              </a:path>
            </a:pathLst>
          </a:custGeom>
          <a:solidFill>
            <a:srgbClr val="DEEFFD"/>
          </a:solidFill>
          <a:ln w="12383">
            <a:solidFill>
              <a:srgbClr val="309EF4"/>
            </a:solidFill>
          </a:ln>
        </p:spPr>
      </p:sp>
      <p:sp>
        <p:nvSpPr>
          <p:cNvPr id="33" name="convlstm-title"/>
          <p:cNvSpPr>
            <a:spLocks noGrp="1"/>
          </p:cNvSpPr>
          <p:nvPr/>
        </p:nvSpPr>
        <p:spPr>
          <a:xfrm>
            <a:off x="4011634" y="2033350"/>
            <a:ext cx="787103" cy="5538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卷积长短期</a:t>
            </a:r>
            <a:endParaRPr sz="115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记忆网络</a:t>
            </a:r>
            <a:endParaRPr sz="115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ConvLSTM</a:t>
            </a:r>
            <a:endParaRPr sz="115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stack-convlstm"/>
          <p:cNvSpPr>
            <a:spLocks noGrp="1"/>
          </p:cNvSpPr>
          <p:nvPr/>
        </p:nvSpPr>
        <p:spPr>
          <a:xfrm>
            <a:off x="3807571" y="2354021"/>
            <a:ext cx="160336" cy="729"/>
          </a:xfrm>
          <a:custGeom>
            <a:avLst/>
            <a:gdLst/>
            <a:ahLst/>
            <a:cxnLst/>
            <a:pathLst>
              <a:path w="209550" h="953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28575">
            <a:solidFill>
              <a:srgbClr val="0078C9"/>
            </a:solidFill>
            <a:prstDash val="solid"/>
          </a:ln>
        </p:spPr>
      </p:sp>
      <p:sp>
        <p:nvSpPr>
          <p:cNvPr id="35" name="stack-convlstm-tip"/>
          <p:cNvSpPr>
            <a:spLocks noGrp="1"/>
          </p:cNvSpPr>
          <p:nvPr/>
        </p:nvSpPr>
        <p:spPr>
          <a:xfrm>
            <a:off x="3898671" y="2320496"/>
            <a:ext cx="69236" cy="67050"/>
          </a:xfrm>
          <a:custGeom>
            <a:avLst/>
            <a:gdLst/>
            <a:ahLst/>
            <a:cxnLst/>
            <a:pathLst>
              <a:path w="90488" h="87630">
                <a:moveTo>
                  <a:pt x="90488" y="43815"/>
                </a:moveTo>
                <a:lnTo>
                  <a:pt x="0" y="0"/>
                </a:lnTo>
                <a:lnTo>
                  <a:pt x="0" y="8763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36" name="features-label"/>
          <p:cNvSpPr>
            <a:spLocks noGrp="1"/>
          </p:cNvSpPr>
          <p:nvPr/>
        </p:nvSpPr>
        <p:spPr>
          <a:xfrm>
            <a:off x="4973649" y="1821998"/>
            <a:ext cx="1064047" cy="1749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最后时刻特征图</a:t>
            </a:r>
            <a:endParaRPr sz="92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2" name="图片 25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819056" y="1847018"/>
            <a:ext cx="204064" cy="146735"/>
          </a:xfrm>
          <a:prstGeom prst="rect">
            <a:avLst/>
          </a:prstGeom>
        </p:spPr>
      </p:pic>
      <p:pic>
        <p:nvPicPr>
          <p:cNvPr id="253" name="图片 25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75681" y="2011486"/>
            <a:ext cx="685071" cy="728799"/>
          </a:xfrm>
          <a:prstGeom prst="rect">
            <a:avLst/>
          </a:prstGeom>
        </p:spPr>
      </p:pic>
      <p:pic>
        <p:nvPicPr>
          <p:cNvPr id="254" name="图片 25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061105" y="2800171"/>
            <a:ext cx="750663" cy="106155"/>
          </a:xfrm>
          <a:prstGeom prst="rect">
            <a:avLst/>
          </a:prstGeom>
        </p:spPr>
      </p:pic>
      <p:sp>
        <p:nvSpPr>
          <p:cNvPr id="40" name="roi-frame"/>
          <p:cNvSpPr>
            <a:spLocks noGrp="1"/>
          </p:cNvSpPr>
          <p:nvPr/>
        </p:nvSpPr>
        <p:spPr>
          <a:xfrm>
            <a:off x="5986680" y="2091654"/>
            <a:ext cx="714223" cy="495583"/>
          </a:xfrm>
          <a:prstGeom prst="roundRect">
            <a:avLst>
              <a:gd name="adj" fmla="val 5882"/>
            </a:avLst>
          </a:prstGeom>
          <a:solidFill>
            <a:srgbClr val="E6F4FF"/>
          </a:solidFill>
          <a:ln w="9525">
            <a:solidFill>
              <a:srgbClr val="0078C9"/>
            </a:solidFill>
            <a:prstDash val="solid"/>
          </a:ln>
        </p:spPr>
      </p:sp>
      <p:sp>
        <p:nvSpPr>
          <p:cNvPr id="41" name="roi"/>
          <p:cNvSpPr>
            <a:spLocks noGrp="1"/>
          </p:cNvSpPr>
          <p:nvPr/>
        </p:nvSpPr>
        <p:spPr>
          <a:xfrm>
            <a:off x="6001256" y="2091654"/>
            <a:ext cx="685071" cy="4955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感兴趣区域</a:t>
            </a:r>
            <a:endParaRPr sz="103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裁剪 RoI</a:t>
            </a:r>
            <a:endParaRPr sz="103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oi-title"/>
          <p:cNvSpPr>
            <a:spLocks noGrp="1"/>
          </p:cNvSpPr>
          <p:nvPr/>
        </p:nvSpPr>
        <p:spPr>
          <a:xfrm>
            <a:off x="6759207" y="1814710"/>
            <a:ext cx="801679" cy="18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局部RoI特征</a:t>
            </a:r>
            <a:endParaRPr sz="92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58" name="图片 257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75815" y="2069790"/>
            <a:ext cx="473719" cy="510159"/>
          </a:xfrm>
          <a:prstGeom prst="rect">
            <a:avLst/>
          </a:prstGeom>
        </p:spPr>
      </p:pic>
      <p:pic>
        <p:nvPicPr>
          <p:cNvPr id="259" name="图片 25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766495" y="2697826"/>
            <a:ext cx="750663" cy="121357"/>
          </a:xfrm>
          <a:prstGeom prst="rect">
            <a:avLst/>
          </a:prstGeom>
        </p:spPr>
      </p:pic>
      <p:sp>
        <p:nvSpPr>
          <p:cNvPr id="45" name="conv-feature"/>
          <p:cNvSpPr>
            <a:spLocks noGrp="1"/>
          </p:cNvSpPr>
          <p:nvPr/>
        </p:nvSpPr>
        <p:spPr>
          <a:xfrm>
            <a:off x="4849753" y="2354021"/>
            <a:ext cx="225928" cy="729"/>
          </a:xfrm>
          <a:custGeom>
            <a:avLst/>
            <a:gdLst/>
            <a:ahLst/>
            <a:cxnLst/>
            <a:pathLst>
              <a:path w="295275" h="953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/>
          <a:ln w="23813">
            <a:solidFill>
              <a:srgbClr val="0078C9"/>
            </a:solidFill>
            <a:prstDash val="solid"/>
          </a:ln>
        </p:spPr>
      </p:sp>
      <p:sp>
        <p:nvSpPr>
          <p:cNvPr id="46" name="conv-feature-tip"/>
          <p:cNvSpPr>
            <a:spLocks noGrp="1"/>
          </p:cNvSpPr>
          <p:nvPr/>
        </p:nvSpPr>
        <p:spPr>
          <a:xfrm>
            <a:off x="5008267" y="2321226"/>
            <a:ext cx="67414" cy="65592"/>
          </a:xfrm>
          <a:custGeom>
            <a:avLst/>
            <a:gdLst/>
            <a:ahLst/>
            <a:cxnLst/>
            <a:pathLst>
              <a:path w="88106" h="85725">
                <a:moveTo>
                  <a:pt x="88106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47" name="feature-roi"/>
          <p:cNvSpPr>
            <a:spLocks noGrp="1"/>
          </p:cNvSpPr>
          <p:nvPr/>
        </p:nvSpPr>
        <p:spPr>
          <a:xfrm>
            <a:off x="5746176" y="2354021"/>
            <a:ext cx="240504" cy="729"/>
          </a:xfrm>
          <a:custGeom>
            <a:avLst/>
            <a:gdLst/>
            <a:ahLst/>
            <a:cxnLst/>
            <a:pathLst>
              <a:path w="314325" h="953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23813">
            <a:solidFill>
              <a:srgbClr val="0078C9"/>
            </a:solidFill>
            <a:prstDash val="solid"/>
          </a:ln>
        </p:spPr>
      </p:sp>
      <p:sp>
        <p:nvSpPr>
          <p:cNvPr id="48" name="feature-roi-tip"/>
          <p:cNvSpPr>
            <a:spLocks noGrp="1"/>
          </p:cNvSpPr>
          <p:nvPr/>
        </p:nvSpPr>
        <p:spPr>
          <a:xfrm>
            <a:off x="5919266" y="2321226"/>
            <a:ext cx="67414" cy="65592"/>
          </a:xfrm>
          <a:custGeom>
            <a:avLst/>
            <a:gdLst/>
            <a:ahLst/>
            <a:cxnLst/>
            <a:pathLst>
              <a:path w="88106" h="85725">
                <a:moveTo>
                  <a:pt x="88106" y="42863"/>
                </a:moveTo>
                <a:lnTo>
                  <a:pt x="0" y="0"/>
                </a:lnTo>
                <a:lnTo>
                  <a:pt x="0" y="85725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49" name="roi-image-link"/>
          <p:cNvSpPr>
            <a:spLocks noGrp="1"/>
          </p:cNvSpPr>
          <p:nvPr/>
        </p:nvSpPr>
        <p:spPr>
          <a:xfrm>
            <a:off x="6700903" y="2324869"/>
            <a:ext cx="174912" cy="14576"/>
          </a:xfrm>
          <a:custGeom>
            <a:avLst/>
            <a:gdLst/>
            <a:ahLst/>
            <a:cxnLst/>
            <a:pathLst>
              <a:path w="228600" h="19050">
                <a:moveTo>
                  <a:pt x="0" y="19050"/>
                </a:moveTo>
                <a:lnTo>
                  <a:pt x="228600" y="0"/>
                </a:lnTo>
              </a:path>
            </a:pathLst>
          </a:custGeom>
          <a:noFill/>
          <a:ln w="23813">
            <a:solidFill>
              <a:srgbClr val="0078C9"/>
            </a:solidFill>
            <a:prstDash val="solid"/>
          </a:ln>
        </p:spPr>
      </p:sp>
      <p:sp>
        <p:nvSpPr>
          <p:cNvPr id="50" name="roi-image-link-tip"/>
          <p:cNvSpPr>
            <a:spLocks noGrp="1"/>
          </p:cNvSpPr>
          <p:nvPr/>
        </p:nvSpPr>
        <p:spPr>
          <a:xfrm>
            <a:off x="6805911" y="2297785"/>
            <a:ext cx="69904" cy="65365"/>
          </a:xfrm>
          <a:custGeom>
            <a:avLst/>
            <a:gdLst/>
            <a:ahLst/>
            <a:cxnLst/>
            <a:pathLst>
              <a:path w="91361" h="85429">
                <a:moveTo>
                  <a:pt x="91361" y="35398"/>
                </a:moveTo>
                <a:lnTo>
                  <a:pt x="0" y="0"/>
                </a:lnTo>
                <a:lnTo>
                  <a:pt x="7119" y="85429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51" name="conv-desc"/>
          <p:cNvSpPr>
            <a:spLocks noGrp="1"/>
          </p:cNvSpPr>
          <p:nvPr/>
        </p:nvSpPr>
        <p:spPr>
          <a:xfrm>
            <a:off x="3909603" y="2893333"/>
            <a:ext cx="1304550" cy="291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学习云层连续运动</a:t>
            </a:r>
            <a:endParaRPr sz="92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2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和大尺度时空演化</a:t>
            </a:r>
            <a:endParaRPr sz="92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roi-desc"/>
          <p:cNvSpPr>
            <a:spLocks noGrp="1"/>
          </p:cNvSpPr>
          <p:nvPr/>
        </p:nvSpPr>
        <p:spPr>
          <a:xfrm>
            <a:off x="5709736" y="2951637"/>
            <a:ext cx="1792846" cy="24779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5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只保留与目标电站相关的关键云层信息，</a:t>
            </a:r>
            <a:endParaRPr sz="805" b="1">
              <a:solidFill>
                <a:srgbClr val="EA1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050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5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减少整幅卫星图冗余。</a:t>
            </a:r>
            <a:endParaRPr sz="805" b="1">
              <a:solidFill>
                <a:srgbClr val="EA1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location-guide"/>
          <p:cNvSpPr>
            <a:spLocks noGrp="1"/>
          </p:cNvSpPr>
          <p:nvPr/>
        </p:nvSpPr>
        <p:spPr>
          <a:xfrm>
            <a:off x="1358806" y="2587237"/>
            <a:ext cx="4984986" cy="816255"/>
          </a:xfrm>
          <a:custGeom>
            <a:avLst/>
            <a:gdLst/>
            <a:ahLst/>
            <a:cxnLst/>
            <a:pathLst>
              <a:path w="6515100" h="1066800">
                <a:moveTo>
                  <a:pt x="0" y="866775"/>
                </a:moveTo>
                <a:lnTo>
                  <a:pt x="1495425" y="866775"/>
                </a:lnTo>
                <a:lnTo>
                  <a:pt x="1495425" y="1066800"/>
                </a:lnTo>
                <a:lnTo>
                  <a:pt x="6515100" y="1066800"/>
                </a:lnTo>
                <a:lnTo>
                  <a:pt x="6515100" y="0"/>
                </a:lnTo>
              </a:path>
            </a:pathLst>
          </a:custGeom>
          <a:noFill/>
          <a:ln w="19050">
            <a:solidFill>
              <a:srgbClr val="803DE9"/>
            </a:solidFill>
            <a:prstDash val="dash"/>
          </a:ln>
        </p:spPr>
      </p:sp>
      <p:sp>
        <p:nvSpPr>
          <p:cNvPr id="54" name="location-guide-tip"/>
          <p:cNvSpPr>
            <a:spLocks noGrp="1"/>
          </p:cNvSpPr>
          <p:nvPr/>
        </p:nvSpPr>
        <p:spPr>
          <a:xfrm>
            <a:off x="6311725" y="2587237"/>
            <a:ext cx="64134" cy="65592"/>
          </a:xfrm>
          <a:custGeom>
            <a:avLst/>
            <a:gdLst/>
            <a:ahLst/>
            <a:cxnLst/>
            <a:pathLst>
              <a:path w="83820" h="85725">
                <a:moveTo>
                  <a:pt x="41910" y="0"/>
                </a:moveTo>
                <a:lnTo>
                  <a:pt x="0" y="85725"/>
                </a:lnTo>
                <a:lnTo>
                  <a:pt x="83820" y="85725"/>
                </a:lnTo>
                <a:close/>
              </a:path>
            </a:pathLst>
          </a:custGeom>
          <a:solidFill>
            <a:srgbClr val="803DE9"/>
          </a:solidFill>
          <a:ln w="0">
            <a:noFill/>
          </a:ln>
        </p:spPr>
      </p:sp>
      <p:sp>
        <p:nvSpPr>
          <p:cNvPr id="55" name="location-label"/>
          <p:cNvSpPr>
            <a:spLocks noGrp="1"/>
          </p:cNvSpPr>
          <p:nvPr/>
        </p:nvSpPr>
        <p:spPr>
          <a:xfrm>
            <a:off x="3661811" y="3316036"/>
            <a:ext cx="1501326" cy="174912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803DE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0" b="1">
                <a:solidFill>
                  <a:srgbClr val="803DE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位置信息引导RoI裁剪</a:t>
            </a:r>
            <a:endParaRPr sz="860" b="1">
              <a:solidFill>
                <a:srgbClr val="803DE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imeseries-input"/>
          <p:cNvSpPr>
            <a:spLocks noGrp="1"/>
          </p:cNvSpPr>
          <p:nvPr/>
        </p:nvSpPr>
        <p:spPr>
          <a:xfrm>
            <a:off x="134423" y="3585692"/>
            <a:ext cx="2565373" cy="2674693"/>
          </a:xfrm>
          <a:prstGeom prst="roundRect">
            <a:avLst>
              <a:gd name="adj" fmla="val 1989"/>
            </a:avLst>
          </a:prstGeom>
          <a:solidFill>
            <a:srgbClr val="F1FCEF"/>
          </a:solidFill>
          <a:ln w="9525">
            <a:solidFill>
              <a:srgbClr val="78D884"/>
            </a:solidFill>
            <a:prstDash val="solid"/>
          </a:ln>
        </p:spPr>
      </p:sp>
      <p:sp>
        <p:nvSpPr>
          <p:cNvPr id="57" name="timeseries-input-title"/>
          <p:cNvSpPr>
            <a:spLocks noGrp="1"/>
          </p:cNvSpPr>
          <p:nvPr/>
        </p:nvSpPr>
        <p:spPr>
          <a:xfrm>
            <a:off x="192727" y="3614844"/>
            <a:ext cx="2448765" cy="211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2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历史时序（时间模态）</a:t>
            </a:r>
            <a:endParaRPr sz="132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imehist"/>
          <p:cNvSpPr>
            <a:spLocks noGrp="1"/>
          </p:cNvSpPr>
          <p:nvPr/>
        </p:nvSpPr>
        <p:spPr>
          <a:xfrm>
            <a:off x="382215" y="3899075"/>
            <a:ext cx="1049471" cy="18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16点 / 过去4 h：</a:t>
            </a:r>
            <a:endParaRPr sz="115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4" name="图片 27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502766" y="3906363"/>
            <a:ext cx="593927" cy="196776"/>
          </a:xfrm>
          <a:prstGeom prst="rect">
            <a:avLst/>
          </a:prstGeom>
        </p:spPr>
      </p:pic>
      <p:pic>
        <p:nvPicPr>
          <p:cNvPr id="275" name="图片 27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92727" y="4154155"/>
            <a:ext cx="2383173" cy="539311"/>
          </a:xfrm>
          <a:prstGeom prst="rect">
            <a:avLst/>
          </a:prstGeom>
        </p:spPr>
      </p:pic>
      <p:pic>
        <p:nvPicPr>
          <p:cNvPr id="276" name="图片 27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92727" y="4766346"/>
            <a:ext cx="2383173" cy="553887"/>
          </a:xfrm>
          <a:prstGeom prst="rect">
            <a:avLst/>
          </a:prstGeom>
        </p:spPr>
      </p:pic>
      <p:pic>
        <p:nvPicPr>
          <p:cNvPr id="277" name="图片 27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92727" y="5378538"/>
            <a:ext cx="2383173" cy="532023"/>
          </a:xfrm>
          <a:prstGeom prst="rect">
            <a:avLst/>
          </a:prstGeom>
        </p:spPr>
      </p:pic>
      <p:sp>
        <p:nvSpPr>
          <p:cNvPr id="63" name="time-alignment"/>
          <p:cNvSpPr>
            <a:spLocks noGrp="1"/>
          </p:cNvSpPr>
          <p:nvPr/>
        </p:nvSpPr>
        <p:spPr>
          <a:xfrm>
            <a:off x="229167" y="5998017"/>
            <a:ext cx="2368597" cy="196776"/>
          </a:xfrm>
          <a:prstGeom prst="roundRect">
            <a:avLst>
              <a:gd name="adj" fmla="val 18519"/>
            </a:avLst>
          </a:prstGeom>
          <a:solidFill>
            <a:srgbClr val="D4F2D7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同一时间轴对齐</a:t>
            </a:r>
            <a:endParaRPr sz="103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gru-encoder"/>
          <p:cNvSpPr>
            <a:spLocks noGrp="1"/>
          </p:cNvSpPr>
          <p:nvPr/>
        </p:nvSpPr>
        <p:spPr>
          <a:xfrm>
            <a:off x="2954876" y="3658572"/>
            <a:ext cx="4649739" cy="1246247"/>
          </a:xfrm>
          <a:prstGeom prst="roundRect">
            <a:avLst>
              <a:gd name="adj" fmla="val 4094"/>
            </a:avLst>
          </a:prstGeom>
          <a:solidFill>
            <a:srgbClr val="F2FCF0"/>
          </a:solidFill>
          <a:ln w="9525">
            <a:solidFill>
              <a:srgbClr val="78D884"/>
            </a:solidFill>
            <a:prstDash val="solid"/>
          </a:ln>
        </p:spPr>
      </p:sp>
      <p:sp>
        <p:nvSpPr>
          <p:cNvPr id="65" name="gru-encoder-title"/>
          <p:cNvSpPr>
            <a:spLocks noGrp="1"/>
          </p:cNvSpPr>
          <p:nvPr/>
        </p:nvSpPr>
        <p:spPr>
          <a:xfrm>
            <a:off x="3013180" y="3687724"/>
            <a:ext cx="4533131" cy="211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2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时序数据特征编码（GRU）</a:t>
            </a:r>
            <a:endParaRPr sz="132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seq-input-label"/>
          <p:cNvSpPr>
            <a:spLocks noGrp="1"/>
          </p:cNvSpPr>
          <p:nvPr/>
        </p:nvSpPr>
        <p:spPr>
          <a:xfrm>
            <a:off x="3049620" y="4234323"/>
            <a:ext cx="1399294" cy="3935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PV功率 + GHI + 太阳天顶角</a:t>
            </a:r>
            <a:endParaRPr sz="86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（3 × 16）</a:t>
            </a:r>
            <a:endParaRPr sz="86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gru"/>
          <p:cNvSpPr>
            <a:spLocks noGrp="1"/>
          </p:cNvSpPr>
          <p:nvPr/>
        </p:nvSpPr>
        <p:spPr>
          <a:xfrm>
            <a:off x="4470778" y="4015683"/>
            <a:ext cx="954727" cy="655919"/>
          </a:xfrm>
          <a:custGeom>
            <a:avLst/>
            <a:gdLst/>
            <a:ahLst/>
            <a:cxnLst/>
            <a:pathLst>
              <a:path w="1247775" h="857250">
                <a:moveTo>
                  <a:pt x="0" y="0"/>
                </a:moveTo>
                <a:lnTo>
                  <a:pt x="1247775" y="161925"/>
                </a:lnTo>
                <a:lnTo>
                  <a:pt x="1247775" y="752475"/>
                </a:lnTo>
                <a:lnTo>
                  <a:pt x="0" y="857250"/>
                </a:lnTo>
                <a:close/>
              </a:path>
            </a:pathLst>
          </a:custGeom>
          <a:solidFill>
            <a:srgbClr val="E9F8DE"/>
          </a:solidFill>
          <a:ln w="12383">
            <a:solidFill>
              <a:srgbClr val="40B952"/>
            </a:solidFill>
          </a:ln>
        </p:spPr>
      </p:sp>
      <p:sp>
        <p:nvSpPr>
          <p:cNvPr id="68" name="gru-title"/>
          <p:cNvSpPr>
            <a:spLocks noGrp="1"/>
          </p:cNvSpPr>
          <p:nvPr/>
        </p:nvSpPr>
        <p:spPr>
          <a:xfrm>
            <a:off x="4550946" y="4190595"/>
            <a:ext cx="794391" cy="3935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门控循环单元</a:t>
            </a:r>
            <a:endParaRPr sz="115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GRU</a:t>
            </a:r>
            <a:endParaRPr sz="115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hidden-title"/>
          <p:cNvSpPr>
            <a:spLocks noGrp="1"/>
          </p:cNvSpPr>
          <p:nvPr/>
        </p:nvSpPr>
        <p:spPr>
          <a:xfrm>
            <a:off x="5687872" y="4015683"/>
            <a:ext cx="524735" cy="153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隐藏状态</a:t>
            </a:r>
            <a:endParaRPr sz="92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5" name="图片 28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886054" y="4197883"/>
            <a:ext cx="172101" cy="160336"/>
          </a:xfrm>
          <a:prstGeom prst="rect">
            <a:avLst/>
          </a:prstGeom>
        </p:spPr>
      </p:pic>
      <p:sp>
        <p:nvSpPr>
          <p:cNvPr id="71" name="hidden-cell-0"/>
          <p:cNvSpPr>
            <a:spLocks noGrp="1"/>
          </p:cNvSpPr>
          <p:nvPr/>
        </p:nvSpPr>
        <p:spPr>
          <a:xfrm>
            <a:off x="5666009" y="4350931"/>
            <a:ext cx="102032" cy="131184"/>
          </a:xfrm>
          <a:prstGeom prst="rect">
            <a:avLst/>
          </a:prstGeom>
          <a:solidFill>
            <a:srgbClr val="CDEFD5"/>
          </a:solidFill>
          <a:ln w="7620">
            <a:solidFill>
              <a:srgbClr val="00A344"/>
            </a:solidFill>
            <a:prstDash val="solid"/>
          </a:ln>
        </p:spPr>
      </p:sp>
      <p:sp>
        <p:nvSpPr>
          <p:cNvPr id="72" name="hidden-cell-1"/>
          <p:cNvSpPr>
            <a:spLocks noGrp="1"/>
          </p:cNvSpPr>
          <p:nvPr/>
        </p:nvSpPr>
        <p:spPr>
          <a:xfrm>
            <a:off x="5789904" y="4350931"/>
            <a:ext cx="102032" cy="131184"/>
          </a:xfrm>
          <a:prstGeom prst="rect">
            <a:avLst/>
          </a:prstGeom>
          <a:solidFill>
            <a:srgbClr val="CDEFD5"/>
          </a:solidFill>
          <a:ln w="7620">
            <a:solidFill>
              <a:srgbClr val="00A344"/>
            </a:solidFill>
            <a:prstDash val="solid"/>
          </a:ln>
        </p:spPr>
      </p:sp>
      <p:sp>
        <p:nvSpPr>
          <p:cNvPr id="73" name="hidden-cell-2"/>
          <p:cNvSpPr>
            <a:spLocks noGrp="1"/>
          </p:cNvSpPr>
          <p:nvPr/>
        </p:nvSpPr>
        <p:spPr>
          <a:xfrm>
            <a:off x="6066848" y="4350931"/>
            <a:ext cx="102032" cy="131184"/>
          </a:xfrm>
          <a:prstGeom prst="rect">
            <a:avLst/>
          </a:prstGeom>
          <a:solidFill>
            <a:srgbClr val="CDEFD5"/>
          </a:solidFill>
          <a:ln w="7620">
            <a:solidFill>
              <a:srgbClr val="00A344"/>
            </a:solidFill>
            <a:prstDash val="solid"/>
          </a:ln>
        </p:spPr>
      </p:sp>
      <p:sp>
        <p:nvSpPr>
          <p:cNvPr id="74" name="hidden-cell-3"/>
          <p:cNvSpPr>
            <a:spLocks noGrp="1"/>
          </p:cNvSpPr>
          <p:nvPr/>
        </p:nvSpPr>
        <p:spPr>
          <a:xfrm>
            <a:off x="6190744" y="4350931"/>
            <a:ext cx="102032" cy="131184"/>
          </a:xfrm>
          <a:prstGeom prst="rect">
            <a:avLst/>
          </a:prstGeom>
          <a:solidFill>
            <a:srgbClr val="CDEFD5"/>
          </a:solidFill>
          <a:ln w="7620">
            <a:solidFill>
              <a:srgbClr val="00A344"/>
            </a:solidFill>
            <a:prstDash val="solid"/>
          </a:ln>
        </p:spPr>
      </p:sp>
      <p:sp>
        <p:nvSpPr>
          <p:cNvPr id="75" name="hidden-dots"/>
          <p:cNvSpPr>
            <a:spLocks noGrp="1"/>
          </p:cNvSpPr>
          <p:nvPr/>
        </p:nvSpPr>
        <p:spPr>
          <a:xfrm>
            <a:off x="5921088" y="4336355"/>
            <a:ext cx="123896" cy="153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sz="80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linear-frame"/>
          <p:cNvSpPr>
            <a:spLocks noGrp="1"/>
          </p:cNvSpPr>
          <p:nvPr/>
        </p:nvSpPr>
        <p:spPr>
          <a:xfrm>
            <a:off x="6423960" y="4292627"/>
            <a:ext cx="495583" cy="240504"/>
          </a:xfrm>
          <a:prstGeom prst="roundRect">
            <a:avLst>
              <a:gd name="adj" fmla="val 12121"/>
            </a:avLst>
          </a:prstGeom>
          <a:solidFill>
            <a:srgbClr val="F3FFF1"/>
          </a:solidFill>
          <a:ln w="9525">
            <a:solidFill>
              <a:srgbClr val="00A344"/>
            </a:solidFill>
            <a:prstDash val="solid"/>
          </a:ln>
        </p:spPr>
      </p:sp>
      <p:sp>
        <p:nvSpPr>
          <p:cNvPr id="77" name="linear"/>
          <p:cNvSpPr>
            <a:spLocks noGrp="1"/>
          </p:cNvSpPr>
          <p:nvPr/>
        </p:nvSpPr>
        <p:spPr>
          <a:xfrm>
            <a:off x="6438536" y="4292627"/>
            <a:ext cx="466431" cy="240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Linear</a:t>
            </a:r>
            <a:endParaRPr sz="86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ep-label"/>
          <p:cNvSpPr>
            <a:spLocks noGrp="1"/>
          </p:cNvSpPr>
          <p:nvPr/>
        </p:nvSpPr>
        <p:spPr>
          <a:xfrm>
            <a:off x="6926831" y="3877211"/>
            <a:ext cx="575751" cy="167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时序特征</a:t>
            </a:r>
            <a:endParaRPr sz="92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4" name="图片 29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093380" y="4037547"/>
            <a:ext cx="235365" cy="189488"/>
          </a:xfrm>
          <a:prstGeom prst="rect">
            <a:avLst/>
          </a:prstGeom>
        </p:spPr>
      </p:pic>
      <p:sp>
        <p:nvSpPr>
          <p:cNvPr id="80" name="ep-vector-0"/>
          <p:cNvSpPr>
            <a:spLocks noGrp="1"/>
          </p:cNvSpPr>
          <p:nvPr/>
        </p:nvSpPr>
        <p:spPr>
          <a:xfrm>
            <a:off x="7123607" y="4241611"/>
            <a:ext cx="138472" cy="102032"/>
          </a:xfrm>
          <a:prstGeom prst="rect">
            <a:avLst/>
          </a:prstGeom>
          <a:solidFill>
            <a:srgbClr val="CFEBD1"/>
          </a:solidFill>
          <a:ln w="9525">
            <a:solidFill>
              <a:srgbClr val="00A344"/>
            </a:solidFill>
            <a:prstDash val="solid"/>
          </a:ln>
        </p:spPr>
      </p:sp>
      <p:sp>
        <p:nvSpPr>
          <p:cNvPr id="81" name="ep-vector-1"/>
          <p:cNvSpPr>
            <a:spLocks noGrp="1"/>
          </p:cNvSpPr>
          <p:nvPr/>
        </p:nvSpPr>
        <p:spPr>
          <a:xfrm>
            <a:off x="7123607" y="4343643"/>
            <a:ext cx="138472" cy="102032"/>
          </a:xfrm>
          <a:prstGeom prst="rect">
            <a:avLst/>
          </a:prstGeom>
          <a:solidFill>
            <a:srgbClr val="CFEBD1"/>
          </a:solidFill>
          <a:ln w="9525">
            <a:solidFill>
              <a:srgbClr val="00A344"/>
            </a:solidFill>
            <a:prstDash val="solid"/>
          </a:ln>
        </p:spPr>
      </p:sp>
      <p:sp>
        <p:nvSpPr>
          <p:cNvPr id="82" name="ep-vector-2"/>
          <p:cNvSpPr>
            <a:spLocks noGrp="1"/>
          </p:cNvSpPr>
          <p:nvPr/>
        </p:nvSpPr>
        <p:spPr>
          <a:xfrm>
            <a:off x="7123607" y="4445675"/>
            <a:ext cx="138472" cy="102032"/>
          </a:xfrm>
          <a:prstGeom prst="rect">
            <a:avLst/>
          </a:prstGeom>
          <a:solidFill>
            <a:srgbClr val="CFEBD1"/>
          </a:solidFill>
          <a:ln w="9525">
            <a:solidFill>
              <a:srgbClr val="00A344"/>
            </a:solidFill>
            <a:prstDash val="solid"/>
          </a:ln>
        </p:spPr>
      </p:sp>
      <p:sp>
        <p:nvSpPr>
          <p:cNvPr id="83" name="ep-vector-3"/>
          <p:cNvSpPr>
            <a:spLocks noGrp="1"/>
          </p:cNvSpPr>
          <p:nvPr/>
        </p:nvSpPr>
        <p:spPr>
          <a:xfrm>
            <a:off x="7123607" y="4547707"/>
            <a:ext cx="138472" cy="102032"/>
          </a:xfrm>
          <a:prstGeom prst="rect">
            <a:avLst/>
          </a:prstGeom>
          <a:solidFill>
            <a:srgbClr val="CFEBD1"/>
          </a:solidFill>
          <a:ln w="9525">
            <a:solidFill>
              <a:srgbClr val="00A344"/>
            </a:solidFill>
            <a:prstDash val="solid"/>
          </a:ln>
        </p:spPr>
      </p:sp>
      <p:sp>
        <p:nvSpPr>
          <p:cNvPr id="84" name="ep-dim"/>
          <p:cNvSpPr>
            <a:spLocks noGrp="1"/>
          </p:cNvSpPr>
          <p:nvPr/>
        </p:nvSpPr>
        <p:spPr>
          <a:xfrm>
            <a:off x="7087167" y="4708043"/>
            <a:ext cx="233216" cy="1530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d维</a:t>
            </a:r>
            <a:endParaRPr sz="86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seq-gru"/>
          <p:cNvSpPr>
            <a:spLocks noGrp="1"/>
          </p:cNvSpPr>
          <p:nvPr/>
        </p:nvSpPr>
        <p:spPr>
          <a:xfrm>
            <a:off x="4346882" y="4416523"/>
            <a:ext cx="123896" cy="729"/>
          </a:xfrm>
          <a:custGeom>
            <a:avLst/>
            <a:gdLst/>
            <a:ahLst/>
            <a:cxnLst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26670">
            <a:solidFill>
              <a:srgbClr val="00A344"/>
            </a:solidFill>
            <a:prstDash val="solid"/>
          </a:ln>
        </p:spPr>
      </p:sp>
      <p:sp>
        <p:nvSpPr>
          <p:cNvPr id="86" name="seq-gru-tip"/>
          <p:cNvSpPr>
            <a:spLocks noGrp="1"/>
          </p:cNvSpPr>
          <p:nvPr/>
        </p:nvSpPr>
        <p:spPr>
          <a:xfrm>
            <a:off x="4402271" y="4383290"/>
            <a:ext cx="68507" cy="66466"/>
          </a:xfrm>
          <a:custGeom>
            <a:avLst/>
            <a:gdLst/>
            <a:ahLst/>
            <a:cxnLst/>
            <a:pathLst>
              <a:path w="89535" h="86868">
                <a:moveTo>
                  <a:pt x="89535" y="43434"/>
                </a:moveTo>
                <a:lnTo>
                  <a:pt x="0" y="0"/>
                </a:lnTo>
                <a:lnTo>
                  <a:pt x="0" y="86868"/>
                </a:lnTo>
                <a:close/>
              </a:path>
            </a:pathLst>
          </a:custGeom>
          <a:solidFill>
            <a:srgbClr val="00A344"/>
          </a:solidFill>
          <a:ln w="0">
            <a:noFill/>
          </a:ln>
        </p:spPr>
      </p:sp>
      <p:sp>
        <p:nvSpPr>
          <p:cNvPr id="87" name="gru-hidden"/>
          <p:cNvSpPr>
            <a:spLocks noGrp="1"/>
          </p:cNvSpPr>
          <p:nvPr/>
        </p:nvSpPr>
        <p:spPr>
          <a:xfrm>
            <a:off x="5425505" y="4416523"/>
            <a:ext cx="233216" cy="729"/>
          </a:xfrm>
          <a:custGeom>
            <a:avLst/>
            <a:gdLst/>
            <a:ahLst/>
            <a:cxnLst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6670">
            <a:solidFill>
              <a:srgbClr val="00A344"/>
            </a:solidFill>
            <a:prstDash val="solid"/>
          </a:ln>
        </p:spPr>
      </p:sp>
      <p:sp>
        <p:nvSpPr>
          <p:cNvPr id="88" name="gru-hidden-tip"/>
          <p:cNvSpPr>
            <a:spLocks noGrp="1"/>
          </p:cNvSpPr>
          <p:nvPr/>
        </p:nvSpPr>
        <p:spPr>
          <a:xfrm>
            <a:off x="5590213" y="4383290"/>
            <a:ext cx="68507" cy="66466"/>
          </a:xfrm>
          <a:custGeom>
            <a:avLst/>
            <a:gdLst/>
            <a:ahLst/>
            <a:cxnLst/>
            <a:pathLst>
              <a:path w="89535" h="86868">
                <a:moveTo>
                  <a:pt x="89535" y="43434"/>
                </a:moveTo>
                <a:lnTo>
                  <a:pt x="0" y="0"/>
                </a:lnTo>
                <a:lnTo>
                  <a:pt x="0" y="86868"/>
                </a:lnTo>
                <a:close/>
              </a:path>
            </a:pathLst>
          </a:custGeom>
          <a:solidFill>
            <a:srgbClr val="00A344"/>
          </a:solidFill>
          <a:ln w="0">
            <a:noFill/>
          </a:ln>
        </p:spPr>
      </p:sp>
      <p:sp>
        <p:nvSpPr>
          <p:cNvPr id="89" name="hidden-linear"/>
          <p:cNvSpPr>
            <a:spLocks noGrp="1"/>
          </p:cNvSpPr>
          <p:nvPr/>
        </p:nvSpPr>
        <p:spPr>
          <a:xfrm>
            <a:off x="6300064" y="4416523"/>
            <a:ext cx="123896" cy="729"/>
          </a:xfrm>
          <a:custGeom>
            <a:avLst/>
            <a:gdLst/>
            <a:ahLst/>
            <a:cxnLst/>
            <a:pathLst>
              <a:path w="161925" h="953">
                <a:moveTo>
                  <a:pt x="0" y="0"/>
                </a:moveTo>
                <a:lnTo>
                  <a:pt x="161925" y="0"/>
                </a:lnTo>
              </a:path>
            </a:pathLst>
          </a:custGeom>
          <a:noFill/>
          <a:ln w="26670">
            <a:solidFill>
              <a:srgbClr val="00A344"/>
            </a:solidFill>
            <a:prstDash val="solid"/>
          </a:ln>
        </p:spPr>
      </p:sp>
      <p:sp>
        <p:nvSpPr>
          <p:cNvPr id="90" name="hidden-linear-tip"/>
          <p:cNvSpPr>
            <a:spLocks noGrp="1"/>
          </p:cNvSpPr>
          <p:nvPr/>
        </p:nvSpPr>
        <p:spPr>
          <a:xfrm>
            <a:off x="6355452" y="4383290"/>
            <a:ext cx="68507" cy="66466"/>
          </a:xfrm>
          <a:custGeom>
            <a:avLst/>
            <a:gdLst/>
            <a:ahLst/>
            <a:cxnLst/>
            <a:pathLst>
              <a:path w="89535" h="86868">
                <a:moveTo>
                  <a:pt x="89535" y="43434"/>
                </a:moveTo>
                <a:lnTo>
                  <a:pt x="0" y="0"/>
                </a:lnTo>
                <a:lnTo>
                  <a:pt x="0" y="86868"/>
                </a:lnTo>
                <a:close/>
              </a:path>
            </a:pathLst>
          </a:custGeom>
          <a:solidFill>
            <a:srgbClr val="00A344"/>
          </a:solidFill>
          <a:ln w="0">
            <a:noFill/>
          </a:ln>
        </p:spPr>
      </p:sp>
      <p:sp>
        <p:nvSpPr>
          <p:cNvPr id="91" name="linear-ep"/>
          <p:cNvSpPr>
            <a:spLocks noGrp="1"/>
          </p:cNvSpPr>
          <p:nvPr/>
        </p:nvSpPr>
        <p:spPr>
          <a:xfrm>
            <a:off x="6919543" y="4416523"/>
            <a:ext cx="204064" cy="729"/>
          </a:xfrm>
          <a:custGeom>
            <a:avLst/>
            <a:gdLst/>
            <a:ahLst/>
            <a:cxnLst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6670">
            <a:solidFill>
              <a:srgbClr val="00A344"/>
            </a:solidFill>
            <a:prstDash val="solid"/>
          </a:ln>
        </p:spPr>
      </p:sp>
      <p:sp>
        <p:nvSpPr>
          <p:cNvPr id="92" name="linear-ep-tip"/>
          <p:cNvSpPr>
            <a:spLocks noGrp="1"/>
          </p:cNvSpPr>
          <p:nvPr/>
        </p:nvSpPr>
        <p:spPr>
          <a:xfrm>
            <a:off x="7055100" y="4383290"/>
            <a:ext cx="68507" cy="66466"/>
          </a:xfrm>
          <a:custGeom>
            <a:avLst/>
            <a:gdLst/>
            <a:ahLst/>
            <a:cxnLst/>
            <a:pathLst>
              <a:path w="89535" h="86868">
                <a:moveTo>
                  <a:pt x="89535" y="43434"/>
                </a:moveTo>
                <a:lnTo>
                  <a:pt x="0" y="0"/>
                </a:lnTo>
                <a:lnTo>
                  <a:pt x="0" y="86868"/>
                </a:lnTo>
                <a:close/>
              </a:path>
            </a:pathLst>
          </a:custGeom>
          <a:solidFill>
            <a:srgbClr val="00A344"/>
          </a:solidFill>
          <a:ln w="0">
            <a:noFill/>
          </a:ln>
        </p:spPr>
      </p:sp>
      <p:sp>
        <p:nvSpPr>
          <p:cNvPr id="93" name="gru-desc"/>
          <p:cNvSpPr>
            <a:spLocks noGrp="1"/>
          </p:cNvSpPr>
          <p:nvPr/>
        </p:nvSpPr>
        <p:spPr>
          <a:xfrm>
            <a:off x="4448914" y="4708043"/>
            <a:ext cx="2026062" cy="167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学习PV时间动态依赖</a:t>
            </a:r>
            <a:endParaRPr sz="92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fusion-frame"/>
          <p:cNvSpPr>
            <a:spLocks noGrp="1"/>
          </p:cNvSpPr>
          <p:nvPr/>
        </p:nvSpPr>
        <p:spPr>
          <a:xfrm>
            <a:off x="7662918" y="2689269"/>
            <a:ext cx="626767" cy="940151"/>
          </a:xfrm>
          <a:prstGeom prst="roundRect">
            <a:avLst>
              <a:gd name="adj" fmla="val 4651"/>
            </a:avLst>
          </a:prstGeom>
          <a:solidFill>
            <a:srgbClr val="FFF2E6"/>
          </a:solidFill>
          <a:ln w="9525">
            <a:solidFill>
              <a:srgbClr val="F08334"/>
            </a:solidFill>
            <a:prstDash val="solid"/>
          </a:ln>
        </p:spPr>
      </p:sp>
      <p:sp>
        <p:nvSpPr>
          <p:cNvPr id="95" name="fusion"/>
          <p:cNvSpPr>
            <a:spLocks noGrp="1"/>
          </p:cNvSpPr>
          <p:nvPr/>
        </p:nvSpPr>
        <p:spPr>
          <a:xfrm>
            <a:off x="7677494" y="2689269"/>
            <a:ext cx="597615" cy="9401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endParaRPr sz="1375"/>
          </a:p>
        </p:txBody>
      </p:sp>
      <p:sp>
        <p:nvSpPr>
          <p:cNvPr id="96" name="fusion-title"/>
          <p:cNvSpPr>
            <a:spLocks noGrp="1"/>
          </p:cNvSpPr>
          <p:nvPr/>
        </p:nvSpPr>
        <p:spPr>
          <a:xfrm>
            <a:off x="7692070" y="2864181"/>
            <a:ext cx="568463" cy="3425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6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9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后期融合</a:t>
            </a:r>
            <a:endParaRPr sz="89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6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9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Late Fusion</a:t>
            </a:r>
            <a:endParaRPr sz="89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concat-frame"/>
          <p:cNvSpPr>
            <a:spLocks noGrp="1"/>
          </p:cNvSpPr>
          <p:nvPr/>
        </p:nvSpPr>
        <p:spPr>
          <a:xfrm>
            <a:off x="7735798" y="3265020"/>
            <a:ext cx="488295" cy="233216"/>
          </a:xfrm>
          <a:prstGeom prst="roundRect">
            <a:avLst>
              <a:gd name="adj" fmla="val 12500"/>
            </a:avLst>
          </a:prstGeom>
          <a:solidFill>
            <a:srgbClr val="FFF9F0"/>
          </a:solidFill>
          <a:ln w="9525">
            <a:solidFill>
              <a:srgbClr val="F08334"/>
            </a:solidFill>
            <a:prstDash val="solid"/>
          </a:ln>
        </p:spPr>
      </p:sp>
      <p:sp>
        <p:nvSpPr>
          <p:cNvPr id="98" name="concat"/>
          <p:cNvSpPr>
            <a:spLocks noGrp="1"/>
          </p:cNvSpPr>
          <p:nvPr/>
        </p:nvSpPr>
        <p:spPr>
          <a:xfrm>
            <a:off x="7750374" y="3265020"/>
            <a:ext cx="459143" cy="2332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Concat</a:t>
            </a:r>
            <a:endParaRPr sz="92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ef-label"/>
          <p:cNvSpPr>
            <a:spLocks noGrp="1"/>
          </p:cNvSpPr>
          <p:nvPr/>
        </p:nvSpPr>
        <p:spPr>
          <a:xfrm>
            <a:off x="8347989" y="2864181"/>
            <a:ext cx="466431" cy="18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融合特征</a:t>
            </a:r>
            <a:endParaRPr sz="92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5" name="图片 31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457309" y="3053900"/>
            <a:ext cx="225928" cy="181736"/>
          </a:xfrm>
          <a:prstGeom prst="rect">
            <a:avLst/>
          </a:prstGeom>
        </p:spPr>
      </p:pic>
      <p:sp>
        <p:nvSpPr>
          <p:cNvPr id="101" name="ef-vector-0"/>
          <p:cNvSpPr>
            <a:spLocks noGrp="1"/>
          </p:cNvSpPr>
          <p:nvPr/>
        </p:nvSpPr>
        <p:spPr>
          <a:xfrm>
            <a:off x="8522901" y="3257732"/>
            <a:ext cx="131184" cy="116608"/>
          </a:xfrm>
          <a:prstGeom prst="rect">
            <a:avLst/>
          </a:prstGeom>
          <a:solidFill>
            <a:srgbClr val="FFE0BD"/>
          </a:solidFill>
          <a:ln w="9525">
            <a:solidFill>
              <a:srgbClr val="F08334"/>
            </a:solidFill>
            <a:prstDash val="solid"/>
          </a:ln>
        </p:spPr>
      </p:sp>
      <p:sp>
        <p:nvSpPr>
          <p:cNvPr id="102" name="ef-vector-1"/>
          <p:cNvSpPr>
            <a:spLocks noGrp="1"/>
          </p:cNvSpPr>
          <p:nvPr/>
        </p:nvSpPr>
        <p:spPr>
          <a:xfrm>
            <a:off x="8522901" y="3374340"/>
            <a:ext cx="131184" cy="116608"/>
          </a:xfrm>
          <a:prstGeom prst="rect">
            <a:avLst/>
          </a:prstGeom>
          <a:solidFill>
            <a:srgbClr val="FFE0BD"/>
          </a:solidFill>
          <a:ln w="9525">
            <a:solidFill>
              <a:srgbClr val="F08334"/>
            </a:solidFill>
            <a:prstDash val="solid"/>
          </a:ln>
        </p:spPr>
      </p:sp>
      <p:sp>
        <p:nvSpPr>
          <p:cNvPr id="103" name="ef-vector-2"/>
          <p:cNvSpPr>
            <a:spLocks noGrp="1"/>
          </p:cNvSpPr>
          <p:nvPr/>
        </p:nvSpPr>
        <p:spPr>
          <a:xfrm>
            <a:off x="8522901" y="3490948"/>
            <a:ext cx="131184" cy="116608"/>
          </a:xfrm>
          <a:prstGeom prst="rect">
            <a:avLst/>
          </a:prstGeom>
          <a:solidFill>
            <a:srgbClr val="FFE0BD"/>
          </a:solidFill>
          <a:ln w="9525">
            <a:solidFill>
              <a:srgbClr val="F08334"/>
            </a:solidFill>
            <a:prstDash val="solid"/>
          </a:ln>
        </p:spPr>
      </p:sp>
      <p:sp>
        <p:nvSpPr>
          <p:cNvPr id="104" name="ef-vector-3"/>
          <p:cNvSpPr>
            <a:spLocks noGrp="1"/>
          </p:cNvSpPr>
          <p:nvPr/>
        </p:nvSpPr>
        <p:spPr>
          <a:xfrm>
            <a:off x="8522901" y="3607556"/>
            <a:ext cx="131184" cy="116608"/>
          </a:xfrm>
          <a:prstGeom prst="rect">
            <a:avLst/>
          </a:prstGeom>
          <a:solidFill>
            <a:srgbClr val="FFE0BD"/>
          </a:solidFill>
          <a:ln w="9525">
            <a:solidFill>
              <a:srgbClr val="F08334"/>
            </a:solidFill>
            <a:prstDash val="solid"/>
          </a:ln>
        </p:spPr>
      </p:sp>
      <p:sp>
        <p:nvSpPr>
          <p:cNvPr id="105" name="mlp-frame"/>
          <p:cNvSpPr>
            <a:spLocks noGrp="1"/>
          </p:cNvSpPr>
          <p:nvPr/>
        </p:nvSpPr>
        <p:spPr>
          <a:xfrm>
            <a:off x="8858149" y="2995365"/>
            <a:ext cx="677783" cy="553887"/>
          </a:xfrm>
          <a:prstGeom prst="roundRect">
            <a:avLst>
              <a:gd name="adj" fmla="val 5263"/>
            </a:avLst>
          </a:prstGeom>
          <a:solidFill>
            <a:srgbClr val="EBF5FF"/>
          </a:solidFill>
          <a:ln w="9525">
            <a:solidFill>
              <a:srgbClr val="0078C9"/>
            </a:solidFill>
            <a:prstDash val="solid"/>
          </a:ln>
        </p:spPr>
      </p:sp>
      <p:sp>
        <p:nvSpPr>
          <p:cNvPr id="106" name="mlp"/>
          <p:cNvSpPr>
            <a:spLocks noGrp="1"/>
          </p:cNvSpPr>
          <p:nvPr/>
        </p:nvSpPr>
        <p:spPr>
          <a:xfrm>
            <a:off x="8872725" y="2995365"/>
            <a:ext cx="648631" cy="55388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多层感知机</a:t>
            </a:r>
            <a:endParaRPr sz="11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MLP</a:t>
            </a:r>
            <a:endParaRPr sz="11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es-label"/>
          <p:cNvSpPr>
            <a:spLocks noGrp="1"/>
          </p:cNvSpPr>
          <p:nvPr/>
        </p:nvSpPr>
        <p:spPr>
          <a:xfrm>
            <a:off x="9346444" y="1829286"/>
            <a:ext cx="575751" cy="18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卫星特征</a:t>
            </a:r>
            <a:endParaRPr sz="92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3" name="图片 32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543104" y="2026062"/>
            <a:ext cx="211585" cy="182200"/>
          </a:xfrm>
          <a:prstGeom prst="rect">
            <a:avLst/>
          </a:prstGeom>
        </p:spPr>
      </p:pic>
      <p:sp>
        <p:nvSpPr>
          <p:cNvPr id="109" name="es-vector-0"/>
          <p:cNvSpPr>
            <a:spLocks noGrp="1"/>
          </p:cNvSpPr>
          <p:nvPr/>
        </p:nvSpPr>
        <p:spPr>
          <a:xfrm>
            <a:off x="9608812" y="2244701"/>
            <a:ext cx="123896" cy="116608"/>
          </a:xfrm>
          <a:prstGeom prst="rect">
            <a:avLst/>
          </a:prstGeom>
          <a:solidFill>
            <a:srgbClr val="C1E7FF"/>
          </a:solidFill>
          <a:ln w="9525">
            <a:solidFill>
              <a:srgbClr val="0078C9"/>
            </a:solidFill>
            <a:prstDash val="solid"/>
          </a:ln>
        </p:spPr>
      </p:sp>
      <p:sp>
        <p:nvSpPr>
          <p:cNvPr id="110" name="es-vector-1"/>
          <p:cNvSpPr>
            <a:spLocks noGrp="1"/>
          </p:cNvSpPr>
          <p:nvPr/>
        </p:nvSpPr>
        <p:spPr>
          <a:xfrm>
            <a:off x="9608812" y="2361309"/>
            <a:ext cx="123896" cy="116608"/>
          </a:xfrm>
          <a:prstGeom prst="rect">
            <a:avLst/>
          </a:prstGeom>
          <a:solidFill>
            <a:srgbClr val="C1E7FF"/>
          </a:solidFill>
          <a:ln w="9525">
            <a:solidFill>
              <a:srgbClr val="0078C9"/>
            </a:solidFill>
            <a:prstDash val="solid"/>
          </a:ln>
        </p:spPr>
      </p:sp>
      <p:sp>
        <p:nvSpPr>
          <p:cNvPr id="111" name="es-vector-2"/>
          <p:cNvSpPr>
            <a:spLocks noGrp="1"/>
          </p:cNvSpPr>
          <p:nvPr/>
        </p:nvSpPr>
        <p:spPr>
          <a:xfrm>
            <a:off x="9608812" y="2477917"/>
            <a:ext cx="123896" cy="116608"/>
          </a:xfrm>
          <a:prstGeom prst="rect">
            <a:avLst/>
          </a:prstGeom>
          <a:solidFill>
            <a:srgbClr val="C1E7FF"/>
          </a:solidFill>
          <a:ln w="9525">
            <a:solidFill>
              <a:srgbClr val="0078C9"/>
            </a:solidFill>
            <a:prstDash val="solid"/>
          </a:ln>
        </p:spPr>
      </p:sp>
      <p:sp>
        <p:nvSpPr>
          <p:cNvPr id="112" name="es-vector-3"/>
          <p:cNvSpPr>
            <a:spLocks noGrp="1"/>
          </p:cNvSpPr>
          <p:nvPr/>
        </p:nvSpPr>
        <p:spPr>
          <a:xfrm>
            <a:off x="9608812" y="2594525"/>
            <a:ext cx="123896" cy="116608"/>
          </a:xfrm>
          <a:prstGeom prst="rect">
            <a:avLst/>
          </a:prstGeom>
          <a:solidFill>
            <a:srgbClr val="C1E7FF"/>
          </a:solidFill>
          <a:ln w="9525">
            <a:solidFill>
              <a:srgbClr val="0078C9"/>
            </a:solidFill>
            <a:prstDash val="solid"/>
          </a:ln>
        </p:spPr>
      </p:sp>
      <p:sp>
        <p:nvSpPr>
          <p:cNvPr id="113" name="es-dim"/>
          <p:cNvSpPr>
            <a:spLocks noGrp="1"/>
          </p:cNvSpPr>
          <p:nvPr/>
        </p:nvSpPr>
        <p:spPr>
          <a:xfrm>
            <a:off x="9543220" y="2762149"/>
            <a:ext cx="269656" cy="167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d维</a:t>
            </a:r>
            <a:endParaRPr sz="86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roi-fusion"/>
          <p:cNvSpPr>
            <a:spLocks noGrp="1"/>
          </p:cNvSpPr>
          <p:nvPr/>
        </p:nvSpPr>
        <p:spPr>
          <a:xfrm>
            <a:off x="7349535" y="2215549"/>
            <a:ext cx="502871" cy="473719"/>
          </a:xfrm>
          <a:custGeom>
            <a:avLst/>
            <a:gdLst/>
            <a:ahLst/>
            <a:cxnLst/>
            <a:pathLst>
              <a:path w="657225" h="619125">
                <a:moveTo>
                  <a:pt x="0" y="0"/>
                </a:moveTo>
                <a:lnTo>
                  <a:pt x="657225" y="0"/>
                </a:lnTo>
                <a:lnTo>
                  <a:pt x="657225" y="619125"/>
                </a:lnTo>
              </a:path>
            </a:pathLst>
          </a:custGeom>
          <a:noFill/>
          <a:ln w="28575">
            <a:solidFill>
              <a:srgbClr val="0078C9"/>
            </a:solidFill>
            <a:prstDash val="solid"/>
          </a:ln>
        </p:spPr>
      </p:sp>
      <p:sp>
        <p:nvSpPr>
          <p:cNvPr id="115" name="roi-fusion-tip"/>
          <p:cNvSpPr>
            <a:spLocks noGrp="1"/>
          </p:cNvSpPr>
          <p:nvPr/>
        </p:nvSpPr>
        <p:spPr>
          <a:xfrm>
            <a:off x="7818881" y="2620033"/>
            <a:ext cx="67050" cy="69236"/>
          </a:xfrm>
          <a:custGeom>
            <a:avLst/>
            <a:gdLst/>
            <a:ahLst/>
            <a:cxnLst/>
            <a:pathLst>
              <a:path w="87630" h="90488">
                <a:moveTo>
                  <a:pt x="43815" y="90488"/>
                </a:moveTo>
                <a:lnTo>
                  <a:pt x="8763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116" name="ep-fusion"/>
          <p:cNvSpPr>
            <a:spLocks noGrp="1"/>
          </p:cNvSpPr>
          <p:nvPr/>
        </p:nvSpPr>
        <p:spPr>
          <a:xfrm>
            <a:off x="7262079" y="3629420"/>
            <a:ext cx="590327" cy="772527"/>
          </a:xfrm>
          <a:custGeom>
            <a:avLst/>
            <a:gdLst/>
            <a:ahLst/>
            <a:cxnLst/>
            <a:pathLst>
              <a:path w="771525" h="1009650">
                <a:moveTo>
                  <a:pt x="0" y="1009650"/>
                </a:moveTo>
                <a:lnTo>
                  <a:pt x="771525" y="1009650"/>
                </a:lnTo>
                <a:lnTo>
                  <a:pt x="771525" y="0"/>
                </a:lnTo>
              </a:path>
            </a:pathLst>
          </a:custGeom>
          <a:noFill/>
          <a:ln w="28575">
            <a:solidFill>
              <a:srgbClr val="00A344"/>
            </a:solidFill>
            <a:prstDash val="solid"/>
          </a:ln>
        </p:spPr>
      </p:sp>
      <p:sp>
        <p:nvSpPr>
          <p:cNvPr id="117" name="ep-fusion-tip"/>
          <p:cNvSpPr>
            <a:spLocks noGrp="1"/>
          </p:cNvSpPr>
          <p:nvPr/>
        </p:nvSpPr>
        <p:spPr>
          <a:xfrm>
            <a:off x="7818881" y="3629420"/>
            <a:ext cx="67050" cy="69236"/>
          </a:xfrm>
          <a:custGeom>
            <a:avLst/>
            <a:gdLst/>
            <a:ahLst/>
            <a:cxnLst/>
            <a:pathLst>
              <a:path w="87630" h="90488">
                <a:moveTo>
                  <a:pt x="43815" y="0"/>
                </a:moveTo>
                <a:lnTo>
                  <a:pt x="0" y="90488"/>
                </a:lnTo>
                <a:lnTo>
                  <a:pt x="87630" y="90488"/>
                </a:lnTo>
                <a:close/>
              </a:path>
            </a:pathLst>
          </a:custGeom>
          <a:solidFill>
            <a:srgbClr val="00A344"/>
          </a:solidFill>
          <a:ln w="0">
            <a:noFill/>
          </a:ln>
        </p:spPr>
      </p:sp>
      <p:sp>
        <p:nvSpPr>
          <p:cNvPr id="118" name="ep-feature-path"/>
          <p:cNvSpPr>
            <a:spLocks noGrp="1"/>
          </p:cNvSpPr>
          <p:nvPr/>
        </p:nvSpPr>
        <p:spPr>
          <a:xfrm>
            <a:off x="9688980" y="2915197"/>
            <a:ext cx="729" cy="306096"/>
          </a:xfrm>
          <a:custGeom>
            <a:avLst/>
            <a:gdLst/>
            <a:ahLst/>
            <a:cxnLst/>
            <a:pathLst>
              <a:path w="953" h="400050">
                <a:moveTo>
                  <a:pt x="0" y="400050"/>
                </a:moveTo>
                <a:lnTo>
                  <a:pt x="0" y="0"/>
                </a:lnTo>
              </a:path>
            </a:pathLst>
          </a:custGeom>
          <a:noFill/>
          <a:ln w="28575">
            <a:solidFill>
              <a:srgbClr val="00A344"/>
            </a:solidFill>
            <a:prstDash val="solid"/>
          </a:ln>
        </p:spPr>
      </p:sp>
      <p:sp>
        <p:nvSpPr>
          <p:cNvPr id="119" name="feature-continuation"/>
          <p:cNvSpPr>
            <a:spLocks noGrp="1"/>
          </p:cNvSpPr>
          <p:nvPr/>
        </p:nvSpPr>
        <p:spPr>
          <a:xfrm>
            <a:off x="9688980" y="3286884"/>
            <a:ext cx="729" cy="1297262"/>
          </a:xfrm>
          <a:custGeom>
            <a:avLst/>
            <a:gdLst/>
            <a:ahLst/>
            <a:cxnLst/>
            <a:pathLst>
              <a:path w="953" h="1695450">
                <a:moveTo>
                  <a:pt x="0" y="0"/>
                </a:moveTo>
                <a:lnTo>
                  <a:pt x="0" y="1695450"/>
                </a:lnTo>
              </a:path>
            </a:pathLst>
          </a:custGeom>
          <a:noFill/>
          <a:ln w="28575">
            <a:solidFill>
              <a:srgbClr val="00A344"/>
            </a:solidFill>
            <a:prstDash val="solid"/>
          </a:ln>
        </p:spPr>
      </p:sp>
      <p:sp>
        <p:nvSpPr>
          <p:cNvPr id="120" name="fusion-vector"/>
          <p:cNvSpPr>
            <a:spLocks noGrp="1"/>
          </p:cNvSpPr>
          <p:nvPr/>
        </p:nvSpPr>
        <p:spPr>
          <a:xfrm>
            <a:off x="8289685" y="3345188"/>
            <a:ext cx="233216" cy="729"/>
          </a:xfrm>
          <a:custGeom>
            <a:avLst/>
            <a:gdLst/>
            <a:ahLst/>
            <a:cxnLst/>
            <a:pathLst>
              <a:path w="304800" h="953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6670">
            <a:solidFill>
              <a:srgbClr val="0078C9"/>
            </a:solidFill>
            <a:prstDash val="solid"/>
          </a:ln>
        </p:spPr>
      </p:sp>
      <p:sp>
        <p:nvSpPr>
          <p:cNvPr id="121" name="fusion-vector-tip"/>
          <p:cNvSpPr>
            <a:spLocks noGrp="1"/>
          </p:cNvSpPr>
          <p:nvPr/>
        </p:nvSpPr>
        <p:spPr>
          <a:xfrm>
            <a:off x="8454394" y="3311955"/>
            <a:ext cx="68507" cy="66466"/>
          </a:xfrm>
          <a:custGeom>
            <a:avLst/>
            <a:gdLst/>
            <a:ahLst/>
            <a:cxnLst/>
            <a:pathLst>
              <a:path w="89535" h="86868">
                <a:moveTo>
                  <a:pt x="89535" y="43434"/>
                </a:moveTo>
                <a:lnTo>
                  <a:pt x="0" y="0"/>
                </a:lnTo>
                <a:lnTo>
                  <a:pt x="0" y="86868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122" name="ef-mlp"/>
          <p:cNvSpPr>
            <a:spLocks noGrp="1"/>
          </p:cNvSpPr>
          <p:nvPr/>
        </p:nvSpPr>
        <p:spPr>
          <a:xfrm>
            <a:off x="8654085" y="3345188"/>
            <a:ext cx="204064" cy="729"/>
          </a:xfrm>
          <a:custGeom>
            <a:avLst/>
            <a:gdLst/>
            <a:ahLst/>
            <a:cxnLst/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6670">
            <a:solidFill>
              <a:srgbClr val="0078C9"/>
            </a:solidFill>
            <a:prstDash val="solid"/>
          </a:ln>
        </p:spPr>
      </p:sp>
      <p:sp>
        <p:nvSpPr>
          <p:cNvPr id="123" name="ef-mlp-tip"/>
          <p:cNvSpPr>
            <a:spLocks noGrp="1"/>
          </p:cNvSpPr>
          <p:nvPr/>
        </p:nvSpPr>
        <p:spPr>
          <a:xfrm>
            <a:off x="8789642" y="3311955"/>
            <a:ext cx="68507" cy="66466"/>
          </a:xfrm>
          <a:custGeom>
            <a:avLst/>
            <a:gdLst/>
            <a:ahLst/>
            <a:cxnLst/>
            <a:pathLst>
              <a:path w="89535" h="86868">
                <a:moveTo>
                  <a:pt x="89535" y="43434"/>
                </a:moveTo>
                <a:lnTo>
                  <a:pt x="0" y="0"/>
                </a:lnTo>
                <a:lnTo>
                  <a:pt x="0" y="86868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pic>
        <p:nvPicPr>
          <p:cNvPr id="339" name="图片 33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947150" y="3782794"/>
            <a:ext cx="1537766" cy="181548"/>
          </a:xfrm>
          <a:prstGeom prst="rect">
            <a:avLst/>
          </a:prstGeom>
        </p:spPr>
      </p:pic>
      <p:sp>
        <p:nvSpPr>
          <p:cNvPr id="125" name="prediction-panel"/>
          <p:cNvSpPr>
            <a:spLocks noGrp="1"/>
          </p:cNvSpPr>
          <p:nvPr/>
        </p:nvSpPr>
        <p:spPr>
          <a:xfrm>
            <a:off x="10046091" y="1421158"/>
            <a:ext cx="2018774" cy="2725709"/>
          </a:xfrm>
          <a:prstGeom prst="roundRect">
            <a:avLst>
              <a:gd name="adj" fmla="val 2527"/>
            </a:avLst>
          </a:prstGeom>
          <a:solidFill>
            <a:srgbClr val="F0FCFF"/>
          </a:solidFill>
          <a:ln w="9525">
            <a:solidFill>
              <a:srgbClr val="50CFE6"/>
            </a:solidFill>
            <a:prstDash val="solid"/>
          </a:ln>
        </p:spPr>
      </p:sp>
      <p:sp>
        <p:nvSpPr>
          <p:cNvPr id="126" name="prediction-panel-title"/>
          <p:cNvSpPr>
            <a:spLocks noGrp="1"/>
          </p:cNvSpPr>
          <p:nvPr/>
        </p:nvSpPr>
        <p:spPr>
          <a:xfrm>
            <a:off x="10104395" y="1450310"/>
            <a:ext cx="1902166" cy="211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2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未来多步PV功率预测</a:t>
            </a:r>
            <a:endParaRPr sz="132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42" name="图片 34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873325" y="1770982"/>
            <a:ext cx="663114" cy="218640"/>
          </a:xfrm>
          <a:prstGeom prst="rect">
            <a:avLst/>
          </a:prstGeom>
        </p:spPr>
      </p:pic>
      <p:sp>
        <p:nvSpPr>
          <p:cNvPr id="128" name="pred-four-axis"/>
          <p:cNvSpPr>
            <a:spLocks noGrp="1"/>
          </p:cNvSpPr>
          <p:nvPr/>
        </p:nvSpPr>
        <p:spPr>
          <a:xfrm>
            <a:off x="10323035" y="2033350"/>
            <a:ext cx="1566918" cy="451855"/>
          </a:xfrm>
          <a:custGeom>
            <a:avLst/>
            <a:gdLst/>
            <a:ahLst/>
            <a:cxnLst/>
            <a:pathLst>
              <a:path w="2047875" h="590550">
                <a:moveTo>
                  <a:pt x="0" y="0"/>
                </a:moveTo>
                <a:lnTo>
                  <a:pt x="0" y="590550"/>
                </a:lnTo>
                <a:lnTo>
                  <a:pt x="2047875" y="590550"/>
                </a:lnTo>
              </a:path>
            </a:pathLst>
          </a:custGeom>
          <a:noFill/>
          <a:ln w="9525">
            <a:solidFill>
              <a:srgbClr val="454B53"/>
            </a:solidFill>
            <a:prstDash val="solid"/>
          </a:ln>
        </p:spPr>
      </p:sp>
      <p:sp>
        <p:nvSpPr>
          <p:cNvPr id="129" name="pred-four-b0"/>
          <p:cNvSpPr>
            <a:spLocks noGrp="1"/>
          </p:cNvSpPr>
          <p:nvPr/>
        </p:nvSpPr>
        <p:spPr>
          <a:xfrm>
            <a:off x="10432355" y="2223129"/>
            <a:ext cx="233216" cy="262076"/>
          </a:xfrm>
          <a:prstGeom prst="rect">
            <a:avLst/>
          </a:prstGeom>
          <a:solidFill>
            <a:srgbClr val="62A9F9"/>
          </a:solidFill>
          <a:ln w="0">
            <a:noFill/>
            <a:prstDash val="solid"/>
          </a:ln>
        </p:spPr>
      </p:sp>
      <p:sp>
        <p:nvSpPr>
          <p:cNvPr id="130" name="pred-four-b1"/>
          <p:cNvSpPr>
            <a:spLocks noGrp="1"/>
          </p:cNvSpPr>
          <p:nvPr/>
        </p:nvSpPr>
        <p:spPr>
          <a:xfrm>
            <a:off x="10778535" y="2150832"/>
            <a:ext cx="233216" cy="334373"/>
          </a:xfrm>
          <a:prstGeom prst="rect">
            <a:avLst/>
          </a:prstGeom>
          <a:solidFill>
            <a:srgbClr val="62A9F9"/>
          </a:solidFill>
          <a:ln w="0">
            <a:noFill/>
            <a:prstDash val="solid"/>
          </a:ln>
        </p:spPr>
      </p:sp>
      <p:sp>
        <p:nvSpPr>
          <p:cNvPr id="131" name="pred-four-b2"/>
          <p:cNvSpPr>
            <a:spLocks noGrp="1"/>
          </p:cNvSpPr>
          <p:nvPr/>
        </p:nvSpPr>
        <p:spPr>
          <a:xfrm>
            <a:off x="11124714" y="2227648"/>
            <a:ext cx="233216" cy="257557"/>
          </a:xfrm>
          <a:prstGeom prst="rect">
            <a:avLst/>
          </a:prstGeom>
          <a:solidFill>
            <a:srgbClr val="62A9F9"/>
          </a:solidFill>
          <a:ln w="0">
            <a:noFill/>
            <a:prstDash val="solid"/>
          </a:ln>
        </p:spPr>
      </p:sp>
      <p:sp>
        <p:nvSpPr>
          <p:cNvPr id="132" name="pred-four-b3"/>
          <p:cNvSpPr>
            <a:spLocks noGrp="1"/>
          </p:cNvSpPr>
          <p:nvPr/>
        </p:nvSpPr>
        <p:spPr>
          <a:xfrm>
            <a:off x="11470894" y="2308982"/>
            <a:ext cx="233216" cy="176224"/>
          </a:xfrm>
          <a:prstGeom prst="rect">
            <a:avLst/>
          </a:prstGeom>
          <a:solidFill>
            <a:srgbClr val="62A9F9"/>
          </a:solidFill>
          <a:ln w="0">
            <a:noFill/>
            <a:prstDash val="solid"/>
          </a:ln>
        </p:spPr>
      </p:sp>
      <p:pic>
        <p:nvPicPr>
          <p:cNvPr id="348" name="图片 34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359475" y="2574088"/>
            <a:ext cx="342536" cy="99178"/>
          </a:xfrm>
          <a:prstGeom prst="rect">
            <a:avLst/>
          </a:prstGeom>
        </p:spPr>
      </p:pic>
      <p:sp>
        <p:nvSpPr>
          <p:cNvPr id="134" name="pred-min-0"/>
          <p:cNvSpPr>
            <a:spLocks noGrp="1"/>
          </p:cNvSpPr>
          <p:nvPr/>
        </p:nvSpPr>
        <p:spPr>
          <a:xfrm>
            <a:off x="10359475" y="2696557"/>
            <a:ext cx="342536" cy="131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5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</a:t>
            </a:r>
            <a:endParaRPr sz="805" b="0">
              <a:solidFill>
                <a:srgbClr val="103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0" name="图片 349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760315" y="2574088"/>
            <a:ext cx="342536" cy="99178"/>
          </a:xfrm>
          <a:prstGeom prst="rect">
            <a:avLst/>
          </a:prstGeom>
        </p:spPr>
      </p:pic>
      <p:sp>
        <p:nvSpPr>
          <p:cNvPr id="136" name="pred-min-1"/>
          <p:cNvSpPr>
            <a:spLocks noGrp="1"/>
          </p:cNvSpPr>
          <p:nvPr/>
        </p:nvSpPr>
        <p:spPr>
          <a:xfrm>
            <a:off x="10760315" y="2696557"/>
            <a:ext cx="342536" cy="131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5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</a:t>
            </a:r>
            <a:endParaRPr sz="805" b="0">
              <a:solidFill>
                <a:srgbClr val="103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2" name="图片 351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1161154" y="2573359"/>
            <a:ext cx="342536" cy="100636"/>
          </a:xfrm>
          <a:prstGeom prst="rect">
            <a:avLst/>
          </a:prstGeom>
        </p:spPr>
      </p:pic>
      <p:sp>
        <p:nvSpPr>
          <p:cNvPr id="138" name="pred-min-2"/>
          <p:cNvSpPr>
            <a:spLocks noGrp="1"/>
          </p:cNvSpPr>
          <p:nvPr/>
        </p:nvSpPr>
        <p:spPr>
          <a:xfrm>
            <a:off x="11161154" y="2696557"/>
            <a:ext cx="342536" cy="131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5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</a:t>
            </a:r>
            <a:endParaRPr sz="805" b="0">
              <a:solidFill>
                <a:srgbClr val="103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4" name="图片 353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1561994" y="2574088"/>
            <a:ext cx="342536" cy="99178"/>
          </a:xfrm>
          <a:prstGeom prst="rect">
            <a:avLst/>
          </a:prstGeom>
        </p:spPr>
      </p:pic>
      <p:sp>
        <p:nvSpPr>
          <p:cNvPr id="140" name="pred-min-3"/>
          <p:cNvSpPr>
            <a:spLocks noGrp="1"/>
          </p:cNvSpPr>
          <p:nvPr/>
        </p:nvSpPr>
        <p:spPr>
          <a:xfrm>
            <a:off x="11561994" y="2696557"/>
            <a:ext cx="342536" cy="13118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05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</a:t>
            </a:r>
            <a:endParaRPr sz="805" b="0">
              <a:solidFill>
                <a:srgbClr val="103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1" name="prediction-horizon"/>
          <p:cNvSpPr>
            <a:spLocks noGrp="1"/>
          </p:cNvSpPr>
          <p:nvPr/>
        </p:nvSpPr>
        <p:spPr>
          <a:xfrm>
            <a:off x="10461507" y="2842317"/>
            <a:ext cx="1457598" cy="18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60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未来1 h / 4点</a:t>
            </a:r>
            <a:endParaRPr sz="1260" b="1">
              <a:solidFill>
                <a:srgbClr val="EA1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2" name="truth-panel"/>
          <p:cNvSpPr>
            <a:spLocks noGrp="1"/>
          </p:cNvSpPr>
          <p:nvPr/>
        </p:nvSpPr>
        <p:spPr>
          <a:xfrm>
            <a:off x="10133547" y="3090108"/>
            <a:ext cx="1851150" cy="918287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0078C9"/>
            </a:solidFill>
            <a:prstDash val="dash"/>
          </a:ln>
        </p:spPr>
      </p:sp>
      <p:sp>
        <p:nvSpPr>
          <p:cNvPr id="143" name="truth-label"/>
          <p:cNvSpPr>
            <a:spLocks noGrp="1"/>
          </p:cNvSpPr>
          <p:nvPr/>
        </p:nvSpPr>
        <p:spPr>
          <a:xfrm>
            <a:off x="10221003" y="3170276"/>
            <a:ext cx="1122351" cy="1603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真实未来PV功率</a:t>
            </a:r>
            <a:endParaRPr sz="92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9" name="图片 35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1306914" y="3192716"/>
            <a:ext cx="583039" cy="122745"/>
          </a:xfrm>
          <a:prstGeom prst="rect">
            <a:avLst/>
          </a:prstGeom>
        </p:spPr>
      </p:pic>
      <p:sp>
        <p:nvSpPr>
          <p:cNvPr id="145" name="truth-four-axis"/>
          <p:cNvSpPr>
            <a:spLocks noGrp="1"/>
          </p:cNvSpPr>
          <p:nvPr/>
        </p:nvSpPr>
        <p:spPr>
          <a:xfrm>
            <a:off x="10323035" y="3374340"/>
            <a:ext cx="1566918" cy="284232"/>
          </a:xfrm>
          <a:custGeom>
            <a:avLst/>
            <a:gdLst/>
            <a:ahLst/>
            <a:cxnLst/>
            <a:pathLst>
              <a:path w="2047875" h="371475">
                <a:moveTo>
                  <a:pt x="0" y="0"/>
                </a:moveTo>
                <a:lnTo>
                  <a:pt x="0" y="371475"/>
                </a:lnTo>
                <a:lnTo>
                  <a:pt x="2047875" y="371475"/>
                </a:lnTo>
              </a:path>
            </a:pathLst>
          </a:custGeom>
          <a:noFill/>
          <a:ln w="9525">
            <a:solidFill>
              <a:srgbClr val="454B53"/>
            </a:solidFill>
            <a:prstDash val="solid"/>
          </a:ln>
        </p:spPr>
      </p:sp>
      <p:sp>
        <p:nvSpPr>
          <p:cNvPr id="146" name="truth-four-b0"/>
          <p:cNvSpPr>
            <a:spLocks noGrp="1"/>
          </p:cNvSpPr>
          <p:nvPr/>
        </p:nvSpPr>
        <p:spPr>
          <a:xfrm>
            <a:off x="10432355" y="3493718"/>
            <a:ext cx="233216" cy="164854"/>
          </a:xfrm>
          <a:prstGeom prst="rect">
            <a:avLst/>
          </a:prstGeom>
          <a:solidFill>
            <a:srgbClr val="A0A8B6"/>
          </a:solidFill>
          <a:ln w="0">
            <a:noFill/>
            <a:prstDash val="solid"/>
          </a:ln>
        </p:spPr>
      </p:sp>
      <p:sp>
        <p:nvSpPr>
          <p:cNvPr id="147" name="truth-four-b1"/>
          <p:cNvSpPr>
            <a:spLocks noGrp="1"/>
          </p:cNvSpPr>
          <p:nvPr/>
        </p:nvSpPr>
        <p:spPr>
          <a:xfrm>
            <a:off x="10778535" y="3448241"/>
            <a:ext cx="233216" cy="210332"/>
          </a:xfrm>
          <a:prstGeom prst="rect">
            <a:avLst/>
          </a:prstGeom>
          <a:solidFill>
            <a:srgbClr val="A0A8B6"/>
          </a:solidFill>
          <a:ln w="0">
            <a:noFill/>
            <a:prstDash val="solid"/>
          </a:ln>
        </p:spPr>
      </p:sp>
      <p:sp>
        <p:nvSpPr>
          <p:cNvPr id="148" name="truth-four-b2"/>
          <p:cNvSpPr>
            <a:spLocks noGrp="1"/>
          </p:cNvSpPr>
          <p:nvPr/>
        </p:nvSpPr>
        <p:spPr>
          <a:xfrm>
            <a:off x="11124714" y="3496559"/>
            <a:ext cx="233216" cy="162012"/>
          </a:xfrm>
          <a:prstGeom prst="rect">
            <a:avLst/>
          </a:prstGeom>
          <a:solidFill>
            <a:srgbClr val="A0A8B6"/>
          </a:solidFill>
          <a:ln w="0">
            <a:noFill/>
            <a:prstDash val="solid"/>
          </a:ln>
        </p:spPr>
      </p:sp>
      <p:sp>
        <p:nvSpPr>
          <p:cNvPr id="149" name="truth-four-b3"/>
          <p:cNvSpPr>
            <a:spLocks noGrp="1"/>
          </p:cNvSpPr>
          <p:nvPr/>
        </p:nvSpPr>
        <p:spPr>
          <a:xfrm>
            <a:off x="11470894" y="3547722"/>
            <a:ext cx="233216" cy="110850"/>
          </a:xfrm>
          <a:prstGeom prst="rect">
            <a:avLst/>
          </a:prstGeom>
          <a:solidFill>
            <a:srgbClr val="A0A8B6"/>
          </a:solidFill>
          <a:ln w="0">
            <a:noFill/>
            <a:prstDash val="solid"/>
          </a:ln>
        </p:spPr>
      </p:sp>
      <p:pic>
        <p:nvPicPr>
          <p:cNvPr id="365" name="图片 36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359475" y="3721946"/>
            <a:ext cx="342536" cy="99178"/>
          </a:xfrm>
          <a:prstGeom prst="rect">
            <a:avLst/>
          </a:prstGeom>
        </p:spPr>
      </p:pic>
      <p:sp>
        <p:nvSpPr>
          <p:cNvPr id="151" name="truth-min-0"/>
          <p:cNvSpPr>
            <a:spLocks noGrp="1"/>
          </p:cNvSpPr>
          <p:nvPr/>
        </p:nvSpPr>
        <p:spPr>
          <a:xfrm>
            <a:off x="10359475" y="3848060"/>
            <a:ext cx="342536" cy="1238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</a:t>
            </a:r>
            <a:endParaRPr sz="765" b="0">
              <a:solidFill>
                <a:srgbClr val="103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67" name="图片 366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760315" y="3721946"/>
            <a:ext cx="342536" cy="99178"/>
          </a:xfrm>
          <a:prstGeom prst="rect">
            <a:avLst/>
          </a:prstGeom>
        </p:spPr>
      </p:pic>
      <p:sp>
        <p:nvSpPr>
          <p:cNvPr id="153" name="truth-min-1"/>
          <p:cNvSpPr>
            <a:spLocks noGrp="1"/>
          </p:cNvSpPr>
          <p:nvPr/>
        </p:nvSpPr>
        <p:spPr>
          <a:xfrm>
            <a:off x="10760315" y="3848060"/>
            <a:ext cx="342536" cy="1238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</a:t>
            </a:r>
            <a:endParaRPr sz="765" b="0">
              <a:solidFill>
                <a:srgbClr val="103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69" name="图片 368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1161154" y="3721217"/>
            <a:ext cx="342536" cy="100636"/>
          </a:xfrm>
          <a:prstGeom prst="rect">
            <a:avLst/>
          </a:prstGeom>
        </p:spPr>
      </p:pic>
      <p:sp>
        <p:nvSpPr>
          <p:cNvPr id="155" name="truth-min-2"/>
          <p:cNvSpPr>
            <a:spLocks noGrp="1"/>
          </p:cNvSpPr>
          <p:nvPr/>
        </p:nvSpPr>
        <p:spPr>
          <a:xfrm>
            <a:off x="11161154" y="3848060"/>
            <a:ext cx="342536" cy="1238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</a:t>
            </a:r>
            <a:endParaRPr sz="765" b="0">
              <a:solidFill>
                <a:srgbClr val="103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71" name="图片 37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1561994" y="3721946"/>
            <a:ext cx="342536" cy="99178"/>
          </a:xfrm>
          <a:prstGeom prst="rect">
            <a:avLst/>
          </a:prstGeom>
        </p:spPr>
      </p:pic>
      <p:sp>
        <p:nvSpPr>
          <p:cNvPr id="157" name="truth-min-3"/>
          <p:cNvSpPr>
            <a:spLocks noGrp="1"/>
          </p:cNvSpPr>
          <p:nvPr/>
        </p:nvSpPr>
        <p:spPr>
          <a:xfrm>
            <a:off x="11561994" y="3848060"/>
            <a:ext cx="342536" cy="1238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00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65" b="0">
                <a:solidFill>
                  <a:srgbClr val="1030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</a:t>
            </a:r>
            <a:endParaRPr sz="765" b="0">
              <a:solidFill>
                <a:srgbClr val="1030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8" name="prediction-path"/>
          <p:cNvSpPr>
            <a:spLocks noGrp="1"/>
          </p:cNvSpPr>
          <p:nvPr/>
        </p:nvSpPr>
        <p:spPr>
          <a:xfrm>
            <a:off x="9535932" y="2332157"/>
            <a:ext cx="510159" cy="940151"/>
          </a:xfrm>
          <a:custGeom>
            <a:avLst/>
            <a:gdLst/>
            <a:ahLst/>
            <a:cxnLst/>
            <a:pathLst>
              <a:path w="666750" h="1228725">
                <a:moveTo>
                  <a:pt x="0" y="1228725"/>
                </a:moveTo>
                <a:lnTo>
                  <a:pt x="447675" y="1228725"/>
                </a:lnTo>
                <a:lnTo>
                  <a:pt x="447675" y="0"/>
                </a:lnTo>
                <a:lnTo>
                  <a:pt x="666750" y="0"/>
                </a:lnTo>
              </a:path>
            </a:pathLst>
          </a:custGeom>
          <a:noFill/>
          <a:ln w="28575">
            <a:solidFill>
              <a:srgbClr val="0078C9"/>
            </a:solidFill>
            <a:prstDash val="solid"/>
          </a:ln>
        </p:spPr>
      </p:sp>
      <p:sp>
        <p:nvSpPr>
          <p:cNvPr id="159" name="prediction-path-tip"/>
          <p:cNvSpPr>
            <a:spLocks noGrp="1"/>
          </p:cNvSpPr>
          <p:nvPr/>
        </p:nvSpPr>
        <p:spPr>
          <a:xfrm>
            <a:off x="9976856" y="2298633"/>
            <a:ext cx="69236" cy="67050"/>
          </a:xfrm>
          <a:custGeom>
            <a:avLst/>
            <a:gdLst/>
            <a:ahLst/>
            <a:cxnLst/>
            <a:pathLst>
              <a:path w="90488" h="87630">
                <a:moveTo>
                  <a:pt x="90488" y="43815"/>
                </a:moveTo>
                <a:lnTo>
                  <a:pt x="0" y="0"/>
                </a:lnTo>
                <a:lnTo>
                  <a:pt x="0" y="8763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160" name="input-space-link"/>
          <p:cNvSpPr>
            <a:spLocks noGrp="1"/>
          </p:cNvSpPr>
          <p:nvPr/>
        </p:nvSpPr>
        <p:spPr>
          <a:xfrm>
            <a:off x="2699796" y="2244701"/>
            <a:ext cx="255080" cy="729"/>
          </a:xfrm>
          <a:custGeom>
            <a:avLst/>
            <a:gdLst/>
            <a:ahLst/>
            <a:cxnLst/>
            <a:pathLst>
              <a:path w="333375" h="953">
                <a:moveTo>
                  <a:pt x="0" y="0"/>
                </a:moveTo>
                <a:lnTo>
                  <a:pt x="333375" y="0"/>
                </a:lnTo>
              </a:path>
            </a:pathLst>
          </a:custGeom>
          <a:noFill/>
          <a:ln w="38100">
            <a:solidFill>
              <a:srgbClr val="0078C9"/>
            </a:solidFill>
            <a:prstDash val="solid"/>
          </a:ln>
        </p:spPr>
      </p:sp>
      <p:sp>
        <p:nvSpPr>
          <p:cNvPr id="161" name="input-space-link-tip"/>
          <p:cNvSpPr>
            <a:spLocks noGrp="1"/>
          </p:cNvSpPr>
          <p:nvPr/>
        </p:nvSpPr>
        <p:spPr>
          <a:xfrm>
            <a:off x="2881996" y="2209719"/>
            <a:ext cx="72880" cy="69965"/>
          </a:xfrm>
          <a:custGeom>
            <a:avLst/>
            <a:gdLst/>
            <a:ahLst/>
            <a:cxnLst/>
            <a:pathLst>
              <a:path w="95250" h="91440">
                <a:moveTo>
                  <a:pt x="95250" y="45720"/>
                </a:moveTo>
                <a:lnTo>
                  <a:pt x="0" y="0"/>
                </a:lnTo>
                <a:lnTo>
                  <a:pt x="0" y="9144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162" name="input-time-link"/>
          <p:cNvSpPr>
            <a:spLocks noGrp="1"/>
          </p:cNvSpPr>
          <p:nvPr/>
        </p:nvSpPr>
        <p:spPr>
          <a:xfrm>
            <a:off x="2692508" y="4329067"/>
            <a:ext cx="262368" cy="1224383"/>
          </a:xfrm>
          <a:custGeom>
            <a:avLst/>
            <a:gdLst/>
            <a:ahLst/>
            <a:cxnLst/>
            <a:pathLst>
              <a:path w="342900" h="1600200">
                <a:moveTo>
                  <a:pt x="0" y="1600200"/>
                </a:moveTo>
                <a:lnTo>
                  <a:pt x="133350" y="1600200"/>
                </a:lnTo>
                <a:lnTo>
                  <a:pt x="133350" y="0"/>
                </a:lnTo>
                <a:lnTo>
                  <a:pt x="342900" y="0"/>
                </a:lnTo>
              </a:path>
            </a:pathLst>
          </a:custGeom>
          <a:noFill/>
          <a:ln w="38100">
            <a:solidFill>
              <a:srgbClr val="00A344"/>
            </a:solidFill>
            <a:prstDash val="solid"/>
          </a:ln>
        </p:spPr>
      </p:sp>
      <p:sp>
        <p:nvSpPr>
          <p:cNvPr id="163" name="input-time-link-tip"/>
          <p:cNvSpPr>
            <a:spLocks noGrp="1"/>
          </p:cNvSpPr>
          <p:nvPr/>
        </p:nvSpPr>
        <p:spPr>
          <a:xfrm>
            <a:off x="2881996" y="4294085"/>
            <a:ext cx="72880" cy="69965"/>
          </a:xfrm>
          <a:custGeom>
            <a:avLst/>
            <a:gdLst/>
            <a:ahLst/>
            <a:cxnLst/>
            <a:pathLst>
              <a:path w="95250" h="91440">
                <a:moveTo>
                  <a:pt x="95250" y="45720"/>
                </a:moveTo>
                <a:lnTo>
                  <a:pt x="0" y="0"/>
                </a:lnTo>
                <a:lnTo>
                  <a:pt x="0" y="91440"/>
                </a:lnTo>
                <a:close/>
              </a:path>
            </a:pathLst>
          </a:custGeom>
          <a:solidFill>
            <a:srgbClr val="00A344"/>
          </a:solidFill>
          <a:ln w="0">
            <a:noFill/>
          </a:ln>
        </p:spPr>
      </p:sp>
      <p:sp>
        <p:nvSpPr>
          <p:cNvPr id="164" name="dcca-region"/>
          <p:cNvSpPr>
            <a:spLocks noGrp="1"/>
          </p:cNvSpPr>
          <p:nvPr/>
        </p:nvSpPr>
        <p:spPr>
          <a:xfrm>
            <a:off x="4376034" y="4992274"/>
            <a:ext cx="5159898" cy="1005743"/>
          </a:xfrm>
          <a:prstGeom prst="roundRect">
            <a:avLst>
              <a:gd name="adj" fmla="val 3623"/>
            </a:avLst>
          </a:prstGeom>
          <a:solidFill>
            <a:srgbClr val="FCF8FF"/>
          </a:solidFill>
          <a:ln w="9525">
            <a:solidFill>
              <a:srgbClr val="A171FA"/>
            </a:solidFill>
            <a:prstDash val="dash"/>
          </a:ln>
        </p:spPr>
      </p:sp>
      <p:sp>
        <p:nvSpPr>
          <p:cNvPr id="165" name="dcca-title"/>
          <p:cNvSpPr>
            <a:spLocks noGrp="1"/>
          </p:cNvSpPr>
          <p:nvPr/>
        </p:nvSpPr>
        <p:spPr>
          <a:xfrm>
            <a:off x="5622281" y="5006850"/>
            <a:ext cx="2492493" cy="1967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572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572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跨模态相关性约束（仅训练阶段）</a:t>
            </a:r>
            <a:endParaRPr sz="1090" b="1">
              <a:solidFill>
                <a:srgbClr val="572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81" name="图片 38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991165" y="5203626"/>
            <a:ext cx="220048" cy="189488"/>
          </a:xfrm>
          <a:prstGeom prst="rect">
            <a:avLst/>
          </a:prstGeom>
        </p:spPr>
      </p:pic>
      <p:sp>
        <p:nvSpPr>
          <p:cNvPr id="167" name="dcca-es-vector-0"/>
          <p:cNvSpPr>
            <a:spLocks noGrp="1"/>
          </p:cNvSpPr>
          <p:nvPr/>
        </p:nvSpPr>
        <p:spPr>
          <a:xfrm>
            <a:off x="5250593" y="5123458"/>
            <a:ext cx="102032" cy="94744"/>
          </a:xfrm>
          <a:prstGeom prst="rect">
            <a:avLst/>
          </a:prstGeom>
          <a:solidFill>
            <a:srgbClr val="C3E3FF"/>
          </a:solidFill>
          <a:ln w="9525">
            <a:solidFill>
              <a:srgbClr val="0078C9"/>
            </a:solidFill>
            <a:prstDash val="solid"/>
          </a:ln>
        </p:spPr>
      </p:sp>
      <p:sp>
        <p:nvSpPr>
          <p:cNvPr id="168" name="dcca-es-vector-1"/>
          <p:cNvSpPr>
            <a:spLocks noGrp="1"/>
          </p:cNvSpPr>
          <p:nvPr/>
        </p:nvSpPr>
        <p:spPr>
          <a:xfrm>
            <a:off x="5250593" y="5218202"/>
            <a:ext cx="102032" cy="94744"/>
          </a:xfrm>
          <a:prstGeom prst="rect">
            <a:avLst/>
          </a:prstGeom>
          <a:solidFill>
            <a:srgbClr val="C3E3FF"/>
          </a:solidFill>
          <a:ln w="9525">
            <a:solidFill>
              <a:srgbClr val="0078C9"/>
            </a:solidFill>
            <a:prstDash val="solid"/>
          </a:ln>
        </p:spPr>
      </p:sp>
      <p:sp>
        <p:nvSpPr>
          <p:cNvPr id="169" name="dcca-es-vector-2"/>
          <p:cNvSpPr>
            <a:spLocks noGrp="1"/>
          </p:cNvSpPr>
          <p:nvPr/>
        </p:nvSpPr>
        <p:spPr>
          <a:xfrm>
            <a:off x="5250593" y="5312946"/>
            <a:ext cx="102032" cy="94744"/>
          </a:xfrm>
          <a:prstGeom prst="rect">
            <a:avLst/>
          </a:prstGeom>
          <a:solidFill>
            <a:srgbClr val="C3E3FF"/>
          </a:solidFill>
          <a:ln w="9525">
            <a:solidFill>
              <a:srgbClr val="0078C9"/>
            </a:solidFill>
            <a:prstDash val="solid"/>
          </a:ln>
        </p:spPr>
      </p:sp>
      <p:pic>
        <p:nvPicPr>
          <p:cNvPr id="385" name="图片 38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983507" y="5582601"/>
            <a:ext cx="235365" cy="189488"/>
          </a:xfrm>
          <a:prstGeom prst="rect">
            <a:avLst/>
          </a:prstGeom>
        </p:spPr>
      </p:pic>
      <p:sp>
        <p:nvSpPr>
          <p:cNvPr id="171" name="dcca-ep-vector-0"/>
          <p:cNvSpPr>
            <a:spLocks noGrp="1"/>
          </p:cNvSpPr>
          <p:nvPr/>
        </p:nvSpPr>
        <p:spPr>
          <a:xfrm>
            <a:off x="5250593" y="5589889"/>
            <a:ext cx="102032" cy="94744"/>
          </a:xfrm>
          <a:prstGeom prst="rect">
            <a:avLst/>
          </a:prstGeom>
          <a:solidFill>
            <a:srgbClr val="CDEDD1"/>
          </a:solidFill>
          <a:ln w="9525">
            <a:solidFill>
              <a:srgbClr val="00A344"/>
            </a:solidFill>
            <a:prstDash val="solid"/>
          </a:ln>
        </p:spPr>
      </p:sp>
      <p:sp>
        <p:nvSpPr>
          <p:cNvPr id="172" name="dcca-ep-vector-1"/>
          <p:cNvSpPr>
            <a:spLocks noGrp="1"/>
          </p:cNvSpPr>
          <p:nvPr/>
        </p:nvSpPr>
        <p:spPr>
          <a:xfrm>
            <a:off x="5250593" y="5684633"/>
            <a:ext cx="102032" cy="94744"/>
          </a:xfrm>
          <a:prstGeom prst="rect">
            <a:avLst/>
          </a:prstGeom>
          <a:solidFill>
            <a:srgbClr val="CDEDD1"/>
          </a:solidFill>
          <a:ln w="9525">
            <a:solidFill>
              <a:srgbClr val="00A344"/>
            </a:solidFill>
            <a:prstDash val="solid"/>
          </a:ln>
        </p:spPr>
      </p:sp>
      <p:sp>
        <p:nvSpPr>
          <p:cNvPr id="173" name="dcca-ep-vector-2"/>
          <p:cNvSpPr>
            <a:spLocks noGrp="1"/>
          </p:cNvSpPr>
          <p:nvPr/>
        </p:nvSpPr>
        <p:spPr>
          <a:xfrm>
            <a:off x="5250593" y="5779377"/>
            <a:ext cx="102032" cy="94744"/>
          </a:xfrm>
          <a:prstGeom prst="rect">
            <a:avLst/>
          </a:prstGeom>
          <a:solidFill>
            <a:srgbClr val="CDEDD1"/>
          </a:solidFill>
          <a:ln w="9525">
            <a:solidFill>
              <a:srgbClr val="00A344"/>
            </a:solidFill>
            <a:prstDash val="solid"/>
          </a:ln>
        </p:spPr>
      </p:sp>
      <p:sp>
        <p:nvSpPr>
          <p:cNvPr id="174" name="dcca-frame"/>
          <p:cNvSpPr>
            <a:spLocks noGrp="1"/>
          </p:cNvSpPr>
          <p:nvPr/>
        </p:nvSpPr>
        <p:spPr>
          <a:xfrm>
            <a:off x="6074136" y="5225490"/>
            <a:ext cx="1260823" cy="473719"/>
          </a:xfrm>
          <a:prstGeom prst="roundRect">
            <a:avLst>
              <a:gd name="adj" fmla="val 6154"/>
            </a:avLst>
          </a:prstGeom>
          <a:solidFill>
            <a:srgbClr val="EDE2FF"/>
          </a:solidFill>
          <a:ln w="9525">
            <a:solidFill>
              <a:srgbClr val="7E3FDA"/>
            </a:solidFill>
            <a:prstDash val="solid"/>
          </a:ln>
        </p:spPr>
      </p:sp>
      <p:sp>
        <p:nvSpPr>
          <p:cNvPr id="175" name="dcca"/>
          <p:cNvSpPr>
            <a:spLocks noGrp="1"/>
          </p:cNvSpPr>
          <p:nvPr/>
        </p:nvSpPr>
        <p:spPr>
          <a:xfrm>
            <a:off x="6088712" y="5225490"/>
            <a:ext cx="1231671" cy="473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深度典型相关分析</a:t>
            </a:r>
            <a:endParaRPr sz="103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3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DCCA</a:t>
            </a:r>
            <a:endParaRPr sz="103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6" name="dcca-target"/>
          <p:cNvSpPr>
            <a:spLocks noGrp="1"/>
          </p:cNvSpPr>
          <p:nvPr/>
        </p:nvSpPr>
        <p:spPr>
          <a:xfrm>
            <a:off x="6110576" y="5757513"/>
            <a:ext cx="1195231" cy="1676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最大化跨模态相关性</a:t>
            </a:r>
            <a:endParaRPr sz="86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7" name="dcca-loss-inline"/>
          <p:cNvSpPr>
            <a:spLocks noGrp="1"/>
          </p:cNvSpPr>
          <p:nvPr/>
        </p:nvSpPr>
        <p:spPr>
          <a:xfrm>
            <a:off x="7837830" y="5225490"/>
            <a:ext cx="1370142" cy="335248"/>
          </a:xfrm>
          <a:prstGeom prst="roundRect">
            <a:avLst>
              <a:gd name="adj" fmla="val 10870"/>
            </a:avLst>
          </a:prstGeom>
          <a:solidFill>
            <a:srgbClr val="FCFAFF"/>
          </a:solidFill>
          <a:ln w="9525">
            <a:solidFill>
              <a:srgbClr val="A681EB"/>
            </a:solidFill>
            <a:prstDash val="dash"/>
          </a:ln>
        </p:spPr>
      </p:sp>
      <p:pic>
        <p:nvPicPr>
          <p:cNvPr id="393" name="图片 39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289685" y="5321171"/>
            <a:ext cx="524735" cy="151172"/>
          </a:xfrm>
          <a:prstGeom prst="rect">
            <a:avLst/>
          </a:prstGeom>
        </p:spPr>
      </p:pic>
      <p:sp>
        <p:nvSpPr>
          <p:cNvPr id="179" name="dcca-note"/>
          <p:cNvSpPr>
            <a:spLocks noGrp="1"/>
          </p:cNvSpPr>
          <p:nvPr/>
        </p:nvSpPr>
        <p:spPr>
          <a:xfrm>
            <a:off x="7721222" y="5655481"/>
            <a:ext cx="1639798" cy="255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0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当时序模态存在噪声／缺失时，</a:t>
            </a:r>
            <a:endParaRPr sz="860" b="1">
              <a:solidFill>
                <a:srgbClr val="EA1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125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0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让卫星模态提供补偿信息。</a:t>
            </a:r>
            <a:endParaRPr sz="860" b="1">
              <a:solidFill>
                <a:srgbClr val="EA1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0" name="dcca-es-in"/>
          <p:cNvSpPr>
            <a:spLocks noGrp="1"/>
          </p:cNvSpPr>
          <p:nvPr/>
        </p:nvSpPr>
        <p:spPr>
          <a:xfrm>
            <a:off x="5352625" y="5261930"/>
            <a:ext cx="721511" cy="87456"/>
          </a:xfrm>
          <a:custGeom>
            <a:avLst/>
            <a:gdLst/>
            <a:ahLst/>
            <a:cxnLst/>
            <a:pathLst>
              <a:path w="942975" h="114300">
                <a:moveTo>
                  <a:pt x="0" y="0"/>
                </a:moveTo>
                <a:lnTo>
                  <a:pt x="390525" y="0"/>
                </a:lnTo>
                <a:lnTo>
                  <a:pt x="390525" y="114300"/>
                </a:lnTo>
                <a:lnTo>
                  <a:pt x="942975" y="114300"/>
                </a:lnTo>
              </a:path>
            </a:pathLst>
          </a:custGeom>
          <a:noFill/>
          <a:ln w="19050">
            <a:solidFill>
              <a:srgbClr val="803DE9"/>
            </a:solidFill>
            <a:prstDash val="dash"/>
          </a:ln>
        </p:spPr>
      </p:sp>
      <p:sp>
        <p:nvSpPr>
          <p:cNvPr id="181" name="dcca-es-in-tip"/>
          <p:cNvSpPr>
            <a:spLocks noGrp="1"/>
          </p:cNvSpPr>
          <p:nvPr/>
        </p:nvSpPr>
        <p:spPr>
          <a:xfrm>
            <a:off x="6008544" y="5317319"/>
            <a:ext cx="65592" cy="64134"/>
          </a:xfrm>
          <a:custGeom>
            <a:avLst/>
            <a:gdLst/>
            <a:ahLst/>
            <a:cxnLst/>
            <a:pathLst>
              <a:path w="85725" h="83820">
                <a:moveTo>
                  <a:pt x="85725" y="41910"/>
                </a:moveTo>
                <a:lnTo>
                  <a:pt x="0" y="0"/>
                </a:lnTo>
                <a:lnTo>
                  <a:pt x="0" y="83820"/>
                </a:lnTo>
                <a:close/>
              </a:path>
            </a:pathLst>
          </a:custGeom>
          <a:solidFill>
            <a:srgbClr val="803DE9"/>
          </a:solidFill>
          <a:ln w="0">
            <a:noFill/>
          </a:ln>
        </p:spPr>
      </p:sp>
      <p:sp>
        <p:nvSpPr>
          <p:cNvPr id="182" name="dcca-ep-in"/>
          <p:cNvSpPr>
            <a:spLocks noGrp="1"/>
          </p:cNvSpPr>
          <p:nvPr/>
        </p:nvSpPr>
        <p:spPr>
          <a:xfrm>
            <a:off x="5352625" y="5568026"/>
            <a:ext cx="721511" cy="160336"/>
          </a:xfrm>
          <a:custGeom>
            <a:avLst/>
            <a:gdLst/>
            <a:ahLst/>
            <a:cxnLst/>
            <a:pathLst>
              <a:path w="942975" h="209550">
                <a:moveTo>
                  <a:pt x="0" y="209550"/>
                </a:moveTo>
                <a:lnTo>
                  <a:pt x="390525" y="209550"/>
                </a:lnTo>
                <a:lnTo>
                  <a:pt x="390525" y="0"/>
                </a:lnTo>
                <a:lnTo>
                  <a:pt x="942975" y="0"/>
                </a:lnTo>
              </a:path>
            </a:pathLst>
          </a:custGeom>
          <a:noFill/>
          <a:ln w="19050">
            <a:solidFill>
              <a:srgbClr val="803DE9"/>
            </a:solidFill>
            <a:prstDash val="dash"/>
          </a:ln>
        </p:spPr>
      </p:sp>
      <p:sp>
        <p:nvSpPr>
          <p:cNvPr id="183" name="dcca-ep-in-tip"/>
          <p:cNvSpPr>
            <a:spLocks noGrp="1"/>
          </p:cNvSpPr>
          <p:nvPr/>
        </p:nvSpPr>
        <p:spPr>
          <a:xfrm>
            <a:off x="6008544" y="5535958"/>
            <a:ext cx="65592" cy="64134"/>
          </a:xfrm>
          <a:custGeom>
            <a:avLst/>
            <a:gdLst/>
            <a:ahLst/>
            <a:cxnLst/>
            <a:pathLst>
              <a:path w="85725" h="83820">
                <a:moveTo>
                  <a:pt x="85725" y="41910"/>
                </a:moveTo>
                <a:lnTo>
                  <a:pt x="0" y="0"/>
                </a:lnTo>
                <a:lnTo>
                  <a:pt x="0" y="83820"/>
                </a:lnTo>
                <a:close/>
              </a:path>
            </a:pathLst>
          </a:custGeom>
          <a:solidFill>
            <a:srgbClr val="803DE9"/>
          </a:solidFill>
          <a:ln w="0">
            <a:noFill/>
          </a:ln>
        </p:spPr>
      </p:sp>
      <p:sp>
        <p:nvSpPr>
          <p:cNvPr id="184" name="dcca-out"/>
          <p:cNvSpPr>
            <a:spLocks noGrp="1"/>
          </p:cNvSpPr>
          <p:nvPr/>
        </p:nvSpPr>
        <p:spPr>
          <a:xfrm>
            <a:off x="7334959" y="5393114"/>
            <a:ext cx="502871" cy="69236"/>
          </a:xfrm>
          <a:custGeom>
            <a:avLst/>
            <a:gdLst/>
            <a:ahLst/>
            <a:cxnLst/>
            <a:pathLst>
              <a:path w="657225" h="90488">
                <a:moveTo>
                  <a:pt x="0" y="90488"/>
                </a:moveTo>
                <a:lnTo>
                  <a:pt x="657225" y="0"/>
                </a:lnTo>
              </a:path>
            </a:pathLst>
          </a:custGeom>
          <a:noFill/>
          <a:ln w="19050">
            <a:solidFill>
              <a:srgbClr val="803DE9"/>
            </a:solidFill>
            <a:prstDash val="dash"/>
          </a:ln>
        </p:spPr>
      </p:sp>
      <p:sp>
        <p:nvSpPr>
          <p:cNvPr id="185" name="dcca-out-tip"/>
          <p:cNvSpPr>
            <a:spLocks noGrp="1"/>
          </p:cNvSpPr>
          <p:nvPr/>
        </p:nvSpPr>
        <p:spPr>
          <a:xfrm>
            <a:off x="7768477" y="5370293"/>
            <a:ext cx="69353" cy="63535"/>
          </a:xfrm>
          <a:custGeom>
            <a:avLst/>
            <a:gdLst/>
            <a:ahLst/>
            <a:cxnLst/>
            <a:pathLst>
              <a:path w="90640" h="83037">
                <a:moveTo>
                  <a:pt x="90640" y="29826"/>
                </a:moveTo>
                <a:lnTo>
                  <a:pt x="0" y="0"/>
                </a:lnTo>
                <a:lnTo>
                  <a:pt x="11433" y="83037"/>
                </a:lnTo>
                <a:close/>
              </a:path>
            </a:pathLst>
          </a:custGeom>
          <a:solidFill>
            <a:srgbClr val="803DE9"/>
          </a:solidFill>
          <a:ln w="0">
            <a:noFill/>
          </a:ln>
        </p:spPr>
      </p:sp>
      <p:sp>
        <p:nvSpPr>
          <p:cNvPr id="186" name="mse-frame"/>
          <p:cNvSpPr>
            <a:spLocks noGrp="1"/>
          </p:cNvSpPr>
          <p:nvPr/>
        </p:nvSpPr>
        <p:spPr>
          <a:xfrm>
            <a:off x="10038803" y="4263475"/>
            <a:ext cx="969303" cy="473719"/>
          </a:xfrm>
          <a:prstGeom prst="roundRect">
            <a:avLst>
              <a:gd name="adj" fmla="val 6154"/>
            </a:avLst>
          </a:prstGeom>
          <a:solidFill>
            <a:srgbClr val="FFF1F2"/>
          </a:solidFill>
          <a:ln w="9525">
            <a:solidFill>
              <a:srgbClr val="ED6068"/>
            </a:solidFill>
            <a:prstDash val="solid"/>
          </a:ln>
        </p:spPr>
      </p:sp>
      <p:sp>
        <p:nvSpPr>
          <p:cNvPr id="187" name="mse"/>
          <p:cNvSpPr>
            <a:spLocks noGrp="1"/>
          </p:cNvSpPr>
          <p:nvPr/>
        </p:nvSpPr>
        <p:spPr>
          <a:xfrm>
            <a:off x="10053379" y="4263475"/>
            <a:ext cx="940151" cy="473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预测损失</a:t>
            </a:r>
            <a:endParaRPr sz="11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5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MSE</a:t>
            </a:r>
            <a:endParaRPr sz="115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8" name="dcca-loss-frame"/>
          <p:cNvSpPr>
            <a:spLocks noGrp="1"/>
          </p:cNvSpPr>
          <p:nvPr/>
        </p:nvSpPr>
        <p:spPr>
          <a:xfrm>
            <a:off x="11088274" y="4263475"/>
            <a:ext cx="969303" cy="473719"/>
          </a:xfrm>
          <a:prstGeom prst="roundRect">
            <a:avLst>
              <a:gd name="adj" fmla="val 6154"/>
            </a:avLst>
          </a:prstGeom>
          <a:solidFill>
            <a:srgbClr val="FFF1F2"/>
          </a:solidFill>
          <a:ln w="9525">
            <a:solidFill>
              <a:srgbClr val="ED6068"/>
            </a:solidFill>
            <a:prstDash val="solid"/>
          </a:ln>
        </p:spPr>
      </p:sp>
      <p:sp>
        <p:nvSpPr>
          <p:cNvPr id="189" name="dcca-loss"/>
          <p:cNvSpPr>
            <a:spLocks noGrp="1"/>
          </p:cNvSpPr>
          <p:nvPr/>
        </p:nvSpPr>
        <p:spPr>
          <a:xfrm>
            <a:off x="11139290" y="4299915"/>
            <a:ext cx="859983" cy="18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DCCA Loss</a:t>
            </a:r>
            <a:endParaRPr sz="109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05" name="图片 40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299626" y="4530424"/>
            <a:ext cx="524735" cy="151172"/>
          </a:xfrm>
          <a:prstGeom prst="rect">
            <a:avLst/>
          </a:prstGeom>
        </p:spPr>
      </p:pic>
      <p:sp>
        <p:nvSpPr>
          <p:cNvPr id="191" name="loss-total"/>
          <p:cNvSpPr>
            <a:spLocks noGrp="1"/>
          </p:cNvSpPr>
          <p:nvPr/>
        </p:nvSpPr>
        <p:spPr>
          <a:xfrm>
            <a:off x="10067955" y="4912106"/>
            <a:ext cx="1989622" cy="626767"/>
          </a:xfrm>
          <a:prstGeom prst="roundRect">
            <a:avLst>
              <a:gd name="adj" fmla="val 8140"/>
            </a:avLst>
          </a:prstGeom>
          <a:solidFill>
            <a:srgbClr val="FFEDEF"/>
          </a:solidFill>
          <a:ln w="11430">
            <a:solidFill>
              <a:srgbClr val="EF5E67"/>
            </a:solidFill>
            <a:prstDash val="solid"/>
          </a:ln>
        </p:spPr>
      </p:sp>
      <p:sp>
        <p:nvSpPr>
          <p:cNvPr id="192" name="total-label"/>
          <p:cNvSpPr>
            <a:spLocks noGrp="1"/>
          </p:cNvSpPr>
          <p:nvPr/>
        </p:nvSpPr>
        <p:spPr>
          <a:xfrm>
            <a:off x="10315747" y="4992274"/>
            <a:ext cx="1537766" cy="1894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联合损失  Lₜₒₜₐₗ</a:t>
            </a:r>
            <a:endParaRPr sz="115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08" name="图片 40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206427" y="5288964"/>
            <a:ext cx="1734542" cy="157284"/>
          </a:xfrm>
          <a:prstGeom prst="rect">
            <a:avLst/>
          </a:prstGeom>
        </p:spPr>
      </p:pic>
      <p:sp>
        <p:nvSpPr>
          <p:cNvPr id="194" name="adam-frame"/>
          <p:cNvSpPr>
            <a:spLocks noGrp="1"/>
          </p:cNvSpPr>
          <p:nvPr/>
        </p:nvSpPr>
        <p:spPr>
          <a:xfrm>
            <a:off x="10650995" y="5735649"/>
            <a:ext cx="874559" cy="269656"/>
          </a:xfrm>
          <a:prstGeom prst="roundRect">
            <a:avLst>
              <a:gd name="adj" fmla="val 10811"/>
            </a:avLst>
          </a:prstGeom>
          <a:solidFill>
            <a:srgbClr val="F0EEFF"/>
          </a:solidFill>
          <a:ln w="9525">
            <a:solidFill>
              <a:srgbClr val="8A71EF"/>
            </a:solidFill>
            <a:prstDash val="solid"/>
          </a:ln>
        </p:spPr>
      </p:sp>
      <p:sp>
        <p:nvSpPr>
          <p:cNvPr id="195" name="adam"/>
          <p:cNvSpPr>
            <a:spLocks noGrp="1"/>
          </p:cNvSpPr>
          <p:nvPr/>
        </p:nvSpPr>
        <p:spPr>
          <a:xfrm>
            <a:off x="10625566" y="5735649"/>
            <a:ext cx="845407" cy="2696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Adam</a:t>
            </a:r>
            <a:endParaRPr sz="109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6" name="truth-mse"/>
          <p:cNvSpPr>
            <a:spLocks noGrp="1"/>
          </p:cNvSpPr>
          <p:nvPr/>
        </p:nvSpPr>
        <p:spPr>
          <a:xfrm>
            <a:off x="10512523" y="4008395"/>
            <a:ext cx="729" cy="255080"/>
          </a:xfrm>
          <a:custGeom>
            <a:avLst/>
            <a:gdLst/>
            <a:ahLst/>
            <a:cxnLst/>
            <a:pathLst>
              <a:path w="953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21908">
            <a:solidFill>
              <a:srgbClr val="0078C9"/>
            </a:solidFill>
            <a:prstDash val="solid"/>
          </a:ln>
        </p:spPr>
      </p:sp>
      <p:sp>
        <p:nvSpPr>
          <p:cNvPr id="197" name="truth-mse-tip"/>
          <p:cNvSpPr>
            <a:spLocks noGrp="1"/>
          </p:cNvSpPr>
          <p:nvPr/>
        </p:nvSpPr>
        <p:spPr>
          <a:xfrm>
            <a:off x="10480019" y="4196790"/>
            <a:ext cx="65009" cy="66685"/>
          </a:xfrm>
          <a:custGeom>
            <a:avLst/>
            <a:gdLst/>
            <a:ahLst/>
            <a:cxnLst/>
            <a:pathLst>
              <a:path w="84963" h="87154">
                <a:moveTo>
                  <a:pt x="42482" y="87154"/>
                </a:moveTo>
                <a:lnTo>
                  <a:pt x="8496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78C9"/>
          </a:solidFill>
          <a:ln w="0">
            <a:noFill/>
          </a:ln>
        </p:spPr>
      </p:sp>
      <p:sp>
        <p:nvSpPr>
          <p:cNvPr id="198" name="truth-dcca"/>
          <p:cNvSpPr>
            <a:spLocks noGrp="1"/>
          </p:cNvSpPr>
          <p:nvPr/>
        </p:nvSpPr>
        <p:spPr>
          <a:xfrm>
            <a:off x="11576570" y="3993819"/>
            <a:ext cx="729" cy="269656"/>
          </a:xfrm>
          <a:custGeom>
            <a:avLst/>
            <a:gdLst/>
            <a:ahLst/>
            <a:cxnLst/>
            <a:pathLst>
              <a:path w="953" h="352425">
                <a:moveTo>
                  <a:pt x="0" y="0"/>
                </a:moveTo>
                <a:lnTo>
                  <a:pt x="0" y="352425"/>
                </a:lnTo>
              </a:path>
            </a:pathLst>
          </a:custGeom>
          <a:noFill/>
          <a:ln w="19050">
            <a:solidFill>
              <a:srgbClr val="803DE9"/>
            </a:solidFill>
            <a:prstDash val="solid"/>
          </a:ln>
        </p:spPr>
      </p:sp>
      <p:sp>
        <p:nvSpPr>
          <p:cNvPr id="199" name="truth-dcca-tip"/>
          <p:cNvSpPr>
            <a:spLocks noGrp="1"/>
          </p:cNvSpPr>
          <p:nvPr/>
        </p:nvSpPr>
        <p:spPr>
          <a:xfrm>
            <a:off x="11544502" y="4197883"/>
            <a:ext cx="64134" cy="65592"/>
          </a:xfrm>
          <a:custGeom>
            <a:avLst/>
            <a:gdLst/>
            <a:ahLst/>
            <a:cxnLst/>
            <a:pathLst>
              <a:path w="83820" h="85725">
                <a:moveTo>
                  <a:pt x="41910" y="85725"/>
                </a:moveTo>
                <a:lnTo>
                  <a:pt x="83820" y="0"/>
                </a:lnTo>
                <a:lnTo>
                  <a:pt x="0" y="0"/>
                </a:lnTo>
                <a:close/>
              </a:path>
            </a:pathLst>
          </a:custGeom>
          <a:solidFill>
            <a:srgbClr val="803DE9"/>
          </a:solidFill>
          <a:ln w="0">
            <a:noFill/>
          </a:ln>
        </p:spPr>
      </p:sp>
      <p:sp>
        <p:nvSpPr>
          <p:cNvPr id="200" name="mse-total"/>
          <p:cNvSpPr>
            <a:spLocks noGrp="1"/>
          </p:cNvSpPr>
          <p:nvPr/>
        </p:nvSpPr>
        <p:spPr>
          <a:xfrm>
            <a:off x="10527099" y="4737194"/>
            <a:ext cx="729" cy="174912"/>
          </a:xfrm>
          <a:custGeom>
            <a:avLst/>
            <a:gdLst/>
            <a:ahLst/>
            <a:cxnLst/>
            <a:pathLst>
              <a:path w="953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3813">
            <a:solidFill>
              <a:srgbClr val="EA161F"/>
            </a:solidFill>
            <a:prstDash val="solid"/>
          </a:ln>
        </p:spPr>
      </p:sp>
      <p:sp>
        <p:nvSpPr>
          <p:cNvPr id="201" name="mse-total-tip"/>
          <p:cNvSpPr>
            <a:spLocks noGrp="1"/>
          </p:cNvSpPr>
          <p:nvPr/>
        </p:nvSpPr>
        <p:spPr>
          <a:xfrm>
            <a:off x="10494303" y="4844693"/>
            <a:ext cx="65592" cy="67414"/>
          </a:xfrm>
          <a:custGeom>
            <a:avLst/>
            <a:gdLst/>
            <a:ahLst/>
            <a:cxnLst/>
            <a:pathLst>
              <a:path w="85725" h="88106">
                <a:moveTo>
                  <a:pt x="42863" y="88106"/>
                </a:moveTo>
                <a:lnTo>
                  <a:pt x="857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A161F"/>
          </a:solidFill>
          <a:ln w="0">
            <a:noFill/>
          </a:ln>
        </p:spPr>
      </p:sp>
      <p:sp>
        <p:nvSpPr>
          <p:cNvPr id="202" name="dcca-total"/>
          <p:cNvSpPr>
            <a:spLocks noGrp="1"/>
          </p:cNvSpPr>
          <p:nvPr/>
        </p:nvSpPr>
        <p:spPr>
          <a:xfrm>
            <a:off x="11569282" y="4737194"/>
            <a:ext cx="729" cy="174912"/>
          </a:xfrm>
          <a:custGeom>
            <a:avLst/>
            <a:gdLst/>
            <a:ahLst/>
            <a:cxnLst/>
            <a:pathLst>
              <a:path w="953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23813">
            <a:solidFill>
              <a:srgbClr val="EA161F"/>
            </a:solidFill>
            <a:prstDash val="solid"/>
          </a:ln>
        </p:spPr>
      </p:sp>
      <p:sp>
        <p:nvSpPr>
          <p:cNvPr id="203" name="dcca-total-tip"/>
          <p:cNvSpPr>
            <a:spLocks noGrp="1"/>
          </p:cNvSpPr>
          <p:nvPr/>
        </p:nvSpPr>
        <p:spPr>
          <a:xfrm>
            <a:off x="11536486" y="4844693"/>
            <a:ext cx="65592" cy="67414"/>
          </a:xfrm>
          <a:custGeom>
            <a:avLst/>
            <a:gdLst/>
            <a:ahLst/>
            <a:cxnLst/>
            <a:pathLst>
              <a:path w="85725" h="88106">
                <a:moveTo>
                  <a:pt x="42863" y="88106"/>
                </a:moveTo>
                <a:lnTo>
                  <a:pt x="857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A161F"/>
          </a:solidFill>
          <a:ln w="0">
            <a:noFill/>
          </a:ln>
        </p:spPr>
      </p:sp>
      <p:sp>
        <p:nvSpPr>
          <p:cNvPr id="204" name="total-adam"/>
          <p:cNvSpPr>
            <a:spLocks noGrp="1"/>
          </p:cNvSpPr>
          <p:nvPr/>
        </p:nvSpPr>
        <p:spPr>
          <a:xfrm rot="300000">
            <a:off x="11062767" y="5538874"/>
            <a:ext cx="25508" cy="196776"/>
          </a:xfrm>
          <a:custGeom>
            <a:avLst/>
            <a:gdLst/>
            <a:ahLst/>
            <a:cxnLst/>
            <a:pathLst>
              <a:path w="33338" h="257175">
                <a:moveTo>
                  <a:pt x="0" y="0"/>
                </a:moveTo>
                <a:lnTo>
                  <a:pt x="33338" y="257175"/>
                </a:lnTo>
              </a:path>
            </a:pathLst>
          </a:custGeom>
          <a:noFill/>
          <a:ln w="22860">
            <a:solidFill>
              <a:srgbClr val="803DE9"/>
            </a:solidFill>
            <a:prstDash val="solid"/>
          </a:ln>
        </p:spPr>
      </p:sp>
      <p:sp>
        <p:nvSpPr>
          <p:cNvPr id="205" name="total-adam-tip"/>
          <p:cNvSpPr>
            <a:spLocks noGrp="1"/>
          </p:cNvSpPr>
          <p:nvPr/>
        </p:nvSpPr>
        <p:spPr>
          <a:xfrm>
            <a:off x="11047275" y="5664958"/>
            <a:ext cx="64759" cy="70691"/>
          </a:xfrm>
          <a:custGeom>
            <a:avLst/>
            <a:gdLst/>
            <a:ahLst/>
            <a:cxnLst/>
            <a:pathLst>
              <a:path w="84636" h="92389">
                <a:moveTo>
                  <a:pt x="53583" y="92389"/>
                </a:moveTo>
                <a:lnTo>
                  <a:pt x="84636" y="0"/>
                </a:lnTo>
                <a:lnTo>
                  <a:pt x="0" y="10971"/>
                </a:lnTo>
                <a:close/>
              </a:path>
            </a:pathLst>
          </a:custGeom>
          <a:solidFill>
            <a:srgbClr val="803DE9"/>
          </a:solidFill>
          <a:ln w="0">
            <a:noFill/>
          </a:ln>
        </p:spPr>
      </p:sp>
      <p:sp>
        <p:nvSpPr>
          <p:cNvPr id="206" name="training-feedback"/>
          <p:cNvSpPr>
            <a:spLocks noGrp="1"/>
          </p:cNvSpPr>
          <p:nvPr/>
        </p:nvSpPr>
        <p:spPr>
          <a:xfrm>
            <a:off x="3516051" y="4904818"/>
            <a:ext cx="7572223" cy="1275399"/>
          </a:xfrm>
          <a:custGeom>
            <a:avLst/>
            <a:gdLst/>
            <a:ahLst/>
            <a:cxnLst/>
            <a:pathLst>
              <a:path w="9896475" h="1666875">
                <a:moveTo>
                  <a:pt x="9896475" y="1438275"/>
                </a:moveTo>
                <a:lnTo>
                  <a:pt x="9896475" y="1666875"/>
                </a:lnTo>
                <a:lnTo>
                  <a:pt x="0" y="1666875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803DE9"/>
            </a:solidFill>
            <a:prstDash val="dash"/>
          </a:ln>
        </p:spPr>
      </p:sp>
      <p:sp>
        <p:nvSpPr>
          <p:cNvPr id="207" name="training-feedback-tip"/>
          <p:cNvSpPr>
            <a:spLocks noGrp="1"/>
          </p:cNvSpPr>
          <p:nvPr/>
        </p:nvSpPr>
        <p:spPr>
          <a:xfrm>
            <a:off x="3483984" y="4904818"/>
            <a:ext cx="64134" cy="65592"/>
          </a:xfrm>
          <a:custGeom>
            <a:avLst/>
            <a:gdLst/>
            <a:ahLst/>
            <a:cxnLst/>
            <a:pathLst>
              <a:path w="83820" h="85725">
                <a:moveTo>
                  <a:pt x="41910" y="0"/>
                </a:moveTo>
                <a:lnTo>
                  <a:pt x="0" y="85725"/>
                </a:lnTo>
                <a:lnTo>
                  <a:pt x="83820" y="85725"/>
                </a:lnTo>
                <a:close/>
              </a:path>
            </a:pathLst>
          </a:custGeom>
          <a:solidFill>
            <a:srgbClr val="803DE9"/>
          </a:solidFill>
          <a:ln w="0">
            <a:noFill/>
          </a:ln>
        </p:spPr>
      </p:sp>
      <p:sp>
        <p:nvSpPr>
          <p:cNvPr id="208" name="training-encoder"/>
          <p:cNvSpPr>
            <a:spLocks noGrp="1"/>
          </p:cNvSpPr>
          <p:nvPr/>
        </p:nvSpPr>
        <p:spPr>
          <a:xfrm>
            <a:off x="4878905" y="4904818"/>
            <a:ext cx="729" cy="1275399"/>
          </a:xfrm>
          <a:custGeom>
            <a:avLst/>
            <a:gdLst/>
            <a:ahLst/>
            <a:cxnLst/>
            <a:pathLst>
              <a:path w="953" h="1666875">
                <a:moveTo>
                  <a:pt x="0" y="166687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803DE9"/>
            </a:solidFill>
            <a:prstDash val="dash"/>
          </a:ln>
        </p:spPr>
      </p:sp>
      <p:sp>
        <p:nvSpPr>
          <p:cNvPr id="209" name="training-encoder-tip"/>
          <p:cNvSpPr>
            <a:spLocks noGrp="1"/>
          </p:cNvSpPr>
          <p:nvPr/>
        </p:nvSpPr>
        <p:spPr>
          <a:xfrm>
            <a:off x="4846838" y="4904818"/>
            <a:ext cx="64134" cy="65592"/>
          </a:xfrm>
          <a:custGeom>
            <a:avLst/>
            <a:gdLst/>
            <a:ahLst/>
            <a:cxnLst/>
            <a:pathLst>
              <a:path w="83820" h="85725">
                <a:moveTo>
                  <a:pt x="41910" y="0"/>
                </a:moveTo>
                <a:lnTo>
                  <a:pt x="0" y="85725"/>
                </a:lnTo>
                <a:lnTo>
                  <a:pt x="83820" y="85725"/>
                </a:lnTo>
                <a:close/>
              </a:path>
            </a:pathLst>
          </a:custGeom>
          <a:solidFill>
            <a:srgbClr val="803DE9"/>
          </a:solidFill>
          <a:ln w="0">
            <a:noFill/>
          </a:ln>
        </p:spPr>
      </p:sp>
      <p:sp>
        <p:nvSpPr>
          <p:cNvPr id="210" name="training-mlp"/>
          <p:cNvSpPr>
            <a:spLocks noGrp="1"/>
          </p:cNvSpPr>
          <p:nvPr/>
        </p:nvSpPr>
        <p:spPr>
          <a:xfrm>
            <a:off x="9390172" y="3549252"/>
            <a:ext cx="729" cy="2630965"/>
          </a:xfrm>
          <a:custGeom>
            <a:avLst/>
            <a:gdLst/>
            <a:ahLst/>
            <a:cxnLst/>
            <a:pathLst>
              <a:path w="953" h="3438525">
                <a:moveTo>
                  <a:pt x="0" y="343852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803DE9"/>
            </a:solidFill>
            <a:prstDash val="dash"/>
          </a:ln>
        </p:spPr>
      </p:sp>
      <p:sp>
        <p:nvSpPr>
          <p:cNvPr id="211" name="training-mlp-tip"/>
          <p:cNvSpPr>
            <a:spLocks noGrp="1"/>
          </p:cNvSpPr>
          <p:nvPr/>
        </p:nvSpPr>
        <p:spPr>
          <a:xfrm>
            <a:off x="9358105" y="3549252"/>
            <a:ext cx="64134" cy="65592"/>
          </a:xfrm>
          <a:custGeom>
            <a:avLst/>
            <a:gdLst/>
            <a:ahLst/>
            <a:cxnLst/>
            <a:pathLst>
              <a:path w="83820" h="85725">
                <a:moveTo>
                  <a:pt x="41910" y="0"/>
                </a:moveTo>
                <a:lnTo>
                  <a:pt x="0" y="85725"/>
                </a:lnTo>
                <a:lnTo>
                  <a:pt x="83820" y="85725"/>
                </a:lnTo>
                <a:close/>
              </a:path>
            </a:pathLst>
          </a:custGeom>
          <a:solidFill>
            <a:srgbClr val="803DE9"/>
          </a:solidFill>
          <a:ln w="0">
            <a:noFill/>
          </a:ln>
        </p:spPr>
      </p:sp>
      <p:sp>
        <p:nvSpPr>
          <p:cNvPr id="212" name="training-feature"/>
          <p:cNvSpPr>
            <a:spLocks noGrp="1"/>
          </p:cNvSpPr>
          <p:nvPr/>
        </p:nvSpPr>
        <p:spPr>
          <a:xfrm>
            <a:off x="9696268" y="4584147"/>
            <a:ext cx="729" cy="1596070"/>
          </a:xfrm>
          <a:custGeom>
            <a:avLst/>
            <a:gdLst/>
            <a:ahLst/>
            <a:cxnLst/>
            <a:pathLst>
              <a:path w="953" h="2085975">
                <a:moveTo>
                  <a:pt x="0" y="208597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803DE9"/>
            </a:solidFill>
            <a:prstDash val="dash"/>
          </a:ln>
        </p:spPr>
      </p:sp>
      <p:sp>
        <p:nvSpPr>
          <p:cNvPr id="213" name="training-feature-tip"/>
          <p:cNvSpPr>
            <a:spLocks noGrp="1"/>
          </p:cNvSpPr>
          <p:nvPr/>
        </p:nvSpPr>
        <p:spPr>
          <a:xfrm>
            <a:off x="9664201" y="4584147"/>
            <a:ext cx="64134" cy="65592"/>
          </a:xfrm>
          <a:custGeom>
            <a:avLst/>
            <a:gdLst/>
            <a:ahLst/>
            <a:cxnLst/>
            <a:pathLst>
              <a:path w="83820" h="85725">
                <a:moveTo>
                  <a:pt x="41910" y="0"/>
                </a:moveTo>
                <a:lnTo>
                  <a:pt x="0" y="85725"/>
                </a:lnTo>
                <a:lnTo>
                  <a:pt x="83820" y="85725"/>
                </a:lnTo>
                <a:close/>
              </a:path>
            </a:pathLst>
          </a:custGeom>
          <a:solidFill>
            <a:srgbClr val="803DE9"/>
          </a:solidFill>
          <a:ln w="0">
            <a:noFill/>
          </a:ln>
        </p:spPr>
      </p:sp>
      <p:sp>
        <p:nvSpPr>
          <p:cNvPr id="214" name="training-label"/>
          <p:cNvSpPr>
            <a:spLocks noGrp="1"/>
          </p:cNvSpPr>
          <p:nvPr/>
        </p:nvSpPr>
        <p:spPr>
          <a:xfrm>
            <a:off x="5935664" y="6078185"/>
            <a:ext cx="1756406" cy="247792"/>
          </a:xfrm>
          <a:prstGeom prst="roundRect">
            <a:avLst>
              <a:gd name="adj" fmla="val 17647"/>
            </a:avLst>
          </a:prstGeom>
          <a:solidFill>
            <a:srgbClr val="F5EEFF"/>
          </a:solidFill>
          <a:ln w="9525">
            <a:solidFill>
              <a:srgbClr val="803DE9"/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6635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6635B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仅训练阶段：参数反向更新</a:t>
            </a:r>
            <a:endParaRPr sz="1035" b="1">
              <a:solidFill>
                <a:srgbClr val="6635B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5" name="bottom-conclusion"/>
          <p:cNvSpPr>
            <a:spLocks noGrp="1"/>
          </p:cNvSpPr>
          <p:nvPr/>
        </p:nvSpPr>
        <p:spPr>
          <a:xfrm>
            <a:off x="156287" y="6428009"/>
            <a:ext cx="11879426" cy="349824"/>
          </a:xfrm>
          <a:prstGeom prst="roundRect">
            <a:avLst>
              <a:gd name="adj" fmla="val 16667"/>
            </a:avLst>
          </a:prstGeom>
          <a:solidFill>
            <a:srgbClr val="E1EFFC"/>
          </a:solidFill>
          <a:ln w="9525">
            <a:solidFill>
              <a:srgbClr val="80C7F8"/>
            </a:solidFill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1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ConvLSTM建模云层运动，RoI提取目标电站相关空间信息；GRU提取PV时间动态；DCCA-LF利用跨模态互补关系提高噪声和缺失条件下的多步预测鲁棒性。</a:t>
            </a:r>
            <a:endParaRPr sz="111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" name="title"/>
          <p:cNvSpPr>
            <a:spLocks noGrp="1"/>
          </p:cNvSpPr>
          <p:nvPr/>
        </p:nvSpPr>
        <p:spPr>
          <a:xfrm>
            <a:off x="192727" y="58304"/>
            <a:ext cx="11850274" cy="4737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37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7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对比算例与实验结果 --- 多模态光伏预测精度与鲁棒性</a:t>
            </a:r>
            <a:endParaRPr sz="287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rule"/>
          <p:cNvSpPr>
            <a:spLocks noGrp="1"/>
          </p:cNvSpPr>
          <p:nvPr/>
        </p:nvSpPr>
        <p:spPr>
          <a:xfrm>
            <a:off x="141711" y="561175"/>
            <a:ext cx="11901290" cy="29152"/>
          </a:xfrm>
          <a:prstGeom prst="rect">
            <a:avLst/>
          </a:prstGeom>
          <a:solidFill>
            <a:srgbClr val="073680"/>
          </a:solidFill>
          <a:ln w="0">
            <a:noFill/>
            <a:prstDash val="solid"/>
          </a:ln>
        </p:spPr>
      </p:sp>
      <p:sp>
        <p:nvSpPr>
          <p:cNvPr id="3" name="summary"/>
          <p:cNvSpPr>
            <a:spLocks noGrp="1"/>
          </p:cNvSpPr>
          <p:nvPr/>
        </p:nvSpPr>
        <p:spPr>
          <a:xfrm>
            <a:off x="141711" y="670495"/>
            <a:ext cx="11901290" cy="663207"/>
          </a:xfrm>
          <a:prstGeom prst="roundRect">
            <a:avLst>
              <a:gd name="adj" fmla="val 10989"/>
            </a:avLst>
          </a:prstGeom>
          <a:solidFill>
            <a:srgbClr val="E5F3FD"/>
          </a:solidFill>
          <a:ln w="0">
            <a:noFill/>
            <a:prstDash val="solid"/>
          </a:ln>
        </p:spPr>
      </p:sp>
      <p:sp>
        <p:nvSpPr>
          <p:cNvPr id="4" name="dot-0"/>
          <p:cNvSpPr>
            <a:spLocks noGrp="1"/>
          </p:cNvSpPr>
          <p:nvPr/>
        </p:nvSpPr>
        <p:spPr>
          <a:xfrm>
            <a:off x="236455" y="750663"/>
            <a:ext cx="182200" cy="211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15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ummary-0"/>
          <p:cNvSpPr>
            <a:spLocks noGrp="1"/>
          </p:cNvSpPr>
          <p:nvPr/>
        </p:nvSpPr>
        <p:spPr>
          <a:xfrm>
            <a:off x="476959" y="750663"/>
            <a:ext cx="11412995" cy="21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5" b="0">
                <a:solidFill>
                  <a:srgbClr val="073680"/>
                </a:solidFill>
              </a:rPr>
              <a:t>预测精度：ConvLSTM-RICNN在整体预测中取得MSE </a:t>
            </a:r>
            <a:r>
              <a:rPr sz="1205" b="1">
                <a:solidFill>
                  <a:srgbClr val="EA161F"/>
                </a:solidFill>
              </a:rPr>
              <a:t>0.00199</a:t>
            </a:r>
            <a:r>
              <a:rPr sz="1205" b="0">
                <a:solidFill>
                  <a:srgbClr val="073680"/>
                </a:solidFill>
              </a:rPr>
              <a:t>、MAE </a:t>
            </a:r>
            <a:r>
              <a:rPr sz="1205" b="1">
                <a:solidFill>
                  <a:srgbClr val="EA161F"/>
                </a:solidFill>
              </a:rPr>
              <a:t>0.02376</a:t>
            </a:r>
            <a:r>
              <a:rPr sz="1205" b="0">
                <a:solidFill>
                  <a:srgbClr val="073680"/>
                </a:solidFill>
              </a:rPr>
              <a:t>、MAPE </a:t>
            </a:r>
            <a:r>
              <a:rPr sz="1205" b="1">
                <a:solidFill>
                  <a:srgbClr val="EA161F"/>
                </a:solidFill>
              </a:rPr>
              <a:t>14.54%</a:t>
            </a:r>
            <a:r>
              <a:rPr sz="1205" b="0">
                <a:solidFill>
                  <a:srgbClr val="073680"/>
                </a:solidFill>
              </a:rPr>
              <a:t>，相较其他卫星编码器至少改善15.58%、14.45%和12.17%。</a:t>
            </a:r>
            <a:endParaRPr sz="1205" b="0">
              <a:solidFill>
                <a:srgbClr val="073680"/>
              </a:solidFill>
            </a:endParaRPr>
          </a:p>
        </p:txBody>
      </p:sp>
      <p:sp>
        <p:nvSpPr>
          <p:cNvPr id="6" name="dot-1"/>
          <p:cNvSpPr>
            <a:spLocks noGrp="1"/>
          </p:cNvSpPr>
          <p:nvPr/>
        </p:nvSpPr>
        <p:spPr>
          <a:xfrm>
            <a:off x="236455" y="1020319"/>
            <a:ext cx="182200" cy="211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15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ummary-1"/>
          <p:cNvSpPr>
            <a:spLocks noGrp="1"/>
          </p:cNvSpPr>
          <p:nvPr/>
        </p:nvSpPr>
        <p:spPr>
          <a:xfrm>
            <a:off x="476959" y="1020319"/>
            <a:ext cx="11412995" cy="21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5" b="0">
                <a:solidFill>
                  <a:srgbClr val="073680"/>
                </a:solidFill>
              </a:rPr>
              <a:t>鲁棒性：DCCA-LF并非单纯追求清洁数据下最低误差，而是在预测精度、噪声鲁棒性与模型复杂度之间获得</a:t>
            </a:r>
            <a:r>
              <a:rPr sz="1205" b="1">
                <a:solidFill>
                  <a:srgbClr val="EA161F"/>
                </a:solidFill>
              </a:rPr>
              <a:t>更优平衡</a:t>
            </a:r>
            <a:r>
              <a:rPr sz="1205" b="0">
                <a:solidFill>
                  <a:srgbClr val="073680"/>
                </a:solidFill>
              </a:rPr>
              <a:t>。</a:t>
            </a:r>
            <a:endParaRPr sz="1205" b="0">
              <a:solidFill>
                <a:srgbClr val="073680"/>
              </a:solidFill>
            </a:endParaRPr>
          </a:p>
        </p:txBody>
      </p:sp>
      <p:sp>
        <p:nvSpPr>
          <p:cNvPr id="8" name="column-0"/>
          <p:cNvSpPr>
            <a:spLocks noGrp="1"/>
          </p:cNvSpPr>
          <p:nvPr/>
        </p:nvSpPr>
        <p:spPr>
          <a:xfrm>
            <a:off x="119847" y="1399294"/>
            <a:ext cx="3993819" cy="5393114"/>
          </a:xfrm>
          <a:prstGeom prst="roundRect">
            <a:avLst>
              <a:gd name="adj" fmla="val 1277"/>
            </a:avLst>
          </a:prstGeom>
          <a:solidFill>
            <a:srgbClr val="FAFDFF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9" name="column-head-0"/>
          <p:cNvSpPr>
            <a:spLocks noGrp="1"/>
          </p:cNvSpPr>
          <p:nvPr/>
        </p:nvSpPr>
        <p:spPr>
          <a:xfrm>
            <a:off x="119847" y="1399294"/>
            <a:ext cx="3993819" cy="342536"/>
          </a:xfrm>
          <a:prstGeom prst="roundRect">
            <a:avLst>
              <a:gd name="adj" fmla="val 8511"/>
            </a:avLst>
          </a:prstGeom>
          <a:gradFill>
            <a:gsLst>
              <a:gs pos="0">
                <a:srgbClr val="114AA5"/>
              </a:gs>
              <a:gs pos="100000">
                <a:srgbClr val="49A4EC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10" name="column-1"/>
          <p:cNvSpPr>
            <a:spLocks noGrp="1"/>
          </p:cNvSpPr>
          <p:nvPr/>
        </p:nvSpPr>
        <p:spPr>
          <a:xfrm>
            <a:off x="4222986" y="1399294"/>
            <a:ext cx="3767892" cy="5393114"/>
          </a:xfrm>
          <a:prstGeom prst="roundRect">
            <a:avLst>
              <a:gd name="adj" fmla="val 1354"/>
            </a:avLst>
          </a:prstGeom>
          <a:solidFill>
            <a:srgbClr val="FAFDFF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11" name="column-head-1"/>
          <p:cNvSpPr>
            <a:spLocks noGrp="1"/>
          </p:cNvSpPr>
          <p:nvPr/>
        </p:nvSpPr>
        <p:spPr>
          <a:xfrm>
            <a:off x="4222986" y="1399294"/>
            <a:ext cx="3767892" cy="342536"/>
          </a:xfrm>
          <a:prstGeom prst="roundRect">
            <a:avLst>
              <a:gd name="adj" fmla="val 8511"/>
            </a:avLst>
          </a:prstGeom>
          <a:gradFill>
            <a:gsLst>
              <a:gs pos="0">
                <a:srgbClr val="114AA5"/>
              </a:gs>
              <a:gs pos="100000">
                <a:srgbClr val="49A4EC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12" name="column-2"/>
          <p:cNvSpPr>
            <a:spLocks noGrp="1"/>
          </p:cNvSpPr>
          <p:nvPr/>
        </p:nvSpPr>
        <p:spPr>
          <a:xfrm>
            <a:off x="8092910" y="1399294"/>
            <a:ext cx="3971955" cy="5393114"/>
          </a:xfrm>
          <a:prstGeom prst="roundRect">
            <a:avLst>
              <a:gd name="adj" fmla="val 1284"/>
            </a:avLst>
          </a:prstGeom>
          <a:solidFill>
            <a:srgbClr val="FAFDFF"/>
          </a:solidFill>
          <a:ln w="9525">
            <a:solidFill>
              <a:srgbClr val="80C7F8"/>
            </a:solidFill>
            <a:prstDash val="solid"/>
          </a:ln>
        </p:spPr>
      </p:sp>
      <p:sp>
        <p:nvSpPr>
          <p:cNvPr id="13" name="column-head-2"/>
          <p:cNvSpPr>
            <a:spLocks noGrp="1"/>
          </p:cNvSpPr>
          <p:nvPr/>
        </p:nvSpPr>
        <p:spPr>
          <a:xfrm>
            <a:off x="8092910" y="1399294"/>
            <a:ext cx="3971955" cy="342536"/>
          </a:xfrm>
          <a:prstGeom prst="roundRect">
            <a:avLst>
              <a:gd name="adj" fmla="val 8511"/>
            </a:avLst>
          </a:prstGeom>
          <a:gradFill>
            <a:gsLst>
              <a:gs pos="0">
                <a:srgbClr val="114AA5"/>
              </a:gs>
              <a:gs pos="100000">
                <a:srgbClr val="49A4EC"/>
              </a:gs>
            </a:gsLst>
            <a:lin ang="0"/>
          </a:gradFill>
          <a:ln w="0">
            <a:noFill/>
            <a:prstDash val="solid"/>
          </a:ln>
        </p:spPr>
      </p:sp>
      <p:sp>
        <p:nvSpPr>
          <p:cNvPr id="14" name="heading-0"/>
          <p:cNvSpPr>
            <a:spLocks noGrp="1"/>
          </p:cNvSpPr>
          <p:nvPr/>
        </p:nvSpPr>
        <p:spPr>
          <a:xfrm>
            <a:off x="251031" y="1450310"/>
            <a:ext cx="3753316" cy="255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多云况下保持稳定预测精度</a:t>
            </a:r>
            <a:endParaRPr sz="1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heading-1"/>
          <p:cNvSpPr>
            <a:spLocks noGrp="1"/>
          </p:cNvSpPr>
          <p:nvPr/>
        </p:nvSpPr>
        <p:spPr>
          <a:xfrm>
            <a:off x="4346882" y="1450310"/>
            <a:ext cx="3527388" cy="255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时序数据受扰动时仍保持鲁棒</a:t>
            </a:r>
            <a:endParaRPr sz="1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heading-2"/>
          <p:cNvSpPr>
            <a:spLocks noGrp="1"/>
          </p:cNvSpPr>
          <p:nvPr/>
        </p:nvSpPr>
        <p:spPr>
          <a:xfrm>
            <a:off x="8231382" y="1450310"/>
            <a:ext cx="3716876" cy="255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对PV突变和数据缺失跟踪更准确</a:t>
            </a:r>
            <a:endParaRPr sz="15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cloud-title"/>
          <p:cNvSpPr>
            <a:spLocks noGrp="1"/>
          </p:cNvSpPr>
          <p:nvPr/>
        </p:nvSpPr>
        <p:spPr>
          <a:xfrm>
            <a:off x="768478" y="1807422"/>
            <a:ext cx="3221292" cy="211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不同云况下各方法的预测误差（MSE）</a:t>
            </a:r>
            <a:endParaRPr sz="109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63" y="2011486"/>
            <a:ext cx="3840772" cy="2186397"/>
          </a:xfrm>
          <a:prstGeom prst="rect">
            <a:avLst/>
          </a:prstGeom>
        </p:spPr>
      </p:pic>
      <p:sp>
        <p:nvSpPr>
          <p:cNvPr id="19" name="metric-box-0"/>
          <p:cNvSpPr>
            <a:spLocks noGrp="1"/>
          </p:cNvSpPr>
          <p:nvPr/>
        </p:nvSpPr>
        <p:spPr>
          <a:xfrm>
            <a:off x="214591" y="4263475"/>
            <a:ext cx="1195231" cy="466431"/>
          </a:xfrm>
          <a:prstGeom prst="roundRect">
            <a:avLst>
              <a:gd name="adj" fmla="val 9375"/>
            </a:avLst>
          </a:prstGeom>
          <a:solidFill>
            <a:srgbClr val="E0F1FC"/>
          </a:solidFill>
          <a:ln w="0">
            <a:noFill/>
            <a:prstDash val="solid"/>
          </a:ln>
        </p:spPr>
      </p:sp>
      <p:sp>
        <p:nvSpPr>
          <p:cNvPr id="20" name="metric-name-0"/>
          <p:cNvSpPr>
            <a:spLocks noGrp="1"/>
          </p:cNvSpPr>
          <p:nvPr/>
        </p:nvSpPr>
        <p:spPr>
          <a:xfrm>
            <a:off x="251031" y="4292627"/>
            <a:ext cx="1122351" cy="204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MSE</a:t>
            </a:r>
            <a:endParaRPr sz="103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metric-value-0"/>
          <p:cNvSpPr>
            <a:spLocks noGrp="1"/>
          </p:cNvSpPr>
          <p:nvPr/>
        </p:nvSpPr>
        <p:spPr>
          <a:xfrm>
            <a:off x="251031" y="4489403"/>
            <a:ext cx="1122351" cy="204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35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0.00199</a:t>
            </a:r>
            <a:endParaRPr sz="1435" b="1">
              <a:solidFill>
                <a:srgbClr val="EA1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gain-box-0"/>
          <p:cNvSpPr>
            <a:spLocks noGrp="1"/>
          </p:cNvSpPr>
          <p:nvPr/>
        </p:nvSpPr>
        <p:spPr>
          <a:xfrm>
            <a:off x="214591" y="4810074"/>
            <a:ext cx="1195231" cy="451855"/>
          </a:xfrm>
          <a:prstGeom prst="roundRect">
            <a:avLst>
              <a:gd name="adj" fmla="val 8065"/>
            </a:avLst>
          </a:prstGeom>
          <a:solidFill>
            <a:srgbClr val="FDECEE"/>
          </a:solidFill>
          <a:ln w="0">
            <a:noFill/>
            <a:prstDash val="solid"/>
          </a:ln>
        </p:spPr>
      </p:sp>
      <p:sp>
        <p:nvSpPr>
          <p:cNvPr id="23" name="gain-name-0"/>
          <p:cNvSpPr>
            <a:spLocks noGrp="1"/>
          </p:cNvSpPr>
          <p:nvPr/>
        </p:nvSpPr>
        <p:spPr>
          <a:xfrm>
            <a:off x="251031" y="4839226"/>
            <a:ext cx="1122351" cy="18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MSE至少改善</a:t>
            </a:r>
            <a:endParaRPr sz="103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gain-value-0"/>
          <p:cNvSpPr>
            <a:spLocks noGrp="1"/>
          </p:cNvSpPr>
          <p:nvPr/>
        </p:nvSpPr>
        <p:spPr>
          <a:xfrm>
            <a:off x="251031" y="5036002"/>
            <a:ext cx="1122351" cy="1967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75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15.58%</a:t>
            </a:r>
            <a:endParaRPr sz="1375" b="1">
              <a:solidFill>
                <a:srgbClr val="EA1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metric-box-1"/>
          <p:cNvSpPr>
            <a:spLocks noGrp="1"/>
          </p:cNvSpPr>
          <p:nvPr/>
        </p:nvSpPr>
        <p:spPr>
          <a:xfrm>
            <a:off x="1519141" y="4263475"/>
            <a:ext cx="1195231" cy="466431"/>
          </a:xfrm>
          <a:prstGeom prst="roundRect">
            <a:avLst>
              <a:gd name="adj" fmla="val 9375"/>
            </a:avLst>
          </a:prstGeom>
          <a:solidFill>
            <a:srgbClr val="E0F1FC"/>
          </a:solidFill>
          <a:ln w="0">
            <a:noFill/>
            <a:prstDash val="solid"/>
          </a:ln>
        </p:spPr>
      </p:sp>
      <p:sp>
        <p:nvSpPr>
          <p:cNvPr id="26" name="metric-name-1"/>
          <p:cNvSpPr>
            <a:spLocks noGrp="1"/>
          </p:cNvSpPr>
          <p:nvPr/>
        </p:nvSpPr>
        <p:spPr>
          <a:xfrm>
            <a:off x="1555581" y="4292627"/>
            <a:ext cx="1122351" cy="204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MAE</a:t>
            </a:r>
            <a:endParaRPr sz="103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metric-value-1"/>
          <p:cNvSpPr>
            <a:spLocks noGrp="1"/>
          </p:cNvSpPr>
          <p:nvPr/>
        </p:nvSpPr>
        <p:spPr>
          <a:xfrm>
            <a:off x="1555581" y="4489403"/>
            <a:ext cx="1122351" cy="204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35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0.02376</a:t>
            </a:r>
            <a:endParaRPr sz="1435" b="1">
              <a:solidFill>
                <a:srgbClr val="EA1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gain-box-1"/>
          <p:cNvSpPr>
            <a:spLocks noGrp="1"/>
          </p:cNvSpPr>
          <p:nvPr/>
        </p:nvSpPr>
        <p:spPr>
          <a:xfrm>
            <a:off x="1519141" y="4810074"/>
            <a:ext cx="1195231" cy="451855"/>
          </a:xfrm>
          <a:prstGeom prst="roundRect">
            <a:avLst>
              <a:gd name="adj" fmla="val 8065"/>
            </a:avLst>
          </a:prstGeom>
          <a:solidFill>
            <a:srgbClr val="FDECEE"/>
          </a:solidFill>
          <a:ln w="0">
            <a:noFill/>
            <a:prstDash val="solid"/>
          </a:ln>
        </p:spPr>
      </p:sp>
      <p:sp>
        <p:nvSpPr>
          <p:cNvPr id="29" name="gain-name-1"/>
          <p:cNvSpPr>
            <a:spLocks noGrp="1"/>
          </p:cNvSpPr>
          <p:nvPr/>
        </p:nvSpPr>
        <p:spPr>
          <a:xfrm>
            <a:off x="1555581" y="4839226"/>
            <a:ext cx="1122351" cy="18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MAE至少改善</a:t>
            </a:r>
            <a:endParaRPr sz="103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gain-value-1"/>
          <p:cNvSpPr>
            <a:spLocks noGrp="1"/>
          </p:cNvSpPr>
          <p:nvPr/>
        </p:nvSpPr>
        <p:spPr>
          <a:xfrm>
            <a:off x="1555581" y="5036002"/>
            <a:ext cx="1122351" cy="1967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75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14.45%</a:t>
            </a:r>
            <a:endParaRPr sz="1375" b="1">
              <a:solidFill>
                <a:srgbClr val="EA1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metric-box-2"/>
          <p:cNvSpPr>
            <a:spLocks noGrp="1"/>
          </p:cNvSpPr>
          <p:nvPr/>
        </p:nvSpPr>
        <p:spPr>
          <a:xfrm>
            <a:off x="2823692" y="4263475"/>
            <a:ext cx="1195231" cy="466431"/>
          </a:xfrm>
          <a:prstGeom prst="roundRect">
            <a:avLst>
              <a:gd name="adj" fmla="val 9375"/>
            </a:avLst>
          </a:prstGeom>
          <a:solidFill>
            <a:srgbClr val="E0F1FC"/>
          </a:solidFill>
          <a:ln w="0">
            <a:noFill/>
            <a:prstDash val="solid"/>
          </a:ln>
        </p:spPr>
      </p:sp>
      <p:sp>
        <p:nvSpPr>
          <p:cNvPr id="32" name="metric-name-2"/>
          <p:cNvSpPr>
            <a:spLocks noGrp="1"/>
          </p:cNvSpPr>
          <p:nvPr/>
        </p:nvSpPr>
        <p:spPr>
          <a:xfrm>
            <a:off x="2860132" y="4292627"/>
            <a:ext cx="1122351" cy="204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MAPE</a:t>
            </a:r>
            <a:endParaRPr sz="103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metric-value-2"/>
          <p:cNvSpPr>
            <a:spLocks noGrp="1"/>
          </p:cNvSpPr>
          <p:nvPr/>
        </p:nvSpPr>
        <p:spPr>
          <a:xfrm>
            <a:off x="2860132" y="4489403"/>
            <a:ext cx="1122351" cy="2040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35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14.54%</a:t>
            </a:r>
            <a:endParaRPr sz="1435" b="1">
              <a:solidFill>
                <a:srgbClr val="EA1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gain-box-2"/>
          <p:cNvSpPr>
            <a:spLocks noGrp="1"/>
          </p:cNvSpPr>
          <p:nvPr/>
        </p:nvSpPr>
        <p:spPr>
          <a:xfrm>
            <a:off x="2823692" y="4810074"/>
            <a:ext cx="1195231" cy="451855"/>
          </a:xfrm>
          <a:prstGeom prst="roundRect">
            <a:avLst>
              <a:gd name="adj" fmla="val 8065"/>
            </a:avLst>
          </a:prstGeom>
          <a:solidFill>
            <a:srgbClr val="FDECEE"/>
          </a:solidFill>
          <a:ln w="0">
            <a:noFill/>
            <a:prstDash val="solid"/>
          </a:ln>
        </p:spPr>
      </p:sp>
      <p:sp>
        <p:nvSpPr>
          <p:cNvPr id="35" name="gain-name-2"/>
          <p:cNvSpPr>
            <a:spLocks noGrp="1"/>
          </p:cNvSpPr>
          <p:nvPr/>
        </p:nvSpPr>
        <p:spPr>
          <a:xfrm>
            <a:off x="2860132" y="4839226"/>
            <a:ext cx="1122351" cy="182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MAPE至少改善</a:t>
            </a:r>
            <a:endParaRPr sz="103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gain-value-2"/>
          <p:cNvSpPr>
            <a:spLocks noGrp="1"/>
          </p:cNvSpPr>
          <p:nvPr/>
        </p:nvSpPr>
        <p:spPr>
          <a:xfrm>
            <a:off x="2860132" y="5036002"/>
            <a:ext cx="1122351" cy="1967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75" b="1">
                <a:solidFill>
                  <a:srgbClr val="EA161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12.17%</a:t>
            </a:r>
            <a:endParaRPr sz="1375" b="1">
              <a:solidFill>
                <a:srgbClr val="EA161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cloud-why"/>
          <p:cNvSpPr>
            <a:spLocks noGrp="1"/>
          </p:cNvSpPr>
          <p:nvPr/>
        </p:nvSpPr>
        <p:spPr>
          <a:xfrm>
            <a:off x="207303" y="5385826"/>
            <a:ext cx="3811620" cy="255080"/>
          </a:xfrm>
          <a:prstGeom prst="roundRect">
            <a:avLst>
              <a:gd name="adj" fmla="val 14286"/>
            </a:avLst>
          </a:prstGeom>
          <a:solidFill>
            <a:srgbClr val="E2F2FD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为什么各云况下都更稳定？</a:t>
            </a:r>
            <a:endParaRPr sz="120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cloud-reasons"/>
          <p:cNvSpPr>
            <a:spLocks noGrp="1"/>
          </p:cNvSpPr>
          <p:nvPr/>
        </p:nvSpPr>
        <p:spPr>
          <a:xfrm>
            <a:off x="251031" y="5721073"/>
            <a:ext cx="3753316" cy="4154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6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9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ConvLSTM：学习大尺度云层连续运动，而不是单帧静态纹理。</a:t>
            </a:r>
            <a:endParaRPr sz="89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6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9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RICNN / RoI：只提取目标PV站附近有效云层特征，降低无关像素干扰。</a:t>
            </a:r>
            <a:endParaRPr sz="89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cloud-end"/>
          <p:cNvSpPr>
            <a:spLocks noGrp="1"/>
          </p:cNvSpPr>
          <p:nvPr/>
        </p:nvSpPr>
        <p:spPr>
          <a:xfrm>
            <a:off x="214591" y="6376993"/>
            <a:ext cx="3804332" cy="320672"/>
          </a:xfrm>
          <a:prstGeom prst="roundRect">
            <a:avLst>
              <a:gd name="adj" fmla="val 11364"/>
            </a:avLst>
          </a:prstGeom>
          <a:solidFill>
            <a:srgbClr val="E4F3FC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因此在云层变化剧烈时，能够更准确捕获导致PV功率突变的空间因素。</a:t>
            </a:r>
            <a:endParaRPr sz="97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noise-title"/>
          <p:cNvSpPr>
            <a:spLocks noGrp="1"/>
          </p:cNvSpPr>
          <p:nvPr/>
        </p:nvSpPr>
        <p:spPr>
          <a:xfrm>
            <a:off x="4565522" y="1807422"/>
            <a:ext cx="3111972" cy="211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不同噪声水平下的预测鲁棒性</a:t>
            </a:r>
            <a:endParaRPr sz="109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6" name="图片 1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002" y="2011486"/>
            <a:ext cx="3614844" cy="2120806"/>
          </a:xfrm>
          <a:prstGeom prst="rect">
            <a:avLst/>
          </a:prstGeom>
        </p:spPr>
      </p:pic>
      <p:sp>
        <p:nvSpPr>
          <p:cNvPr id="42" name="pareto-title"/>
          <p:cNvSpPr>
            <a:spLocks noGrp="1"/>
          </p:cNvSpPr>
          <p:nvPr/>
        </p:nvSpPr>
        <p:spPr>
          <a:xfrm>
            <a:off x="4929921" y="4197883"/>
            <a:ext cx="2652829" cy="21135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9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精度-鲁棒性权衡（Pareto图）</a:t>
            </a:r>
            <a:endParaRPr sz="109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8" name="图片 1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1290" y="4409235"/>
            <a:ext cx="3585692" cy="1297262"/>
          </a:xfrm>
          <a:prstGeom prst="rect">
            <a:avLst/>
          </a:prstGeom>
        </p:spPr>
      </p:pic>
      <p:sp>
        <p:nvSpPr>
          <p:cNvPr id="44" name="noise-why"/>
          <p:cNvSpPr>
            <a:spLocks noGrp="1"/>
          </p:cNvSpPr>
          <p:nvPr/>
        </p:nvSpPr>
        <p:spPr>
          <a:xfrm>
            <a:off x="4295866" y="5750225"/>
            <a:ext cx="3600268" cy="225928"/>
          </a:xfrm>
          <a:prstGeom prst="roundRect">
            <a:avLst>
              <a:gd name="adj" fmla="val 12903"/>
            </a:avLst>
          </a:prstGeom>
          <a:solidFill>
            <a:srgbClr val="E3F2FD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为什么DCCA-LF更稳？</a:t>
            </a:r>
            <a:endParaRPr sz="115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noise-reasons"/>
          <p:cNvSpPr>
            <a:spLocks noGrp="1"/>
          </p:cNvSpPr>
          <p:nvPr/>
        </p:nvSpPr>
        <p:spPr>
          <a:xfrm>
            <a:off x="4332306" y="5990729"/>
            <a:ext cx="3556540" cy="48100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9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3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普通LF：融合但缺少显式跨模态相关约束。</a:t>
            </a:r>
            <a:endParaRPr sz="83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9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3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直接强对齐：可能丢失无法严格对齐但仍有预测价值的信息。</a:t>
            </a:r>
            <a:endParaRPr sz="83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09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3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DCCA-LF：通过相关性正则化建立软对齐，同时保留各模态独立有效信息。</a:t>
            </a:r>
            <a:endParaRPr sz="835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noise-end"/>
          <p:cNvSpPr>
            <a:spLocks noGrp="1"/>
          </p:cNvSpPr>
          <p:nvPr/>
        </p:nvSpPr>
        <p:spPr>
          <a:xfrm>
            <a:off x="4310442" y="6508176"/>
            <a:ext cx="3578404" cy="189488"/>
          </a:xfrm>
          <a:prstGeom prst="roundRect">
            <a:avLst>
              <a:gd name="adj" fmla="val 15385"/>
            </a:avLst>
          </a:prstGeom>
          <a:solidFill>
            <a:srgbClr val="E4F3FC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6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1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当地面PV时序出现噪声或缺失时，卫星云层信息可以补偿受损模态。</a:t>
            </a:r>
            <a:endParaRPr sz="81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clean-title"/>
          <p:cNvSpPr>
            <a:spLocks noGrp="1"/>
          </p:cNvSpPr>
          <p:nvPr/>
        </p:nvSpPr>
        <p:spPr>
          <a:xfrm>
            <a:off x="8639509" y="1785558"/>
            <a:ext cx="3272308" cy="218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典型云层引起的PV功率突变预测（清洁数据）</a:t>
            </a:r>
            <a:endParaRPr sz="103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3" name="图片 1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3926" y="1996910"/>
            <a:ext cx="3848060" cy="1253535"/>
          </a:xfrm>
          <a:prstGeom prst="rect">
            <a:avLst/>
          </a:prstGeom>
        </p:spPr>
      </p:pic>
      <p:sp>
        <p:nvSpPr>
          <p:cNvPr id="49" name="missing-title"/>
          <p:cNvSpPr>
            <a:spLocks noGrp="1"/>
          </p:cNvSpPr>
          <p:nvPr/>
        </p:nvSpPr>
        <p:spPr>
          <a:xfrm>
            <a:off x="8814421" y="3286884"/>
            <a:ext cx="2915197" cy="1967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数据缺失情况下的预测效果</a:t>
            </a:r>
            <a:endParaRPr sz="103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5" name="图片 1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3926" y="3483660"/>
            <a:ext cx="3848060" cy="1107775"/>
          </a:xfrm>
          <a:prstGeom prst="rect">
            <a:avLst/>
          </a:prstGeom>
        </p:spPr>
      </p:pic>
      <p:sp>
        <p:nvSpPr>
          <p:cNvPr id="51" name="ablation-title"/>
          <p:cNvSpPr>
            <a:spLocks noGrp="1"/>
          </p:cNvSpPr>
          <p:nvPr/>
        </p:nvSpPr>
        <p:spPr>
          <a:xfrm>
            <a:off x="8683237" y="4606011"/>
            <a:ext cx="2980789" cy="19677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模型消融实验（总体MSE）</a:t>
            </a:r>
            <a:endParaRPr sz="103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7" name="Chart"/>
          <p:cNvGraphicFramePr/>
          <p:nvPr/>
        </p:nvGraphicFramePr>
        <p:xfrm>
          <a:off x="8450021" y="4788210"/>
          <a:ext cx="3476372" cy="8454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3" name="pv-ablation-category-0"/>
          <p:cNvSpPr>
            <a:spLocks noGrp="1"/>
          </p:cNvSpPr>
          <p:nvPr/>
        </p:nvSpPr>
        <p:spPr>
          <a:xfrm>
            <a:off x="8522901" y="5414978"/>
            <a:ext cx="712766" cy="240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Full model</a:t>
            </a:r>
            <a:endParaRPr sz="69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(DCCA-LF)</a:t>
            </a:r>
            <a:endParaRPr sz="69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pv-ablation-category-1"/>
          <p:cNvSpPr>
            <a:spLocks noGrp="1"/>
          </p:cNvSpPr>
          <p:nvPr/>
        </p:nvSpPr>
        <p:spPr>
          <a:xfrm>
            <a:off x="9191939" y="5414978"/>
            <a:ext cx="712766" cy="240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w/o ConvLSTM-</a:t>
            </a:r>
            <a:endParaRPr sz="69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RICNN</a:t>
            </a:r>
            <a:endParaRPr sz="69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pv-ablation-category-2"/>
          <p:cNvSpPr>
            <a:spLocks noGrp="1"/>
          </p:cNvSpPr>
          <p:nvPr/>
        </p:nvSpPr>
        <p:spPr>
          <a:xfrm>
            <a:off x="9860976" y="5414978"/>
            <a:ext cx="712766" cy="240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w/o ConvLSTM</a:t>
            </a:r>
            <a:endParaRPr sz="69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pv-ablation-category-3"/>
          <p:cNvSpPr>
            <a:spLocks noGrp="1"/>
          </p:cNvSpPr>
          <p:nvPr/>
        </p:nvSpPr>
        <p:spPr>
          <a:xfrm>
            <a:off x="10530014" y="5414978"/>
            <a:ext cx="712766" cy="240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w/o RoI</a:t>
            </a:r>
            <a:endParaRPr sz="69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pv-ablation-category-4"/>
          <p:cNvSpPr>
            <a:spLocks noGrp="1"/>
          </p:cNvSpPr>
          <p:nvPr/>
        </p:nvSpPr>
        <p:spPr>
          <a:xfrm>
            <a:off x="11199052" y="5414978"/>
            <a:ext cx="712766" cy="2405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0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90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w/o DCCA</a:t>
            </a:r>
            <a:endParaRPr sz="690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pv-ablation-ytick-0"/>
          <p:cNvSpPr>
            <a:spLocks noGrp="1"/>
          </p:cNvSpPr>
          <p:nvPr/>
        </p:nvSpPr>
        <p:spPr>
          <a:xfrm>
            <a:off x="8224094" y="5305658"/>
            <a:ext cx="262368" cy="14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4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10⁻⁴</a:t>
            </a:r>
            <a:endParaRPr sz="745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pv-ablation-ytick-1"/>
          <p:cNvSpPr>
            <a:spLocks noGrp="1"/>
          </p:cNvSpPr>
          <p:nvPr/>
        </p:nvSpPr>
        <p:spPr>
          <a:xfrm>
            <a:off x="8224094" y="5111311"/>
            <a:ext cx="262368" cy="14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4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10⁻³</a:t>
            </a:r>
            <a:endParaRPr sz="745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pv-ablation-ytick-2"/>
          <p:cNvSpPr>
            <a:spLocks noGrp="1"/>
          </p:cNvSpPr>
          <p:nvPr/>
        </p:nvSpPr>
        <p:spPr>
          <a:xfrm>
            <a:off x="8224094" y="4916965"/>
            <a:ext cx="262368" cy="14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4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10⁻²</a:t>
            </a:r>
            <a:endParaRPr sz="745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pv-ablation-ytick-3"/>
          <p:cNvSpPr>
            <a:spLocks noGrp="1"/>
          </p:cNvSpPr>
          <p:nvPr/>
        </p:nvSpPr>
        <p:spPr>
          <a:xfrm>
            <a:off x="8224094" y="4722618"/>
            <a:ext cx="262368" cy="14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97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745" b="0">
                <a:solidFill>
                  <a:srgbClr val="1010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10⁻¹</a:t>
            </a:r>
            <a:endParaRPr sz="745" b="0">
              <a:solidFill>
                <a:srgbClr val="1010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mse-y"/>
          <p:cNvSpPr>
            <a:spLocks noGrp="1"/>
          </p:cNvSpPr>
          <p:nvPr/>
        </p:nvSpPr>
        <p:spPr>
          <a:xfrm>
            <a:off x="8158502" y="4955834"/>
            <a:ext cx="211352" cy="2332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2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MSE</a:t>
            </a:r>
            <a:endParaRPr sz="92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pv-why"/>
          <p:cNvSpPr>
            <a:spLocks noGrp="1"/>
          </p:cNvSpPr>
          <p:nvPr/>
        </p:nvSpPr>
        <p:spPr>
          <a:xfrm>
            <a:off x="8173078" y="5670057"/>
            <a:ext cx="3811620" cy="240504"/>
          </a:xfrm>
          <a:prstGeom prst="roundRect">
            <a:avLst>
              <a:gd name="adj" fmla="val 12121"/>
            </a:avLst>
          </a:prstGeom>
          <a:solidFill>
            <a:srgbClr val="E3F2FD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5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为什么能更准确跟踪PV突变和数据缺失？</a:t>
            </a:r>
            <a:endParaRPr sz="1150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pv-reasons"/>
          <p:cNvSpPr>
            <a:spLocks noGrp="1"/>
          </p:cNvSpPr>
          <p:nvPr/>
        </p:nvSpPr>
        <p:spPr>
          <a:xfrm>
            <a:off x="8216806" y="5925137"/>
            <a:ext cx="3738740" cy="4955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PV骤降/骤升 → ConvLSTM提前感知云层运动。</a:t>
            </a:r>
            <a:endParaRPr sz="86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整幅卫星图信息冗余 → RoI把注意力集中到目标电站相关区域。</a:t>
            </a:r>
            <a:endParaRPr sz="86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125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860" b="0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PV时序噪声/缺失 → DCCA利用卫星模态相关信息进行补偿。</a:t>
            </a:r>
            <a:endParaRPr sz="860" b="0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pv-end"/>
          <p:cNvSpPr>
            <a:spLocks noGrp="1"/>
          </p:cNvSpPr>
          <p:nvPr/>
        </p:nvSpPr>
        <p:spPr>
          <a:xfrm>
            <a:off x="8173078" y="6471736"/>
            <a:ext cx="3811620" cy="233216"/>
          </a:xfrm>
          <a:prstGeom prst="roundRect">
            <a:avLst>
              <a:gd name="adj" fmla="val 12500"/>
            </a:avLst>
          </a:prstGeom>
          <a:solidFill>
            <a:srgbClr val="E4F3FC"/>
          </a:solidFill>
          <a:ln w="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870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65" b="1">
                <a:solidFill>
                  <a:srgbClr val="0736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优势不是简单增加模态，而是让两种模态在“空间云层信息”和“时间功率动态”上形成互补。</a:t>
            </a:r>
            <a:endParaRPr sz="665" b="1">
              <a:solidFill>
                <a:srgbClr val="07368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1605</Words>
  <Application>WPS 演示</Application>
  <PresentationFormat>宽屏</PresentationFormat>
  <Paragraphs>223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Arial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－≡ Mr.Right ≡－</cp:lastModifiedBy>
  <cp:revision>158</cp:revision>
  <dcterms:created xsi:type="dcterms:W3CDTF">2019-06-19T02:08:00Z</dcterms:created>
  <dcterms:modified xsi:type="dcterms:W3CDTF">2026-09-20T06:19:01Z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557E132D5D554923A32BE5DCA2DCB229_11</vt:lpwstr>
  </property>
</Properties>
</file>