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svg" ContentType="image/svg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slides/charts/chart1.xml" ContentType="application/vnd.openxmlformats-officedocument.drawingml.chart+xml"/>
  <Override PartName="/ppt/slides/charts/chart2.xml" ContentType="application/vnd.openxmlformats-officedocument.drawingml.chart+xml"/>
  <Override PartName="/ppt/slides/charts/chart3.xml" ContentType="application/vnd.openxmlformats-officedocument.drawingml.chart+xml"/>
  <Override PartName="/ppt/slides/charts/chart4.xml" ContentType="application/vnd.openxmlformats-officedocument.drawingml.chart+xml"/>
  <Override PartName="/ppt/notesSlides/notesSlide2.xml" ContentType="application/vnd.openxmlformats-officedocument.presentationml.notesSlide+xml"/>
  <Override PartName="/ppt/theme/theme2.xml" ContentType="application/vnd.openxmlformats-officedocument.theme+xml"/>
  <Override PartName="/docProps/core.xml" ContentType="application/vnd.openxmlformats-package.core-properties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483638200d94572" /><Relationship Type="http://schemas.openxmlformats.org/officeDocument/2006/relationships/extended-properties" Target="/docProps/app.xml" Id="R12b6d2d107d5445f" /><Relationship Type="http://schemas.openxmlformats.org/officeDocument/2006/relationships/officeDocument" Target="/ppt/presentation.xml" Id="Raf4dfee008ab4021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6122b51f7dd9405e"/>
  </p:sldMasterIdLst>
  <p:notesMasterIdLst>
    <p:notesMasterId xmlns:r="http://schemas.openxmlformats.org/officeDocument/2006/relationships" r:id="Re7f6c76213d24167"/>
  </p:notesMasterIdLst>
  <p:sldIdLst>
    <p:sldId xmlns:r="http://schemas.openxmlformats.org/officeDocument/2006/relationships" id="256" r:id="R4a13d523ead04af7"/>
    <p:sldId xmlns:r="http://schemas.openxmlformats.org/officeDocument/2006/relationships" id="257" r:id="R829b24b4e3334162"/>
  </p:sldIdLst>
  <p:sldSz cx="15925800" cy="8963025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f90f0b9a2bbb403d" /><Relationship Type="http://schemas.openxmlformats.org/officeDocument/2006/relationships/slideMaster" Target="/ppt/slideMasters/slideMaster1.xml" Id="R6122b51f7dd9405e" /><Relationship Type="http://schemas.openxmlformats.org/officeDocument/2006/relationships/notesMaster" Target="/ppt/notesMasters/notesMaster1.xml" Id="Re7f6c76213d24167" /><Relationship Type="http://schemas.openxmlformats.org/officeDocument/2006/relationships/presProps" Target="/ppt/presProps.xml" Id="R3dfe4a38781941fb" /><Relationship Type="http://schemas.openxmlformats.org/officeDocument/2006/relationships/tableStyles" Target="/ppt/tableStyles.xml" Id="Rdbbbf75f40aa438a" /><Relationship Type="http://schemas.openxmlformats.org/officeDocument/2006/relationships/slide" Target="/ppt/slides/slide1.xml" Id="R4a13d523ead04af7" /><Relationship Type="http://schemas.openxmlformats.org/officeDocument/2006/relationships/slide" Target="/ppt/slides/slide2.xml" Id="R829b24b4e3334162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17ee0a078ed34e37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26403a0c661d4d98" /><Relationship Type="http://schemas.openxmlformats.org/officeDocument/2006/relationships/notesMaster" Target="/ppt/notesMasters/notesMaster1.xml" Id="R5b7d8602804440df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cac3aca6ca9a4546" /><Relationship Type="http://schemas.openxmlformats.org/officeDocument/2006/relationships/notesMaster" Target="/ppt/notesMasters/notesMaster1.xml" Id="Rb55b6b6c639841f9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E:\application\xwechat_files\wxid_xyihcy7u0jkj21_d246\msg\file\2026-10\20261010170602.pdf</a:t>
            </a:r>
          </a:p>
          <a:p xmlns:a="http://schemas.openxmlformats.org/drawingml/2006/main">
            <a:r>
              <a:t>Method: PDF pp.22–23 (printed pp.9–10), Fig.2-1 p.24; Eqs.2-2–2-20 pp.28–32; Logit Eqs.3-13,3-14 p.41; Eqs.3-23,3-34 pp.43,46; AIW-PSO pp.48–50; collection/expansion pp.60–70. Each edge provenance in semantic-graph.json. The drawing is a conceptual assessment–treatment–reassessment framework, not a single numerical algorithm. Short and long pathways are alternatives. The source describes a grey prediction route, but the reported long-term case directly scales resources and load (PDF p.71). No independent experiment reproduction is claimed.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E:\application\xwechat_files\wxid_xyihcy7u0jkj21_d246\msg\file\2026-10\20261010170602.pdf</a:t>
            </a:r>
          </a:p>
          <a:p xmlns:a="http://schemas.openxmlformats.org/drawingml/2006/main">
            <a:r>
              <a:t>Assessment: PDF p.35 Table2-1 scores spring1.5978/summer1.6740/autumn1.5569/winter1.5828. Short-term: Tables3-5/3-6 PDF pp.53/55 capacities19.74/27.40 MWh; reduction=(27.40-19.74)/27.40=27.96%. PDF pp.51/53 EV simulation differs from Chapter2, baseline1.7258; PDF p.56 post-treatment0.2479. Net cost: Table3-7 p.58 new298.65 and retired158.57 wan CNY/year, same εev=.8; reduction46.90%. Long-term: p.71 constructed growth, not a forecasting validation; p.73 station14 3150kVA, transformer2500 to3150kVA, LGJ-120 18.988km, annual planning142.63. PDF p.74 Feq before125.25/115.57/113.12 h and after23.11/25.12/25.95 h, score43.1630 to.3638. Values above24h prevent a claim of full elimination. Annual storage net cost651.76 is not plotted or used for savings because its accounting differs. All numbers are reported or arithmetically derived from the thesis; not independently reproduced.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de10d3863ba4b4b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40c9863d0574dad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e27b36bce464f40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2a71784b3184ba8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2d83fdeff1644aa" 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28FF1D42-CAEC-42BA-B1D4-CC5FD46E249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592580" y="3734594"/>
            <a:ext cx="12740640" cy="14938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5486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75CD2DF5-D368-40CE-90AA-1177DEC67FC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95826" y="697124"/>
            <a:ext cx="14134147" cy="10954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4311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1325050F-86DE-477F-BF1B-3D3F55C506E4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95826" y="2489729"/>
            <a:ext cx="14134147" cy="557699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939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98609" indent="-298609">
              <a:lnSpc>
                <a:spcPct val="110000"/>
              </a:lnSpc>
              <a:spcBef>
                <a:spcPts val="0"/>
              </a:spcBef>
              <a:spcAft>
                <a:spcPts val="1568"/>
              </a:spcAft>
              <a:buChar char="•"/>
            </a:lvl1pPr>
            <a:lvl2pPr marL="696754" indent="-298609">
              <a:lnSpc>
                <a:spcPct val="110000"/>
              </a:lnSpc>
              <a:spcBef>
                <a:spcPts val="0"/>
              </a:spcBef>
              <a:spcAft>
                <a:spcPts val="1568"/>
              </a:spcAft>
              <a:buChar char="•"/>
            </a:lvl2pPr>
            <a:lvl3pPr marL="1094899" indent="-298609">
              <a:lnSpc>
                <a:spcPct val="110000"/>
              </a:lnSpc>
              <a:spcBef>
                <a:spcPts val="0"/>
              </a:spcBef>
              <a:spcAft>
                <a:spcPts val="1568"/>
              </a:spcAft>
              <a:buChar char="•"/>
            </a:lvl3pPr>
            <a:lvl4pPr marL="1493044" indent="-298609">
              <a:lnSpc>
                <a:spcPct val="110000"/>
              </a:lnSpc>
              <a:spcBef>
                <a:spcPts val="0"/>
              </a:spcBef>
              <a:spcAft>
                <a:spcPts val="1568"/>
              </a:spcAft>
              <a:buChar char="•"/>
            </a:lvl4pPr>
            <a:lvl5pPr marL="1891189" indent="-298609">
              <a:lnSpc>
                <a:spcPct val="110000"/>
              </a:lnSpc>
              <a:spcBef>
                <a:spcPts val="0"/>
              </a:spcBef>
              <a:spcAft>
                <a:spcPts val="1568"/>
              </a:spcAft>
              <a:buChar char="•"/>
            </a:lvl5pPr>
            <a:lvl6pPr marL="2289334" indent="-298609">
              <a:lnSpc>
                <a:spcPct val="110000"/>
              </a:lnSpc>
              <a:spcBef>
                <a:spcPts val="0"/>
              </a:spcBef>
              <a:spcAft>
                <a:spcPts val="1568"/>
              </a:spcAft>
              <a:buChar char="•"/>
            </a:lvl6pPr>
            <a:lvl7pPr marL="2687479" indent="-298609">
              <a:lnSpc>
                <a:spcPct val="110000"/>
              </a:lnSpc>
              <a:spcBef>
                <a:spcPts val="0"/>
              </a:spcBef>
              <a:spcAft>
                <a:spcPts val="1568"/>
              </a:spcAft>
              <a:buChar char="•"/>
            </a:lvl7pPr>
            <a:lvl8pPr marL="3085624" indent="-298609">
              <a:lnSpc>
                <a:spcPct val="110000"/>
              </a:lnSpc>
              <a:spcBef>
                <a:spcPts val="0"/>
              </a:spcBef>
              <a:spcAft>
                <a:spcPts val="1568"/>
              </a:spcAft>
              <a:buChar char="•"/>
            </a:lvl8pPr>
            <a:lvl9pPr marL="3483769" indent="-298609">
              <a:lnSpc>
                <a:spcPct val="110000"/>
              </a:lnSpc>
              <a:spcBef>
                <a:spcPts val="0"/>
              </a:spcBef>
              <a:spcAft>
                <a:spcPts val="1568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0582B534-BE04-4F8B-8571-D39C4A89385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95826" y="697124"/>
            <a:ext cx="14134147" cy="10954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4311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1A4A919D-3862-4992-8F4A-E4885566CFB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95826" y="2489729"/>
            <a:ext cx="6569392" cy="557699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74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98609" indent="-298609">
              <a:lnSpc>
                <a:spcPct val="110000"/>
              </a:lnSpc>
              <a:spcBef>
                <a:spcPts val="0"/>
              </a:spcBef>
              <a:spcAft>
                <a:spcPts val="1568"/>
              </a:spcAft>
              <a:buChar char="•"/>
            </a:lvl1pPr>
            <a:lvl2pPr marL="696754" indent="-298609">
              <a:lnSpc>
                <a:spcPct val="110000"/>
              </a:lnSpc>
              <a:spcBef>
                <a:spcPts val="0"/>
              </a:spcBef>
              <a:spcAft>
                <a:spcPts val="1568"/>
              </a:spcAft>
              <a:buChar char="•"/>
            </a:lvl2pPr>
            <a:lvl3pPr marL="1094899" indent="-298609">
              <a:lnSpc>
                <a:spcPct val="110000"/>
              </a:lnSpc>
              <a:spcBef>
                <a:spcPts val="0"/>
              </a:spcBef>
              <a:spcAft>
                <a:spcPts val="1568"/>
              </a:spcAft>
              <a:buChar char="•"/>
            </a:lvl3pPr>
            <a:lvl4pPr marL="1493044" indent="-298609">
              <a:lnSpc>
                <a:spcPct val="110000"/>
              </a:lnSpc>
              <a:spcBef>
                <a:spcPts val="0"/>
              </a:spcBef>
              <a:spcAft>
                <a:spcPts val="1568"/>
              </a:spcAft>
              <a:buChar char="•"/>
            </a:lvl4pPr>
            <a:lvl5pPr marL="1891189" indent="-298609">
              <a:lnSpc>
                <a:spcPct val="110000"/>
              </a:lnSpc>
              <a:spcBef>
                <a:spcPts val="0"/>
              </a:spcBef>
              <a:spcAft>
                <a:spcPts val="1568"/>
              </a:spcAft>
              <a:buChar char="•"/>
            </a:lvl5pPr>
            <a:lvl6pPr marL="2289334" indent="-298609">
              <a:lnSpc>
                <a:spcPct val="110000"/>
              </a:lnSpc>
              <a:spcBef>
                <a:spcPts val="0"/>
              </a:spcBef>
              <a:spcAft>
                <a:spcPts val="1568"/>
              </a:spcAft>
              <a:buChar char="•"/>
            </a:lvl6pPr>
            <a:lvl7pPr marL="2687479" indent="-298609">
              <a:lnSpc>
                <a:spcPct val="110000"/>
              </a:lnSpc>
              <a:spcBef>
                <a:spcPts val="0"/>
              </a:spcBef>
              <a:spcAft>
                <a:spcPts val="1568"/>
              </a:spcAft>
              <a:buChar char="•"/>
            </a:lvl7pPr>
            <a:lvl8pPr marL="3085624" indent="-298609">
              <a:lnSpc>
                <a:spcPct val="110000"/>
              </a:lnSpc>
              <a:spcBef>
                <a:spcPts val="0"/>
              </a:spcBef>
              <a:spcAft>
                <a:spcPts val="1568"/>
              </a:spcAft>
              <a:buChar char="•"/>
            </a:lvl8pPr>
            <a:lvl9pPr marL="3483769" indent="-298609">
              <a:lnSpc>
                <a:spcPct val="110000"/>
              </a:lnSpc>
              <a:spcBef>
                <a:spcPts val="0"/>
              </a:spcBef>
              <a:spcAft>
                <a:spcPts val="1568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599BB305-E196-4E1A-B33D-E8A44CF9701C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460581" y="2489729"/>
            <a:ext cx="6569392" cy="557699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74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98609" indent="-298609">
              <a:lnSpc>
                <a:spcPct val="110000"/>
              </a:lnSpc>
              <a:spcBef>
                <a:spcPts val="0"/>
              </a:spcBef>
              <a:spcAft>
                <a:spcPts val="1568"/>
              </a:spcAft>
              <a:buChar char="•"/>
            </a:lvl1pPr>
            <a:lvl2pPr marL="696754" indent="-298609">
              <a:lnSpc>
                <a:spcPct val="110000"/>
              </a:lnSpc>
              <a:spcBef>
                <a:spcPts val="0"/>
              </a:spcBef>
              <a:spcAft>
                <a:spcPts val="1568"/>
              </a:spcAft>
              <a:buChar char="•"/>
            </a:lvl2pPr>
            <a:lvl3pPr marL="1094899" indent="-298609">
              <a:lnSpc>
                <a:spcPct val="110000"/>
              </a:lnSpc>
              <a:spcBef>
                <a:spcPts val="0"/>
              </a:spcBef>
              <a:spcAft>
                <a:spcPts val="1568"/>
              </a:spcAft>
              <a:buChar char="•"/>
            </a:lvl3pPr>
            <a:lvl4pPr marL="1493044" indent="-298609">
              <a:lnSpc>
                <a:spcPct val="110000"/>
              </a:lnSpc>
              <a:spcBef>
                <a:spcPts val="0"/>
              </a:spcBef>
              <a:spcAft>
                <a:spcPts val="1568"/>
              </a:spcAft>
              <a:buChar char="•"/>
            </a:lvl4pPr>
            <a:lvl5pPr marL="1891189" indent="-298609">
              <a:lnSpc>
                <a:spcPct val="110000"/>
              </a:lnSpc>
              <a:spcBef>
                <a:spcPts val="0"/>
              </a:spcBef>
              <a:spcAft>
                <a:spcPts val="1568"/>
              </a:spcAft>
              <a:buChar char="•"/>
            </a:lvl5pPr>
            <a:lvl6pPr marL="2289334" indent="-298609">
              <a:lnSpc>
                <a:spcPct val="110000"/>
              </a:lnSpc>
              <a:spcBef>
                <a:spcPts val="0"/>
              </a:spcBef>
              <a:spcAft>
                <a:spcPts val="1568"/>
              </a:spcAft>
              <a:buChar char="•"/>
            </a:lvl6pPr>
            <a:lvl7pPr marL="2687479" indent="-298609">
              <a:lnSpc>
                <a:spcPct val="110000"/>
              </a:lnSpc>
              <a:spcBef>
                <a:spcPts val="0"/>
              </a:spcBef>
              <a:spcAft>
                <a:spcPts val="1568"/>
              </a:spcAft>
              <a:buChar char="•"/>
            </a:lvl7pPr>
            <a:lvl8pPr marL="3085624" indent="-298609">
              <a:lnSpc>
                <a:spcPct val="110000"/>
              </a:lnSpc>
              <a:spcBef>
                <a:spcPts val="0"/>
              </a:spcBef>
              <a:spcAft>
                <a:spcPts val="1568"/>
              </a:spcAft>
              <a:buChar char="•"/>
            </a:lvl8pPr>
            <a:lvl9pPr marL="3483769" indent="-298609">
              <a:lnSpc>
                <a:spcPct val="110000"/>
              </a:lnSpc>
              <a:spcBef>
                <a:spcPts val="0"/>
              </a:spcBef>
              <a:spcAft>
                <a:spcPts val="1568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7DBB6A5D-6F5F-4380-9A0A-5E744A4DB6E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95826" y="697124"/>
            <a:ext cx="14134147" cy="10954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4311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9FE81A4E-DA08-4ECF-926E-0D73EA82D87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95826" y="2489729"/>
            <a:ext cx="6569392" cy="557699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939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98609" indent="-298609">
              <a:lnSpc>
                <a:spcPct val="110000"/>
              </a:lnSpc>
              <a:spcBef>
                <a:spcPts val="0"/>
              </a:spcBef>
              <a:spcAft>
                <a:spcPts val="1568"/>
              </a:spcAft>
              <a:buChar char="•"/>
            </a:lvl1pPr>
            <a:lvl2pPr marL="696754" indent="-298609">
              <a:lnSpc>
                <a:spcPct val="110000"/>
              </a:lnSpc>
              <a:spcBef>
                <a:spcPts val="0"/>
              </a:spcBef>
              <a:spcAft>
                <a:spcPts val="1568"/>
              </a:spcAft>
              <a:buChar char="•"/>
            </a:lvl2pPr>
            <a:lvl3pPr marL="1094899" indent="-298609">
              <a:lnSpc>
                <a:spcPct val="110000"/>
              </a:lnSpc>
              <a:spcBef>
                <a:spcPts val="0"/>
              </a:spcBef>
              <a:spcAft>
                <a:spcPts val="1568"/>
              </a:spcAft>
              <a:buChar char="•"/>
            </a:lvl3pPr>
            <a:lvl4pPr marL="1493044" indent="-298609">
              <a:lnSpc>
                <a:spcPct val="110000"/>
              </a:lnSpc>
              <a:spcBef>
                <a:spcPts val="0"/>
              </a:spcBef>
              <a:spcAft>
                <a:spcPts val="1568"/>
              </a:spcAft>
              <a:buChar char="•"/>
            </a:lvl4pPr>
            <a:lvl5pPr marL="1891189" indent="-298609">
              <a:lnSpc>
                <a:spcPct val="110000"/>
              </a:lnSpc>
              <a:spcBef>
                <a:spcPts val="0"/>
              </a:spcBef>
              <a:spcAft>
                <a:spcPts val="1568"/>
              </a:spcAft>
              <a:buChar char="•"/>
            </a:lvl5pPr>
            <a:lvl6pPr marL="2289334" indent="-298609">
              <a:lnSpc>
                <a:spcPct val="110000"/>
              </a:lnSpc>
              <a:spcBef>
                <a:spcPts val="0"/>
              </a:spcBef>
              <a:spcAft>
                <a:spcPts val="1568"/>
              </a:spcAft>
              <a:buChar char="•"/>
            </a:lvl6pPr>
            <a:lvl7pPr marL="2687479" indent="-298609">
              <a:lnSpc>
                <a:spcPct val="110000"/>
              </a:lnSpc>
              <a:spcBef>
                <a:spcPts val="0"/>
              </a:spcBef>
              <a:spcAft>
                <a:spcPts val="1568"/>
              </a:spcAft>
              <a:buChar char="•"/>
            </a:lvl7pPr>
            <a:lvl8pPr marL="3085624" indent="-298609">
              <a:lnSpc>
                <a:spcPct val="110000"/>
              </a:lnSpc>
              <a:spcBef>
                <a:spcPts val="0"/>
              </a:spcBef>
              <a:spcAft>
                <a:spcPts val="1568"/>
              </a:spcAft>
              <a:buChar char="•"/>
            </a:lvl8pPr>
            <a:lvl9pPr marL="3483769" indent="-298609">
              <a:lnSpc>
                <a:spcPct val="110000"/>
              </a:lnSpc>
              <a:spcBef>
                <a:spcPts val="0"/>
              </a:spcBef>
              <a:spcAft>
                <a:spcPts val="1568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<?xml version='1.0' encoding='UTF-8' standalone='yes'?>
<Relationships xmlns="http://schemas.openxmlformats.org/package/2006/relationships"><Relationship Type="http://schemas.openxmlformats.org/officeDocument/2006/relationships/slideLayout" Target="../slideLayouts/slideLayout1.xml" Id="R43bac35079b24c79"/><Relationship Type="http://schemas.openxmlformats.org/officeDocument/2006/relationships/image" Target="/ppt/media/image.png" Id="R898344be67ab47f9"/><Relationship Type="http://schemas.openxmlformats.org/officeDocument/2006/relationships/image" Target="/ppt/media/image.svg" Id="Rd4e2835c434d4122"/><Relationship Type="http://schemas.openxmlformats.org/officeDocument/2006/relationships/image" Target="/ppt/media/image2.png" Id="Rd2d8364170c94104"/><Relationship Type="http://schemas.openxmlformats.org/officeDocument/2006/relationships/image" Target="/ppt/media/image2.svg" Id="R9ab960c77edb45f6"/><Relationship Type="http://schemas.openxmlformats.org/officeDocument/2006/relationships/image" Target="/ppt/media/image3.png" Id="R6db131bedd90400e"/><Relationship Type="http://schemas.openxmlformats.org/officeDocument/2006/relationships/image" Target="/ppt/media/image3.svg" Id="R09a79a14306241cf"/><Relationship Type="http://schemas.openxmlformats.org/officeDocument/2006/relationships/image" Target="/ppt/media/image4.png" Id="R3777650b69d54cb0"/><Relationship Type="http://schemas.openxmlformats.org/officeDocument/2006/relationships/image" Target="/ppt/media/image4.svg" Id="Rb0833d27e0bc4eb6"/><Relationship Type="http://schemas.openxmlformats.org/officeDocument/2006/relationships/notesSlide" Target="/ppt/notesSlides/notesSlide1.xml" Id="R351d66be3ce54399"/></Relationships>
</file>

<file path=ppt/slides/_rels/slide2.xml.rels><?xml version='1.0' encoding='UTF-8' standalone='yes'?>
<Relationships xmlns="http://schemas.openxmlformats.org/package/2006/relationships"><Relationship Type="http://schemas.openxmlformats.org/officeDocument/2006/relationships/slideLayout" Target="../slideLayouts/slideLayout1.xml" Id="Rd249dfe927ad4d61"/><Relationship Type="http://schemas.openxmlformats.org/officeDocument/2006/relationships/chart" Target="/ppt/slides/charts/chart1.xml" Id="R84ea810d81d94c8d"/><Relationship Type="http://schemas.openxmlformats.org/officeDocument/2006/relationships/chart" Target="/ppt/slides/charts/chart2.xml" Id="R837e75520127455a"/><Relationship Type="http://schemas.openxmlformats.org/officeDocument/2006/relationships/chart" Target="/ppt/slides/charts/chart3.xml" Id="Re3e065e883ed45c8"/><Relationship Type="http://schemas.openxmlformats.org/officeDocument/2006/relationships/chart" Target="/ppt/slides/charts/chart4.xml" Id="Rdf897e7bc71b43f7"/><Relationship Type="http://schemas.openxmlformats.org/officeDocument/2006/relationships/notesSlide" Target="/ppt/notesSlides/notesSlide2.xml" Id="R883b4593868c4ab6"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_rels/chart2.xml.rels><Relationships xmlns="http://schemas.openxmlformats.org/package/2006/relationships"><Relationship Id="rIdChartSnapshot1" Type="http://schemas.openxmlformats.org/officeDocument/2006/relationships/package" Target="../../embeddings/chart-data-snapshot-002.xlsx"/></Relationships>
</file>

<file path=ppt/slides/charts/_rels/chart3.xml.rels><Relationships xmlns="http://schemas.openxmlformats.org/package/2006/relationships"><Relationship Id="rIdChartSnapshot1" Type="http://schemas.openxmlformats.org/officeDocument/2006/relationships/package" Target="../../embeddings/chart-data-snapshot-003.xlsx"/></Relationships>
</file>

<file path=ppt/slides/charts/_rels/chart4.xml.rels><Relationships xmlns="http://schemas.openxmlformats.org/package/2006/relationships"><Relationship Id="rIdChartSnapshot1" Type="http://schemas.openxmlformats.org/officeDocument/2006/relationships/package" Target="../../embeddings/chart-data-snapshot-004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综合得分</c:v>
          </c:tx>
          <c:spPr>
            <a:solidFill xmlns:a="http://schemas.openxmlformats.org/drawingml/2006/main">
              <a:srgbClr val="1673CE"/>
            </a:solidFill>
          </c:spPr>
          <c:dPt>
            <c:idx val="0"/>
            <c:invertIfNegative val="0"/>
            <c:spPr>
              <a:solidFill xmlns:a="http://schemas.openxmlformats.org/drawingml/2006/main">
                <a:srgbClr val="A1B4CA"/>
              </a:solidFill>
              <a:ln xmlns:a="http://schemas.openxmlformats.org/drawingml/2006/main" w="9525">
                <a:solidFill>
                  <a:srgbClr val="A1B4CA"/>
                </a:solidFill>
                <a:prstDash val="solid"/>
              </a:ln>
            </c:spPr>
          </c:dPt>
          <c:dPt>
            <c:idx val="1"/>
            <c:invertIfNegative val="0"/>
            <c:spPr>
              <a:solidFill xmlns:a="http://schemas.openxmlformats.org/drawingml/2006/main">
                <a:srgbClr val="07368C"/>
              </a:solidFill>
              <a:ln xmlns:a="http://schemas.openxmlformats.org/drawingml/2006/main" w="9525">
                <a:solidFill>
                  <a:srgbClr val="07368C"/>
                </a:solidFill>
                <a:prstDash val="solid"/>
              </a:ln>
            </c:spPr>
          </c:dPt>
          <c:dPt>
            <c:idx val="2"/>
            <c:invertIfNegative val="0"/>
            <c:spPr>
              <a:solidFill xmlns:a="http://schemas.openxmlformats.org/drawingml/2006/main">
                <a:srgbClr val="A1B4CA"/>
              </a:solidFill>
              <a:ln xmlns:a="http://schemas.openxmlformats.org/drawingml/2006/main" w="9525">
                <a:solidFill>
                  <a:srgbClr val="A1B4CA"/>
                </a:solidFill>
                <a:prstDash val="solid"/>
              </a:ln>
            </c:spPr>
          </c:dPt>
          <c:dPt>
            <c:idx val="3"/>
            <c:invertIfNegative val="0"/>
            <c:spPr>
              <a:solidFill xmlns:a="http://schemas.openxmlformats.org/drawingml/2006/main">
                <a:srgbClr val="A1B4CA"/>
              </a:solidFill>
              <a:ln xmlns:a="http://schemas.openxmlformats.org/drawingml/2006/main" w="9525">
                <a:solidFill>
                  <a:srgbClr val="A1B4CA"/>
                </a:solidFill>
                <a:prstDash val="solid"/>
              </a:ln>
            </c:spPr>
          </c:dPt>
          <c:cat>
            <c:strRef>
              <c:f>'Chart Data'!$A$2:$A$5</c:f>
              <c:strCache>
                <c:ptCount val="4"/>
                <c:pt idx="0">
                  <c:v>春</c:v>
                </c:pt>
                <c:pt idx="1">
                  <c:v>夏</c:v>
                </c:pt>
                <c:pt idx="2">
                  <c:v>秋</c:v>
                </c:pt>
                <c:pt idx="3">
                  <c:v>冬</c:v>
                </c:pt>
              </c:strCache>
            </c:strRef>
          </c:cat>
          <c:val>
            <c:numRef>
              <c:f>'Chart Data'!$B$2:$B$5</c:f>
              <c:numCache>
                <c:formatCode>0.0000</c:formatCode>
                <c:ptCount val="4"/>
                <c:pt idx="0">
                  <c:v>1.5978</c:v>
                </c:pt>
                <c:pt idx="1">
                  <c:v>1.674</c:v>
                </c:pt>
                <c:pt idx="2">
                  <c:v>1.5569</c:v>
                </c:pt>
                <c:pt idx="3">
                  <c:v>1.5828</c:v>
                </c:pt>
              </c:numCache>
            </c:numRef>
          </c:val>
        </c:ser>
        <c:dLbls>
          <c:numFmt formatCode="0.0000" sourceLinked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500">
                  <a:solidFill>
                    <a:srgbClr val="101D30"/>
                  </a:solidFill>
                  <a:latin typeface="Microsoft YaHei"/>
                  <a:ea typeface="Microsoft YaHei"/>
                  <a:cs typeface="Microsoft YaHei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3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majorGridlines>
          <c:spPr>
            <a:ln xmlns:a="http://schemas.openxmlformats.org/drawingml/2006/main" w="9525">
              <a:solidFill>
                <a:srgbClr val="A6A6A6"/>
              </a:solidFill>
              <a:prstDash val="dash"/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275">
                    <a:solidFill>
                      <a:srgbClr val="101D30"/>
                    </a:solidFill>
                    <a:latin typeface="Microsoft YaHei"/>
                    <a:ea typeface="Microsoft YaHei"/>
                    <a:cs typeface="Microsoft YaHei"/>
                  </a:rPr>
                  <a:t>季节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275">
                  <a:solidFill>
                    <a:srgbClr val="101D30"/>
                  </a:solidFill>
                  <a:latin typeface="Microsoft YaHei"/>
                  <a:ea typeface="Microsoft YaHei"/>
                  <a:cs typeface="Microsoft YaHei"/>
                </a:defRPr>
              </a:pPr>
            </a:p>
          </c:txPr>
        </c:title>
        <c:numFmt formatCode="General"/>
        <c:majorTickMark val="out"/>
        <c:minorTickMark val="none"/>
        <c:spPr>
          <a:ln xmlns:a="http://schemas.openxmlformats.org/drawingml/2006/main" w="12383">
            <a:solidFill>
              <a:srgbClr val="595959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101D30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72768"/>
      </c:catAx>
      <c:valAx>
        <c:axId val="48672768"/>
        <c:scaling>
          <c:orientation val="minMax"/>
          <c:max val="2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A6A6A6"/>
              </a:solidFill>
              <a:prstDash val="dash"/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275">
                    <a:solidFill>
                      <a:srgbClr val="101D30"/>
                    </a:solidFill>
                    <a:latin typeface="Microsoft YaHei"/>
                    <a:ea typeface="Microsoft YaHei"/>
                    <a:cs typeface="Microsoft YaHei"/>
                  </a:rPr>
                  <a:t>综合得分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275">
                  <a:solidFill>
                    <a:srgbClr val="101D30"/>
                  </a:solidFill>
                  <a:latin typeface="Microsoft YaHei"/>
                  <a:ea typeface="Microsoft YaHei"/>
                  <a:cs typeface="Microsoft YaHei"/>
                </a:defRPr>
              </a:pPr>
            </a:p>
          </c:txPr>
        </c:title>
        <c:numFmt formatCode="0.##"/>
        <c:majorTickMark val="out"/>
        <c:minorTickMark val="none"/>
        <c:spPr>
          <a:ln xmlns:a="http://schemas.openxmlformats.org/drawingml/2006/main" w="12383">
            <a:solidFill>
              <a:srgbClr val="595959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101D30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50112"/>
        <c:crossBetween val="between"/>
        <c:majorUnit val="0.4"/>
      </c:valAx>
      <c:spPr>
        <a:solidFill xmlns:a="http://schemas.openxmlformats.org/drawingml/2006/main">
          <a:srgbClr val="FFFFFF"/>
        </a:solidFill>
        <a:ln xmlns:a="http://schemas.openxmlformats.org/drawingml/2006/main" w="12383">
          <a:solidFill>
            <a:srgbClr val="595959"/>
          </a:solidFill>
          <a:prstDash val="solid"/>
        </a:ln>
      </c:spPr>
    </c:plotArea>
    <c:plotVisOnly val="1"/>
  </c:chart>
  <c:spPr>
    <a:solidFill xmlns:a="http://schemas.openxmlformats.org/drawingml/2006/main">
      <a:srgbClr val="FFFFFF"/>
    </a:solidFill>
  </c:spPr>
  <c:externalData r:id="rIdChartSnapshot1">
    <c:autoUpdate val="0"/>
  </c:externalData>
</c:chartSpace>
</file>

<file path=ppt/slides/charts/chart2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储能容量</c:v>
          </c:tx>
          <c:spPr>
            <a:solidFill xmlns:a="http://schemas.openxmlformats.org/drawingml/2006/main">
              <a:srgbClr val="1673CE"/>
            </a:solidFill>
          </c:spPr>
          <c:dPt>
            <c:idx val="0"/>
            <c:invertIfNegative val="0"/>
            <c:spPr>
              <a:solidFill xmlns:a="http://schemas.openxmlformats.org/drawingml/2006/main">
                <a:srgbClr val="A1B4CA"/>
              </a:solidFill>
              <a:ln xmlns:a="http://schemas.openxmlformats.org/drawingml/2006/main" w="9525">
                <a:solidFill>
                  <a:srgbClr val="A1B4CA"/>
                </a:solidFill>
                <a:prstDash val="solid"/>
              </a:ln>
            </c:spPr>
          </c:dPt>
          <c:dPt>
            <c:idx val="1"/>
            <c:invertIfNegative val="0"/>
            <c:spPr>
              <a:solidFill xmlns:a="http://schemas.openxmlformats.org/drawingml/2006/main">
                <a:srgbClr val="07368C"/>
              </a:solidFill>
              <a:ln xmlns:a="http://schemas.openxmlformats.org/drawingml/2006/main" w="9525">
                <a:solidFill>
                  <a:srgbClr val="07368C"/>
                </a:solidFill>
                <a:prstDash val="solid"/>
              </a:ln>
            </c:spPr>
          </c:dPt>
          <c:cat>
            <c:strRef>
              <c:f>'Chart Data'!$A$2:$A$3</c:f>
              <c:strCache>
                <c:ptCount val="2"/>
                <c:pt idx="0">
                  <c:v>无序充电</c:v>
                </c:pt>
                <c:pt idx="1">
                  <c:v>80%有序</c:v>
                </c:pt>
              </c:strCache>
            </c:strRef>
          </c:cat>
          <c:val>
            <c:numRef>
              <c:f>'Chart Data'!$B$2:$B$3</c:f>
              <c:numCache>
                <c:formatCode>0.00</c:formatCode>
                <c:ptCount val="2"/>
                <c:pt idx="0">
                  <c:v>27.4</c:v>
                </c:pt>
                <c:pt idx="1">
                  <c:v>19.74</c:v>
                </c:pt>
              </c:numCache>
            </c:numRef>
          </c:val>
        </c:ser>
        <c:dLbls>
          <c:numFmt formatCode="0.00" sourceLinked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425">
                  <a:solidFill>
                    <a:srgbClr val="101D30"/>
                  </a:solidFill>
                  <a:latin typeface="Microsoft YaHei"/>
                  <a:ea typeface="Microsoft YaHei"/>
                  <a:cs typeface="Microsoft YaHei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3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majorGridlines>
          <c:spPr>
            <a:ln xmlns:a="http://schemas.openxmlformats.org/drawingml/2006/main" w="9525">
              <a:solidFill>
                <a:srgbClr val="A6A6A6"/>
              </a:solidFill>
              <a:prstDash val="dash"/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275">
                    <a:solidFill>
                      <a:srgbClr val="101D30"/>
                    </a:solidFill>
                    <a:latin typeface="Microsoft YaHei"/>
                    <a:ea typeface="Microsoft YaHei"/>
                    <a:cs typeface="Microsoft YaHei"/>
                  </a:rPr>
                  <a:t>EV充电方式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275">
                  <a:solidFill>
                    <a:srgbClr val="101D30"/>
                  </a:solidFill>
                  <a:latin typeface="Microsoft YaHei"/>
                  <a:ea typeface="Microsoft YaHei"/>
                  <a:cs typeface="Microsoft YaHei"/>
                </a:defRPr>
              </a:pPr>
            </a:p>
          </c:txPr>
        </c:title>
        <c:numFmt formatCode="General"/>
        <c:majorTickMark val="out"/>
        <c:minorTickMark val="none"/>
        <c:spPr>
          <a:ln xmlns:a="http://schemas.openxmlformats.org/drawingml/2006/main" w="12383">
            <a:solidFill>
              <a:srgbClr val="595959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101D30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72768"/>
      </c:catAx>
      <c:valAx>
        <c:axId val="48672768"/>
        <c:scaling>
          <c:orientation val="minMax"/>
          <c:max val="30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A6A6A6"/>
              </a:solidFill>
              <a:prstDash val="dash"/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275">
                    <a:solidFill>
                      <a:srgbClr val="101D30"/>
                    </a:solidFill>
                    <a:latin typeface="Microsoft YaHei"/>
                    <a:ea typeface="Microsoft YaHei"/>
                    <a:cs typeface="Microsoft YaHei"/>
                  </a:rPr>
                  <a:t>容量 / MWh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275">
                  <a:solidFill>
                    <a:srgbClr val="101D30"/>
                  </a:solidFill>
                  <a:latin typeface="Microsoft YaHei"/>
                  <a:ea typeface="Microsoft YaHei"/>
                  <a:cs typeface="Microsoft YaHei"/>
                </a:defRPr>
              </a:pPr>
            </a:p>
          </c:txPr>
        </c:title>
        <c:numFmt formatCode="0.##"/>
        <c:majorTickMark val="out"/>
        <c:minorTickMark val="none"/>
        <c:spPr>
          <a:ln xmlns:a="http://schemas.openxmlformats.org/drawingml/2006/main" w="12383">
            <a:solidFill>
              <a:srgbClr val="595959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101D30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50112"/>
        <c:crossBetween val="between"/>
        <c:majorUnit val="5"/>
      </c:valAx>
      <c:spPr>
        <a:solidFill xmlns:a="http://schemas.openxmlformats.org/drawingml/2006/main">
          <a:srgbClr val="FFFFFF"/>
        </a:solidFill>
        <a:ln xmlns:a="http://schemas.openxmlformats.org/drawingml/2006/main" w="12383">
          <a:solidFill>
            <a:srgbClr val="595959"/>
          </a:solidFill>
          <a:prstDash val="solid"/>
        </a:ln>
      </c:spPr>
    </c:plotArea>
    <c:plotVisOnly val="1"/>
  </c:chart>
  <c:spPr>
    <a:solidFill xmlns:a="http://schemas.openxmlformats.org/drawingml/2006/main">
      <a:srgbClr val="FFFFFF"/>
    </a:solidFill>
  </c:spPr>
  <c:externalData r:id="rIdChartSnapshot1">
    <c:autoUpdate val="0"/>
  </c:externalData>
</c:chartSpace>
</file>

<file path=ppt/slides/charts/chart3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年净成本</c:v>
          </c:tx>
          <c:spPr>
            <a:solidFill xmlns:a="http://schemas.openxmlformats.org/drawingml/2006/main">
              <a:srgbClr val="1673CE"/>
            </a:solidFill>
          </c:spPr>
          <c:dPt>
            <c:idx val="0"/>
            <c:invertIfNegative val="0"/>
            <c:spPr>
              <a:solidFill xmlns:a="http://schemas.openxmlformats.org/drawingml/2006/main">
                <a:srgbClr val="A1B4CA"/>
              </a:solidFill>
              <a:ln xmlns:a="http://schemas.openxmlformats.org/drawingml/2006/main" w="9525">
                <a:solidFill>
                  <a:srgbClr val="A1B4CA"/>
                </a:solidFill>
                <a:prstDash val="solid"/>
              </a:ln>
            </c:spPr>
          </c:dPt>
          <c:dPt>
            <c:idx val="1"/>
            <c:invertIfNegative val="0"/>
            <c:spPr>
              <a:solidFill xmlns:a="http://schemas.openxmlformats.org/drawingml/2006/main">
                <a:srgbClr val="07368C"/>
              </a:solidFill>
              <a:ln xmlns:a="http://schemas.openxmlformats.org/drawingml/2006/main" w="9525">
                <a:solidFill>
                  <a:srgbClr val="07368C"/>
                </a:solidFill>
                <a:prstDash val="solid"/>
              </a:ln>
            </c:spPr>
          </c:dPt>
          <c:cat>
            <c:strRef>
              <c:f>'Chart Data'!$A$2:$A$3</c:f>
              <c:strCache>
                <c:ptCount val="2"/>
                <c:pt idx="0">
                  <c:v>新电池</c:v>
                </c:pt>
                <c:pt idx="1">
                  <c:v>退役电池</c:v>
                </c:pt>
              </c:strCache>
            </c:strRef>
          </c:cat>
          <c:val>
            <c:numRef>
              <c:f>'Chart Data'!$B$2:$B$3</c:f>
              <c:numCache>
                <c:formatCode>0.00</c:formatCode>
                <c:ptCount val="2"/>
                <c:pt idx="0">
                  <c:v>298.65</c:v>
                </c:pt>
                <c:pt idx="1">
                  <c:v>158.57</c:v>
                </c:pt>
              </c:numCache>
            </c:numRef>
          </c:val>
        </c:ser>
        <c:dLbls>
          <c:numFmt formatCode="0.00" sourceLinked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425">
                  <a:solidFill>
                    <a:srgbClr val="101D30"/>
                  </a:solidFill>
                  <a:latin typeface="Microsoft YaHei"/>
                  <a:ea typeface="Microsoft YaHei"/>
                  <a:cs typeface="Microsoft YaHei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3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majorGridlines>
          <c:spPr>
            <a:ln xmlns:a="http://schemas.openxmlformats.org/drawingml/2006/main" w="9525">
              <a:solidFill>
                <a:srgbClr val="A6A6A6"/>
              </a:solidFill>
              <a:prstDash val="dash"/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275">
                    <a:solidFill>
                      <a:srgbClr val="101D30"/>
                    </a:solidFill>
                    <a:latin typeface="Microsoft YaHei"/>
                    <a:ea typeface="Microsoft YaHei"/>
                    <a:cs typeface="Microsoft YaHei"/>
                  </a:rPr>
                  <a:t>电池类型（εev = 0.8）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275">
                  <a:solidFill>
                    <a:srgbClr val="101D30"/>
                  </a:solidFill>
                  <a:latin typeface="Microsoft YaHei"/>
                  <a:ea typeface="Microsoft YaHei"/>
                  <a:cs typeface="Microsoft YaHei"/>
                </a:defRPr>
              </a:pPr>
            </a:p>
          </c:txPr>
        </c:title>
        <c:numFmt formatCode="General"/>
        <c:majorTickMark val="out"/>
        <c:minorTickMark val="none"/>
        <c:spPr>
          <a:ln xmlns:a="http://schemas.openxmlformats.org/drawingml/2006/main" w="12383">
            <a:solidFill>
              <a:srgbClr val="595959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101D30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72768"/>
      </c:catAx>
      <c:valAx>
        <c:axId val="48672768"/>
        <c:scaling>
          <c:orientation val="minMax"/>
          <c:max val="350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A6A6A6"/>
              </a:solidFill>
              <a:prstDash val="dash"/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275">
                    <a:solidFill>
                      <a:srgbClr val="101D30"/>
                    </a:solidFill>
                    <a:latin typeface="Microsoft YaHei"/>
                    <a:ea typeface="Microsoft YaHei"/>
                    <a:cs typeface="Microsoft YaHei"/>
                  </a:rPr>
                  <a:t>万元 / 年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275">
                  <a:solidFill>
                    <a:srgbClr val="101D30"/>
                  </a:solidFill>
                  <a:latin typeface="Microsoft YaHei"/>
                  <a:ea typeface="Microsoft YaHei"/>
                  <a:cs typeface="Microsoft YaHei"/>
                </a:defRPr>
              </a:pPr>
            </a:p>
          </c:txPr>
        </c:title>
        <c:numFmt formatCode="0.##"/>
        <c:majorTickMark val="out"/>
        <c:minorTickMark val="none"/>
        <c:spPr>
          <a:ln xmlns:a="http://schemas.openxmlformats.org/drawingml/2006/main" w="12383">
            <a:solidFill>
              <a:srgbClr val="595959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101D30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50112"/>
        <c:crossBetween val="between"/>
        <c:majorUnit val="70"/>
      </c:valAx>
      <c:spPr>
        <a:solidFill xmlns:a="http://schemas.openxmlformats.org/drawingml/2006/main">
          <a:srgbClr val="FFFFFF"/>
        </a:solidFill>
        <a:ln xmlns:a="http://schemas.openxmlformats.org/drawingml/2006/main" w="12383">
          <a:solidFill>
            <a:srgbClr val="595959"/>
          </a:solidFill>
          <a:prstDash val="solid"/>
        </a:ln>
      </c:spPr>
    </c:plotArea>
    <c:plotVisOnly val="1"/>
  </c:chart>
  <c:spPr>
    <a:solidFill xmlns:a="http://schemas.openxmlformats.org/drawingml/2006/main">
      <a:srgbClr val="FFFFFF"/>
    </a:solidFill>
  </c:spPr>
  <c:externalData r:id="rIdChartSnapshot1">
    <c:autoUpdate val="0"/>
  </c:externalData>
</c:chartSpace>
</file>

<file path=ppt/slides/charts/chart4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治理前</c:v>
          </c:tx>
          <c:spPr>
            <a:solidFill xmlns:a="http://schemas.openxmlformats.org/drawingml/2006/main">
              <a:srgbClr val="A1B4CA"/>
            </a:solidFill>
          </c:spPr>
          <c:cat>
            <c:strRef>
              <c:f>'Chart Data'!$A$2:$A$4</c:f>
              <c:strCache>
                <c:ptCount val="3"/>
                <c:pt idx="0">
                  <c:v>台区配变</c:v>
                </c:pt>
                <c:pt idx="1">
                  <c:v>线路20-21</c:v>
                </c:pt>
                <c:pt idx="2">
                  <c:v>线路31-32</c:v>
                </c:pt>
              </c:strCache>
            </c:strRef>
          </c:cat>
          <c:val>
            <c:numRef>
              <c:f>'Chart Data'!$B$2:$B$4</c:f>
              <c:numCache>
                <c:formatCode>0.00</c:formatCode>
                <c:ptCount val="3"/>
                <c:pt idx="0">
                  <c:v>125.25</c:v>
                </c:pt>
                <c:pt idx="1">
                  <c:v>115.57</c:v>
                </c:pt>
                <c:pt idx="2">
                  <c:v>113.12</c:v>
                </c:pt>
              </c:numCache>
            </c:numRef>
          </c:val>
        </c:ser>
        <c:ser>
          <c:idx val="1"/>
          <c:order val="1"/>
          <c:tx>
            <c:v>治理后</c:v>
          </c:tx>
          <c:spPr>
            <a:solidFill xmlns:a="http://schemas.openxmlformats.org/drawingml/2006/main">
              <a:srgbClr val="07368C"/>
            </a:solidFill>
          </c:spPr>
          <c:cat>
            <c:strRef>
              <c:f>'Chart Data'!$C$2:$C$4</c:f>
              <c:strCache>
                <c:ptCount val="3"/>
                <c:pt idx="0">
                  <c:v>台区配变</c:v>
                </c:pt>
                <c:pt idx="1">
                  <c:v>线路20-21</c:v>
                </c:pt>
                <c:pt idx="2">
                  <c:v>线路31-32</c:v>
                </c:pt>
              </c:strCache>
            </c:strRef>
          </c:cat>
          <c:val>
            <c:numRef>
              <c:f>'Chart Data'!$D$2:$D$4</c:f>
              <c:numCache>
                <c:formatCode>0.00</c:formatCode>
                <c:ptCount val="3"/>
                <c:pt idx="0">
                  <c:v>23.11</c:v>
                </c:pt>
                <c:pt idx="1">
                  <c:v>25.12</c:v>
                </c:pt>
                <c:pt idx="2">
                  <c:v>25.95</c:v>
                </c:pt>
              </c:numCache>
            </c:numRef>
          </c:val>
        </c:ser>
        <c:dLbls>
          <c:numFmt formatCode="0.00" sourceLinked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350">
                  <a:solidFill>
                    <a:srgbClr val="101D30"/>
                  </a:solidFill>
                  <a:latin typeface="Microsoft YaHei"/>
                  <a:ea typeface="Microsoft YaHei"/>
                  <a:cs typeface="Microsoft YaHei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85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majorGridlines>
          <c:spPr>
            <a:ln xmlns:a="http://schemas.openxmlformats.org/drawingml/2006/main" w="9525">
              <a:solidFill>
                <a:srgbClr val="A6A6A6"/>
              </a:solidFill>
              <a:prstDash val="dash"/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275">
                    <a:solidFill>
                      <a:srgbClr val="101D30"/>
                    </a:solidFill>
                    <a:latin typeface="Microsoft YaHei"/>
                    <a:ea typeface="Microsoft YaHei"/>
                    <a:cs typeface="Microsoft YaHei"/>
                  </a:rPr>
                  <a:t>载流设备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275">
                  <a:solidFill>
                    <a:srgbClr val="101D30"/>
                  </a:solidFill>
                  <a:latin typeface="Microsoft YaHei"/>
                  <a:ea typeface="Microsoft YaHei"/>
                  <a:cs typeface="Microsoft YaHei"/>
                </a:defRPr>
              </a:pPr>
            </a:p>
          </c:txPr>
        </c:title>
        <c:numFmt formatCode="General"/>
        <c:majorTickMark val="out"/>
        <c:minorTickMark val="none"/>
        <c:spPr>
          <a:ln xmlns:a="http://schemas.openxmlformats.org/drawingml/2006/main" w="12383">
            <a:solidFill>
              <a:srgbClr val="595959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101D30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72768"/>
      </c:catAx>
      <c:valAx>
        <c:axId val="48672768"/>
        <c:scaling>
          <c:orientation val="minMax"/>
          <c:max val="150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A6A6A6"/>
              </a:solidFill>
              <a:prstDash val="dash"/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275">
                    <a:solidFill>
                      <a:srgbClr val="101D30"/>
                    </a:solidFill>
                    <a:latin typeface="Microsoft YaHei"/>
                    <a:ea typeface="Microsoft YaHei"/>
                    <a:cs typeface="Microsoft YaHei"/>
                  </a:rPr>
                  <a:t>日寿命损失 / h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275">
                  <a:solidFill>
                    <a:srgbClr val="101D30"/>
                  </a:solidFill>
                  <a:latin typeface="Microsoft YaHei"/>
                  <a:ea typeface="Microsoft YaHei"/>
                  <a:cs typeface="Microsoft YaHei"/>
                </a:defRPr>
              </a:pPr>
            </a:p>
          </c:txPr>
        </c:title>
        <c:numFmt formatCode="0.##"/>
        <c:majorTickMark val="out"/>
        <c:minorTickMark val="none"/>
        <c:spPr>
          <a:ln xmlns:a="http://schemas.openxmlformats.org/drawingml/2006/main" w="12383">
            <a:solidFill>
              <a:srgbClr val="595959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101D30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50112"/>
        <c:crossBetween val="between"/>
        <c:majorUnit val="30"/>
      </c:valAx>
      <c:spPr>
        <a:solidFill xmlns:a="http://schemas.openxmlformats.org/drawingml/2006/main">
          <a:srgbClr val="FFFFFF"/>
        </a:solidFill>
        <a:ln xmlns:a="http://schemas.openxmlformats.org/drawingml/2006/main" w="12383">
          <a:solidFill>
            <a:srgbClr val="595959"/>
          </a:solidFill>
          <a:prstDash val="solid"/>
        </a:ln>
      </c:spPr>
    </c:plotArea>
    <c:legend>
      <c:legendPos val="t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350">
              <a:solidFill>
                <a:srgbClr val="101D30"/>
              </a:solidFill>
              <a:latin typeface="Microsoft YaHei"/>
              <a:ea typeface="Microsoft YaHei"/>
              <a:cs typeface="Microsoft YaHei"/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</c:spPr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 xmlns:a="http://schemas.openxmlformats.org/drawingml/2006/main">
        <p:nvSpPr>
          <p:cNvPr id="8000" name="title-rule">
            <a:extLst>
              <a:ext uri="{FF2B5EF4-FFF2-40B4-BE49-F238E27FC236}">
                <a16:creationId xmlns:a16="http://schemas.microsoft.com/office/drawing/2014/main" id="{BF49A0EE-59FF-4EA9-BEA3-B70BA80A40C3}"/>
              </a:ext>
            </a:extLst>
          </p:cNvPr>
          <p:cNvSpPr>
            <a:spLocks noGrp="1"/>
          </p:cNvSpPr>
          <p:nvPr/>
        </p:nvSpPr>
        <p:spPr>
          <a:xfrm>
            <a:off x="161925" y="619125"/>
            <a:ext cx="15601950" cy="95"/>
          </a:xfrm>
          <a:custGeom>
            <a:avLst/>
            <a:gdLst/>
            <a:ahLst/>
            <a:cxnLst/>
            <a:rect l="0" t="0" r="0" b="0"/>
            <a:pathLst>
              <a:path w="15601950" h="95">
                <a:moveTo>
                  <a:pt x="0" y="0"/>
                </a:moveTo>
                <a:lnTo>
                  <a:pt x="15601950" y="0"/>
                </a:lnTo>
              </a:path>
            </a:pathLst>
          </a:custGeom>
          <a:noFill/>
          <a:ln w="28575">
            <a:solidFill>
              <a:srgbClr val="0867D4"/>
            </a:solidFill>
            <a:prstDash val="solid"/>
          </a:ln>
        </p:spPr>
      </p:sp>
      <p:sp xmlns:a="http://schemas.openxmlformats.org/drawingml/2006/main">
        <p:nvSpPr>
          <p:cNvPr id="8001" name="summary">
            <a:extLst>
              <a:ext uri="{FF2B5EF4-FFF2-40B4-BE49-F238E27FC236}">
                <a16:creationId xmlns:a16="http://schemas.microsoft.com/office/drawing/2014/main" id="{CDD305B3-9FFE-4B7D-9ADC-FE6BF356FD84}"/>
              </a:ext>
            </a:extLst>
          </p:cNvPr>
          <p:cNvSpPr>
            <a:spLocks noGrp="1"/>
          </p:cNvSpPr>
          <p:nvPr/>
        </p:nvSpPr>
        <p:spPr>
          <a:xfrm>
            <a:off x="171450" y="742951"/>
            <a:ext cx="15582900" cy="1343025"/>
          </a:xfrm>
          <a:prstGeom prst="roundRect">
            <a:avLst>
              <a:gd name="adj" fmla="val 10274"/>
            </a:avLst>
          </a:prstGeom>
          <a:gradFill>
            <a:gsLst>
              <a:gs pos="0">
                <a:srgbClr val="F3FBFF"/>
              </a:gs>
              <a:gs pos="100000">
                <a:srgbClr val="DEEFFC"/>
              </a:gs>
            </a:gsLst>
            <a:lin ang="5400000"/>
          </a:gradFill>
          <a:ln w="9525">
            <a:solidFill>
              <a:srgbClr val="63B4FA"/>
            </a:solidFill>
            <a:prstDash val="solid"/>
          </a:ln>
        </p:spPr>
      </p:sp>
      <p:sp xmlns:a="http://schemas.openxmlformats.org/drawingml/2006/main">
        <p:nvSpPr>
          <p:cNvPr id="8002" name="conclusion">
            <a:extLst>
              <a:ext uri="{FF2B5EF4-FFF2-40B4-BE49-F238E27FC236}">
                <a16:creationId xmlns:a16="http://schemas.microsoft.com/office/drawing/2014/main" id="{C7BDA826-D73C-4DDB-A50C-DD6D71D74422}"/>
              </a:ext>
            </a:extLst>
          </p:cNvPr>
          <p:cNvSpPr>
            <a:spLocks noGrp="1"/>
          </p:cNvSpPr>
          <p:nvPr/>
        </p:nvSpPr>
        <p:spPr>
          <a:xfrm>
            <a:off x="171450" y="8410574"/>
            <a:ext cx="15582900" cy="438150"/>
          </a:xfrm>
          <a:prstGeom prst="roundRect">
            <a:avLst>
              <a:gd name="adj" fmla="val 27027"/>
            </a:avLst>
          </a:prstGeom>
          <a:gradFill>
            <a:gsLst>
              <a:gs pos="0">
                <a:srgbClr val="E5F5FF"/>
              </a:gs>
              <a:gs pos="100000">
                <a:srgbClr val="D8EDFA"/>
              </a:gs>
            </a:gsLst>
            <a:lin ang="5400000"/>
          </a:gradFill>
          <a:ln w="9525">
            <a:solidFill>
              <a:srgbClr val="63B4FA"/>
            </a:solidFill>
            <a:prstDash val="solid"/>
          </a:ln>
        </p:spPr>
      </p:sp>
      <p:sp>
        <p:nvSpPr>
          <p:cNvPr id="151" name="native-1">
            <a:extLst xmlns:a="http://schemas.openxmlformats.org/drawingml/2006/main">
              <a:ext uri="{FF2B5EF4-FFF2-40B4-BE49-F238E27FC236}">
                <a16:creationId xmlns:a16="http://schemas.microsoft.com/office/drawing/2014/main" id="{B88F6A2D-6E03-45EA-B5CE-F45A3967EB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" y="0"/>
            <a:ext cx="15544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28575" rIns="57150" bIns="28575" anchor="ctr">
            <a:noAutofit/>
          </a:bodyPr>
          <a:lstStyle xmlns:a="http://schemas.openxmlformats.org/drawingml/2006/main">
            <a:defPPr algn="l">
              <a:defRPr sz="3300" b="1">
                <a:solidFill>
                  <a:srgbClr val="07368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3300" b="1">
                <a:solidFill>
                  <a:srgbClr val="0736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07368C"/>
                </a:solidFill>
                <a:latin typeface="Microsoft YaHei"/>
                <a:ea typeface="Microsoft YaHei"/>
                <a:cs typeface="Microsoft YaHei"/>
              </a:rPr>
              <a:t>1. 双向重过载：量化评估与分阶段协同治理</a:t>
            </a:r>
          </a:p>
        </p:txBody>
      </p:sp>
      <p:sp>
        <p:nvSpPr>
          <p:cNvPr id="2" name="native-2">
            <a:extLst xmlns:a="http://schemas.openxmlformats.org/drawingml/2006/main">
              <a:ext uri="{FF2B5EF4-FFF2-40B4-BE49-F238E27FC236}">
                <a16:creationId xmlns:a16="http://schemas.microsoft.com/office/drawing/2014/main" id="{0EB6EC55-C749-4B7E-BBBA-F746CED719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" y="876300"/>
            <a:ext cx="155448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28575" rIns="57150" bIns="28575" anchor="ctr">
            <a:noAutofit/>
          </a:bodyPr>
          <a:lstStyle xmlns:a="http://schemas.openxmlformats.org/drawingml/2006/main">
            <a:defPPr algn="l">
              <a:defRPr sz="1950" b="0">
                <a:solidFill>
                  <a:srgbClr val="101D3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950" b="0">
                <a:solidFill>
                  <a:srgbClr val="101D3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101D30"/>
                </a:solidFill>
                <a:latin typeface="Microsoft YaHei"/>
                <a:ea typeface="Microsoft YaHei"/>
                <a:cs typeface="Microsoft YaHei"/>
              </a:rPr>
              <a:t>以载流设备累积寿命损失量化风险，按问题持续性选择治理路径：</a:t>
            </a:r>
          </a:p>
          <a:p xmlns:a="http://schemas.openxmlformats.org/drawingml/2006/main">
            <a:pPr algn="l">
              <a:defRPr sz="1950" b="0">
                <a:solidFill>
                  <a:srgbClr val="101D3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101D30"/>
                </a:solidFill>
                <a:latin typeface="Microsoft YaHei"/>
                <a:ea typeface="Microsoft YaHei"/>
                <a:cs typeface="Microsoft YaHei"/>
              </a:rPr>
              <a:t>短时采用 EV–退役储能协同，长期采用光伏汇集与网络扩容。</a:t>
            </a:r>
          </a:p>
        </p:txBody>
      </p:sp>
      <p:sp>
        <p:nvSpPr>
          <p:cNvPr id="3" name="native-3">
            <a:extLst xmlns:a="http://schemas.openxmlformats.org/drawingml/2006/main">
              <a:ext uri="{FF2B5EF4-FFF2-40B4-BE49-F238E27FC236}">
                <a16:creationId xmlns:a16="http://schemas.microsoft.com/office/drawing/2014/main" id="{DF69F32C-6726-49A7-9F47-E117A3AA74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" y="8439150"/>
            <a:ext cx="154686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28575" rIns="57150" bIns="28575" anchor="ctr">
            <a:noAutofit/>
          </a:bodyPr>
          <a:lstStyle xmlns:a="http://schemas.openxmlformats.org/drawingml/2006/main">
            <a:defPPr algn="ctr">
              <a:defRPr sz="1725" b="1">
                <a:solidFill>
                  <a:srgbClr val="07368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1725" b="1">
                <a:solidFill>
                  <a:srgbClr val="0736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07368C"/>
                </a:solidFill>
                <a:latin typeface="Microsoft YaHei"/>
                <a:ea typeface="Microsoft YaHei"/>
                <a:cs typeface="Microsoft YaHei"/>
              </a:rPr>
              <a:t>按短时或长期问题分别治理，并回到同一评估体系；寿命损失、调控目标和规划成本各有明确含义</a:t>
            </a:r>
          </a:p>
        </p:txBody>
      </p:sp>
      <p:sp>
        <p:nvSpPr>
          <p:cNvPr id="4" name="native-4">
            <a:extLst xmlns:a="http://schemas.openxmlformats.org/drawingml/2006/main">
              <a:ext uri="{FF2B5EF4-FFF2-40B4-BE49-F238E27FC236}">
                <a16:creationId xmlns:a16="http://schemas.microsoft.com/office/drawing/2014/main" id="{3B0C0053-F53B-41D3-BD06-059F52EBB9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2190750"/>
            <a:ext cx="4114800" cy="5829300"/>
          </a:xfrm>
          <a:prstGeom xmlns:a="http://schemas.openxmlformats.org/drawingml/2006/main" prst="roundRect">
            <a:avLst>
              <a:gd name="adj" fmla="val 185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66B7FA"/>
            </a:solidFill>
            <a:prstDash val="solid"/>
          </a:ln>
        </p:spPr>
      </p:sp>
      <p:sp>
        <p:nvSpPr>
          <p:cNvPr id="5" name="native-5">
            <a:extLst xmlns:a="http://schemas.openxmlformats.org/drawingml/2006/main">
              <a:ext uri="{FF2B5EF4-FFF2-40B4-BE49-F238E27FC236}">
                <a16:creationId xmlns:a16="http://schemas.microsoft.com/office/drawing/2014/main" id="{0E8CCBC1-016D-43F6-ACC2-E31A68D425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2228850"/>
            <a:ext cx="38862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28575" rIns="57150" bIns="28575" anchor="ctr">
            <a:noAutofit/>
          </a:bodyPr>
          <a:lstStyle xmlns:a="http://schemas.openxmlformats.org/drawingml/2006/main">
            <a:defPPr algn="l">
              <a:defRPr sz="2100" b="1">
                <a:solidFill>
                  <a:srgbClr val="07368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100" b="1">
                <a:solidFill>
                  <a:srgbClr val="0736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07368C"/>
                </a:solidFill>
                <a:latin typeface="Microsoft YaHei"/>
                <a:ea typeface="Microsoft YaHei"/>
                <a:cs typeface="Microsoft YaHei"/>
              </a:rPr>
              <a:t>共同基础：双向潮流与风险量化</a:t>
            </a:r>
          </a:p>
        </p:txBody>
      </p:sp>
      <p:sp>
        <p:nvSpPr>
          <p:cNvPr id="6" name="native-6">
            <a:extLst xmlns:a="http://schemas.openxmlformats.org/drawingml/2006/main">
              <a:ext uri="{FF2B5EF4-FFF2-40B4-BE49-F238E27FC236}">
                <a16:creationId xmlns:a16="http://schemas.microsoft.com/office/drawing/2014/main" id="{A430822A-B331-4111-A2F6-9C3E348BBE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2190750"/>
            <a:ext cx="9801225" cy="2924175"/>
          </a:xfrm>
          <a:prstGeom xmlns:a="http://schemas.openxmlformats.org/drawingml/2006/main" prst="roundRect">
            <a:avLst>
              <a:gd name="adj" fmla="val 260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66B7FA"/>
            </a:solidFill>
            <a:prstDash val="solid"/>
          </a:ln>
        </p:spPr>
      </p:sp>
      <p:sp>
        <p:nvSpPr>
          <p:cNvPr id="7" name="native-7">
            <a:extLst xmlns:a="http://schemas.openxmlformats.org/drawingml/2006/main">
              <a:ext uri="{FF2B5EF4-FFF2-40B4-BE49-F238E27FC236}">
                <a16:creationId xmlns:a16="http://schemas.microsoft.com/office/drawing/2014/main" id="{64C13C3E-2C04-4D44-8802-01C5429E83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67425" y="2228850"/>
            <a:ext cx="95726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28575" rIns="57150" bIns="28575" anchor="ctr">
            <a:noAutofit/>
          </a:bodyPr>
          <a:lstStyle xmlns:a="http://schemas.openxmlformats.org/drawingml/2006/main">
            <a:defPPr algn="l">
              <a:defRPr sz="2100" b="1">
                <a:solidFill>
                  <a:srgbClr val="07368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100" b="1">
                <a:solidFill>
                  <a:srgbClr val="0736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07368C"/>
                </a:solidFill>
                <a:latin typeface="Microsoft YaHei"/>
                <a:ea typeface="Microsoft YaHei"/>
                <a:cs typeface="Microsoft YaHei"/>
              </a:rPr>
              <a:t>短时治理：有序充电与退役储能协同</a:t>
            </a:r>
          </a:p>
        </p:txBody>
      </p:sp>
      <p:sp>
        <p:nvSpPr>
          <p:cNvPr id="8" name="native-8">
            <a:extLst xmlns:a="http://schemas.openxmlformats.org/drawingml/2006/main">
              <a:ext uri="{FF2B5EF4-FFF2-40B4-BE49-F238E27FC236}">
                <a16:creationId xmlns:a16="http://schemas.microsoft.com/office/drawing/2014/main" id="{B14D4950-2ACB-4104-91F6-0058F385B7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5238750"/>
            <a:ext cx="9801225" cy="2781300"/>
          </a:xfrm>
          <a:prstGeom xmlns:a="http://schemas.openxmlformats.org/drawingml/2006/main" prst="roundRect">
            <a:avLst>
              <a:gd name="adj" fmla="val 274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66B7FA"/>
            </a:solidFill>
            <a:prstDash val="solid"/>
          </a:ln>
        </p:spPr>
      </p:sp>
      <p:sp>
        <p:nvSpPr>
          <p:cNvPr id="9" name="native-9">
            <a:extLst xmlns:a="http://schemas.openxmlformats.org/drawingml/2006/main">
              <a:ext uri="{FF2B5EF4-FFF2-40B4-BE49-F238E27FC236}">
                <a16:creationId xmlns:a16="http://schemas.microsoft.com/office/drawing/2014/main" id="{A6D27C49-17E9-45EF-804F-632044DC83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67425" y="5276850"/>
            <a:ext cx="95726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28575" rIns="57150" bIns="28575" anchor="ctr">
            <a:noAutofit/>
          </a:bodyPr>
          <a:lstStyle xmlns:a="http://schemas.openxmlformats.org/drawingml/2006/main">
            <a:defPPr algn="l">
              <a:defRPr sz="2100" b="1">
                <a:solidFill>
                  <a:srgbClr val="07368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100" b="1">
                <a:solidFill>
                  <a:srgbClr val="0736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07368C"/>
                </a:solidFill>
                <a:latin typeface="Microsoft YaHei"/>
                <a:ea typeface="Microsoft YaHei"/>
                <a:cs typeface="Microsoft YaHei"/>
              </a:rPr>
              <a:t>长期治理：反向汇集与正向扩容协同</a:t>
            </a:r>
          </a:p>
        </p:txBody>
      </p:sp>
      <p:sp>
        <p:nvSpPr>
          <p:cNvPr id="10" name="dg-edge-pv-power-segment-1">
            <a:extLst xmlns:a="http://schemas.openxmlformats.org/drawingml/2006/main">
              <a:ext uri="{FF2B5EF4-FFF2-40B4-BE49-F238E27FC236}">
                <a16:creationId xmlns:a16="http://schemas.microsoft.com/office/drawing/2014/main" id="{C1032279-48BC-4FFD-91A2-B53A8CEE3A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686175"/>
            <a:ext cx="95" cy="2286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6670">
            <a:solidFill>
              <a:srgbClr val="087F8C"/>
            </a:solidFill>
            <a:prstDash val="solid"/>
          </a:ln>
        </p:spPr>
      </p:sp>
      <p:sp>
        <p:nvSpPr>
          <p:cNvPr id="11" name="dg-edge-pv-power-segment-2">
            <a:extLst xmlns:a="http://schemas.openxmlformats.org/drawingml/2006/main">
              <a:ext uri="{FF2B5EF4-FFF2-40B4-BE49-F238E27FC236}">
                <a16:creationId xmlns:a16="http://schemas.microsoft.com/office/drawing/2014/main" id="{9BFF1998-BCB7-4C6C-8EE6-9D5DEF3FC8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914775"/>
            <a:ext cx="781050" cy="9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6670">
            <a:solidFill>
              <a:srgbClr val="087F8C"/>
            </a:solidFill>
            <a:prstDash val="solid"/>
          </a:ln>
        </p:spPr>
      </p:sp>
      <p:sp>
        <p:nvSpPr>
          <p:cNvPr id="12" name="dg-edge-pv-power-segment-3">
            <a:extLst xmlns:a="http://schemas.openxmlformats.org/drawingml/2006/main">
              <a:ext uri="{FF2B5EF4-FFF2-40B4-BE49-F238E27FC236}">
                <a16:creationId xmlns:a16="http://schemas.microsoft.com/office/drawing/2014/main" id="{4F2A1A31-25E8-4C2C-B4C1-51D8AC7767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3914775"/>
            <a:ext cx="95" cy="1809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6670">
            <a:solidFill>
              <a:srgbClr val="087F8C"/>
            </a:solidFill>
            <a:prstDash val="solid"/>
          </a:ln>
        </p:spPr>
      </p:sp>
      <p:sp>
        <p:nvSpPr>
          <p:cNvPr id="13" name="dg-edge-pv-power-arrow-4">
            <a:extLst xmlns:a="http://schemas.openxmlformats.org/drawingml/2006/main">
              <a:ext uri="{FF2B5EF4-FFF2-40B4-BE49-F238E27FC236}">
                <a16:creationId xmlns:a16="http://schemas.microsoft.com/office/drawing/2014/main" id="{9E9577EF-C525-4B2F-B6AF-72A5473925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5938" y="4010025"/>
            <a:ext cx="85725" cy="85725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087F8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dg-edge-pv-power-label-5">
            <a:extLst xmlns:a="http://schemas.openxmlformats.org/drawingml/2006/main">
              <a:ext uri="{FF2B5EF4-FFF2-40B4-BE49-F238E27FC236}">
                <a16:creationId xmlns:a16="http://schemas.microsoft.com/office/drawing/2014/main" id="{4027DEA5-F713-4989-94E8-5BA40CCA69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" y="3790950"/>
            <a:ext cx="1095375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ctr">
            <a:noAutofit/>
          </a:bodyPr>
          <a:lstStyle xmlns:a="http://schemas.openxmlformats.org/drawingml/2006/main">
            <a:defPPr algn="ctr">
              <a:defRPr sz="1500" b="0">
                <a:solidFill>
                  <a:srgbClr val="087F8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1500" b="0">
                <a:solidFill>
                  <a:srgbClr val="087F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087F8C"/>
                </a:solidFill>
                <a:latin typeface="Microsoft YaHei"/>
                <a:ea typeface="Microsoft YaHei"/>
                <a:cs typeface="Microsoft YaHei"/>
              </a:rPr>
              <a:t>光伏出力</a:t>
            </a:r>
          </a:p>
        </p:txBody>
      </p:sp>
      <p:sp>
        <p:nvSpPr>
          <p:cNvPr id="15" name="dg-edge-load-power-segment-1">
            <a:extLst xmlns:a="http://schemas.openxmlformats.org/drawingml/2006/main">
              <a:ext uri="{FF2B5EF4-FFF2-40B4-BE49-F238E27FC236}">
                <a16:creationId xmlns:a16="http://schemas.microsoft.com/office/drawing/2014/main" id="{8DE342AD-5E8F-4CAC-AE6B-CD49E9507D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3914775"/>
            <a:ext cx="95" cy="1809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6670">
            <a:solidFill>
              <a:srgbClr val="087F8C"/>
            </a:solidFill>
            <a:prstDash val="solid"/>
          </a:ln>
        </p:spPr>
      </p:sp>
      <p:sp>
        <p:nvSpPr>
          <p:cNvPr id="16" name="dg-edge-load-power-segment-2">
            <a:extLst xmlns:a="http://schemas.openxmlformats.org/drawingml/2006/main">
              <a:ext uri="{FF2B5EF4-FFF2-40B4-BE49-F238E27FC236}">
                <a16:creationId xmlns:a16="http://schemas.microsoft.com/office/drawing/2014/main" id="{DDACEB0F-7552-47A6-8D10-EB4310AA3C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3914775"/>
            <a:ext cx="476250" cy="9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6670">
            <a:solidFill>
              <a:srgbClr val="087F8C"/>
            </a:solidFill>
            <a:prstDash val="solid"/>
          </a:ln>
        </p:spPr>
      </p:sp>
      <p:sp>
        <p:nvSpPr>
          <p:cNvPr id="17" name="dg-edge-load-power-segment-3">
            <a:extLst xmlns:a="http://schemas.openxmlformats.org/drawingml/2006/main">
              <a:ext uri="{FF2B5EF4-FFF2-40B4-BE49-F238E27FC236}">
                <a16:creationId xmlns:a16="http://schemas.microsoft.com/office/drawing/2014/main" id="{1015B76C-A5C4-40CA-85A9-3EBC255175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3686175"/>
            <a:ext cx="95" cy="2286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6670">
            <a:solidFill>
              <a:srgbClr val="087F8C"/>
            </a:solidFill>
            <a:prstDash val="solid"/>
          </a:ln>
        </p:spPr>
      </p:sp>
      <p:sp>
        <p:nvSpPr>
          <p:cNvPr id="18" name="dg-edge-load-power-arrow-4">
            <a:extLst xmlns:a="http://schemas.openxmlformats.org/drawingml/2006/main">
              <a:ext uri="{FF2B5EF4-FFF2-40B4-BE49-F238E27FC236}">
                <a16:creationId xmlns:a16="http://schemas.microsoft.com/office/drawing/2014/main" id="{95B45C13-E138-4BAA-ABE9-FD99F94F1A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6138" y="3686175"/>
            <a:ext cx="85725" cy="85725"/>
          </a:xfrm>
          <a:prstGeom xmlns:a="http://schemas.openxmlformats.org/drawingml/2006/main" prst="upArrow">
            <a:avLst/>
          </a:prstGeom>
          <a:solidFill xmlns:a="http://schemas.openxmlformats.org/drawingml/2006/main">
            <a:srgbClr val="087F8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dg-edge-load-power-label-5">
            <a:extLst xmlns:a="http://schemas.openxmlformats.org/drawingml/2006/main">
              <a:ext uri="{FF2B5EF4-FFF2-40B4-BE49-F238E27FC236}">
                <a16:creationId xmlns:a16="http://schemas.microsoft.com/office/drawing/2014/main" id="{C2B1BCD6-6F7D-4B39-BC4A-E8D43082A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3790950"/>
            <a:ext cx="11239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ctr">
            <a:noAutofit/>
          </a:bodyPr>
          <a:lstStyle xmlns:a="http://schemas.openxmlformats.org/drawingml/2006/main">
            <a:defPPr algn="ctr">
              <a:defRPr sz="1500" b="0">
                <a:solidFill>
                  <a:srgbClr val="087F8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1500" b="0">
                <a:solidFill>
                  <a:srgbClr val="087F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087F8C"/>
                </a:solidFill>
                <a:latin typeface="Microsoft YaHei"/>
                <a:ea typeface="Microsoft YaHei"/>
                <a:cs typeface="Microsoft YaHei"/>
              </a:rPr>
              <a:t>供电功率</a:t>
            </a:r>
          </a:p>
        </p:txBody>
      </p:sp>
      <p:sp>
        <p:nvSpPr>
          <p:cNvPr id="20" name="dg-edge-measure-segment-1">
            <a:extLst xmlns:a="http://schemas.openxmlformats.org/drawingml/2006/main">
              <a:ext uri="{FF2B5EF4-FFF2-40B4-BE49-F238E27FC236}">
                <a16:creationId xmlns:a16="http://schemas.microsoft.com/office/drawing/2014/main" id="{366DB6BF-92FD-4491-B836-8E27EA9E12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4762500"/>
            <a:ext cx="95" cy="4572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7368C"/>
            </a:solidFill>
            <a:prstDash val="dash"/>
          </a:ln>
        </p:spPr>
      </p:sp>
      <p:sp>
        <p:nvSpPr>
          <p:cNvPr id="21" name="dg-edge-measure-arrow-2">
            <a:extLst xmlns:a="http://schemas.openxmlformats.org/drawingml/2006/main">
              <a:ext uri="{FF2B5EF4-FFF2-40B4-BE49-F238E27FC236}">
                <a16:creationId xmlns:a16="http://schemas.microsoft.com/office/drawing/2014/main" id="{2BF49E4C-D83E-4959-9897-C559895372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8388" y="5133975"/>
            <a:ext cx="85725" cy="85725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07368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dg-edge-measure-label-3">
            <a:extLst xmlns:a="http://schemas.openxmlformats.org/drawingml/2006/main">
              <a:ext uri="{FF2B5EF4-FFF2-40B4-BE49-F238E27FC236}">
                <a16:creationId xmlns:a16="http://schemas.microsoft.com/office/drawing/2014/main" id="{A20FEED2-29B2-478B-89D7-B5DFEA5285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4829175"/>
            <a:ext cx="14573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ctr">
            <a:noAutofit/>
          </a:bodyPr>
          <a:lstStyle xmlns:a="http://schemas.openxmlformats.org/drawingml/2006/main">
            <a:defPPr algn="ctr">
              <a:defRPr sz="1500" b="0">
                <a:solidFill>
                  <a:srgbClr val="07368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1500" b="0">
                <a:solidFill>
                  <a:srgbClr val="0736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07368C"/>
                </a:solidFill>
                <a:latin typeface="Microsoft YaHei"/>
                <a:ea typeface="Microsoft YaHei"/>
                <a:cs typeface="Microsoft YaHei"/>
              </a:rPr>
              <a:t>时序运行状态</a:t>
            </a:r>
          </a:p>
        </p:txBody>
      </p:sp>
      <p:sp>
        <p:nvSpPr>
          <p:cNvPr id="23" name="dg-edge-aging-segment-1">
            <a:extLst xmlns:a="http://schemas.openxmlformats.org/drawingml/2006/main">
              <a:ext uri="{FF2B5EF4-FFF2-40B4-BE49-F238E27FC236}">
                <a16:creationId xmlns:a16="http://schemas.microsoft.com/office/drawing/2014/main" id="{342F3E3F-688A-443E-9736-5AA9E38864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5962650"/>
            <a:ext cx="95" cy="4667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7368C"/>
            </a:solidFill>
            <a:prstDash val="solid"/>
          </a:ln>
        </p:spPr>
      </p:sp>
      <p:sp>
        <p:nvSpPr>
          <p:cNvPr id="24" name="dg-edge-aging-arrow-2">
            <a:extLst xmlns:a="http://schemas.openxmlformats.org/drawingml/2006/main">
              <a:ext uri="{FF2B5EF4-FFF2-40B4-BE49-F238E27FC236}">
                <a16:creationId xmlns:a16="http://schemas.microsoft.com/office/drawing/2014/main" id="{D898300D-C827-461E-B661-9A04AA7E5F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8388" y="6343650"/>
            <a:ext cx="85725" cy="85725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07368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dg-edge-aging-label-3">
            <a:extLst xmlns:a="http://schemas.openxmlformats.org/drawingml/2006/main">
              <a:ext uri="{FF2B5EF4-FFF2-40B4-BE49-F238E27FC236}">
                <a16:creationId xmlns:a16="http://schemas.microsoft.com/office/drawing/2014/main" id="{4566F0F1-B8CF-481E-BCC6-A1FA725E13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6086475"/>
            <a:ext cx="1428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ctr">
            <a:noAutofit/>
          </a:bodyPr>
          <a:lstStyle xmlns:a="http://schemas.openxmlformats.org/drawingml/2006/main">
            <a:defPPr algn="ctr">
              <a:defRPr sz="1500" b="0">
                <a:solidFill>
                  <a:srgbClr val="07368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1500" b="0">
                <a:solidFill>
                  <a:srgbClr val="0736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07368C"/>
                </a:solidFill>
                <a:latin typeface="Microsoft YaHei"/>
                <a:ea typeface="Microsoft YaHei"/>
                <a:cs typeface="Microsoft YaHei"/>
              </a:rPr>
              <a:t>累积损伤</a:t>
            </a:r>
          </a:p>
        </p:txBody>
      </p:sp>
      <p:sp>
        <p:nvSpPr>
          <p:cNvPr id="26" name="dg-edge-diagnosis-segment-1">
            <a:extLst xmlns:a="http://schemas.openxmlformats.org/drawingml/2006/main">
              <a:ext uri="{FF2B5EF4-FFF2-40B4-BE49-F238E27FC236}">
                <a16:creationId xmlns:a16="http://schemas.microsoft.com/office/drawing/2014/main" id="{3D2E2D2C-1563-46B0-96FC-29219E22A8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8125" y="6753225"/>
            <a:ext cx="257175" cy="9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7368C"/>
            </a:solidFill>
            <a:prstDash val="dash"/>
          </a:ln>
        </p:spPr>
      </p:sp>
      <p:sp>
        <p:nvSpPr>
          <p:cNvPr id="27" name="dg-edge-diagnosis-segment-2">
            <a:extLst xmlns:a="http://schemas.openxmlformats.org/drawingml/2006/main">
              <a:ext uri="{FF2B5EF4-FFF2-40B4-BE49-F238E27FC236}">
                <a16:creationId xmlns:a16="http://schemas.microsoft.com/office/drawing/2014/main" id="{5FEA2105-7121-4914-A119-48CF45B36C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5724525"/>
            <a:ext cx="95" cy="10287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7368C"/>
            </a:solidFill>
            <a:prstDash val="dash"/>
          </a:ln>
        </p:spPr>
      </p:sp>
      <p:sp>
        <p:nvSpPr>
          <p:cNvPr id="28" name="dg-edge-diagnosis-segment-3">
            <a:extLst xmlns:a="http://schemas.openxmlformats.org/drawingml/2006/main">
              <a:ext uri="{FF2B5EF4-FFF2-40B4-BE49-F238E27FC236}">
                <a16:creationId xmlns:a16="http://schemas.microsoft.com/office/drawing/2014/main" id="{BEB21C64-4AE6-4C1B-8407-6EDB94C81B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5724525"/>
            <a:ext cx="190500" cy="9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7368C"/>
            </a:solidFill>
            <a:prstDash val="dash"/>
          </a:ln>
        </p:spPr>
      </p:sp>
      <p:sp>
        <p:nvSpPr>
          <p:cNvPr id="29" name="dg-edge-diagnosis-arrow-4">
            <a:extLst xmlns:a="http://schemas.openxmlformats.org/drawingml/2006/main">
              <a:ext uri="{FF2B5EF4-FFF2-40B4-BE49-F238E27FC236}">
                <a16:creationId xmlns:a16="http://schemas.microsoft.com/office/drawing/2014/main" id="{277D22DE-7DEA-404B-9B2D-126A5CE26A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0075" y="5681663"/>
            <a:ext cx="85725" cy="85725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7368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dg-edge-diagnosis-label-5">
            <a:extLst xmlns:a="http://schemas.openxmlformats.org/drawingml/2006/main">
              <a:ext uri="{FF2B5EF4-FFF2-40B4-BE49-F238E27FC236}">
                <a16:creationId xmlns:a16="http://schemas.microsoft.com/office/drawing/2014/main" id="{AB0A78AE-920F-4E89-92FF-474B79DA90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6829425"/>
            <a:ext cx="1238250" cy="276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ctr">
            <a:noAutofit/>
          </a:bodyPr>
          <a:lstStyle xmlns:a="http://schemas.openxmlformats.org/drawingml/2006/main">
            <a:defPPr algn="ctr">
              <a:defRPr sz="1500" b="0">
                <a:solidFill>
                  <a:srgbClr val="07368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1500" b="0">
                <a:solidFill>
                  <a:srgbClr val="0736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07368C"/>
                </a:solidFill>
                <a:latin typeface="Microsoft YaHei"/>
                <a:ea typeface="Microsoft YaHei"/>
                <a:cs typeface="Microsoft YaHei"/>
              </a:rPr>
              <a:t>风险诊断</a:t>
            </a:r>
          </a:p>
        </p:txBody>
      </p:sp>
      <p:sp>
        <p:nvSpPr>
          <p:cNvPr id="31" name="dg-edge-short-segment-1">
            <a:extLst xmlns:a="http://schemas.openxmlformats.org/drawingml/2006/main">
              <a:ext uri="{FF2B5EF4-FFF2-40B4-BE49-F238E27FC236}">
                <a16:creationId xmlns:a16="http://schemas.microsoft.com/office/drawing/2014/main" id="{7692D819-2A69-49F8-8D08-16011A36E3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3314700"/>
            <a:ext cx="95" cy="19240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7368C"/>
            </a:solidFill>
            <a:prstDash val="solid"/>
          </a:ln>
        </p:spPr>
      </p:sp>
      <p:sp>
        <p:nvSpPr>
          <p:cNvPr id="32" name="dg-edge-short-segment-2">
            <a:extLst xmlns:a="http://schemas.openxmlformats.org/drawingml/2006/main">
              <a:ext uri="{FF2B5EF4-FFF2-40B4-BE49-F238E27FC236}">
                <a16:creationId xmlns:a16="http://schemas.microsoft.com/office/drawing/2014/main" id="{EC1F243C-17C6-430F-B94F-C1DE5DC3C2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3314700"/>
            <a:ext cx="1047750" cy="9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7368C"/>
            </a:solidFill>
            <a:prstDash val="solid"/>
          </a:ln>
        </p:spPr>
      </p:sp>
      <p:sp>
        <p:nvSpPr>
          <p:cNvPr id="33" name="dg-edge-short-arrow-3">
            <a:extLst xmlns:a="http://schemas.openxmlformats.org/drawingml/2006/main">
              <a:ext uri="{FF2B5EF4-FFF2-40B4-BE49-F238E27FC236}">
                <a16:creationId xmlns:a16="http://schemas.microsoft.com/office/drawing/2014/main" id="{BE1B8179-476B-410C-A80D-5CACED45D2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05525" y="3271838"/>
            <a:ext cx="85725" cy="85725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7368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dg-edge-short-label-4">
            <a:extLst xmlns:a="http://schemas.openxmlformats.org/drawingml/2006/main">
              <a:ext uri="{FF2B5EF4-FFF2-40B4-BE49-F238E27FC236}">
                <a16:creationId xmlns:a16="http://schemas.microsoft.com/office/drawing/2014/main" id="{E3B08B38-FFE2-45E6-B1FC-27AEB9C4DB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72075" y="2886075"/>
            <a:ext cx="1000125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ctr">
            <a:noAutofit/>
          </a:bodyPr>
          <a:lstStyle xmlns:a="http://schemas.openxmlformats.org/drawingml/2006/main">
            <a:defPPr algn="ctr">
              <a:defRPr sz="1500" b="0">
                <a:solidFill>
                  <a:srgbClr val="07368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1500" b="0">
                <a:solidFill>
                  <a:srgbClr val="0736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07368C"/>
                </a:solidFill>
                <a:latin typeface="Microsoft YaHei"/>
                <a:ea typeface="Microsoft YaHei"/>
                <a:cs typeface="Microsoft YaHei"/>
              </a:rPr>
              <a:t>短时治理</a:t>
            </a:r>
          </a:p>
        </p:txBody>
      </p:sp>
      <p:sp>
        <p:nvSpPr>
          <p:cNvPr id="35" name="dg-edge-long-segment-1">
            <a:extLst xmlns:a="http://schemas.openxmlformats.org/drawingml/2006/main">
              <a:ext uri="{FF2B5EF4-FFF2-40B4-BE49-F238E27FC236}">
                <a16:creationId xmlns:a16="http://schemas.microsoft.com/office/drawing/2014/main" id="{6ED84B24-47B4-4B9E-83BC-D69174D4D8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6210300"/>
            <a:ext cx="95" cy="1238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7368C"/>
            </a:solidFill>
            <a:prstDash val="solid"/>
          </a:ln>
        </p:spPr>
      </p:sp>
      <p:sp>
        <p:nvSpPr>
          <p:cNvPr id="36" name="dg-edge-long-segment-2">
            <a:extLst xmlns:a="http://schemas.openxmlformats.org/drawingml/2006/main">
              <a:ext uri="{FF2B5EF4-FFF2-40B4-BE49-F238E27FC236}">
                <a16:creationId xmlns:a16="http://schemas.microsoft.com/office/drawing/2014/main" id="{52AD37C3-39B0-4039-A222-E29AAA2995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6334125"/>
            <a:ext cx="1047750" cy="9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7368C"/>
            </a:solidFill>
            <a:prstDash val="solid"/>
          </a:ln>
        </p:spPr>
      </p:sp>
      <p:sp>
        <p:nvSpPr>
          <p:cNvPr id="37" name="dg-edge-long-arrow-3">
            <a:extLst xmlns:a="http://schemas.openxmlformats.org/drawingml/2006/main">
              <a:ext uri="{FF2B5EF4-FFF2-40B4-BE49-F238E27FC236}">
                <a16:creationId xmlns:a16="http://schemas.microsoft.com/office/drawing/2014/main" id="{97C6F017-9ABA-4101-A046-CC6C3FE280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05525" y="6291263"/>
            <a:ext cx="85725" cy="85725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7368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" name="dg-edge-long-label-4">
            <a:extLst xmlns:a="http://schemas.openxmlformats.org/drawingml/2006/main">
              <a:ext uri="{FF2B5EF4-FFF2-40B4-BE49-F238E27FC236}">
                <a16:creationId xmlns:a16="http://schemas.microsoft.com/office/drawing/2014/main" id="{713CC748-7DAD-45AE-A72C-66AF7C4937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72075" y="6496050"/>
            <a:ext cx="1000125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ctr">
            <a:noAutofit/>
          </a:bodyPr>
          <a:lstStyle xmlns:a="http://schemas.openxmlformats.org/drawingml/2006/main">
            <a:defPPr algn="ctr">
              <a:defRPr sz="1500" b="0">
                <a:solidFill>
                  <a:srgbClr val="07368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1500" b="0">
                <a:solidFill>
                  <a:srgbClr val="0736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07368C"/>
                </a:solidFill>
                <a:latin typeface="Microsoft YaHei"/>
                <a:ea typeface="Microsoft YaHei"/>
                <a:cs typeface="Microsoft YaHei"/>
              </a:rPr>
              <a:t>长期治理</a:t>
            </a:r>
          </a:p>
        </p:txBody>
      </p:sp>
      <p:sp>
        <p:nvSpPr>
          <p:cNvPr id="39" name="dg-edge-utility-segment-1">
            <a:extLst xmlns:a="http://schemas.openxmlformats.org/drawingml/2006/main">
              <a:ext uri="{FF2B5EF4-FFF2-40B4-BE49-F238E27FC236}">
                <a16:creationId xmlns:a16="http://schemas.microsoft.com/office/drawing/2014/main" id="{B27C022B-14A7-4562-B731-D03AA38565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3314700"/>
            <a:ext cx="857250" cy="9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7368C"/>
            </a:solidFill>
            <a:prstDash val="dash"/>
          </a:ln>
        </p:spPr>
      </p:sp>
      <p:sp>
        <p:nvSpPr>
          <p:cNvPr id="40" name="dg-edge-utility-arrow-2">
            <a:extLst xmlns:a="http://schemas.openxmlformats.org/drawingml/2006/main">
              <a:ext uri="{FF2B5EF4-FFF2-40B4-BE49-F238E27FC236}">
                <a16:creationId xmlns:a16="http://schemas.microsoft.com/office/drawing/2014/main" id="{C5DEDB7F-969D-420A-B365-455F4F7462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3271838"/>
            <a:ext cx="85725" cy="85725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7368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" name="dg-edge-utility-label-3">
            <a:extLst xmlns:a="http://schemas.openxmlformats.org/drawingml/2006/main">
              <a:ext uri="{FF2B5EF4-FFF2-40B4-BE49-F238E27FC236}">
                <a16:creationId xmlns:a16="http://schemas.microsoft.com/office/drawing/2014/main" id="{64C6A26F-AE57-4A23-BF38-3D96AFA5EB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3857625"/>
            <a:ext cx="12573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ctr">
            <a:noAutofit/>
          </a:bodyPr>
          <a:lstStyle xmlns:a="http://schemas.openxmlformats.org/drawingml/2006/main">
            <a:defPPr algn="ctr">
              <a:defRPr sz="1500" b="0">
                <a:solidFill>
                  <a:srgbClr val="07368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1500" b="0">
                <a:solidFill>
                  <a:srgbClr val="0736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07368C"/>
                </a:solidFill>
                <a:latin typeface="Microsoft YaHei"/>
                <a:ea typeface="Microsoft YaHei"/>
                <a:cs typeface="Microsoft YaHei"/>
              </a:rPr>
              <a:t>电价 / 等待</a:t>
            </a:r>
          </a:p>
        </p:txBody>
      </p:sp>
      <p:sp>
        <p:nvSpPr>
          <p:cNvPr id="42" name="dg-edge-ev-profile-segment-1">
            <a:extLst xmlns:a="http://schemas.openxmlformats.org/drawingml/2006/main">
              <a:ext uri="{FF2B5EF4-FFF2-40B4-BE49-F238E27FC236}">
                <a16:creationId xmlns:a16="http://schemas.microsoft.com/office/drawing/2014/main" id="{2F0C6BD0-EE2A-4252-8A21-F2EF74574A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39375" y="3286125"/>
            <a:ext cx="1000125" cy="9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7368C"/>
            </a:solidFill>
            <a:prstDash val="solid"/>
          </a:ln>
        </p:spPr>
      </p:sp>
      <p:sp>
        <p:nvSpPr>
          <p:cNvPr id="43" name="dg-edge-ev-profile-arrow-2">
            <a:extLst xmlns:a="http://schemas.openxmlformats.org/drawingml/2006/main">
              <a:ext uri="{FF2B5EF4-FFF2-40B4-BE49-F238E27FC236}">
                <a16:creationId xmlns:a16="http://schemas.microsoft.com/office/drawing/2014/main" id="{04256D49-DBE6-456C-9672-4981D8981F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53775" y="3243263"/>
            <a:ext cx="85725" cy="85725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7368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4" name="dg-edge-ev-profile-label-3">
            <a:extLst xmlns:a="http://schemas.openxmlformats.org/drawingml/2006/main">
              <a:ext uri="{FF2B5EF4-FFF2-40B4-BE49-F238E27FC236}">
                <a16:creationId xmlns:a16="http://schemas.microsoft.com/office/drawing/2014/main" id="{46744F44-430F-4C02-8696-B1AF46B4B5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82225" y="3762375"/>
            <a:ext cx="1533525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ctr">
            <a:noAutofit/>
          </a:bodyPr>
          <a:lstStyle xmlns:a="http://schemas.openxmlformats.org/drawingml/2006/main">
            <a:defPPr algn="ctr">
              <a:defRPr sz="1500" b="0">
                <a:solidFill>
                  <a:srgbClr val="07368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1500" b="0">
                <a:solidFill>
                  <a:srgbClr val="0736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07368C"/>
                </a:solidFill>
                <a:latin typeface="Microsoft YaHei"/>
                <a:ea typeface="Microsoft YaHei"/>
                <a:cs typeface="Microsoft YaHei"/>
              </a:rPr>
              <a:t>混合充电负荷</a:t>
            </a:r>
          </a:p>
        </p:txBody>
      </p:sp>
      <p:sp>
        <p:nvSpPr>
          <p:cNvPr id="45" name="dg-edge-storage-plan-segment-1">
            <a:extLst xmlns:a="http://schemas.openxmlformats.org/drawingml/2006/main">
              <a:ext uri="{FF2B5EF4-FFF2-40B4-BE49-F238E27FC236}">
                <a16:creationId xmlns:a16="http://schemas.microsoft.com/office/drawing/2014/main" id="{CC9A1152-E905-4B5C-9160-1A0C94D7A8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87375" y="3286125"/>
            <a:ext cx="885825" cy="9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7368C"/>
            </a:solidFill>
            <a:prstDash val="solid"/>
          </a:ln>
        </p:spPr>
      </p:sp>
      <p:sp>
        <p:nvSpPr>
          <p:cNvPr id="46" name="dg-edge-storage-plan-arrow-2">
            <a:extLst xmlns:a="http://schemas.openxmlformats.org/drawingml/2006/main">
              <a:ext uri="{FF2B5EF4-FFF2-40B4-BE49-F238E27FC236}">
                <a16:creationId xmlns:a16="http://schemas.microsoft.com/office/drawing/2014/main" id="{2AEDF28C-6DC5-48E6-BDB7-381368BE57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87475" y="3243263"/>
            <a:ext cx="85725" cy="85725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7368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7" name="dg-edge-storage-plan-label-3">
            <a:extLst xmlns:a="http://schemas.openxmlformats.org/drawingml/2006/main">
              <a:ext uri="{FF2B5EF4-FFF2-40B4-BE49-F238E27FC236}">
                <a16:creationId xmlns:a16="http://schemas.microsoft.com/office/drawing/2014/main" id="{764CFB07-1B2F-4F0F-8706-E3DDCE75C2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0" y="3952875"/>
            <a:ext cx="1571625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ctr">
            <a:noAutofit/>
          </a:bodyPr>
          <a:lstStyle xmlns:a="http://schemas.openxmlformats.org/drawingml/2006/main">
            <a:defPPr algn="ctr">
              <a:defRPr sz="1500" b="0">
                <a:solidFill>
                  <a:srgbClr val="07368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1500" b="0">
                <a:solidFill>
                  <a:srgbClr val="0736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07368C"/>
                </a:solidFill>
                <a:latin typeface="Microsoft YaHei"/>
                <a:ea typeface="Microsoft YaHei"/>
                <a:cs typeface="Microsoft YaHei"/>
              </a:rPr>
              <a:t>容量 / 出力</a:t>
            </a:r>
          </a:p>
        </p:txBody>
      </p:sp>
      <p:sp>
        <p:nvSpPr>
          <p:cNvPr id="48" name="dg-edge-candidate-segment-1">
            <a:extLst xmlns:a="http://schemas.openxmlformats.org/drawingml/2006/main">
              <a:ext uri="{FF2B5EF4-FFF2-40B4-BE49-F238E27FC236}">
                <a16:creationId xmlns:a16="http://schemas.microsoft.com/office/drawing/2014/main" id="{B715FC23-32BF-4C3A-981F-17396EA3BC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6334125"/>
            <a:ext cx="857250" cy="9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7368C"/>
            </a:solidFill>
            <a:prstDash val="solid"/>
          </a:ln>
        </p:spPr>
      </p:sp>
      <p:sp>
        <p:nvSpPr>
          <p:cNvPr id="49" name="dg-edge-candidate-arrow-2">
            <a:extLst xmlns:a="http://schemas.openxmlformats.org/drawingml/2006/main">
              <a:ext uri="{FF2B5EF4-FFF2-40B4-BE49-F238E27FC236}">
                <a16:creationId xmlns:a16="http://schemas.microsoft.com/office/drawing/2014/main" id="{81FC40DD-C054-4103-9A85-432B1237F9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72525" y="6291263"/>
            <a:ext cx="85725" cy="85725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7368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0" name="dg-edge-candidate-label-3">
            <a:extLst xmlns:a="http://schemas.openxmlformats.org/drawingml/2006/main">
              <a:ext uri="{FF2B5EF4-FFF2-40B4-BE49-F238E27FC236}">
                <a16:creationId xmlns:a16="http://schemas.microsoft.com/office/drawing/2014/main" id="{76583E28-56CC-4733-A690-24D0107FEB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6981825"/>
            <a:ext cx="1381125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ctr">
            <a:noAutofit/>
          </a:bodyPr>
          <a:lstStyle xmlns:a="http://schemas.openxmlformats.org/drawingml/2006/main">
            <a:defPPr algn="ctr">
              <a:defRPr sz="1500" b="0">
                <a:solidFill>
                  <a:srgbClr val="07368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1500" b="0">
                <a:solidFill>
                  <a:srgbClr val="0736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07368C"/>
                </a:solidFill>
                <a:latin typeface="Microsoft YaHei"/>
                <a:ea typeface="Microsoft YaHei"/>
                <a:cs typeface="Microsoft YaHei"/>
              </a:rPr>
              <a:t>候选汇集点</a:t>
            </a:r>
          </a:p>
        </p:txBody>
      </p:sp>
      <p:sp>
        <p:nvSpPr>
          <p:cNvPr id="51" name="dg-edge-net-load-segment-1">
            <a:extLst xmlns:a="http://schemas.openxmlformats.org/drawingml/2006/main">
              <a:ext uri="{FF2B5EF4-FFF2-40B4-BE49-F238E27FC236}">
                <a16:creationId xmlns:a16="http://schemas.microsoft.com/office/drawing/2014/main" id="{D3A559C5-9B63-4032-B679-C12C2C821A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0375" y="6200775"/>
            <a:ext cx="904875" cy="9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7368C"/>
            </a:solidFill>
            <a:prstDash val="solid"/>
          </a:ln>
        </p:spPr>
      </p:sp>
      <p:sp>
        <p:nvSpPr>
          <p:cNvPr id="52" name="dg-edge-net-load-arrow-2">
            <a:extLst xmlns:a="http://schemas.openxmlformats.org/drawingml/2006/main">
              <a:ext uri="{FF2B5EF4-FFF2-40B4-BE49-F238E27FC236}">
                <a16:creationId xmlns:a16="http://schemas.microsoft.com/office/drawing/2014/main" id="{DC2CC856-3BE1-41EF-A342-2CA04DA60D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9525" y="6157913"/>
            <a:ext cx="85725" cy="85725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7368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3" name="dg-edge-net-load-label-3">
            <a:extLst xmlns:a="http://schemas.openxmlformats.org/drawingml/2006/main">
              <a:ext uri="{FF2B5EF4-FFF2-40B4-BE49-F238E27FC236}">
                <a16:creationId xmlns:a16="http://schemas.microsoft.com/office/drawing/2014/main" id="{B332A923-822A-4C07-AC1E-CA893F24B9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5514975"/>
            <a:ext cx="1381125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ctr">
            <a:noAutofit/>
          </a:bodyPr>
          <a:lstStyle xmlns:a="http://schemas.openxmlformats.org/drawingml/2006/main">
            <a:defPPr algn="ctr">
              <a:defRPr sz="1500" b="0">
                <a:solidFill>
                  <a:srgbClr val="07368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1500" b="0">
                <a:solidFill>
                  <a:srgbClr val="0736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07368C"/>
                </a:solidFill>
                <a:latin typeface="Microsoft YaHei"/>
                <a:ea typeface="Microsoft YaHei"/>
                <a:cs typeface="Microsoft YaHei"/>
              </a:rPr>
              <a:t>修正净负荷</a:t>
            </a:r>
          </a:p>
        </p:txBody>
      </p:sp>
      <p:sp>
        <p:nvSpPr>
          <p:cNvPr id="54" name="dg-edge-capacity-segment-1">
            <a:extLst xmlns:a="http://schemas.openxmlformats.org/drawingml/2006/main">
              <a:ext uri="{FF2B5EF4-FFF2-40B4-BE49-F238E27FC236}">
                <a16:creationId xmlns:a16="http://schemas.microsoft.com/office/drawing/2014/main" id="{BD8E2201-D321-4F2F-900C-0FF8965318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01550" y="6724650"/>
            <a:ext cx="95" cy="3333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7368C"/>
            </a:solidFill>
            <a:prstDash val="solid"/>
          </a:ln>
        </p:spPr>
      </p:sp>
      <p:sp>
        <p:nvSpPr>
          <p:cNvPr id="55" name="dg-edge-capacity-segment-2">
            <a:extLst xmlns:a="http://schemas.openxmlformats.org/drawingml/2006/main">
              <a:ext uri="{FF2B5EF4-FFF2-40B4-BE49-F238E27FC236}">
                <a16:creationId xmlns:a16="http://schemas.microsoft.com/office/drawing/2014/main" id="{BA5B34D7-FE57-4D03-A943-B42631E72D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4550" y="7058025"/>
            <a:ext cx="2667000" cy="9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7368C"/>
            </a:solidFill>
            <a:prstDash val="solid"/>
          </a:ln>
        </p:spPr>
      </p:sp>
      <p:sp>
        <p:nvSpPr>
          <p:cNvPr id="56" name="dg-edge-capacity-segment-3">
            <a:extLst xmlns:a="http://schemas.openxmlformats.org/drawingml/2006/main">
              <a:ext uri="{FF2B5EF4-FFF2-40B4-BE49-F238E27FC236}">
                <a16:creationId xmlns:a16="http://schemas.microsoft.com/office/drawing/2014/main" id="{F9212341-7E2B-493C-B5C1-DDF4332494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4550" y="6724650"/>
            <a:ext cx="95" cy="3333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7368C"/>
            </a:solidFill>
            <a:prstDash val="solid"/>
          </a:ln>
        </p:spPr>
      </p:sp>
      <p:sp>
        <p:nvSpPr>
          <p:cNvPr id="57" name="dg-edge-capacity-arrow-4">
            <a:extLst xmlns:a="http://schemas.openxmlformats.org/drawingml/2006/main">
              <a:ext uri="{FF2B5EF4-FFF2-40B4-BE49-F238E27FC236}">
                <a16:creationId xmlns:a16="http://schemas.microsoft.com/office/drawing/2014/main" id="{2B82F73F-84D6-4F77-B3E4-BFC5F06BBA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1688" y="6724650"/>
            <a:ext cx="85725" cy="85725"/>
          </a:xfrm>
          <a:prstGeom xmlns:a="http://schemas.openxmlformats.org/drawingml/2006/main" prst="upArrow">
            <a:avLst/>
          </a:prstGeom>
          <a:solidFill xmlns:a="http://schemas.openxmlformats.org/drawingml/2006/main">
            <a:srgbClr val="07368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8" name="dg-edge-capacity-label-5">
            <a:extLst xmlns:a="http://schemas.openxmlformats.org/drawingml/2006/main">
              <a:ext uri="{FF2B5EF4-FFF2-40B4-BE49-F238E27FC236}">
                <a16:creationId xmlns:a16="http://schemas.microsoft.com/office/drawing/2014/main" id="{C8423580-60F4-481D-B192-661D7E9400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53675" y="7115175"/>
            <a:ext cx="17621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ctr">
            <a:noAutofit/>
          </a:bodyPr>
          <a:lstStyle xmlns:a="http://schemas.openxmlformats.org/drawingml/2006/main">
            <a:defPPr algn="ctr">
              <a:defRPr sz="1500" b="0">
                <a:solidFill>
                  <a:srgbClr val="07368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1500" b="0">
                <a:solidFill>
                  <a:srgbClr val="0736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07368C"/>
                </a:solidFill>
                <a:latin typeface="Microsoft YaHei"/>
                <a:ea typeface="Microsoft YaHei"/>
                <a:cs typeface="Microsoft YaHei"/>
              </a:rPr>
              <a:t>更新容量边界</a:t>
            </a:r>
          </a:p>
        </p:txBody>
      </p:sp>
      <p:sp>
        <p:nvSpPr>
          <p:cNvPr id="59" name="dg-edge-joint-plan-segment-1">
            <a:extLst xmlns:a="http://schemas.openxmlformats.org/drawingml/2006/main">
              <a:ext uri="{FF2B5EF4-FFF2-40B4-BE49-F238E27FC236}">
                <a16:creationId xmlns:a16="http://schemas.microsoft.com/office/drawing/2014/main" id="{2D0052EF-41F3-41E8-97DF-F356511451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87375" y="6296025"/>
            <a:ext cx="885825" cy="9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7368C"/>
            </a:solidFill>
            <a:prstDash val="solid"/>
          </a:ln>
        </p:spPr>
      </p:sp>
      <p:sp>
        <p:nvSpPr>
          <p:cNvPr id="60" name="dg-edge-joint-plan-arrow-2">
            <a:extLst xmlns:a="http://schemas.openxmlformats.org/drawingml/2006/main">
              <a:ext uri="{FF2B5EF4-FFF2-40B4-BE49-F238E27FC236}">
                <a16:creationId xmlns:a16="http://schemas.microsoft.com/office/drawing/2014/main" id="{65D7961F-15D7-4259-9441-425EAFA4A8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87475" y="6253163"/>
            <a:ext cx="85725" cy="85725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7368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1" name="dg-edge-joint-plan-label-3">
            <a:extLst xmlns:a="http://schemas.openxmlformats.org/drawingml/2006/main">
              <a:ext uri="{FF2B5EF4-FFF2-40B4-BE49-F238E27FC236}">
                <a16:creationId xmlns:a16="http://schemas.microsoft.com/office/drawing/2014/main" id="{4CE61B07-F10C-4ECE-8C6D-77237782FE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73075" y="6981825"/>
            <a:ext cx="12382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ctr">
            <a:noAutofit/>
          </a:bodyPr>
          <a:lstStyle xmlns:a="http://schemas.openxmlformats.org/drawingml/2006/main">
            <a:defPPr algn="ctr">
              <a:defRPr sz="1500" b="0">
                <a:solidFill>
                  <a:srgbClr val="07368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1500" b="0">
                <a:solidFill>
                  <a:srgbClr val="0736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07368C"/>
                </a:solidFill>
                <a:latin typeface="Microsoft YaHei"/>
                <a:ea typeface="Microsoft YaHei"/>
                <a:cs typeface="Microsoft YaHei"/>
              </a:rPr>
              <a:t>联合方案</a:t>
            </a:r>
          </a:p>
        </p:txBody>
      </p:sp>
      <p:sp>
        <p:nvSpPr>
          <p:cNvPr id="62" name="dg-edge-short-review-segment-1">
            <a:extLst xmlns:a="http://schemas.openxmlformats.org/drawingml/2006/main">
              <a:ext uri="{FF2B5EF4-FFF2-40B4-BE49-F238E27FC236}">
                <a16:creationId xmlns:a16="http://schemas.microsoft.com/office/drawing/2014/main" id="{32663B21-771E-4D7B-A2D2-8B2433B3E6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54325" y="3314700"/>
            <a:ext cx="123825" cy="9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C26923"/>
            </a:solidFill>
            <a:prstDash val="dash"/>
          </a:ln>
        </p:spPr>
      </p:sp>
      <p:sp>
        <p:nvSpPr>
          <p:cNvPr id="63" name="dg-edge-short-review-segment-2">
            <a:extLst xmlns:a="http://schemas.openxmlformats.org/drawingml/2006/main">
              <a:ext uri="{FF2B5EF4-FFF2-40B4-BE49-F238E27FC236}">
                <a16:creationId xmlns:a16="http://schemas.microsoft.com/office/drawing/2014/main" id="{9CECC1CA-771B-4F3E-B2AA-062193A05C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78150" y="3314700"/>
            <a:ext cx="95" cy="50577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C26923"/>
            </a:solidFill>
            <a:prstDash val="dash"/>
          </a:ln>
        </p:spPr>
      </p:sp>
      <p:sp>
        <p:nvSpPr>
          <p:cNvPr id="64" name="dg-edge-short-review-segment-3">
            <a:extLst xmlns:a="http://schemas.openxmlformats.org/drawingml/2006/main">
              <a:ext uri="{FF2B5EF4-FFF2-40B4-BE49-F238E27FC236}">
                <a16:creationId xmlns:a16="http://schemas.microsoft.com/office/drawing/2014/main" id="{C507E1C7-0888-4F5F-A117-AEFB835F02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8372475"/>
            <a:ext cx="11506200" cy="9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C26923"/>
            </a:solidFill>
            <a:prstDash val="dash"/>
          </a:ln>
        </p:spPr>
      </p:sp>
      <p:sp>
        <p:nvSpPr>
          <p:cNvPr id="65" name="dg-edge-short-review-segment-4">
            <a:extLst xmlns:a="http://schemas.openxmlformats.org/drawingml/2006/main">
              <a:ext uri="{FF2B5EF4-FFF2-40B4-BE49-F238E27FC236}">
                <a16:creationId xmlns:a16="http://schemas.microsoft.com/office/drawing/2014/main" id="{B49ACAC0-66F2-4150-9FF9-FFD9AC417A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6877050"/>
            <a:ext cx="95" cy="14954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C26923"/>
            </a:solidFill>
            <a:prstDash val="dash"/>
          </a:ln>
        </p:spPr>
      </p:sp>
      <p:sp>
        <p:nvSpPr>
          <p:cNvPr id="66" name="dg-edge-short-review-segment-5">
            <a:extLst xmlns:a="http://schemas.openxmlformats.org/drawingml/2006/main">
              <a:ext uri="{FF2B5EF4-FFF2-40B4-BE49-F238E27FC236}">
                <a16:creationId xmlns:a16="http://schemas.microsoft.com/office/drawing/2014/main" id="{830B15B0-A7D3-417F-8573-086E673395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8125" y="6877050"/>
            <a:ext cx="123825" cy="9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C26923"/>
            </a:solidFill>
            <a:prstDash val="dash"/>
          </a:ln>
        </p:spPr>
      </p:sp>
      <p:sp>
        <p:nvSpPr>
          <p:cNvPr id="67" name="dg-edge-short-review-arrow-6">
            <a:extLst xmlns:a="http://schemas.openxmlformats.org/drawingml/2006/main">
              <a:ext uri="{FF2B5EF4-FFF2-40B4-BE49-F238E27FC236}">
                <a16:creationId xmlns:a16="http://schemas.microsoft.com/office/drawing/2014/main" id="{8060AAF0-4740-47C2-82F2-1800A3004F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8125" y="6834188"/>
            <a:ext cx="85725" cy="85725"/>
          </a:xfrm>
          <a:prstGeom xmlns:a="http://schemas.openxmlformats.org/drawingml/2006/main" prst="leftArrow">
            <a:avLst/>
          </a:prstGeom>
          <a:solidFill xmlns:a="http://schemas.openxmlformats.org/drawingml/2006/main">
            <a:srgbClr val="C2692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8" name="dg-edge-short-review-label-7">
            <a:extLst xmlns:a="http://schemas.openxmlformats.org/drawingml/2006/main">
              <a:ext uri="{FF2B5EF4-FFF2-40B4-BE49-F238E27FC236}">
                <a16:creationId xmlns:a16="http://schemas.microsoft.com/office/drawing/2014/main" id="{A4376B9E-2B0C-4A63-BF97-71686F4B36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38925" y="8143875"/>
            <a:ext cx="3286125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ctr">
            <a:noAutofit/>
          </a:bodyPr>
          <a:lstStyle xmlns:a="http://schemas.openxmlformats.org/drawingml/2006/main">
            <a:defPPr algn="ctr">
              <a:defRPr sz="1500" b="0">
                <a:solidFill>
                  <a:srgbClr val="C2692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1500" b="0">
                <a:solidFill>
                  <a:srgbClr val="C2692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C26923"/>
                </a:solidFill>
                <a:latin typeface="Microsoft YaHei"/>
                <a:ea typeface="Microsoft YaHei"/>
                <a:cs typeface="Microsoft YaHei"/>
              </a:rPr>
              <a:t>短时治理后再评估</a:t>
            </a:r>
          </a:p>
        </p:txBody>
      </p:sp>
      <p:sp>
        <p:nvSpPr>
          <p:cNvPr id="69" name="dg-edge-long-review-segment-1">
            <a:extLst xmlns:a="http://schemas.openxmlformats.org/drawingml/2006/main">
              <a:ext uri="{FF2B5EF4-FFF2-40B4-BE49-F238E27FC236}">
                <a16:creationId xmlns:a16="http://schemas.microsoft.com/office/drawing/2014/main" id="{1C2170D6-050C-4EC3-8FA5-6697936FF7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0" y="6867525"/>
            <a:ext cx="95" cy="11620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C26923"/>
            </a:solidFill>
            <a:prstDash val="dash"/>
          </a:ln>
        </p:spPr>
      </p:sp>
      <p:sp>
        <p:nvSpPr>
          <p:cNvPr id="70" name="dg-edge-long-review-segment-2">
            <a:extLst xmlns:a="http://schemas.openxmlformats.org/drawingml/2006/main">
              <a:ext uri="{FF2B5EF4-FFF2-40B4-BE49-F238E27FC236}">
                <a16:creationId xmlns:a16="http://schemas.microsoft.com/office/drawing/2014/main" id="{5DF6D1F9-14F9-4EAC-A786-7A5B62D3D2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8029575"/>
            <a:ext cx="10477500" cy="9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C26923"/>
            </a:solidFill>
            <a:prstDash val="dash"/>
          </a:ln>
        </p:spPr>
      </p:sp>
      <p:sp>
        <p:nvSpPr>
          <p:cNvPr id="71" name="dg-edge-long-review-segment-3">
            <a:extLst xmlns:a="http://schemas.openxmlformats.org/drawingml/2006/main">
              <a:ext uri="{FF2B5EF4-FFF2-40B4-BE49-F238E27FC236}">
                <a16:creationId xmlns:a16="http://schemas.microsoft.com/office/drawing/2014/main" id="{771B096D-E05F-4B02-9032-25719689EB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6638925"/>
            <a:ext cx="95" cy="13906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C26923"/>
            </a:solidFill>
            <a:prstDash val="dash"/>
          </a:ln>
        </p:spPr>
      </p:sp>
      <p:sp>
        <p:nvSpPr>
          <p:cNvPr id="72" name="dg-edge-long-review-segment-4">
            <a:extLst xmlns:a="http://schemas.openxmlformats.org/drawingml/2006/main">
              <a:ext uri="{FF2B5EF4-FFF2-40B4-BE49-F238E27FC236}">
                <a16:creationId xmlns:a16="http://schemas.microsoft.com/office/drawing/2014/main" id="{AD4B5B34-5980-4E6D-96AC-4ADE150E6C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8125" y="6638925"/>
            <a:ext cx="333375" cy="9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C26923"/>
            </a:solidFill>
            <a:prstDash val="dash"/>
          </a:ln>
        </p:spPr>
      </p:sp>
      <p:sp>
        <p:nvSpPr>
          <p:cNvPr id="73" name="dg-edge-long-review-arrow-5">
            <a:extLst xmlns:a="http://schemas.openxmlformats.org/drawingml/2006/main">
              <a:ext uri="{FF2B5EF4-FFF2-40B4-BE49-F238E27FC236}">
                <a16:creationId xmlns:a16="http://schemas.microsoft.com/office/drawing/2014/main" id="{FA4289D9-12F8-4CE0-8EEC-114222182E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8125" y="6596063"/>
            <a:ext cx="85725" cy="85725"/>
          </a:xfrm>
          <a:prstGeom xmlns:a="http://schemas.openxmlformats.org/drawingml/2006/main" prst="leftArrow">
            <a:avLst/>
          </a:prstGeom>
          <a:solidFill xmlns:a="http://schemas.openxmlformats.org/drawingml/2006/main">
            <a:srgbClr val="C2692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4" name="dg-edge-long-review-label-6">
            <a:extLst xmlns:a="http://schemas.openxmlformats.org/drawingml/2006/main">
              <a:ext uri="{FF2B5EF4-FFF2-40B4-BE49-F238E27FC236}">
                <a16:creationId xmlns:a16="http://schemas.microsoft.com/office/drawing/2014/main" id="{0B4B14E1-B1DB-497C-B88B-C373A9B541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8086725"/>
            <a:ext cx="3810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ctr">
            <a:noAutofit/>
          </a:bodyPr>
          <a:lstStyle xmlns:a="http://schemas.openxmlformats.org/drawingml/2006/main">
            <a:defPPr algn="ctr">
              <a:defRPr sz="1500" b="0">
                <a:solidFill>
                  <a:srgbClr val="C2692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1500" b="0">
                <a:solidFill>
                  <a:srgbClr val="C2692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C26923"/>
                </a:solidFill>
                <a:latin typeface="Microsoft YaHei"/>
                <a:ea typeface="Microsoft YaHei"/>
                <a:cs typeface="Microsoft YaHei"/>
              </a:rPr>
              <a:t>长期治理后再评估</a:t>
            </a:r>
          </a:p>
        </p:txBody>
      </p:sp>
      <p:sp>
        <p:nvSpPr>
          <p:cNvPr id="75" name="dg-node-pv-boundary-1">
            <a:extLst xmlns:a="http://schemas.openxmlformats.org/drawingml/2006/main">
              <a:ext uri="{FF2B5EF4-FFF2-40B4-BE49-F238E27FC236}">
                <a16:creationId xmlns:a16="http://schemas.microsoft.com/office/drawing/2014/main" id="{EEF33934-E903-46DE-8538-40AA44D66D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2686050"/>
            <a:ext cx="1333500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CADBE3"/>
            </a:solidFill>
            <a:prstDash val="solid"/>
          </a:ln>
        </p:spPr>
      </p:sp>
      <p:sp>
        <p:nvSpPr>
          <p:cNvPr id="76" name="dg-node-pv-panel-2">
            <a:extLst xmlns:a="http://schemas.openxmlformats.org/drawingml/2006/main">
              <a:ext uri="{FF2B5EF4-FFF2-40B4-BE49-F238E27FC236}">
                <a16:creationId xmlns:a16="http://schemas.microsoft.com/office/drawing/2014/main" id="{1DA4FA39-93D4-4B6F-8A03-D6F7C4364B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733675"/>
            <a:ext cx="666750" cy="48863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DF9"/>
          </a:solidFill>
          <a:ln xmlns:a="http://schemas.openxmlformats.org/drawingml/2006/main" w="19050">
            <a:solidFill>
              <a:srgbClr val="087F8C"/>
            </a:solidFill>
            <a:prstDash val="solid"/>
          </a:ln>
        </p:spPr>
      </p:sp>
      <p:sp>
        <p:nvSpPr>
          <p:cNvPr id="77" name="dg-node-pv-segment-3">
            <a:extLst xmlns:a="http://schemas.openxmlformats.org/drawingml/2006/main">
              <a:ext uri="{FF2B5EF4-FFF2-40B4-BE49-F238E27FC236}">
                <a16:creationId xmlns:a16="http://schemas.microsoft.com/office/drawing/2014/main" id="{3E91E3C3-BC28-4644-A274-1958E50498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3" y="2733675"/>
            <a:ext cx="95" cy="48863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087F8C"/>
            </a:solidFill>
            <a:prstDash val="solid"/>
          </a:ln>
        </p:spPr>
      </p:sp>
      <p:sp>
        <p:nvSpPr>
          <p:cNvPr id="78" name="dg-node-pv-segment-4">
            <a:extLst xmlns:a="http://schemas.openxmlformats.org/drawingml/2006/main">
              <a:ext uri="{FF2B5EF4-FFF2-40B4-BE49-F238E27FC236}">
                <a16:creationId xmlns:a16="http://schemas.microsoft.com/office/drawing/2014/main" id="{0E9CFFE6-CBD2-4B9F-8821-CE074D8DC1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733675"/>
            <a:ext cx="95" cy="48863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087F8C"/>
            </a:solidFill>
            <a:prstDash val="solid"/>
          </a:ln>
        </p:spPr>
      </p:sp>
      <p:sp>
        <p:nvSpPr>
          <p:cNvPr id="79" name="dg-node-pv-segment-5">
            <a:extLst xmlns:a="http://schemas.openxmlformats.org/drawingml/2006/main">
              <a:ext uri="{FF2B5EF4-FFF2-40B4-BE49-F238E27FC236}">
                <a16:creationId xmlns:a16="http://schemas.microsoft.com/office/drawing/2014/main" id="{AAE9BDC7-DAE3-4DFB-8BD7-97E4E7F391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4438" y="2733675"/>
            <a:ext cx="95" cy="48863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087F8C"/>
            </a:solidFill>
            <a:prstDash val="solid"/>
          </a:ln>
        </p:spPr>
      </p:sp>
      <p:sp>
        <p:nvSpPr>
          <p:cNvPr id="80" name="dg-node-pv-segment-6">
            <a:extLst xmlns:a="http://schemas.openxmlformats.org/drawingml/2006/main">
              <a:ext uri="{FF2B5EF4-FFF2-40B4-BE49-F238E27FC236}">
                <a16:creationId xmlns:a16="http://schemas.microsoft.com/office/drawing/2014/main" id="{D53DF67F-6C24-4956-940B-B07BD6B6DD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977991"/>
            <a:ext cx="666750" cy="9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087F8C"/>
            </a:solidFill>
            <a:prstDash val="solid"/>
          </a:ln>
        </p:spPr>
      </p:sp>
      <p:sp>
        <p:nvSpPr>
          <p:cNvPr id="81" name="dg-node-pv-segment-7">
            <a:extLst xmlns:a="http://schemas.openxmlformats.org/drawingml/2006/main">
              <a:ext uri="{FF2B5EF4-FFF2-40B4-BE49-F238E27FC236}">
                <a16:creationId xmlns:a16="http://schemas.microsoft.com/office/drawing/2014/main" id="{4B416186-D261-47AB-BE0A-36158EAB57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222308"/>
            <a:ext cx="95" cy="762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87F8C"/>
            </a:solidFill>
            <a:prstDash val="solid"/>
          </a:ln>
        </p:spPr>
      </p:sp>
      <p:sp>
        <p:nvSpPr>
          <p:cNvPr id="82" name="dg-node-pv-label-8">
            <a:extLst xmlns:a="http://schemas.openxmlformats.org/drawingml/2006/main">
              <a:ext uri="{FF2B5EF4-FFF2-40B4-BE49-F238E27FC236}">
                <a16:creationId xmlns:a16="http://schemas.microsoft.com/office/drawing/2014/main" id="{6AF7D423-5577-469C-AC30-55AED2B228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327083"/>
            <a:ext cx="1295400" cy="34004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ctr">
            <a:noAutofit/>
          </a:bodyPr>
          <a:lstStyle xmlns:a="http://schemas.openxmlformats.org/drawingml/2006/main">
            <a:defPPr algn="ctr">
              <a:defRPr sz="1800" b="1">
                <a:solidFill>
                  <a:srgbClr val="087F8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1800" b="1">
                <a:solidFill>
                  <a:srgbClr val="087F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087F8C"/>
                </a:solidFill>
                <a:latin typeface="Microsoft YaHei"/>
                <a:ea typeface="Microsoft YaHei"/>
                <a:cs typeface="Microsoft YaHei"/>
              </a:rPr>
              <a:t>分布式光伏</a:t>
            </a:r>
          </a:p>
        </p:txBody>
      </p:sp>
      <p:sp>
        <p:nvSpPr>
          <p:cNvPr id="83" name="dg-node-load-boundary-1">
            <a:extLst xmlns:a="http://schemas.openxmlformats.org/drawingml/2006/main">
              <a:ext uri="{FF2B5EF4-FFF2-40B4-BE49-F238E27FC236}">
                <a16:creationId xmlns:a16="http://schemas.microsoft.com/office/drawing/2014/main" id="{B6465B0D-4202-4EEA-8A12-D164E7A29C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2686050"/>
            <a:ext cx="1524000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CADBE3"/>
            </a:solidFill>
            <a:prstDash val="solid"/>
          </a:ln>
        </p:spPr>
      </p:sp>
      <p:sp>
        <p:nvSpPr>
          <p:cNvPr id="84" name="dg-node-load-body-2">
            <a:extLst xmlns:a="http://schemas.openxmlformats.org/drawingml/2006/main">
              <a:ext uri="{FF2B5EF4-FFF2-40B4-BE49-F238E27FC236}">
                <a16:creationId xmlns:a16="http://schemas.microsoft.com/office/drawing/2014/main" id="{387F3F5A-59D3-4C51-B32F-4D99684AAD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0101" y="2733675"/>
            <a:ext cx="677799" cy="56483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1D9"/>
          </a:solidFill>
          <a:ln xmlns:a="http://schemas.openxmlformats.org/drawingml/2006/main" w="19050">
            <a:solidFill>
              <a:srgbClr val="087F8C"/>
            </a:solidFill>
            <a:prstDash val="solid"/>
          </a:ln>
        </p:spPr>
      </p:sp>
      <p:sp>
        <p:nvSpPr>
          <p:cNvPr id="85" name="dg-node-load-window-3">
            <a:extLst xmlns:a="http://schemas.openxmlformats.org/drawingml/2006/main">
              <a:ext uri="{FF2B5EF4-FFF2-40B4-BE49-F238E27FC236}">
                <a16:creationId xmlns:a16="http://schemas.microsoft.com/office/drawing/2014/main" id="{141B8665-8F51-4B11-8671-874AA60F9B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71436" y="2801455"/>
            <a:ext cx="94892" cy="11296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F8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6" name="dg-node-load-window-4">
            <a:extLst xmlns:a="http://schemas.openxmlformats.org/drawingml/2006/main">
              <a:ext uri="{FF2B5EF4-FFF2-40B4-BE49-F238E27FC236}">
                <a16:creationId xmlns:a16="http://schemas.microsoft.com/office/drawing/2014/main" id="{86AB47C7-BDB0-4D1F-9A8B-3956F37A9A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61220" y="2801455"/>
            <a:ext cx="94892" cy="11296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F8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7" name="dg-node-load-window-5">
            <a:extLst xmlns:a="http://schemas.openxmlformats.org/drawingml/2006/main">
              <a:ext uri="{FF2B5EF4-FFF2-40B4-BE49-F238E27FC236}">
                <a16:creationId xmlns:a16="http://schemas.microsoft.com/office/drawing/2014/main" id="{9BDFE2FD-A79A-4A1B-BB74-9DCE115F86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1004" y="2801455"/>
            <a:ext cx="94892" cy="11296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F8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8" name="dg-node-load-window-6">
            <a:extLst xmlns:a="http://schemas.openxmlformats.org/drawingml/2006/main">
              <a:ext uri="{FF2B5EF4-FFF2-40B4-BE49-F238E27FC236}">
                <a16:creationId xmlns:a16="http://schemas.microsoft.com/office/drawing/2014/main" id="{EFB62B41-F8B4-4D13-8A47-7C4CE9997F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71436" y="2999146"/>
            <a:ext cx="94892" cy="11296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F8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9" name="dg-node-load-window-7">
            <a:extLst xmlns:a="http://schemas.openxmlformats.org/drawingml/2006/main">
              <a:ext uri="{FF2B5EF4-FFF2-40B4-BE49-F238E27FC236}">
                <a16:creationId xmlns:a16="http://schemas.microsoft.com/office/drawing/2014/main" id="{CB2E28C3-06A5-42F6-B1D8-FAA7C66AC2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61220" y="2999146"/>
            <a:ext cx="94892" cy="11296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F8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0" name="dg-node-load-window-8">
            <a:extLst xmlns:a="http://schemas.openxmlformats.org/drawingml/2006/main">
              <a:ext uri="{FF2B5EF4-FFF2-40B4-BE49-F238E27FC236}">
                <a16:creationId xmlns:a16="http://schemas.microsoft.com/office/drawing/2014/main" id="{B78AB511-82CE-44CE-8200-DA5FD5E5D7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1004" y="2999146"/>
            <a:ext cx="94892" cy="11296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F8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1" name="dg-node-load-label-9">
            <a:extLst xmlns:a="http://schemas.openxmlformats.org/drawingml/2006/main">
              <a:ext uri="{FF2B5EF4-FFF2-40B4-BE49-F238E27FC236}">
                <a16:creationId xmlns:a16="http://schemas.microsoft.com/office/drawing/2014/main" id="{20FEDF71-2D78-4681-9C28-52CD9C1400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3327083"/>
            <a:ext cx="1485900" cy="34004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ctr">
            <a:noAutofit/>
          </a:bodyPr>
          <a:lstStyle xmlns:a="http://schemas.openxmlformats.org/drawingml/2006/main">
            <a:defPPr algn="ctr">
              <a:defRPr sz="1800" b="1">
                <a:solidFill>
                  <a:srgbClr val="087F8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1800" b="1">
                <a:solidFill>
                  <a:srgbClr val="087F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087F8C"/>
                </a:solidFill>
                <a:latin typeface="Microsoft YaHei"/>
                <a:ea typeface="Microsoft YaHei"/>
                <a:cs typeface="Microsoft YaHei"/>
              </a:rPr>
              <a:t>EV与负荷</a:t>
            </a:r>
          </a:p>
        </p:txBody>
      </p:sp>
      <p:sp>
        <p:nvSpPr>
          <p:cNvPr id="92" name="dg-node-network-boundary-1">
            <a:extLst xmlns:a="http://schemas.openxmlformats.org/drawingml/2006/main">
              <a:ext uri="{FF2B5EF4-FFF2-40B4-BE49-F238E27FC236}">
                <a16:creationId xmlns:a16="http://schemas.microsoft.com/office/drawing/2014/main" id="{08C4B623-57B6-4495-A57C-4EF6915AA4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4095750"/>
            <a:ext cx="21907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CADBE3"/>
            </a:solidFill>
            <a:prstDash val="solid"/>
          </a:ln>
        </p:spPr>
      </p:sp>
      <p:sp>
        <p:nvSpPr>
          <p:cNvPr id="93" name="dg-node-network-segment-2">
            <a:extLst xmlns:a="http://schemas.openxmlformats.org/drawingml/2006/main">
              <a:ext uri="{FF2B5EF4-FFF2-40B4-BE49-F238E27FC236}">
                <a16:creationId xmlns:a16="http://schemas.microsoft.com/office/drawing/2014/main" id="{4C5BD18B-D5A9-499F-9210-FEFE9EB28C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4315778"/>
            <a:ext cx="2057400" cy="9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087F8C"/>
            </a:solidFill>
            <a:prstDash val="solid"/>
          </a:ln>
        </p:spPr>
      </p:sp>
      <p:sp>
        <p:nvSpPr>
          <p:cNvPr id="94" name="dg-node-network-segment-3">
            <a:extLst xmlns:a="http://schemas.openxmlformats.org/drawingml/2006/main">
              <a:ext uri="{FF2B5EF4-FFF2-40B4-BE49-F238E27FC236}">
                <a16:creationId xmlns:a16="http://schemas.microsoft.com/office/drawing/2014/main" id="{0C647DF7-5BA8-4C48-9485-664E502104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24025" y="4315778"/>
            <a:ext cx="95" cy="172402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87F8C"/>
            </a:solidFill>
            <a:prstDash val="solid"/>
          </a:ln>
        </p:spPr>
      </p:sp>
      <p:sp>
        <p:nvSpPr>
          <p:cNvPr id="95" name="dg-node-network-segment-4">
            <a:extLst xmlns:a="http://schemas.openxmlformats.org/drawingml/2006/main">
              <a:ext uri="{FF2B5EF4-FFF2-40B4-BE49-F238E27FC236}">
                <a16:creationId xmlns:a16="http://schemas.microsoft.com/office/drawing/2014/main" id="{FD1FB1DB-4FB8-4433-99F7-ACD33A48F3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4315778"/>
            <a:ext cx="95" cy="172402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87F8C"/>
            </a:solidFill>
            <a:prstDash val="solid"/>
          </a:ln>
        </p:spPr>
      </p:sp>
      <p:sp>
        <p:nvSpPr>
          <p:cNvPr id="96" name="dg-node-network-segment-5">
            <a:extLst xmlns:a="http://schemas.openxmlformats.org/drawingml/2006/main">
              <a:ext uri="{FF2B5EF4-FFF2-40B4-BE49-F238E27FC236}">
                <a16:creationId xmlns:a16="http://schemas.microsoft.com/office/drawing/2014/main" id="{DF8784B7-C827-4BE6-B18D-45CC49929B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38475" y="4315778"/>
            <a:ext cx="95" cy="172402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87F8C"/>
            </a:solidFill>
            <a:prstDash val="solid"/>
          </a:ln>
        </p:spPr>
      </p:sp>
      <p:sp>
        <p:nvSpPr>
          <p:cNvPr id="97" name="dg-node-network-label-6">
            <a:extLst xmlns:a="http://schemas.openxmlformats.org/drawingml/2006/main">
              <a:ext uri="{FF2B5EF4-FFF2-40B4-BE49-F238E27FC236}">
                <a16:creationId xmlns:a16="http://schemas.microsoft.com/office/drawing/2014/main" id="{594993B7-BF0D-49CB-926D-6F8A5F7309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" y="4516755"/>
            <a:ext cx="2152650" cy="2266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ctr">
            <a:noAutofit/>
          </a:bodyPr>
          <a:lstStyle xmlns:a="http://schemas.openxmlformats.org/drawingml/2006/main">
            <a:defPPr algn="ctr">
              <a:defRPr sz="1800" b="1">
                <a:solidFill>
                  <a:srgbClr val="087F8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1800" b="1">
                <a:solidFill>
                  <a:srgbClr val="087F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087F8C"/>
                </a:solidFill>
                <a:latin typeface="Microsoft YaHei"/>
                <a:ea typeface="Microsoft YaHei"/>
                <a:cs typeface="Microsoft YaHei"/>
              </a:rPr>
              <a:t>配变 / 线路</a:t>
            </a:r>
          </a:p>
        </p:txBody>
      </p:sp>
      <p:sp>
        <p:nvSpPr>
          <p:cNvPr id="98" name="dg-node-thermal-label-1">
            <a:extLst xmlns:a="http://schemas.openxmlformats.org/drawingml/2006/main">
              <a:ext uri="{FF2B5EF4-FFF2-40B4-BE49-F238E27FC236}">
                <a16:creationId xmlns:a16="http://schemas.microsoft.com/office/drawing/2014/main" id="{1300E70E-372A-4C58-822D-CCD0A8845A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219700"/>
            <a:ext cx="3381375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EAF3FA"/>
          </a:solidFill>
          <a:ln xmlns:a="http://schemas.openxmlformats.org/drawingml/2006/main" w="14288">
            <a:solidFill>
              <a:srgbClr val="07368C"/>
            </a:solidFill>
            <a:prstDash val="solid"/>
          </a:ln>
        </p:spPr>
        <p:txBody>
          <a:bodyPr xmlns:a="http://schemas.openxmlformats.org/drawingml/2006/main" wrap="square" lIns="28575" tIns="19050" rIns="28575" bIns="19050" anchor="ctr">
            <a:noAutofit/>
          </a:bodyPr>
          <a:lstStyle xmlns:a="http://schemas.openxmlformats.org/drawingml/2006/main">
            <a:defPPr algn="ctr">
              <a:defRPr sz="1800" b="1">
                <a:solidFill>
                  <a:srgbClr val="07368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1800" b="1">
                <a:solidFill>
                  <a:srgbClr val="0736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07368C"/>
                </a:solidFill>
                <a:latin typeface="Microsoft YaHei"/>
                <a:ea typeface="Microsoft YaHei"/>
                <a:cs typeface="Microsoft YaHei"/>
              </a:rPr>
              <a:t>电流、环境温度</a:t>
            </a:r>
          </a:p>
          <a:p xmlns:a="http://schemas.openxmlformats.org/drawingml/2006/main">
            <a:pPr algn="ctr">
              <a:defRPr sz="1800" b="1">
                <a:solidFill>
                  <a:srgbClr val="0736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07368C"/>
                </a:solidFill>
                <a:latin typeface="Microsoft YaHei"/>
                <a:ea typeface="Microsoft YaHei"/>
                <a:cs typeface="Microsoft YaHei"/>
              </a:rPr>
              <a:t>热模型与老化速率</a:t>
            </a:r>
          </a:p>
        </p:txBody>
      </p:sp>
      <p:sp>
        <p:nvSpPr>
          <p:cNvPr id="99" name="dg-node-assessment-label-1">
            <a:extLst xmlns:a="http://schemas.openxmlformats.org/drawingml/2006/main">
              <a:ext uri="{FF2B5EF4-FFF2-40B4-BE49-F238E27FC236}">
                <a16:creationId xmlns:a16="http://schemas.microsoft.com/office/drawing/2014/main" id="{056A546E-684F-4972-BD9C-884863BE9C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29375"/>
            <a:ext cx="3381375" cy="64770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EAF3FA"/>
          </a:solidFill>
          <a:ln xmlns:a="http://schemas.openxmlformats.org/drawingml/2006/main" w="14288">
            <a:solidFill>
              <a:srgbClr val="07368C"/>
            </a:solidFill>
            <a:prstDash val="solid"/>
          </a:ln>
        </p:spPr>
        <p:txBody>
          <a:bodyPr xmlns:a="http://schemas.openxmlformats.org/drawingml/2006/main" wrap="square" lIns="28575" tIns="19050" rIns="28575" bIns="19050" anchor="ctr">
            <a:noAutofit/>
          </a:bodyPr>
          <a:lstStyle xmlns:a="http://schemas.openxmlformats.org/drawingml/2006/main">
            <a:defPPr algn="ctr">
              <a:defRPr sz="1800" b="1">
                <a:solidFill>
                  <a:srgbClr val="07368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1800" b="1">
                <a:solidFill>
                  <a:srgbClr val="0736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07368C"/>
                </a:solidFill>
                <a:latin typeface="Microsoft YaHei"/>
                <a:ea typeface="Microsoft YaHei"/>
                <a:cs typeface="Microsoft YaHei"/>
              </a:rPr>
              <a:t>日寿命损失 / 六项指标</a:t>
            </a:r>
          </a:p>
        </p:txBody>
      </p:sp>
      <p:sp>
        <p:nvSpPr>
          <p:cNvPr id="100" name="dg-node-assessment-segment-2">
            <a:extLst xmlns:a="http://schemas.openxmlformats.org/drawingml/2006/main">
              <a:ext uri="{FF2B5EF4-FFF2-40B4-BE49-F238E27FC236}">
                <a16:creationId xmlns:a16="http://schemas.microsoft.com/office/drawing/2014/main" id="{3D6BF63A-C879-44F7-A8EE-D7B20B28D3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496050"/>
            <a:ext cx="3267075" cy="9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07368C"/>
            </a:solidFill>
            <a:prstDash val="solid"/>
          </a:ln>
        </p:spPr>
      </p:sp>
      <p:sp>
        <p:nvSpPr>
          <p:cNvPr id="101" name="dg-node-assessment-segment-3">
            <a:extLst xmlns:a="http://schemas.openxmlformats.org/drawingml/2006/main">
              <a:ext uri="{FF2B5EF4-FFF2-40B4-BE49-F238E27FC236}">
                <a16:creationId xmlns:a16="http://schemas.microsoft.com/office/drawing/2014/main" id="{ABD48F61-CE35-4616-B31F-125C04DDC0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7010400"/>
            <a:ext cx="3267075" cy="9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07368C"/>
            </a:solidFill>
            <a:prstDash val="solid"/>
          </a:ln>
        </p:spPr>
      </p:sp>
      <p:sp>
        <p:nvSpPr>
          <p:cNvPr id="102" name="dg-node-regime-label-1">
            <a:extLst xmlns:a="http://schemas.openxmlformats.org/drawingml/2006/main">
              <a:ext uri="{FF2B5EF4-FFF2-40B4-BE49-F238E27FC236}">
                <a16:creationId xmlns:a16="http://schemas.microsoft.com/office/drawing/2014/main" id="{D015C5A8-34BB-4839-B87D-C92D75B3D3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5238750"/>
            <a:ext cx="1295400" cy="97155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AF3FA"/>
          </a:solidFill>
          <a:ln xmlns:a="http://schemas.openxmlformats.org/drawingml/2006/main" w="14288">
            <a:solidFill>
              <a:srgbClr val="07368C"/>
            </a:solidFill>
            <a:prstDash val="solid"/>
          </a:ln>
        </p:spPr>
        <p:txBody>
          <a:bodyPr xmlns:a="http://schemas.openxmlformats.org/drawingml/2006/main" wrap="square" lIns="28575" tIns="19050" rIns="28575" bIns="19050" anchor="ctr">
            <a:noAutofit/>
          </a:bodyPr>
          <a:lstStyle xmlns:a="http://schemas.openxmlformats.org/drawingml/2006/main">
            <a:defPPr algn="ctr">
              <a:defRPr sz="1800" b="1">
                <a:solidFill>
                  <a:srgbClr val="07368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1800" b="1">
                <a:solidFill>
                  <a:srgbClr val="0736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07368C"/>
                </a:solidFill>
                <a:latin typeface="Microsoft YaHei"/>
                <a:ea typeface="Microsoft YaHei"/>
                <a:cs typeface="Microsoft YaHei"/>
              </a:rPr>
              <a:t>治理</a:t>
            </a:r>
          </a:p>
          <a:p xmlns:a="http://schemas.openxmlformats.org/drawingml/2006/main">
            <a:pPr algn="ctr">
              <a:defRPr sz="1800" b="1">
                <a:solidFill>
                  <a:srgbClr val="0736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07368C"/>
                </a:solidFill>
                <a:latin typeface="Microsoft YaHei"/>
                <a:ea typeface="Microsoft YaHei"/>
                <a:cs typeface="Microsoft YaHei"/>
              </a:rPr>
              <a:t>类型</a:t>
            </a:r>
          </a:p>
        </p:txBody>
      </p:sp>
      <p:sp>
        <p:nvSpPr>
          <p:cNvPr id="103" name="dg-node-users-boundary-1">
            <a:extLst xmlns:a="http://schemas.openxmlformats.org/drawingml/2006/main">
              <a:ext uri="{FF2B5EF4-FFF2-40B4-BE49-F238E27FC236}">
                <a16:creationId xmlns:a16="http://schemas.microsoft.com/office/drawing/2014/main" id="{DD449EFD-D27D-4E31-A093-710FC25142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819400"/>
            <a:ext cx="1476375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CADBE3"/>
            </a:solidFill>
            <a:prstDash val="solid"/>
          </a:ln>
        </p:spPr>
      </p:sp>
      <p:sp>
        <p:nvSpPr>
          <p:cNvPr id="104" name="dg-node-users-head-2">
            <a:extLst xmlns:a="http://schemas.openxmlformats.org/drawingml/2006/main">
              <a:ext uri="{FF2B5EF4-FFF2-40B4-BE49-F238E27FC236}">
                <a16:creationId xmlns:a16="http://schemas.microsoft.com/office/drawing/2014/main" id="{D72E6ABE-9E79-42D1-B91E-CD56E28F06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0538" y="2867025"/>
            <a:ext cx="169450" cy="169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7368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5" name="dg-node-users-body-3">
            <a:extLst xmlns:a="http://schemas.openxmlformats.org/drawingml/2006/main">
              <a:ext uri="{FF2B5EF4-FFF2-40B4-BE49-F238E27FC236}">
                <a16:creationId xmlns:a16="http://schemas.microsoft.com/office/drawing/2014/main" id="{EB3AE765-27A9-4835-9482-B77A7C443F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3593" y="3065050"/>
            <a:ext cx="203340" cy="366808"/>
          </a:xfrm>
          <a:prstGeom xmlns:a="http://schemas.openxmlformats.org/drawingml/2006/main" prst="roundRect">
            <a:avLst>
              <a:gd name="adj" fmla="val 37474"/>
            </a:avLst>
          </a:prstGeom>
          <a:solidFill xmlns:a="http://schemas.openxmlformats.org/drawingml/2006/main">
            <a:srgbClr val="07368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6" name="dg-node-users-head-4">
            <a:extLst xmlns:a="http://schemas.openxmlformats.org/drawingml/2006/main">
              <a:ext uri="{FF2B5EF4-FFF2-40B4-BE49-F238E27FC236}">
                <a16:creationId xmlns:a16="http://schemas.microsoft.com/office/drawing/2014/main" id="{6DD25E56-ADCC-426A-A407-57F31AE962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63327" y="2867025"/>
            <a:ext cx="169450" cy="169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7368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7" name="dg-node-users-body-5">
            <a:extLst xmlns:a="http://schemas.openxmlformats.org/drawingml/2006/main">
              <a:ext uri="{FF2B5EF4-FFF2-40B4-BE49-F238E27FC236}">
                <a16:creationId xmlns:a16="http://schemas.microsoft.com/office/drawing/2014/main" id="{08F4F810-5AEE-43A0-9214-FC7080A0B8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6382" y="3065050"/>
            <a:ext cx="203340" cy="366808"/>
          </a:xfrm>
          <a:prstGeom xmlns:a="http://schemas.openxmlformats.org/drawingml/2006/main" prst="roundRect">
            <a:avLst>
              <a:gd name="adj" fmla="val 37474"/>
            </a:avLst>
          </a:prstGeom>
          <a:solidFill xmlns:a="http://schemas.openxmlformats.org/drawingml/2006/main">
            <a:srgbClr val="07368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8" name="dg-node-users-label-6">
            <a:extLst xmlns:a="http://schemas.openxmlformats.org/drawingml/2006/main">
              <a:ext uri="{FF2B5EF4-FFF2-40B4-BE49-F238E27FC236}">
                <a16:creationId xmlns:a16="http://schemas.microsoft.com/office/drawing/2014/main" id="{BF70EC19-470C-4DE3-84A6-7017B73D02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3460433"/>
            <a:ext cx="1438275" cy="34004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ctr">
            <a:noAutofit/>
          </a:bodyPr>
          <a:lstStyle xmlns:a="http://schemas.openxmlformats.org/drawingml/2006/main">
            <a:defPPr algn="ctr">
              <a:defRPr sz="1800" b="1">
                <a:solidFill>
                  <a:srgbClr val="07368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1800" b="1">
                <a:solidFill>
                  <a:srgbClr val="0736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07368C"/>
                </a:solidFill>
                <a:latin typeface="Microsoft YaHei"/>
                <a:ea typeface="Microsoft YaHei"/>
                <a:cs typeface="Microsoft YaHei"/>
              </a:rPr>
              <a:t>用户选择</a:t>
            </a:r>
          </a:p>
        </p:txBody>
      </p:sp>
      <p:sp>
        <p:nvSpPr>
          <p:cNvPr id="109" name="dg-node-logit-label-1">
            <a:extLst xmlns:a="http://schemas.openxmlformats.org/drawingml/2006/main">
              <a:ext uri="{FF2B5EF4-FFF2-40B4-BE49-F238E27FC236}">
                <a16:creationId xmlns:a16="http://schemas.microsoft.com/office/drawing/2014/main" id="{166F8018-2B5C-453D-8226-E7D6CB53EA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2876550"/>
            <a:ext cx="1714500" cy="819150"/>
          </a:xfrm>
          <a:prstGeom xmlns:a="http://schemas.openxmlformats.org/drawingml/2006/main" prst="roundRect">
            <a:avLst>
              <a:gd name="adj" fmla="val 9302"/>
            </a:avLst>
          </a:prstGeom>
          <a:solidFill xmlns:a="http://schemas.openxmlformats.org/drawingml/2006/main">
            <a:srgbClr val="EAF3FA"/>
          </a:solidFill>
          <a:ln xmlns:a="http://schemas.openxmlformats.org/drawingml/2006/main" w="14288">
            <a:solidFill>
              <a:srgbClr val="07368C"/>
            </a:solidFill>
            <a:prstDash val="solid"/>
          </a:ln>
        </p:spPr>
        <p:txBody>
          <a:bodyPr xmlns:a="http://schemas.openxmlformats.org/drawingml/2006/main" wrap="square" lIns="28575" tIns="19050" rIns="28575" bIns="19050" anchor="ctr">
            <a:noAutofit/>
          </a:bodyPr>
          <a:lstStyle xmlns:a="http://schemas.openxmlformats.org/drawingml/2006/main">
            <a:defPPr algn="ctr">
              <a:defRPr sz="1800" b="1">
                <a:solidFill>
                  <a:srgbClr val="07368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1800" b="1">
                <a:solidFill>
                  <a:srgbClr val="0736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07368C"/>
                </a:solidFill>
                <a:latin typeface="Microsoft YaHei"/>
                <a:ea typeface="Microsoft YaHei"/>
                <a:cs typeface="Microsoft YaHei"/>
              </a:rPr>
              <a:t>Logit</a:t>
            </a:r>
          </a:p>
          <a:p xmlns:a="http://schemas.openxmlformats.org/drawingml/2006/main">
            <a:pPr algn="ctr">
              <a:defRPr sz="1800" b="1">
                <a:solidFill>
                  <a:srgbClr val="0736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07368C"/>
                </a:solidFill>
                <a:latin typeface="Microsoft YaHei"/>
                <a:ea typeface="Microsoft YaHei"/>
                <a:cs typeface="Microsoft YaHei"/>
              </a:rPr>
              <a:t>响应度 εev</a:t>
            </a:r>
          </a:p>
        </p:txBody>
      </p:sp>
      <p:sp>
        <p:nvSpPr>
          <p:cNvPr id="110" name="dg-node-rbess-label-1">
            <a:extLst xmlns:a="http://schemas.openxmlformats.org/drawingml/2006/main">
              <a:ext uri="{FF2B5EF4-FFF2-40B4-BE49-F238E27FC236}">
                <a16:creationId xmlns:a16="http://schemas.microsoft.com/office/drawing/2014/main" id="{100364CF-DEF2-499B-823B-38EFE1A385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2876550"/>
            <a:ext cx="2047875" cy="819150"/>
          </a:xfrm>
          <a:prstGeom xmlns:a="http://schemas.openxmlformats.org/drawingml/2006/main" prst="roundRect">
            <a:avLst>
              <a:gd name="adj" fmla="val 9302"/>
            </a:avLst>
          </a:prstGeom>
          <a:solidFill xmlns:a="http://schemas.openxmlformats.org/drawingml/2006/main">
            <a:srgbClr val="EAF3FA"/>
          </a:solidFill>
          <a:ln xmlns:a="http://schemas.openxmlformats.org/drawingml/2006/main" w="14288">
            <a:solidFill>
              <a:srgbClr val="07368C"/>
            </a:solidFill>
            <a:prstDash val="solid"/>
          </a:ln>
        </p:spPr>
        <p:txBody>
          <a:bodyPr xmlns:a="http://schemas.openxmlformats.org/drawingml/2006/main" wrap="square" lIns="28575" tIns="19050" rIns="28575" bIns="19050" anchor="ctr">
            <a:noAutofit/>
          </a:bodyPr>
          <a:lstStyle xmlns:a="http://schemas.openxmlformats.org/drawingml/2006/main">
            <a:defPPr algn="ctr">
              <a:defRPr sz="1800" b="1">
                <a:solidFill>
                  <a:srgbClr val="07368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1800" b="1">
                <a:solidFill>
                  <a:srgbClr val="0736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07368C"/>
                </a:solidFill>
                <a:latin typeface="Microsoft YaHei"/>
                <a:ea typeface="Microsoft YaHei"/>
                <a:cs typeface="Microsoft YaHei"/>
              </a:rPr>
              <a:t>AIW-PSO</a:t>
            </a:r>
          </a:p>
          <a:p xmlns:a="http://schemas.openxmlformats.org/drawingml/2006/main">
            <a:pPr algn="ctr">
              <a:defRPr sz="1800" b="1">
                <a:solidFill>
                  <a:srgbClr val="0736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07368C"/>
                </a:solidFill>
                <a:latin typeface="Microsoft YaHei"/>
                <a:ea typeface="Microsoft YaHei"/>
                <a:cs typeface="Microsoft YaHei"/>
              </a:rPr>
              <a:t>配置与充放电</a:t>
            </a:r>
          </a:p>
        </p:txBody>
      </p:sp>
      <p:sp>
        <p:nvSpPr>
          <p:cNvPr id="111" name="dg-node-rbess-segment-2">
            <a:extLst xmlns:a="http://schemas.openxmlformats.org/drawingml/2006/main">
              <a:ext uri="{FF2B5EF4-FFF2-40B4-BE49-F238E27FC236}">
                <a16:creationId xmlns:a16="http://schemas.microsoft.com/office/drawing/2014/main" id="{7FC8B1F6-52AE-47D1-BC1D-9999CE6897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2943225"/>
            <a:ext cx="95" cy="6858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7368C"/>
            </a:solidFill>
            <a:prstDash val="solid"/>
          </a:ln>
        </p:spPr>
      </p:sp>
      <p:sp>
        <p:nvSpPr>
          <p:cNvPr id="112" name="dg-node-rbess-segment-3">
            <a:extLst xmlns:a="http://schemas.openxmlformats.org/drawingml/2006/main">
              <a:ext uri="{FF2B5EF4-FFF2-40B4-BE49-F238E27FC236}">
                <a16:creationId xmlns:a16="http://schemas.microsoft.com/office/drawing/2014/main" id="{B8E81E1C-FC3F-4533-B979-26F58648DD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11175" y="2943225"/>
            <a:ext cx="95" cy="6858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7368C"/>
            </a:solidFill>
            <a:prstDash val="solid"/>
          </a:ln>
        </p:spPr>
      </p:sp>
      <p:sp>
        <p:nvSpPr>
          <p:cNvPr id="113" name="dg-node-battery-boundary-1">
            <a:extLst xmlns:a="http://schemas.openxmlformats.org/drawingml/2006/main">
              <a:ext uri="{FF2B5EF4-FFF2-40B4-BE49-F238E27FC236}">
                <a16:creationId xmlns:a16="http://schemas.microsoft.com/office/drawing/2014/main" id="{11C2D3DD-1316-4EF9-9140-C3ED0AF1E4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73200" y="2762250"/>
            <a:ext cx="1381125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CADBE3"/>
            </a:solidFill>
            <a:prstDash val="solid"/>
          </a:ln>
        </p:spPr>
      </p:sp>
      <p:sp>
        <p:nvSpPr>
          <p:cNvPr id="114" name="dg-node-battery-body-2">
            <a:extLst xmlns:a="http://schemas.openxmlformats.org/drawingml/2006/main">
              <a:ext uri="{FF2B5EF4-FFF2-40B4-BE49-F238E27FC236}">
                <a16:creationId xmlns:a16="http://schemas.microsoft.com/office/drawing/2014/main" id="{29A7E555-FE0E-4BB2-B207-EC6B40CB8E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18481" y="2857500"/>
            <a:ext cx="690563" cy="58635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F1EA"/>
          </a:solidFill>
          <a:ln xmlns:a="http://schemas.openxmlformats.org/drawingml/2006/main" w="19050">
            <a:solidFill>
              <a:srgbClr val="087F8C"/>
            </a:solidFill>
            <a:prstDash val="solid"/>
          </a:ln>
        </p:spPr>
      </p:sp>
      <p:sp>
        <p:nvSpPr>
          <p:cNvPr id="115" name="dg-node-battery-terminal-3">
            <a:extLst xmlns:a="http://schemas.openxmlformats.org/drawingml/2006/main">
              <a:ext uri="{FF2B5EF4-FFF2-40B4-BE49-F238E27FC236}">
                <a16:creationId xmlns:a16="http://schemas.microsoft.com/office/drawing/2014/main" id="{421BCBDD-3E21-48E5-88A9-FE53031439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0178" y="2809875"/>
            <a:ext cx="207169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F8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6" name="dg-node-battery-cell-4">
            <a:extLst xmlns:a="http://schemas.openxmlformats.org/drawingml/2006/main">
              <a:ext uri="{FF2B5EF4-FFF2-40B4-BE49-F238E27FC236}">
                <a16:creationId xmlns:a16="http://schemas.microsoft.com/office/drawing/2014/main" id="{CC2EFB5B-E448-486F-96E0-DE223A6A1D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75631" y="2914650"/>
            <a:ext cx="576263" cy="11087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AC4A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7" name="dg-node-battery-cell-5">
            <a:extLst xmlns:a="http://schemas.openxmlformats.org/drawingml/2006/main">
              <a:ext uri="{FF2B5EF4-FFF2-40B4-BE49-F238E27FC236}">
                <a16:creationId xmlns:a16="http://schemas.microsoft.com/office/drawing/2014/main" id="{89D33CD4-27F6-43DC-958F-319DA9EF62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75631" y="3078353"/>
            <a:ext cx="576263" cy="11087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AC4A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8" name="dg-node-battery-cell-6">
            <a:extLst xmlns:a="http://schemas.openxmlformats.org/drawingml/2006/main">
              <a:ext uri="{FF2B5EF4-FFF2-40B4-BE49-F238E27FC236}">
                <a16:creationId xmlns:a16="http://schemas.microsoft.com/office/drawing/2014/main" id="{AB8F1332-3DA6-4716-8107-C4B2991950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75631" y="3242056"/>
            <a:ext cx="576263" cy="11087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AC4A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9" name="dg-node-battery-label-7">
            <a:extLst xmlns:a="http://schemas.openxmlformats.org/drawingml/2006/main">
              <a:ext uri="{FF2B5EF4-FFF2-40B4-BE49-F238E27FC236}">
                <a16:creationId xmlns:a16="http://schemas.microsoft.com/office/drawing/2014/main" id="{009F17FD-FA70-458E-97FA-396D49C6F8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92250" y="3472434"/>
            <a:ext cx="1343025" cy="37566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ctr">
            <a:noAutofit/>
          </a:bodyPr>
          <a:lstStyle xmlns:a="http://schemas.openxmlformats.org/drawingml/2006/main">
            <a:defPPr algn="ctr">
              <a:defRPr sz="1800" b="1">
                <a:solidFill>
                  <a:srgbClr val="087F8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1800" b="1">
                <a:solidFill>
                  <a:srgbClr val="087F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087F8C"/>
                </a:solidFill>
                <a:latin typeface="Microsoft YaHei"/>
                <a:ea typeface="Microsoft YaHei"/>
                <a:cs typeface="Microsoft YaHei"/>
              </a:rPr>
              <a:t>退役储能</a:t>
            </a:r>
          </a:p>
        </p:txBody>
      </p:sp>
      <p:sp>
        <p:nvSpPr>
          <p:cNvPr id="120" name="dg-node-clusters-boundary-1">
            <a:extLst xmlns:a="http://schemas.openxmlformats.org/drawingml/2006/main">
              <a:ext uri="{FF2B5EF4-FFF2-40B4-BE49-F238E27FC236}">
                <a16:creationId xmlns:a16="http://schemas.microsoft.com/office/drawing/2014/main" id="{0DED5898-8D51-4053-86EA-2FE84F9C8C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810250"/>
            <a:ext cx="1809750" cy="1057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CADBE3"/>
            </a:solidFill>
            <a:prstDash val="solid"/>
          </a:ln>
        </p:spPr>
      </p:sp>
      <p:sp>
        <p:nvSpPr>
          <p:cNvPr id="121" name="dg-node-clusters-panel-2">
            <a:extLst xmlns:a="http://schemas.openxmlformats.org/drawingml/2006/main">
              <a:ext uri="{FF2B5EF4-FFF2-40B4-BE49-F238E27FC236}">
                <a16:creationId xmlns:a16="http://schemas.microsoft.com/office/drawing/2014/main" id="{6258C945-9B98-4BEF-B943-E35D07A6C5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34594" y="5857875"/>
            <a:ext cx="723062" cy="52635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DF9"/>
          </a:solidFill>
          <a:ln xmlns:a="http://schemas.openxmlformats.org/drawingml/2006/main" w="19050">
            <a:solidFill>
              <a:srgbClr val="087F8C"/>
            </a:solidFill>
            <a:prstDash val="solid"/>
          </a:ln>
        </p:spPr>
      </p:sp>
      <p:sp>
        <p:nvSpPr>
          <p:cNvPr id="122" name="dg-node-clusters-segment-3">
            <a:extLst xmlns:a="http://schemas.openxmlformats.org/drawingml/2006/main">
              <a:ext uri="{FF2B5EF4-FFF2-40B4-BE49-F238E27FC236}">
                <a16:creationId xmlns:a16="http://schemas.microsoft.com/office/drawing/2014/main" id="{F2BE65A5-EC76-4EF4-97DE-E6CF836927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360" y="5857875"/>
            <a:ext cx="95" cy="52635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087F8C"/>
            </a:solidFill>
            <a:prstDash val="solid"/>
          </a:ln>
        </p:spPr>
      </p:sp>
      <p:sp>
        <p:nvSpPr>
          <p:cNvPr id="123" name="dg-node-clusters-segment-4">
            <a:extLst xmlns:a="http://schemas.openxmlformats.org/drawingml/2006/main">
              <a:ext uri="{FF2B5EF4-FFF2-40B4-BE49-F238E27FC236}">
                <a16:creationId xmlns:a16="http://schemas.microsoft.com/office/drawing/2014/main" id="{0A2DFF71-AD92-440E-8F8D-4DBA545640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5857875"/>
            <a:ext cx="95" cy="52635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087F8C"/>
            </a:solidFill>
            <a:prstDash val="solid"/>
          </a:ln>
        </p:spPr>
      </p:sp>
      <p:sp>
        <p:nvSpPr>
          <p:cNvPr id="124" name="dg-node-clusters-segment-5">
            <a:extLst xmlns:a="http://schemas.openxmlformats.org/drawingml/2006/main">
              <a:ext uri="{FF2B5EF4-FFF2-40B4-BE49-F238E27FC236}">
                <a16:creationId xmlns:a16="http://schemas.microsoft.com/office/drawing/2014/main" id="{99F2D900-400E-48B6-B5D8-C6817CF53C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6890" y="5857875"/>
            <a:ext cx="95" cy="52635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087F8C"/>
            </a:solidFill>
            <a:prstDash val="solid"/>
          </a:ln>
        </p:spPr>
      </p:sp>
      <p:sp>
        <p:nvSpPr>
          <p:cNvPr id="125" name="dg-node-clusters-segment-6">
            <a:extLst xmlns:a="http://schemas.openxmlformats.org/drawingml/2006/main">
              <a:ext uri="{FF2B5EF4-FFF2-40B4-BE49-F238E27FC236}">
                <a16:creationId xmlns:a16="http://schemas.microsoft.com/office/drawing/2014/main" id="{9F15EE22-B853-4451-A453-39DA532B7D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34594" y="6121051"/>
            <a:ext cx="723062" cy="9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087F8C"/>
            </a:solidFill>
            <a:prstDash val="solid"/>
          </a:ln>
        </p:spPr>
      </p:sp>
      <p:sp>
        <p:nvSpPr>
          <p:cNvPr id="126" name="dg-node-clusters-segment-7">
            <a:extLst xmlns:a="http://schemas.openxmlformats.org/drawingml/2006/main">
              <a:ext uri="{FF2B5EF4-FFF2-40B4-BE49-F238E27FC236}">
                <a16:creationId xmlns:a16="http://schemas.microsoft.com/office/drawing/2014/main" id="{9A9724D6-D254-4046-83C6-C8C686FABA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6384227"/>
            <a:ext cx="95" cy="762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87F8C"/>
            </a:solidFill>
            <a:prstDash val="solid"/>
          </a:ln>
        </p:spPr>
      </p:sp>
      <p:sp>
        <p:nvSpPr>
          <p:cNvPr id="127" name="dg-node-clusters-label-8">
            <a:extLst xmlns:a="http://schemas.openxmlformats.org/drawingml/2006/main">
              <a:ext uri="{FF2B5EF4-FFF2-40B4-BE49-F238E27FC236}">
                <a16:creationId xmlns:a16="http://schemas.microsoft.com/office/drawing/2014/main" id="{33FF7358-1190-460D-BBA3-ABD9062720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6489002"/>
            <a:ext cx="1771650" cy="35947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ctr">
            <a:noAutofit/>
          </a:bodyPr>
          <a:lstStyle xmlns:a="http://schemas.openxmlformats.org/drawingml/2006/main">
            <a:defPPr algn="ctr">
              <a:defRPr sz="1800" b="1">
                <a:solidFill>
                  <a:srgbClr val="087F8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1800" b="1">
                <a:solidFill>
                  <a:srgbClr val="087F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087F8C"/>
                </a:solidFill>
                <a:latin typeface="Microsoft YaHei"/>
                <a:ea typeface="Microsoft YaHei"/>
                <a:cs typeface="Microsoft YaHei"/>
              </a:rPr>
              <a:t>DPV 集群</a:t>
            </a:r>
          </a:p>
          <a:p xmlns:a="http://schemas.openxmlformats.org/drawingml/2006/main">
            <a:pPr algn="ctr">
              <a:defRPr sz="1800" b="1">
                <a:solidFill>
                  <a:srgbClr val="087F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087F8C"/>
                </a:solidFill>
                <a:latin typeface="Microsoft YaHei"/>
                <a:ea typeface="Microsoft YaHei"/>
                <a:cs typeface="Microsoft YaHei"/>
              </a:rPr>
              <a:t>K-means</a:t>
            </a:r>
          </a:p>
        </p:txBody>
      </p:sp>
      <p:sp>
        <p:nvSpPr>
          <p:cNvPr id="128" name="dg-node-collection-label-1">
            <a:extLst xmlns:a="http://schemas.openxmlformats.org/drawingml/2006/main">
              <a:ext uri="{FF2B5EF4-FFF2-40B4-BE49-F238E27FC236}">
                <a16:creationId xmlns:a16="http://schemas.microsoft.com/office/drawing/2014/main" id="{471E1EA5-E4C4-4DD8-99AD-A2618EED16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5867400"/>
            <a:ext cx="1762125" cy="857250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EAF3FA"/>
          </a:solidFill>
          <a:ln xmlns:a="http://schemas.openxmlformats.org/drawingml/2006/main" w="14288">
            <a:solidFill>
              <a:srgbClr val="07368C"/>
            </a:solidFill>
            <a:prstDash val="solid"/>
          </a:ln>
        </p:spPr>
        <p:txBody>
          <a:bodyPr xmlns:a="http://schemas.openxmlformats.org/drawingml/2006/main" wrap="square" lIns="28575" tIns="19050" rIns="28575" bIns="19050" anchor="ctr">
            <a:noAutofit/>
          </a:bodyPr>
          <a:lstStyle xmlns:a="http://schemas.openxmlformats.org/drawingml/2006/main">
            <a:defPPr algn="ctr">
              <a:defRPr sz="1800" b="1">
                <a:solidFill>
                  <a:srgbClr val="07368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1800" b="1">
                <a:solidFill>
                  <a:srgbClr val="0736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07368C"/>
                </a:solidFill>
                <a:latin typeface="Microsoft YaHei"/>
                <a:ea typeface="Microsoft YaHei"/>
                <a:cs typeface="Microsoft YaHei"/>
              </a:rPr>
              <a:t>汇集站</a:t>
            </a:r>
          </a:p>
          <a:p xmlns:a="http://schemas.openxmlformats.org/drawingml/2006/main">
            <a:pPr algn="ctr">
              <a:defRPr sz="1800" b="1">
                <a:solidFill>
                  <a:srgbClr val="0736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07368C"/>
                </a:solidFill>
                <a:latin typeface="Microsoft YaHei"/>
                <a:ea typeface="Microsoft YaHei"/>
                <a:cs typeface="Microsoft YaHei"/>
              </a:rPr>
              <a:t>选址定容</a:t>
            </a:r>
          </a:p>
        </p:txBody>
      </p:sp>
      <p:sp>
        <p:nvSpPr>
          <p:cNvPr id="129" name="dg-node-collection-segment-2">
            <a:extLst xmlns:a="http://schemas.openxmlformats.org/drawingml/2006/main">
              <a:ext uri="{FF2B5EF4-FFF2-40B4-BE49-F238E27FC236}">
                <a16:creationId xmlns:a16="http://schemas.microsoft.com/office/drawing/2014/main" id="{7F920774-A1BA-4843-BA74-75DFBCD42B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5934075"/>
            <a:ext cx="95" cy="7239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7368C"/>
            </a:solidFill>
            <a:prstDash val="solid"/>
          </a:ln>
        </p:spPr>
      </p:sp>
      <p:sp>
        <p:nvSpPr>
          <p:cNvPr id="130" name="dg-node-collection-segment-3">
            <a:extLst xmlns:a="http://schemas.openxmlformats.org/drawingml/2006/main">
              <a:ext uri="{FF2B5EF4-FFF2-40B4-BE49-F238E27FC236}">
                <a16:creationId xmlns:a16="http://schemas.microsoft.com/office/drawing/2014/main" id="{DDA2718B-569F-45EB-B271-78F1F79579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44175" y="5934075"/>
            <a:ext cx="95" cy="7239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7368C"/>
            </a:solidFill>
            <a:prstDash val="solid"/>
          </a:ln>
        </p:spPr>
      </p:sp>
      <p:sp>
        <p:nvSpPr>
          <p:cNvPr id="131" name="dg-node-expansion-label-1">
            <a:extLst xmlns:a="http://schemas.openxmlformats.org/drawingml/2006/main">
              <a:ext uri="{FF2B5EF4-FFF2-40B4-BE49-F238E27FC236}">
                <a16:creationId xmlns:a16="http://schemas.microsoft.com/office/drawing/2014/main" id="{196DE522-1ED5-42B1-8EFF-3EEA2B17E4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5250" y="5867400"/>
            <a:ext cx="1762125" cy="857250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EAF3FA"/>
          </a:solidFill>
          <a:ln xmlns:a="http://schemas.openxmlformats.org/drawingml/2006/main" w="14288">
            <a:solidFill>
              <a:srgbClr val="07368C"/>
            </a:solidFill>
            <a:prstDash val="solid"/>
          </a:ln>
        </p:spPr>
        <p:txBody>
          <a:bodyPr xmlns:a="http://schemas.openxmlformats.org/drawingml/2006/main" wrap="square" lIns="28575" tIns="19050" rIns="28575" bIns="19050" anchor="ctr">
            <a:noAutofit/>
          </a:bodyPr>
          <a:lstStyle xmlns:a="http://schemas.openxmlformats.org/drawingml/2006/main">
            <a:defPPr algn="ctr">
              <a:defRPr sz="1800" b="1">
                <a:solidFill>
                  <a:srgbClr val="07368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1800" b="1">
                <a:solidFill>
                  <a:srgbClr val="0736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07368C"/>
                </a:solidFill>
                <a:latin typeface="Microsoft YaHei"/>
                <a:ea typeface="Microsoft YaHei"/>
                <a:cs typeface="Microsoft YaHei"/>
              </a:rPr>
              <a:t>配变 / 线路</a:t>
            </a:r>
          </a:p>
          <a:p xmlns:a="http://schemas.openxmlformats.org/drawingml/2006/main">
            <a:pPr algn="ctr">
              <a:defRPr sz="1800" b="1">
                <a:solidFill>
                  <a:srgbClr val="0736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07368C"/>
                </a:solidFill>
                <a:latin typeface="Microsoft YaHei"/>
                <a:ea typeface="Microsoft YaHei"/>
                <a:cs typeface="Microsoft YaHei"/>
              </a:rPr>
              <a:t>扩容</a:t>
            </a:r>
          </a:p>
        </p:txBody>
      </p:sp>
      <p:sp>
        <p:nvSpPr>
          <p:cNvPr id="132" name="dg-node-expansion-segment-2">
            <a:extLst xmlns:a="http://schemas.openxmlformats.org/drawingml/2006/main">
              <a:ext uri="{FF2B5EF4-FFF2-40B4-BE49-F238E27FC236}">
                <a16:creationId xmlns:a16="http://schemas.microsoft.com/office/drawing/2014/main" id="{DF74D3B5-1CFD-4BDD-8E19-8A71E7F893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01450" y="5934075"/>
            <a:ext cx="95" cy="7239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7368C"/>
            </a:solidFill>
            <a:prstDash val="solid"/>
          </a:ln>
        </p:spPr>
      </p:sp>
      <p:sp>
        <p:nvSpPr>
          <p:cNvPr id="133" name="dg-node-expansion-segment-3">
            <a:extLst xmlns:a="http://schemas.openxmlformats.org/drawingml/2006/main">
              <a:ext uri="{FF2B5EF4-FFF2-40B4-BE49-F238E27FC236}">
                <a16:creationId xmlns:a16="http://schemas.microsoft.com/office/drawing/2014/main" id="{B0D9A3C6-4912-46B2-B441-ED407EAF16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11175" y="5934075"/>
            <a:ext cx="95" cy="7239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7368C"/>
            </a:solidFill>
            <a:prstDash val="solid"/>
          </a:ln>
        </p:spPr>
      </p:sp>
      <p:sp>
        <p:nvSpPr>
          <p:cNvPr id="134" name="dg-node-plan-boundary-1">
            <a:extLst xmlns:a="http://schemas.openxmlformats.org/drawingml/2006/main">
              <a:ext uri="{FF2B5EF4-FFF2-40B4-BE49-F238E27FC236}">
                <a16:creationId xmlns:a16="http://schemas.microsoft.com/office/drawing/2014/main" id="{D8BB2CAD-1D89-46B1-9552-DE40C04C2C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73200" y="5810250"/>
            <a:ext cx="1381125" cy="1057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CADBE3"/>
            </a:solidFill>
            <a:prstDash val="solid"/>
          </a:ln>
        </p:spPr>
      </p:sp>
      <p:sp>
        <p:nvSpPr>
          <p:cNvPr id="135" name="dg-node-plan-segment-2">
            <a:extLst xmlns:a="http://schemas.openxmlformats.org/drawingml/2006/main">
              <a:ext uri="{FF2B5EF4-FFF2-40B4-BE49-F238E27FC236}">
                <a16:creationId xmlns:a16="http://schemas.microsoft.com/office/drawing/2014/main" id="{AD4CA0D8-B819-416D-8061-94B2CD44B3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39875" y="6159151"/>
            <a:ext cx="1247775" cy="9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087F8C"/>
            </a:solidFill>
            <a:prstDash val="solid"/>
          </a:ln>
        </p:spPr>
      </p:sp>
      <p:sp>
        <p:nvSpPr>
          <p:cNvPr id="136" name="dg-node-plan-segment-3">
            <a:extLst xmlns:a="http://schemas.openxmlformats.org/drawingml/2006/main">
              <a:ext uri="{FF2B5EF4-FFF2-40B4-BE49-F238E27FC236}">
                <a16:creationId xmlns:a16="http://schemas.microsoft.com/office/drawing/2014/main" id="{9A33DDCD-751C-4261-87C5-01B9BD3626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49425" y="6159151"/>
            <a:ext cx="95" cy="301276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87F8C"/>
            </a:solidFill>
            <a:prstDash val="solid"/>
          </a:ln>
        </p:spPr>
      </p:sp>
      <p:sp>
        <p:nvSpPr>
          <p:cNvPr id="137" name="dg-node-plan-segment-4">
            <a:extLst xmlns:a="http://schemas.openxmlformats.org/drawingml/2006/main">
              <a:ext uri="{FF2B5EF4-FFF2-40B4-BE49-F238E27FC236}">
                <a16:creationId xmlns:a16="http://schemas.microsoft.com/office/drawing/2014/main" id="{5E6666A0-5FB7-46DA-BA95-54D27091B1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63763" y="6159151"/>
            <a:ext cx="95" cy="301276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87F8C"/>
            </a:solidFill>
            <a:prstDash val="solid"/>
          </a:ln>
        </p:spPr>
      </p:sp>
      <p:sp>
        <p:nvSpPr>
          <p:cNvPr id="138" name="dg-node-plan-segment-5">
            <a:extLst xmlns:a="http://schemas.openxmlformats.org/drawingml/2006/main">
              <a:ext uri="{FF2B5EF4-FFF2-40B4-BE49-F238E27FC236}">
                <a16:creationId xmlns:a16="http://schemas.microsoft.com/office/drawing/2014/main" id="{88CCC62D-339A-48BD-B792-4D8C5C1AF6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78100" y="6159151"/>
            <a:ext cx="95" cy="301276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87F8C"/>
            </a:solidFill>
            <a:prstDash val="solid"/>
          </a:ln>
        </p:spPr>
      </p:sp>
      <p:sp>
        <p:nvSpPr>
          <p:cNvPr id="139" name="dg-node-plan-label-6">
            <a:extLst xmlns:a="http://schemas.openxmlformats.org/drawingml/2006/main">
              <a:ext uri="{FF2B5EF4-FFF2-40B4-BE49-F238E27FC236}">
                <a16:creationId xmlns:a16="http://schemas.microsoft.com/office/drawing/2014/main" id="{73750FF9-D0BA-4921-ACB6-46AFDA8ED6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92250" y="6489002"/>
            <a:ext cx="1343025" cy="35947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ctr">
            <a:noAutofit/>
          </a:bodyPr>
          <a:lstStyle xmlns:a="http://schemas.openxmlformats.org/drawingml/2006/main">
            <a:defPPr algn="ctr">
              <a:defRPr sz="1800" b="1">
                <a:solidFill>
                  <a:srgbClr val="087F8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1800" b="1">
                <a:solidFill>
                  <a:srgbClr val="087F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087F8C"/>
                </a:solidFill>
                <a:latin typeface="Microsoft YaHei"/>
                <a:ea typeface="Microsoft YaHei"/>
                <a:cs typeface="Microsoft YaHei"/>
              </a:rPr>
              <a:t>汇集＋扩容</a:t>
            </a:r>
          </a:p>
        </p:txBody>
      </p:sp>
      <p:sp>
        <p:nvSpPr>
          <p:cNvPr id="140" name="native-10">
            <a:extLst xmlns:a="http://schemas.openxmlformats.org/drawingml/2006/main">
              <a:ext uri="{FF2B5EF4-FFF2-40B4-BE49-F238E27FC236}">
                <a16:creationId xmlns:a16="http://schemas.microsoft.com/office/drawing/2014/main" id="{BEB3D3AE-42E1-484D-B454-E5A205D684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" y="7743825"/>
            <a:ext cx="3905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28575" rIns="57150" bIns="28575" anchor="ctr">
            <a:noAutofit/>
          </a:bodyPr>
          <a:lstStyle xmlns:a="http://schemas.openxmlformats.org/drawingml/2006/main">
            <a:defPPr algn="ctr">
              <a:defRPr sz="1425" b="0">
                <a:solidFill>
                  <a:srgbClr val="53647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1425" b="0">
                <a:solidFill>
                  <a:srgbClr val="5364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536477"/>
                </a:solidFill>
                <a:latin typeface="Microsoft YaHei"/>
                <a:ea typeface="Microsoft YaHei"/>
                <a:cs typeface="Microsoft YaHei"/>
              </a:rPr>
              <a:t>寿命参考值24 h；重载 / 轻载均纳入</a:t>
            </a:r>
          </a:p>
        </p:txBody>
      </p:sp>
      <p:sp>
        <p:nvSpPr>
          <p:cNvPr id="141" name="native-11">
            <a:extLst xmlns:a="http://schemas.openxmlformats.org/drawingml/2006/main">
              <a:ext uri="{FF2B5EF4-FFF2-40B4-BE49-F238E27FC236}">
                <a16:creationId xmlns:a16="http://schemas.microsoft.com/office/drawing/2014/main" id="{842B87CB-3C28-4DBB-A383-D1029DE223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4676775"/>
            <a:ext cx="46577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28575" rIns="57150" bIns="2857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53647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1350" b="0">
                <a:solidFill>
                  <a:srgbClr val="5364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36477"/>
                </a:solidFill>
                <a:latin typeface="Microsoft YaHei"/>
                <a:ea typeface="Microsoft YaHei"/>
                <a:cs typeface="Microsoft YaHei"/>
              </a:rPr>
              <a:t>E：年投资成本−年收益；计及容量衰减</a:t>
            </a:r>
          </a:p>
          <a:p xmlns:a="http://schemas.openxmlformats.org/drawingml/2006/main">
            <a:pPr algn="ctr">
              <a:defRPr sz="1350" b="0">
                <a:solidFill>
                  <a:srgbClr val="5364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36477"/>
                </a:solidFill>
                <a:latin typeface="Microsoft YaHei"/>
                <a:ea typeface="Microsoft YaHei"/>
                <a:cs typeface="Microsoft YaHei"/>
              </a:rPr>
              <a:t>ΔFeq：偏离24 h；SOC、电压及载流约束</a:t>
            </a:r>
          </a:p>
        </p:txBody>
      </p:sp>
      <p:sp>
        <p:nvSpPr>
          <p:cNvPr id="142" name="native-12">
            <a:extLst xmlns:a="http://schemas.openxmlformats.org/drawingml/2006/main">
              <a:ext uri="{FF2B5EF4-FFF2-40B4-BE49-F238E27FC236}">
                <a16:creationId xmlns:a16="http://schemas.microsoft.com/office/drawing/2014/main" id="{87AA39B4-6DB8-4C84-8FFD-980D755908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4800600"/>
            <a:ext cx="44577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28575" rIns="57150" bIns="28575" anchor="ctr">
            <a:noAutofit/>
          </a:bodyPr>
          <a:lstStyle xmlns:a="http://schemas.openxmlformats.org/drawingml/2006/main">
            <a:defPPr algn="ctr">
              <a:defRPr sz="1500" b="0">
                <a:solidFill>
                  <a:srgbClr val="53647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1500" b="0">
                <a:solidFill>
                  <a:srgbClr val="5364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536477"/>
                </a:solidFill>
                <a:latin typeface="Microsoft YaHei"/>
                <a:ea typeface="Microsoft YaHei"/>
                <a:cs typeface="Microsoft YaHei"/>
              </a:rPr>
              <a:t>电费激励与等待时间共同影响响应</a:t>
            </a:r>
          </a:p>
        </p:txBody>
      </p:sp>
      <p:sp>
        <p:nvSpPr>
          <p:cNvPr id="143" name="native-13">
            <a:extLst xmlns:a="http://schemas.openxmlformats.org/drawingml/2006/main">
              <a:ext uri="{FF2B5EF4-FFF2-40B4-BE49-F238E27FC236}">
                <a16:creationId xmlns:a16="http://schemas.microsoft.com/office/drawing/2014/main" id="{E14D053E-1A77-4573-979E-A7AB98236B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0850" y="7667625"/>
            <a:ext cx="484822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28575" rIns="57150" bIns="28575" anchor="ctr">
            <a:noAutofit/>
          </a:bodyPr>
          <a:lstStyle xmlns:a="http://schemas.openxmlformats.org/drawingml/2006/main">
            <a:defPPr algn="ctr">
              <a:defRPr sz="1500" b="0">
                <a:solidFill>
                  <a:srgbClr val="53647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1500" b="0">
                <a:solidFill>
                  <a:srgbClr val="5364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536477"/>
                </a:solidFill>
                <a:latin typeface="Microsoft YaHei"/>
                <a:ea typeface="Microsoft YaHei"/>
                <a:cs typeface="Microsoft YaHei"/>
              </a:rPr>
              <a:t>功率平衡 / 电压 / 标准容量约束</a:t>
            </a:r>
          </a:p>
        </p:txBody>
      </p:sp>
      <p:sp>
        <p:nvSpPr>
          <p:cNvPr id="144" name="native-14">
            <a:extLst xmlns:a="http://schemas.openxmlformats.org/drawingml/2006/main">
              <a:ext uri="{FF2B5EF4-FFF2-40B4-BE49-F238E27FC236}">
                <a16:creationId xmlns:a16="http://schemas.microsoft.com/office/drawing/2014/main" id="{FEC309A4-CDE3-404B-94AD-24650B52B0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0850" y="7391400"/>
            <a:ext cx="48482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28575" rIns="57150" bIns="28575" anchor="ctr">
            <a:noAutofit/>
          </a:bodyPr>
          <a:lstStyle xmlns:a="http://schemas.openxmlformats.org/drawingml/2006/main">
            <a:defPPr algn="ctr">
              <a:defRPr sz="1500" b="0">
                <a:solidFill>
                  <a:srgbClr val="53647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1500" b="0">
                <a:solidFill>
                  <a:srgbClr val="5364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536477"/>
                </a:solidFill>
                <a:latin typeface="Microsoft YaHei"/>
                <a:ea typeface="Microsoft YaHei"/>
                <a:cs typeface="Microsoft YaHei"/>
              </a:rPr>
              <a:t>CPLEX交替求解：成本变化≤1% 或50次</a:t>
            </a:r>
          </a:p>
        </p:txBody>
      </p:sp>
      <p:sp>
        <p:nvSpPr>
          <p:cNvPr id="145" name="native-15">
            <a:extLst xmlns:a="http://schemas.openxmlformats.org/drawingml/2006/main">
              <a:ext uri="{FF2B5EF4-FFF2-40B4-BE49-F238E27FC236}">
                <a16:creationId xmlns:a16="http://schemas.microsoft.com/office/drawing/2014/main" id="{83D9574D-5886-40BE-8E2D-2134907E7F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7753350"/>
            <a:ext cx="42576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28575" rIns="57150" bIns="2857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53647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1350" b="0">
                <a:solidFill>
                  <a:srgbClr val="5364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36477"/>
                </a:solidFill>
                <a:latin typeface="Microsoft YaHei"/>
                <a:ea typeface="Microsoft YaHei"/>
                <a:cs typeface="Microsoft YaHei"/>
              </a:rPr>
              <a:t>年规划成本＝年汇集成本＋年扩容成本</a:t>
            </a:r>
          </a:p>
        </p:txBody>
      </p:sp>
      <p:sp>
        <p:nvSpPr>
          <p:cNvPr id="146" name="native-16">
            <a:extLst xmlns:a="http://schemas.openxmlformats.org/drawingml/2006/main">
              <a:ext uri="{FF2B5EF4-FFF2-40B4-BE49-F238E27FC236}">
                <a16:creationId xmlns:a16="http://schemas.microsoft.com/office/drawing/2014/main" id="{ED4FFCDC-41CC-4C37-9D09-31E57A739A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7096125"/>
            <a:ext cx="33337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28575" rIns="57150" bIns="28575" anchor="ctr">
            <a:noAutofit/>
          </a:bodyPr>
          <a:lstStyle xmlns:a="http://schemas.openxmlformats.org/drawingml/2006/main">
            <a:defPPr algn="ctr">
              <a:defRPr sz="1425" b="0">
                <a:solidFill>
                  <a:srgbClr val="53647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1425" b="0">
                <a:solidFill>
                  <a:srgbClr val="5364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536477"/>
                </a:solidFill>
                <a:latin typeface="Microsoft YaHei"/>
                <a:ea typeface="Microsoft YaHei"/>
                <a:cs typeface="Microsoft YaHei"/>
              </a:rPr>
              <a:t>AHP权重汇总为综合得分</a:t>
            </a:r>
          </a:p>
        </p:txBody>
      </p:sp>
      <p:pic>
        <p:nvPicPr>
          <p:cNvPr id="147" name="">
            <a:extLst xmlns:a="http://schemas.openxmlformats.org/drawingml/2006/main">
              <a:ext uri="{FF2B5EF4-FFF2-40B4-BE49-F238E27FC236}">
                <a16:creationId xmlns:a16="http://schemas.microsoft.com/office/drawing/2014/main" id="{A5E3AED9-B687-45FE-8AF2-FC4703CC539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98344be67ab47f9">
            <a:extLst>
              <a:ext uri="{96DAC541-7B7A-43D3-8B79-37D633B846F1}">
                <asvg:svgBlip xmlns:asvg="http://schemas.microsoft.com/office/drawing/2016/SVG/main" r:embed="Rd4e2835c434d4122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1099886" y="7277100"/>
            <a:ext cx="2467479" cy="457200"/>
          </a:xfrm>
          <a:prstGeom xmlns:a="http://schemas.openxmlformats.org/drawingml/2006/main" prst="rect">
            <a:avLst/>
          </a:prstGeom>
        </p:spPr>
      </p:pic>
      <p:pic>
        <p:nvPicPr>
          <p:cNvPr id="148" name="">
            <a:extLst xmlns:a="http://schemas.openxmlformats.org/drawingml/2006/main">
              <a:ext uri="{FF2B5EF4-FFF2-40B4-BE49-F238E27FC236}">
                <a16:creationId xmlns:a16="http://schemas.microsoft.com/office/drawing/2014/main" id="{7BE867C1-8360-4700-B7FD-9FC834211A4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2d8364170c94104">
            <a:extLst>
              <a:ext uri="{96DAC541-7B7A-43D3-8B79-37D633B846F1}">
                <asvg:svgBlip xmlns:asvg="http://schemas.microsoft.com/office/drawing/2016/SVG/main" r:embed="R9ab960c77edb45f6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6740210" y="4305300"/>
            <a:ext cx="3293105" cy="504825"/>
          </a:xfrm>
          <a:prstGeom xmlns:a="http://schemas.openxmlformats.org/drawingml/2006/main" prst="rect">
            <a:avLst/>
          </a:prstGeom>
        </p:spPr>
      </p:pic>
      <p:pic>
        <p:nvPicPr>
          <p:cNvPr id="149" name="">
            <a:extLst xmlns:a="http://schemas.openxmlformats.org/drawingml/2006/main">
              <a:ext uri="{FF2B5EF4-FFF2-40B4-BE49-F238E27FC236}">
                <a16:creationId xmlns:a16="http://schemas.microsoft.com/office/drawing/2014/main" id="{4AB86BDB-9619-43E4-8A06-446473FC420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db131bedd90400e">
            <a:extLst>
              <a:ext uri="{96DAC541-7B7A-43D3-8B79-37D633B846F1}">
                <asvg:svgBlip xmlns:asvg="http://schemas.microsoft.com/office/drawing/2016/SVG/main" r:embed="R09a79a14306241cf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11096625" y="4344404"/>
            <a:ext cx="4429125" cy="293268"/>
          </a:xfrm>
          <a:prstGeom xmlns:a="http://schemas.openxmlformats.org/drawingml/2006/main" prst="rect">
            <a:avLst/>
          </a:prstGeom>
        </p:spPr>
      </p:pic>
      <p:pic>
        <p:nvPicPr>
          <p:cNvPr id="150" name="">
            <a:extLst xmlns:a="http://schemas.openxmlformats.org/drawingml/2006/main">
              <a:ext uri="{FF2B5EF4-FFF2-40B4-BE49-F238E27FC236}">
                <a16:creationId xmlns:a16="http://schemas.microsoft.com/office/drawing/2014/main" id="{7F01E31F-8713-45EE-8D47-6B70DE8B011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777650b69d54cb0">
            <a:extLst>
              <a:ext uri="{96DAC541-7B7A-43D3-8B79-37D633B846F1}">
                <asvg:svgBlip xmlns:asvg="http://schemas.microsoft.com/office/drawing/2016/SVG/main" r:embed="Rb0833d27e0bc4eb6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6664710" y="7362825"/>
            <a:ext cx="3263130" cy="371475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949030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 xmlns:a="http://schemas.openxmlformats.org/drawingml/2006/main">
        <p:nvSpPr>
          <p:cNvPr id="8000" name="title-rule">
            <a:extLst>
              <a:ext uri="{FF2B5EF4-FFF2-40B4-BE49-F238E27FC236}">
                <a16:creationId xmlns:a16="http://schemas.microsoft.com/office/drawing/2014/main" id="{BF49A0EE-59FF-4EA9-BEA3-B70BA80A40C3}"/>
              </a:ext>
            </a:extLst>
          </p:cNvPr>
          <p:cNvSpPr>
            <a:spLocks noGrp="1"/>
          </p:cNvSpPr>
          <p:nvPr/>
        </p:nvSpPr>
        <p:spPr>
          <a:xfrm>
            <a:off x="161925" y="619125"/>
            <a:ext cx="15601950" cy="95"/>
          </a:xfrm>
          <a:custGeom>
            <a:avLst/>
            <a:gdLst/>
            <a:ahLst/>
            <a:cxnLst/>
            <a:rect l="0" t="0" r="0" b="0"/>
            <a:pathLst>
              <a:path w="15601950" h="95">
                <a:moveTo>
                  <a:pt x="0" y="0"/>
                </a:moveTo>
                <a:lnTo>
                  <a:pt x="15601950" y="0"/>
                </a:lnTo>
              </a:path>
            </a:pathLst>
          </a:custGeom>
          <a:noFill/>
          <a:ln w="28575">
            <a:solidFill>
              <a:srgbClr val="0867D4"/>
            </a:solidFill>
            <a:prstDash val="solid"/>
          </a:ln>
        </p:spPr>
      </p:sp>
      <p:sp xmlns:a="http://schemas.openxmlformats.org/drawingml/2006/main">
        <p:nvSpPr>
          <p:cNvPr id="8001" name="summary">
            <a:extLst>
              <a:ext uri="{FF2B5EF4-FFF2-40B4-BE49-F238E27FC236}">
                <a16:creationId xmlns:a16="http://schemas.microsoft.com/office/drawing/2014/main" id="{CDD305B3-9FFE-4B7D-9ADC-FE6BF356FD84}"/>
              </a:ext>
            </a:extLst>
          </p:cNvPr>
          <p:cNvSpPr>
            <a:spLocks noGrp="1"/>
          </p:cNvSpPr>
          <p:nvPr/>
        </p:nvSpPr>
        <p:spPr>
          <a:xfrm>
            <a:off x="171450" y="742951"/>
            <a:ext cx="15582900" cy="1343025"/>
          </a:xfrm>
          <a:prstGeom prst="roundRect">
            <a:avLst>
              <a:gd name="adj" fmla="val 10274"/>
            </a:avLst>
          </a:prstGeom>
          <a:gradFill>
            <a:gsLst>
              <a:gs pos="0">
                <a:srgbClr val="F3FBFF"/>
              </a:gs>
              <a:gs pos="100000">
                <a:srgbClr val="DEEFFC"/>
              </a:gs>
            </a:gsLst>
            <a:lin ang="5400000"/>
          </a:gradFill>
          <a:ln w="9525">
            <a:solidFill>
              <a:srgbClr val="63B4FA"/>
            </a:solidFill>
            <a:prstDash val="solid"/>
          </a:ln>
        </p:spPr>
      </p:sp>
      <p:sp xmlns:a="http://schemas.openxmlformats.org/drawingml/2006/main">
        <p:nvSpPr>
          <p:cNvPr id="8002" name="conclusion">
            <a:extLst>
              <a:ext uri="{FF2B5EF4-FFF2-40B4-BE49-F238E27FC236}">
                <a16:creationId xmlns:a16="http://schemas.microsoft.com/office/drawing/2014/main" id="{C7BDA826-D73C-4DDB-A50C-DD6D71D74422}"/>
              </a:ext>
            </a:extLst>
          </p:cNvPr>
          <p:cNvSpPr>
            <a:spLocks noGrp="1"/>
          </p:cNvSpPr>
          <p:nvPr/>
        </p:nvSpPr>
        <p:spPr>
          <a:xfrm>
            <a:off x="171450" y="8410574"/>
            <a:ext cx="15582900" cy="438150"/>
          </a:xfrm>
          <a:prstGeom prst="roundRect">
            <a:avLst>
              <a:gd name="adj" fmla="val 27027"/>
            </a:avLst>
          </a:prstGeom>
          <a:gradFill>
            <a:gsLst>
              <a:gs pos="0">
                <a:srgbClr val="E5F5FF"/>
              </a:gs>
              <a:gs pos="100000">
                <a:srgbClr val="D8EDFA"/>
              </a:gs>
            </a:gsLst>
            <a:lin ang="5400000"/>
          </a:gradFill>
          <a:ln w="9525">
            <a:solidFill>
              <a:srgbClr val="63B4FA"/>
            </a:solidFill>
            <a:prstDash val="solid"/>
          </a:ln>
        </p:spPr>
      </p:sp>
      <p:sp>
        <p:nvSpPr>
          <p:cNvPr id="24" name="native-17">
            <a:extLst xmlns:a="http://schemas.openxmlformats.org/drawingml/2006/main">
              <a:ext uri="{FF2B5EF4-FFF2-40B4-BE49-F238E27FC236}">
                <a16:creationId xmlns:a16="http://schemas.microsoft.com/office/drawing/2014/main" id="{EF77774D-D3AA-41F4-8BF4-9BE875F97D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" y="0"/>
            <a:ext cx="15544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28575" rIns="57150" bIns="28575" anchor="ctr">
            <a:noAutofit/>
          </a:bodyPr>
          <a:lstStyle xmlns:a="http://schemas.openxmlformats.org/drawingml/2006/main">
            <a:defPPr algn="l">
              <a:defRPr sz="3300" b="1">
                <a:solidFill>
                  <a:srgbClr val="07368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3300" b="1">
                <a:solidFill>
                  <a:srgbClr val="0736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07368C"/>
                </a:solidFill>
                <a:latin typeface="Microsoft YaHei"/>
                <a:ea typeface="Microsoft YaHei"/>
                <a:cs typeface="Microsoft YaHei"/>
              </a:rPr>
              <a:t>2. IEEE 33节点算例：评估、短时调控与长期规划</a:t>
            </a:r>
          </a:p>
        </p:txBody>
      </p:sp>
      <p:sp>
        <p:nvSpPr>
          <p:cNvPr id="2" name="native-18">
            <a:extLst xmlns:a="http://schemas.openxmlformats.org/drawingml/2006/main">
              <a:ext uri="{FF2B5EF4-FFF2-40B4-BE49-F238E27FC236}">
                <a16:creationId xmlns:a16="http://schemas.microsoft.com/office/drawing/2014/main" id="{992C1CE8-2A00-4F1A-BBCB-A956F23ED9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" y="876300"/>
            <a:ext cx="155448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28575" rIns="57150" bIns="28575" anchor="ctr">
            <a:noAutofit/>
          </a:bodyPr>
          <a:lstStyle xmlns:a="http://schemas.openxmlformats.org/drawingml/2006/main">
            <a:defPPr algn="l">
              <a:defRPr sz="1950" b="0">
                <a:solidFill>
                  <a:srgbClr val="101D3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950" b="0">
                <a:solidFill>
                  <a:srgbClr val="101D3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101D30"/>
                </a:solidFill>
                <a:latin typeface="Microsoft YaHei"/>
                <a:ea typeface="Microsoft YaHei"/>
                <a:cs typeface="Microsoft YaHei"/>
              </a:rPr>
              <a:t>三项工作分别验证：季节风险可区分，有序充电降低储能配置需求，汇集–扩容缓解长期重过载。</a:t>
            </a:r>
          </a:p>
          <a:p xmlns:a="http://schemas.openxmlformats.org/drawingml/2006/main">
            <a:pPr algn="l">
              <a:defRPr sz="1950" b="0">
                <a:solidFill>
                  <a:srgbClr val="101D3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101D30"/>
                </a:solidFill>
                <a:latin typeface="Microsoft YaHei"/>
                <a:ea typeface="Microsoft YaHei"/>
                <a:cs typeface="Microsoft YaHei"/>
              </a:rPr>
              <a:t>各章采用对应场景与评价口径，综合得分表示整体影响，不是风险概率。</a:t>
            </a:r>
          </a:p>
        </p:txBody>
      </p:sp>
      <p:sp>
        <p:nvSpPr>
          <p:cNvPr id="3" name="native-19">
            <a:extLst xmlns:a="http://schemas.openxmlformats.org/drawingml/2006/main">
              <a:ext uri="{FF2B5EF4-FFF2-40B4-BE49-F238E27FC236}">
                <a16:creationId xmlns:a16="http://schemas.microsoft.com/office/drawing/2014/main" id="{F284A799-0E7B-4BE2-A353-1BBA98761C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" y="8439150"/>
            <a:ext cx="154686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28575" rIns="57150" bIns="28575" anchor="ctr">
            <a:noAutofit/>
          </a:bodyPr>
          <a:lstStyle xmlns:a="http://schemas.openxmlformats.org/drawingml/2006/main">
            <a:defPPr algn="ctr">
              <a:defRPr sz="1725" b="1">
                <a:solidFill>
                  <a:srgbClr val="07368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1725" b="1">
                <a:solidFill>
                  <a:srgbClr val="0736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07368C"/>
                </a:solidFill>
                <a:latin typeface="Microsoft YaHei"/>
                <a:ea typeface="Microsoft YaHei"/>
                <a:cs typeface="Microsoft YaHei"/>
              </a:rPr>
              <a:t>仿真基于改进IEEE 33节点系统；长期规划成本独立报告，不能与储能年净成本直接计算节省比例</a:t>
            </a:r>
          </a:p>
        </p:txBody>
      </p:sp>
      <p:sp>
        <p:nvSpPr>
          <p:cNvPr id="4" name="native-20">
            <a:extLst xmlns:a="http://schemas.openxmlformats.org/drawingml/2006/main">
              <a:ext uri="{FF2B5EF4-FFF2-40B4-BE49-F238E27FC236}">
                <a16:creationId xmlns:a16="http://schemas.microsoft.com/office/drawing/2014/main" id="{F35CB870-2BC4-4442-A50D-64DF3B0D93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2190750"/>
            <a:ext cx="4686300" cy="6115050"/>
          </a:xfrm>
          <a:prstGeom xmlns:a="http://schemas.openxmlformats.org/drawingml/2006/main" prst="roundRect">
            <a:avLst>
              <a:gd name="adj" fmla="val 162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66B7FA"/>
            </a:solidFill>
            <a:prstDash val="solid"/>
          </a:ln>
        </p:spPr>
      </p:sp>
      <p:sp>
        <p:nvSpPr>
          <p:cNvPr id="5" name="native-21">
            <a:extLst xmlns:a="http://schemas.openxmlformats.org/drawingml/2006/main">
              <a:ext uri="{FF2B5EF4-FFF2-40B4-BE49-F238E27FC236}">
                <a16:creationId xmlns:a16="http://schemas.microsoft.com/office/drawing/2014/main" id="{C2EBC287-2C86-429D-A8B7-C237C866D2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2228850"/>
            <a:ext cx="44577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28575" rIns="57150" bIns="28575" anchor="ctr">
            <a:noAutofit/>
          </a:bodyPr>
          <a:lstStyle xmlns:a="http://schemas.openxmlformats.org/drawingml/2006/main">
            <a:defPPr algn="l">
              <a:defRPr sz="2100" b="1">
                <a:solidFill>
                  <a:srgbClr val="07368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100" b="1">
                <a:solidFill>
                  <a:srgbClr val="0736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07368C"/>
                </a:solidFill>
                <a:latin typeface="Microsoft YaHei"/>
                <a:ea typeface="Microsoft YaHei"/>
                <a:cs typeface="Microsoft YaHei"/>
              </a:rPr>
              <a:t>① 评估：区分典型日风险</a:t>
            </a:r>
          </a:p>
        </p:txBody>
      </p:sp>
      <p:sp>
        <p:nvSpPr>
          <p:cNvPr id="6" name="native-22">
            <a:extLst xmlns:a="http://schemas.openxmlformats.org/drawingml/2006/main">
              <a:ext uri="{FF2B5EF4-FFF2-40B4-BE49-F238E27FC236}">
                <a16:creationId xmlns:a16="http://schemas.microsoft.com/office/drawing/2014/main" id="{ADA48791-E28E-4860-806E-971F58CCF4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2190750"/>
            <a:ext cx="5410200" cy="6115050"/>
          </a:xfrm>
          <a:prstGeom xmlns:a="http://schemas.openxmlformats.org/drawingml/2006/main" prst="roundRect">
            <a:avLst>
              <a:gd name="adj" fmla="val 140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66B7FA"/>
            </a:solidFill>
            <a:prstDash val="solid"/>
          </a:ln>
        </p:spPr>
      </p:sp>
      <p:sp>
        <p:nvSpPr>
          <p:cNvPr id="7" name="native-23">
            <a:extLst xmlns:a="http://schemas.openxmlformats.org/drawingml/2006/main">
              <a:ext uri="{FF2B5EF4-FFF2-40B4-BE49-F238E27FC236}">
                <a16:creationId xmlns:a16="http://schemas.microsoft.com/office/drawing/2014/main" id="{5914756D-9ED2-47F9-A370-DF4CA2062D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2228850"/>
            <a:ext cx="51816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28575" rIns="57150" bIns="28575" anchor="ctr">
            <a:noAutofit/>
          </a:bodyPr>
          <a:lstStyle xmlns:a="http://schemas.openxmlformats.org/drawingml/2006/main">
            <a:defPPr algn="l">
              <a:defRPr sz="2100" b="1">
                <a:solidFill>
                  <a:srgbClr val="07368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100" b="1">
                <a:solidFill>
                  <a:srgbClr val="0736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07368C"/>
                </a:solidFill>
                <a:latin typeface="Microsoft YaHei"/>
                <a:ea typeface="Microsoft YaHei"/>
                <a:cs typeface="Microsoft YaHei"/>
              </a:rPr>
              <a:t>② 短时：荷储协同与储能经济性</a:t>
            </a:r>
          </a:p>
        </p:txBody>
      </p:sp>
      <p:sp>
        <p:nvSpPr>
          <p:cNvPr id="8" name="native-24">
            <a:extLst xmlns:a="http://schemas.openxmlformats.org/drawingml/2006/main">
              <a:ext uri="{FF2B5EF4-FFF2-40B4-BE49-F238E27FC236}">
                <a16:creationId xmlns:a16="http://schemas.microsoft.com/office/drawing/2014/main" id="{A57318C1-73AD-459D-9282-5A2ED7FDD8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2190750"/>
            <a:ext cx="5257800" cy="6115050"/>
          </a:xfrm>
          <a:prstGeom xmlns:a="http://schemas.openxmlformats.org/drawingml/2006/main" prst="roundRect">
            <a:avLst>
              <a:gd name="adj" fmla="val 144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66B7FA"/>
            </a:solidFill>
            <a:prstDash val="solid"/>
          </a:ln>
        </p:spPr>
      </p:sp>
      <p:sp>
        <p:nvSpPr>
          <p:cNvPr id="9" name="native-25">
            <a:extLst xmlns:a="http://schemas.openxmlformats.org/drawingml/2006/main">
              <a:ext uri="{FF2B5EF4-FFF2-40B4-BE49-F238E27FC236}">
                <a16:creationId xmlns:a16="http://schemas.microsoft.com/office/drawing/2014/main" id="{9B87046E-B686-4683-AB07-BCCD5DC4F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0850" y="2228850"/>
            <a:ext cx="50292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28575" rIns="57150" bIns="28575" anchor="ctr">
            <a:noAutofit/>
          </a:bodyPr>
          <a:lstStyle xmlns:a="http://schemas.openxmlformats.org/drawingml/2006/main">
            <a:defPPr algn="l">
              <a:defRPr sz="2100" b="1">
                <a:solidFill>
                  <a:srgbClr val="07368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100" b="1">
                <a:solidFill>
                  <a:srgbClr val="0736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07368C"/>
                </a:solidFill>
                <a:latin typeface="Microsoft YaHei"/>
                <a:ea typeface="Microsoft YaHei"/>
                <a:cs typeface="Microsoft YaHei"/>
              </a:rPr>
              <a:t>③ 长期：汇集–扩容联合规划</a:t>
            </a:r>
          </a:p>
        </p:txBody>
      </p:sp>
      <p:sp>
        <p:nvSpPr>
          <p:cNvPr id="10" name="native-26">
            <a:extLst xmlns:a="http://schemas.openxmlformats.org/drawingml/2006/main">
              <a:ext uri="{FF2B5EF4-FFF2-40B4-BE49-F238E27FC236}">
                <a16:creationId xmlns:a16="http://schemas.microsoft.com/office/drawing/2014/main" id="{55EA7CBC-2D8C-4F34-90B5-9689222947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" y="2695575"/>
            <a:ext cx="447675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EAF5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28575" rIns="57150" bIns="28575" anchor="ctr">
            <a:noAutofit/>
          </a:bodyPr>
          <a:lstStyle xmlns:a="http://schemas.openxmlformats.org/drawingml/2006/main">
            <a:defPPr algn="ctr">
              <a:defRPr sz="1725" b="1">
                <a:solidFill>
                  <a:srgbClr val="07368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1725" b="1">
                <a:solidFill>
                  <a:srgbClr val="0736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07368C"/>
                </a:solidFill>
                <a:latin typeface="Microsoft YaHei"/>
                <a:ea typeface="Microsoft YaHei"/>
                <a:cs typeface="Microsoft YaHei"/>
              </a:rPr>
              <a:t>第二章：历史源荷与环境典型日</a:t>
            </a:r>
          </a:p>
        </p:txBody>
      </p:sp>
      <p:graphicFrame>
        <p:nvGraphicFramePr>
          <p:cNvPr id="11" name="Chart">
            <a:extLst xmlns:a="http://schemas.openxmlformats.org/drawingml/2006/main">
              <a:ext uri="{FF2B5EF4-FFF2-40B4-BE49-F238E27FC236}">
                <a16:creationId xmlns:a16="http://schemas.microsoft.com/office/drawing/2014/main" id="{845E41CE-B386-425C-AEBA-06004507625F}"/>
              </a:ext>
            </a:extLst>
          </p:cNvPr>
          <p:cNvGraphicFramePr/>
          <p:nvPr/>
        </p:nvGraphicFramePr>
        <p:xfrm>
          <a:off xmlns:a="http://schemas.openxmlformats.org/drawingml/2006/main" x="295275" y="3171825"/>
          <a:ext xmlns:a="http://schemas.openxmlformats.org/drawingml/2006/main" cx="4400550" cy="292417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84ea810d81d94c8d"/>
          </a:graphicData>
        </a:graphic>
      </p:graphicFrame>
      <p:sp>
        <p:nvSpPr>
          <p:cNvPr id="12" name="native-27">
            <a:extLst xmlns:a="http://schemas.openxmlformats.org/drawingml/2006/main">
              <a:ext uri="{FF2B5EF4-FFF2-40B4-BE49-F238E27FC236}">
                <a16:creationId xmlns:a16="http://schemas.microsoft.com/office/drawing/2014/main" id="{6D90CCBD-5C41-4CD2-98C6-E9DED0C397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" y="6286500"/>
            <a:ext cx="4286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EAF5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28575" rIns="57150" bIns="28575" anchor="ctr">
            <a:noAutofit/>
          </a:bodyPr>
          <a:lstStyle xmlns:a="http://schemas.openxmlformats.org/drawingml/2006/main">
            <a:defPPr algn="ctr">
              <a:defRPr sz="2025" b="1">
                <a:solidFill>
                  <a:srgbClr val="07368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2025" b="1">
                <a:solidFill>
                  <a:srgbClr val="0736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07368C"/>
                </a:solidFill>
                <a:latin typeface="Microsoft YaHei"/>
                <a:ea typeface="Microsoft YaHei"/>
                <a:cs typeface="Microsoft YaHei"/>
              </a:rPr>
              <a:t>最高：夏季 1.6740</a:t>
            </a:r>
          </a:p>
        </p:txBody>
      </p:sp>
      <p:sp>
        <p:nvSpPr>
          <p:cNvPr id="13" name="native-28">
            <a:extLst xmlns:a="http://schemas.openxmlformats.org/drawingml/2006/main">
              <a:ext uri="{FF2B5EF4-FFF2-40B4-BE49-F238E27FC236}">
                <a16:creationId xmlns:a16="http://schemas.microsoft.com/office/drawing/2014/main" id="{C28F8014-A54F-4DFE-A559-244DDC847B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6800850"/>
            <a:ext cx="39052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28575" rIns="57150" bIns="28575" anchor="ctr">
            <a:noAutofit/>
          </a:bodyPr>
          <a:lstStyle xmlns:a="http://schemas.openxmlformats.org/drawingml/2006/main">
            <a:defPPr algn="ctr">
              <a:defRPr sz="1800" b="0">
                <a:solidFill>
                  <a:srgbClr val="101D3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1800" b="0">
                <a:solidFill>
                  <a:srgbClr val="101D3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01D30"/>
                </a:solidFill>
                <a:latin typeface="Microsoft YaHei"/>
                <a:ea typeface="Microsoft YaHei"/>
                <a:cs typeface="Microsoft YaHei"/>
              </a:rPr>
              <a:t>设备电流与环境温度</a:t>
            </a:r>
          </a:p>
          <a:p xmlns:a="http://schemas.openxmlformats.org/drawingml/2006/main">
            <a:pPr algn="ctr">
              <a:defRPr sz="1800" b="0">
                <a:solidFill>
                  <a:srgbClr val="101D3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01D30"/>
                </a:solidFill>
                <a:latin typeface="Microsoft YaHei"/>
                <a:ea typeface="Microsoft YaHei"/>
                <a:cs typeface="Microsoft YaHei"/>
              </a:rPr>
              <a:t>热老化与日寿命损失</a:t>
            </a:r>
          </a:p>
          <a:p xmlns:a="http://schemas.openxmlformats.org/drawingml/2006/main">
            <a:pPr algn="ctr">
              <a:defRPr sz="1800" b="0">
                <a:solidFill>
                  <a:srgbClr val="101D3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01D30"/>
                </a:solidFill>
                <a:latin typeface="Microsoft YaHei"/>
                <a:ea typeface="Microsoft YaHei"/>
                <a:cs typeface="Microsoft YaHei"/>
              </a:rPr>
              <a:t>六项指标与AHP加权</a:t>
            </a:r>
          </a:p>
        </p:txBody>
      </p:sp>
      <p:sp>
        <p:nvSpPr>
          <p:cNvPr id="14" name="native-29">
            <a:extLst xmlns:a="http://schemas.openxmlformats.org/drawingml/2006/main">
              <a:ext uri="{FF2B5EF4-FFF2-40B4-BE49-F238E27FC236}">
                <a16:creationId xmlns:a16="http://schemas.microsoft.com/office/drawing/2014/main" id="{D95F4A9C-7CF5-4298-BCBE-E71BA3E894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7839075"/>
            <a:ext cx="4486275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EAF5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28575" rIns="57150" bIns="28575" anchor="ctr">
            <a:noAutofit/>
          </a:bodyPr>
          <a:lstStyle xmlns:a="http://schemas.openxmlformats.org/drawingml/2006/main">
            <a:defPPr algn="ctr">
              <a:defRPr sz="1650" b="1">
                <a:solidFill>
                  <a:srgbClr val="07368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1650" b="1">
                <a:solidFill>
                  <a:srgbClr val="0736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7368C"/>
                </a:solidFill>
                <a:latin typeface="Microsoft YaHei"/>
                <a:ea typeface="Microsoft YaHei"/>
                <a:cs typeface="Microsoft YaHei"/>
              </a:rPr>
              <a:t>同时刻画重载损伤与轻载利用不足</a:t>
            </a:r>
          </a:p>
        </p:txBody>
      </p:sp>
      <p:sp>
        <p:nvSpPr>
          <p:cNvPr id="15" name="native-30">
            <a:extLst xmlns:a="http://schemas.openxmlformats.org/drawingml/2006/main">
              <a:ext uri="{FF2B5EF4-FFF2-40B4-BE49-F238E27FC236}">
                <a16:creationId xmlns:a16="http://schemas.microsoft.com/office/drawing/2014/main" id="{2B5E7470-7A21-4369-860F-24682DFC25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2695575"/>
            <a:ext cx="5219700" cy="352425"/>
          </a:xfrm>
          <a:prstGeom xmlns:a="http://schemas.openxmlformats.org/drawingml/2006/main" prst="roundRect">
            <a:avLst>
              <a:gd name="adj" fmla="val 21622"/>
            </a:avLst>
          </a:prstGeom>
          <a:solidFill xmlns:a="http://schemas.openxmlformats.org/drawingml/2006/main">
            <a:srgbClr val="EAF5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28575" rIns="57150" bIns="28575" anchor="ctr">
            <a:noAutofit/>
          </a:bodyPr>
          <a:lstStyle xmlns:a="http://schemas.openxmlformats.org/drawingml/2006/main">
            <a:defPPr algn="ctr">
              <a:defRPr sz="1725" b="1">
                <a:solidFill>
                  <a:srgbClr val="07368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1725" b="1">
                <a:solidFill>
                  <a:srgbClr val="0736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07368C"/>
                </a:solidFill>
                <a:latin typeface="Microsoft YaHei"/>
                <a:ea typeface="Microsoft YaHei"/>
                <a:cs typeface="Microsoft YaHei"/>
              </a:rPr>
              <a:t>有序充电：储能容量减少27.96%</a:t>
            </a:r>
          </a:p>
        </p:txBody>
      </p:sp>
      <p:graphicFrame>
        <p:nvGraphicFramePr>
          <p:cNvPr id="16" name="Chart">
            <a:extLst xmlns:a="http://schemas.openxmlformats.org/drawingml/2006/main">
              <a:ext uri="{FF2B5EF4-FFF2-40B4-BE49-F238E27FC236}">
                <a16:creationId xmlns:a16="http://schemas.microsoft.com/office/drawing/2014/main" id="{D7D90D4C-827D-48CC-AF3B-59E390A05C80}"/>
              </a:ext>
            </a:extLst>
          </p:cNvPr>
          <p:cNvGraphicFramePr/>
          <p:nvPr/>
        </p:nvGraphicFramePr>
        <p:xfrm>
          <a:off xmlns:a="http://schemas.openxmlformats.org/drawingml/2006/main" x="5191125" y="3133725"/>
          <a:ext xmlns:a="http://schemas.openxmlformats.org/drawingml/2006/main" cx="5048250" cy="21336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837e75520127455a"/>
          </a:graphicData>
        </a:graphic>
      </p:graphicFrame>
      <p:sp>
        <p:nvSpPr>
          <p:cNvPr id="17" name="native-31">
            <a:extLst xmlns:a="http://schemas.openxmlformats.org/drawingml/2006/main">
              <a:ext uri="{FF2B5EF4-FFF2-40B4-BE49-F238E27FC236}">
                <a16:creationId xmlns:a16="http://schemas.microsoft.com/office/drawing/2014/main" id="{D3A4F390-929C-4E8B-97B5-BD6EACF8A1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5438775"/>
            <a:ext cx="5219700" cy="352425"/>
          </a:xfrm>
          <a:prstGeom xmlns:a="http://schemas.openxmlformats.org/drawingml/2006/main" prst="roundRect">
            <a:avLst>
              <a:gd name="adj" fmla="val 21622"/>
            </a:avLst>
          </a:prstGeom>
          <a:solidFill xmlns:a="http://schemas.openxmlformats.org/drawingml/2006/main">
            <a:srgbClr val="EAF5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28575" rIns="57150" bIns="28575" anchor="ctr">
            <a:noAutofit/>
          </a:bodyPr>
          <a:lstStyle xmlns:a="http://schemas.openxmlformats.org/drawingml/2006/main">
            <a:defPPr algn="ctr">
              <a:defRPr sz="1725" b="1">
                <a:solidFill>
                  <a:srgbClr val="07368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1725" b="1">
                <a:solidFill>
                  <a:srgbClr val="0736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07368C"/>
                </a:solidFill>
                <a:latin typeface="Microsoft YaHei"/>
                <a:ea typeface="Microsoft YaHei"/>
                <a:cs typeface="Microsoft YaHei"/>
              </a:rPr>
              <a:t>退役电池：年净成本降低46.90%</a:t>
            </a:r>
          </a:p>
        </p:txBody>
      </p:sp>
      <p:graphicFrame>
        <p:nvGraphicFramePr>
          <p:cNvPr id="18" name="Chart">
            <a:extLst xmlns:a="http://schemas.openxmlformats.org/drawingml/2006/main">
              <a:ext uri="{FF2B5EF4-FFF2-40B4-BE49-F238E27FC236}">
                <a16:creationId xmlns:a16="http://schemas.microsoft.com/office/drawing/2014/main" id="{929D6EA2-8B6E-40A1-B180-8D6F46C1090C}"/>
              </a:ext>
            </a:extLst>
          </p:cNvPr>
          <p:cNvGraphicFramePr/>
          <p:nvPr/>
        </p:nvGraphicFramePr>
        <p:xfrm>
          <a:off xmlns:a="http://schemas.openxmlformats.org/drawingml/2006/main" x="5191125" y="5810250"/>
          <a:ext xmlns:a="http://schemas.openxmlformats.org/drawingml/2006/main" cx="5048250" cy="19431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e3e065e883ed45c8"/>
          </a:graphicData>
        </a:graphic>
      </p:graphicFrame>
      <p:sp>
        <p:nvSpPr>
          <p:cNvPr id="19" name="native-32">
            <a:extLst xmlns:a="http://schemas.openxmlformats.org/drawingml/2006/main">
              <a:ext uri="{FF2B5EF4-FFF2-40B4-BE49-F238E27FC236}">
                <a16:creationId xmlns:a16="http://schemas.microsoft.com/office/drawing/2014/main" id="{60D5551C-721D-4547-9948-0FEE4D8B31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7848600"/>
            <a:ext cx="5219700" cy="352425"/>
          </a:xfrm>
          <a:prstGeom xmlns:a="http://schemas.openxmlformats.org/drawingml/2006/main" prst="roundRect">
            <a:avLst>
              <a:gd name="adj" fmla="val 21622"/>
            </a:avLst>
          </a:prstGeom>
          <a:solidFill xmlns:a="http://schemas.openxmlformats.org/drawingml/2006/main">
            <a:srgbClr val="EAF5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28575" rIns="57150" bIns="28575" anchor="ctr">
            <a:noAutofit/>
          </a:bodyPr>
          <a:lstStyle xmlns:a="http://schemas.openxmlformats.org/drawingml/2006/main">
            <a:defPPr algn="ctr">
              <a:defRPr sz="1650" b="1">
                <a:solidFill>
                  <a:srgbClr val="07368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1650" b="1">
                <a:solidFill>
                  <a:srgbClr val="0736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7368C"/>
                </a:solidFill>
                <a:latin typeface="Microsoft YaHei"/>
                <a:ea typeface="Microsoft YaHei"/>
                <a:cs typeface="Microsoft YaHei"/>
              </a:rPr>
              <a:t>短时治理综合得分：1.7258 → 0.2479</a:t>
            </a:r>
          </a:p>
        </p:txBody>
      </p:sp>
      <p:graphicFrame>
        <p:nvGraphicFrame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2CC0276-190A-4657-A031-EC20C48BA09F}"/>
              </a:ext>
            </a:extLst>
          </p:cNvPr>
          <p:cNvGraphicFramePr/>
          <p:nvPr/>
        </p:nvGraphicFramePr>
        <p:xfrm>
          <a:off xmlns:a="http://schemas.openxmlformats.org/drawingml/2006/main" x="10629900" y="2695575"/>
          <a:ext xmlns:a="http://schemas.openxmlformats.org/drawingml/2006/main" cx="5000625" cy="16002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571625"/>
                <a:gridCol w="3429000"/>
              </a:tblGrid>
              <a:tr h="400050">
                <a:tc>
                  <a:txBody>
                    <a:bodyPr lIns="38100" tIns="28575" rIns="38100" bIns="28575"/>
                    <a:lstStyle/>
                    <a:p>
                      <a:pPr algn="ctr"/>
                      <a:r>
                        <a:rPr sz="1575" b="1">
                          <a:solidFill>
                            <a:srgbClr val="07368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决策</a:t>
                      </a:r>
                    </a:p>
                  </a:txBody>
                  <a:tcPr marL="91440" marR="91440" marT="45720" marB="45720" anchor="ctr">
                    <a:solidFill>
                      <a:srgbClr val="DCEEFF"/>
                    </a:solidFill>
                  </a:tcPr>
                </a:tc>
                <a:tc>
                  <a:txBody>
                    <a:bodyPr lIns="38100" tIns="28575" rIns="38100" bIns="28575"/>
                    <a:lstStyle/>
                    <a:p>
                      <a:pPr algn="ctr"/>
                      <a:r>
                        <a:rPr sz="1575" b="1">
                          <a:solidFill>
                            <a:srgbClr val="07368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方案</a:t>
                      </a:r>
                    </a:p>
                  </a:txBody>
                  <a:tcPr marL="91440" marR="91440" marT="45720" marB="45720" anchor="ctr">
                    <a:solidFill>
                      <a:srgbClr val="DCEEFF"/>
                    </a:solidFill>
                  </a:tcPr>
                </a:tc>
              </a:tr>
              <a:tr h="400050">
                <a:tc>
                  <a:txBody>
                    <a:bodyPr lIns="38100" tIns="28575" rIns="38100" bIns="28575"/>
                    <a:lstStyle/>
                    <a:p>
                      <a:pPr algn="ctr"/>
                      <a:r>
                        <a:rPr sz="1575" b="0">
                          <a:solidFill>
                            <a:srgbClr val="101D3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汇集变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38100" tIns="28575" rIns="38100" bIns="28575"/>
                    <a:lstStyle/>
                    <a:p>
                      <a:pPr algn="ctr"/>
                      <a:r>
                        <a:rPr sz="1575" b="0">
                          <a:solidFill>
                            <a:srgbClr val="101D3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节点14 / 3150 kVA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400050">
                <a:tc>
                  <a:txBody>
                    <a:bodyPr lIns="38100" tIns="28575" rIns="38100" bIns="28575"/>
                    <a:lstStyle/>
                    <a:p>
                      <a:pPr algn="ctr"/>
                      <a:r>
                        <a:rPr sz="1575" b="0">
                          <a:solidFill>
                            <a:srgbClr val="101D3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台区配变</a:t>
                      </a:r>
                    </a:p>
                  </a:txBody>
                  <a:tcPr marL="91440" marR="91440" marT="45720" marB="45720" anchor="ctr">
                    <a:solidFill>
                      <a:srgbClr val="F2F8FD"/>
                    </a:solidFill>
                  </a:tcPr>
                </a:tc>
                <a:tc>
                  <a:txBody>
                    <a:bodyPr lIns="38100" tIns="28575" rIns="38100" bIns="28575"/>
                    <a:lstStyle/>
                    <a:p>
                      <a:pPr algn="ctr"/>
                      <a:r>
                        <a:rPr sz="1575" b="0">
                          <a:solidFill>
                            <a:srgbClr val="101D3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2500 → 3150 kVA</a:t>
                      </a:r>
                    </a:p>
                  </a:txBody>
                  <a:tcPr marL="91440" marR="91440" marT="45720" marB="45720" anchor="ctr">
                    <a:solidFill>
                      <a:srgbClr val="F2F8FD"/>
                    </a:solidFill>
                  </a:tcPr>
                </a:tc>
              </a:tr>
              <a:tr h="400050">
                <a:tc>
                  <a:txBody>
                    <a:bodyPr lIns="38100" tIns="28575" rIns="38100" bIns="28575"/>
                    <a:lstStyle/>
                    <a:p>
                      <a:pPr algn="ctr"/>
                      <a:r>
                        <a:rPr sz="1575" b="0">
                          <a:solidFill>
                            <a:srgbClr val="101D3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汇集线路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38100" tIns="28575" rIns="38100" bIns="28575"/>
                    <a:lstStyle/>
                    <a:p>
                      <a:pPr algn="ctr"/>
                      <a:r>
                        <a:rPr sz="1575" b="0">
                          <a:solidFill>
                            <a:srgbClr val="101D3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LGJ-120 / 18.988 km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1" name="Chart">
            <a:extLst xmlns:a="http://schemas.openxmlformats.org/drawingml/2006/main">
              <a:ext uri="{FF2B5EF4-FFF2-40B4-BE49-F238E27FC236}">
                <a16:creationId xmlns:a16="http://schemas.microsoft.com/office/drawing/2014/main" id="{905F3C82-E097-45BA-A15C-90C56468E9C0}"/>
              </a:ext>
            </a:extLst>
          </p:cNvPr>
          <p:cNvGraphicFramePr/>
          <p:nvPr/>
        </p:nvGraphicFramePr>
        <p:xfrm>
          <a:off xmlns:a="http://schemas.openxmlformats.org/drawingml/2006/main" x="10582275" y="4419600"/>
          <a:ext xmlns:a="http://schemas.openxmlformats.org/drawingml/2006/main" cx="5067300" cy="27432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df897e7bc71b43f7"/>
          </a:graphicData>
        </a:graphic>
      </p:graphicFrame>
      <p:sp>
        <p:nvSpPr>
          <p:cNvPr id="22" name="native-33">
            <a:extLst xmlns:a="http://schemas.openxmlformats.org/drawingml/2006/main">
              <a:ext uri="{FF2B5EF4-FFF2-40B4-BE49-F238E27FC236}">
                <a16:creationId xmlns:a16="http://schemas.microsoft.com/office/drawing/2014/main" id="{83CEDD84-29A7-4FFE-8FE7-7D10EC6A63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0850" y="7162800"/>
            <a:ext cx="5038725" cy="314325"/>
          </a:xfrm>
          <a:prstGeom xmlns:a="http://schemas.openxmlformats.org/drawingml/2006/main" prst="roundRect">
            <a:avLst>
              <a:gd name="adj" fmla="val 24242"/>
            </a:avLst>
          </a:prstGeom>
          <a:solidFill xmlns:a="http://schemas.openxmlformats.org/drawingml/2006/main">
            <a:srgbClr val="EAF5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28575" rIns="57150" bIns="28575" anchor="ctr">
            <a:noAutofit/>
          </a:bodyPr>
          <a:lstStyle xmlns:a="http://schemas.openxmlformats.org/drawingml/2006/main">
            <a:defPPr algn="ctr">
              <a:defRPr sz="1800" b="1">
                <a:solidFill>
                  <a:srgbClr val="07368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1800" b="1">
                <a:solidFill>
                  <a:srgbClr val="0736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07368C"/>
                </a:solidFill>
                <a:latin typeface="Microsoft YaHei"/>
                <a:ea typeface="Microsoft YaHei"/>
                <a:cs typeface="Microsoft YaHei"/>
              </a:rPr>
              <a:t>年规划成本：142.63万元</a:t>
            </a:r>
          </a:p>
        </p:txBody>
      </p:sp>
      <p:sp>
        <p:nvSpPr>
          <p:cNvPr id="23" name="native-34">
            <a:extLst xmlns:a="http://schemas.openxmlformats.org/drawingml/2006/main">
              <a:ext uri="{FF2B5EF4-FFF2-40B4-BE49-F238E27FC236}">
                <a16:creationId xmlns:a16="http://schemas.microsoft.com/office/drawing/2014/main" id="{8C531C8F-0786-4298-8872-EF7F140E78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0850" y="7581900"/>
            <a:ext cx="5038725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EAF5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28575" rIns="57150" bIns="28575" anchor="ctr">
            <a:noAutofit/>
          </a:bodyPr>
          <a:lstStyle xmlns:a="http://schemas.openxmlformats.org/drawingml/2006/main">
            <a:defPPr algn="ctr">
              <a:defRPr sz="1650" b="1">
                <a:solidFill>
                  <a:srgbClr val="07368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1650" b="1">
                <a:solidFill>
                  <a:srgbClr val="0736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7368C"/>
                </a:solidFill>
                <a:latin typeface="Microsoft YaHei"/>
                <a:ea typeface="Microsoft YaHei"/>
                <a:cs typeface="Microsoft YaHei"/>
              </a:rPr>
              <a:t>综合得分：43.1630 → 0.3638</a:t>
            </a:r>
          </a:p>
          <a:p xmlns:a="http://schemas.openxmlformats.org/drawingml/2006/main">
            <a:pPr algn="ctr">
              <a:defRPr sz="1650" b="1">
                <a:solidFill>
                  <a:srgbClr val="0736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7368C"/>
                </a:solidFill>
                <a:latin typeface="Microsoft YaHei"/>
                <a:ea typeface="Microsoft YaHei"/>
                <a:cs typeface="Microsoft YaHei"/>
              </a:rPr>
              <a:t>部分设备仍略高于24 h参考值</a:t>
            </a:r>
          </a:p>
        </p:txBody>
      </p:sp>
    </p:spTree>
    <p:extLst>
      <p:ext uri="{BB962C8B-B14F-4D97-AF65-F5344CB8AC3E}">
        <p14:creationId xmlns:p14="http://schemas.microsoft.com/office/powerpoint/2010/main" val="69498601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2026-10-10T09:58:22.0370000Z</dcterms:created>
  <dcterms:modified xsi:type="dcterms:W3CDTF">2026-10-10T09:58:22.0370000Z</dcterms:modified>
</coreProperties>
</file>